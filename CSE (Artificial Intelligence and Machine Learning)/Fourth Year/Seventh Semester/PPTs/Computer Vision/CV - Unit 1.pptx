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886" r:id="rId1"/>
  </p:sldMasterIdLst>
  <p:notesMasterIdLst>
    <p:notesMasterId r:id="rId80"/>
  </p:notesMasterIdLst>
  <p:sldIdLst>
    <p:sldId id="257" r:id="rId2"/>
    <p:sldId id="390" r:id="rId3"/>
    <p:sldId id="361" r:id="rId4"/>
    <p:sldId id="391" r:id="rId5"/>
    <p:sldId id="392" r:id="rId6"/>
    <p:sldId id="393" r:id="rId7"/>
    <p:sldId id="394" r:id="rId8"/>
    <p:sldId id="362" r:id="rId9"/>
    <p:sldId id="364" r:id="rId10"/>
    <p:sldId id="365" r:id="rId11"/>
    <p:sldId id="366" r:id="rId12"/>
    <p:sldId id="367" r:id="rId13"/>
    <p:sldId id="368" r:id="rId14"/>
    <p:sldId id="370" r:id="rId15"/>
    <p:sldId id="371" r:id="rId16"/>
    <p:sldId id="372" r:id="rId17"/>
    <p:sldId id="373" r:id="rId18"/>
    <p:sldId id="258" r:id="rId19"/>
    <p:sldId id="262" r:id="rId20"/>
    <p:sldId id="263" r:id="rId21"/>
    <p:sldId id="374" r:id="rId22"/>
    <p:sldId id="375" r:id="rId23"/>
    <p:sldId id="376" r:id="rId24"/>
    <p:sldId id="378" r:id="rId25"/>
    <p:sldId id="377" r:id="rId26"/>
    <p:sldId id="379" r:id="rId27"/>
    <p:sldId id="380" r:id="rId28"/>
    <p:sldId id="381" r:id="rId29"/>
    <p:sldId id="382" r:id="rId30"/>
    <p:sldId id="383" r:id="rId31"/>
    <p:sldId id="384" r:id="rId32"/>
    <p:sldId id="385" r:id="rId33"/>
    <p:sldId id="386" r:id="rId34"/>
    <p:sldId id="387" r:id="rId35"/>
    <p:sldId id="388" r:id="rId36"/>
    <p:sldId id="397" r:id="rId37"/>
    <p:sldId id="398" r:id="rId38"/>
    <p:sldId id="399" r:id="rId39"/>
    <p:sldId id="400" r:id="rId40"/>
    <p:sldId id="401" r:id="rId41"/>
    <p:sldId id="402" r:id="rId42"/>
    <p:sldId id="403" r:id="rId43"/>
    <p:sldId id="404" r:id="rId44"/>
    <p:sldId id="405" r:id="rId45"/>
    <p:sldId id="406" r:id="rId46"/>
    <p:sldId id="407" r:id="rId47"/>
    <p:sldId id="409" r:id="rId48"/>
    <p:sldId id="410" r:id="rId49"/>
    <p:sldId id="425" r:id="rId50"/>
    <p:sldId id="426" r:id="rId51"/>
    <p:sldId id="427" r:id="rId52"/>
    <p:sldId id="411" r:id="rId53"/>
    <p:sldId id="414" r:id="rId54"/>
    <p:sldId id="415" r:id="rId55"/>
    <p:sldId id="416" r:id="rId56"/>
    <p:sldId id="417" r:id="rId57"/>
    <p:sldId id="418" r:id="rId58"/>
    <p:sldId id="419" r:id="rId59"/>
    <p:sldId id="420" r:id="rId60"/>
    <p:sldId id="421" r:id="rId61"/>
    <p:sldId id="422" r:id="rId62"/>
    <p:sldId id="423" r:id="rId63"/>
    <p:sldId id="319" r:id="rId64"/>
    <p:sldId id="331" r:id="rId65"/>
    <p:sldId id="320" r:id="rId66"/>
    <p:sldId id="321" r:id="rId67"/>
    <p:sldId id="412" r:id="rId68"/>
    <p:sldId id="413" r:id="rId69"/>
    <p:sldId id="322" r:id="rId70"/>
    <p:sldId id="333" r:id="rId71"/>
    <p:sldId id="323" r:id="rId72"/>
    <p:sldId id="334" r:id="rId73"/>
    <p:sldId id="329" r:id="rId74"/>
    <p:sldId id="408" r:id="rId75"/>
    <p:sldId id="330" r:id="rId76"/>
    <p:sldId id="396" r:id="rId77"/>
    <p:sldId id="395" r:id="rId78"/>
    <p:sldId id="345"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99999"/>
    <a:srgbClr val="FF6600"/>
    <a:srgbClr val="003300"/>
    <a:srgbClr val="FF3300"/>
    <a:srgbClr val="FFFF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1CB0C-CE04-795B-C584-DEC8AE9AB0E5}" v="15" dt="2023-03-20T08:28:55.8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03" autoAdjust="0"/>
    <p:restoredTop sz="94660"/>
  </p:normalViewPr>
  <p:slideViewPr>
    <p:cSldViewPr>
      <p:cViewPr varScale="1">
        <p:scale>
          <a:sx n="96" d="100"/>
          <a:sy n="96" d="100"/>
        </p:scale>
        <p:origin x="116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Introduction to Computer Vision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D369DF30-B634-402E-AF43-230591D12A46}">
      <dgm:prSet/>
      <dgm:spPr/>
      <dgm:t>
        <a:bodyPr/>
        <a:lstStyle/>
        <a:p>
          <a:r>
            <a:rPr lang="en-GB" dirty="0"/>
            <a:t>Computer Vision, Research and Applications, (Self-Driving Cars, Facial Recognition, Augmented &amp; Mixed Reality, Healthcare). Most popular examples Categorization of Images, Object Detection, Observation of Moving Objects, Retrieval of Images Based on Their Contents, Computer Vision Tasks classification, object detection, Instance segmentation. Convolutional Neural Networks, Evolution of CNN Architectures for Image, Recent CNN </a:t>
          </a:r>
          <a:endParaRPr lang="en-IN" dirty="0"/>
        </a:p>
      </dgm:t>
    </dgm:pt>
    <dgm:pt modelId="{5A67967C-0EAD-41B6-AF7B-FDE6CBF6B651}" type="parTrans" cxnId="{AA6DBEF1-CC9C-44E6-A512-FF0CDF053ABB}">
      <dgm:prSet/>
      <dgm:spPr/>
      <dgm:t>
        <a:bodyPr/>
        <a:lstStyle/>
        <a:p>
          <a:endParaRPr lang="en-US"/>
        </a:p>
      </dgm:t>
    </dgm:pt>
    <dgm:pt modelId="{90074336-EEFF-4709-87BA-15C51D5A8045}" type="sibTrans" cxnId="{AA6DBEF1-CC9C-44E6-A512-FF0CDF053A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39" custLinFactNeighborY="-9805">
        <dgm:presLayoutVars>
          <dgm:chMax val="0"/>
          <dgm:bulletEnabled val="1"/>
        </dgm:presLayoutVars>
      </dgm:prSet>
      <dgm:spPr/>
    </dgm:pt>
    <dgm:pt modelId="{96575E91-F5A5-4218-B1EC-F10E76AC9EB6}" type="pres">
      <dgm:prSet presAssocID="{5A57522C-1C32-440C-9F64-9EF818720D9C}" presName="spacer" presStyleCnt="0"/>
      <dgm:spPr/>
    </dgm:pt>
    <dgm:pt modelId="{7B5D70F3-324A-4EA4-B0FC-AAC4C5B99002}" type="pres">
      <dgm:prSet presAssocID="{D369DF30-B634-402E-AF43-230591D12A46}" presName="parentText" presStyleLbl="node1" presStyleIdx="1" presStyleCnt="2" custLinFactNeighborX="-3369" custLinFactNeighborY="71313">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B1B33CF1-A172-4064-A4EE-990B87B626EA}" type="presOf" srcId="{D369DF30-B634-402E-AF43-230591D12A46}" destId="{7B5D70F3-324A-4EA4-B0FC-AAC4C5B99002}" srcOrd="0" destOrd="0" presId="urn:microsoft.com/office/officeart/2005/8/layout/vList2"/>
    <dgm:cxn modelId="{AA6DBEF1-CC9C-44E6-A512-FF0CDF053ABB}" srcId="{18EA6042-2EA2-4065-81DF-7A18BEC42C1C}" destId="{D369DF30-B634-402E-AF43-230591D12A46}" srcOrd="1" destOrd="0" parTransId="{5A67967C-0EAD-41B6-AF7B-FDE6CBF6B651}" sibTransId="{90074336-EEFF-4709-87BA-15C51D5A8045}"/>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54912469-46A7-4510-8825-C6358F14551B}" type="presParOf" srcId="{5935E145-FD17-4F9E-B302-F21214F4A468}" destId="{7B5D70F3-324A-4EA4-B0FC-AAC4C5B9900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Architectures</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D369DF30-B634-402E-AF43-230591D12A46}">
      <dgm:prSet/>
      <dgm:spPr/>
      <dgm:t>
        <a:bodyPr/>
        <a:lstStyle/>
        <a:p>
          <a:r>
            <a:rPr lang="en-GB" dirty="0"/>
            <a:t>Representation of a Three-Dimensional Moving Scene. Convolutional layers, pooling layers, and padding. Transfer learning and pre-trained models Architectures.   </a:t>
          </a:r>
          <a:endParaRPr lang="en-IN" dirty="0"/>
        </a:p>
      </dgm:t>
    </dgm:pt>
    <dgm:pt modelId="{5A67967C-0EAD-41B6-AF7B-FDE6CBF6B651}" type="parTrans" cxnId="{AA6DBEF1-CC9C-44E6-A512-FF0CDF053ABB}">
      <dgm:prSet/>
      <dgm:spPr/>
      <dgm:t>
        <a:bodyPr/>
        <a:lstStyle/>
        <a:p>
          <a:endParaRPr lang="en-US"/>
        </a:p>
      </dgm:t>
    </dgm:pt>
    <dgm:pt modelId="{90074336-EEFF-4709-87BA-15C51D5A8045}" type="sibTrans" cxnId="{AA6DBEF1-CC9C-44E6-A512-FF0CDF053ABB}">
      <dgm:prSet/>
      <dgm:spPr/>
      <dgm:t>
        <a:bodyPr/>
        <a:lstStyle/>
        <a:p>
          <a:endParaRPr lang="en-US"/>
        </a:p>
      </dgm:t>
    </dgm:pt>
    <dgm:pt modelId="{7076C3FC-D677-42D3-AFD9-519230148AA9}">
      <dgm:prSet/>
      <dgm:spPr/>
      <dgm:t>
        <a:bodyPr/>
        <a:lstStyle/>
        <a:p>
          <a:r>
            <a:rPr lang="en-GB"/>
            <a:t>Architectures Design: LeNet-5, AlexNet, VGGNet, GoogLeNet, ResNet, Efficient Net, Mobile Net, RNN Introduction.     </a:t>
          </a:r>
          <a:endParaRPr lang="en-IN"/>
        </a:p>
      </dgm:t>
    </dgm:pt>
    <dgm:pt modelId="{FE62C8FC-8C64-4CE1-872F-8542D7C5999C}" type="parTrans" cxnId="{919127EC-71E4-4C56-AD4E-96B02E5889B8}">
      <dgm:prSet/>
      <dgm:spPr/>
      <dgm:t>
        <a:bodyPr/>
        <a:lstStyle/>
        <a:p>
          <a:endParaRPr lang="en-US"/>
        </a:p>
      </dgm:t>
    </dgm:pt>
    <dgm:pt modelId="{0A592E99-F344-4BE4-ADDE-41E6CCCB281C}" type="sib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3"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7B5D70F3-324A-4EA4-B0FC-AAC4C5B99002}" type="pres">
      <dgm:prSet presAssocID="{D369DF30-B634-402E-AF43-230591D12A46}" presName="parentText" presStyleLbl="node1" presStyleIdx="1" presStyleCnt="3">
        <dgm:presLayoutVars>
          <dgm:chMax val="0"/>
          <dgm:bulletEnabled val="1"/>
        </dgm:presLayoutVars>
      </dgm:prSet>
      <dgm:spPr/>
    </dgm:pt>
    <dgm:pt modelId="{8BEC9764-8FDA-47DB-BA9E-60B836668861}" type="pres">
      <dgm:prSet presAssocID="{90074336-EEFF-4709-87BA-15C51D5A8045}" presName="spacer" presStyleCnt="0"/>
      <dgm:spPr/>
    </dgm:pt>
    <dgm:pt modelId="{80F49CB3-EE90-49B1-AF3F-EAAE5DF558FE}" type="pres">
      <dgm:prSet presAssocID="{7076C3FC-D677-42D3-AFD9-519230148AA9}" presName="parentText" presStyleLbl="node1" presStyleIdx="2" presStyleCnt="3">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2" destOrd="0" parTransId="{FE62C8FC-8C64-4CE1-872F-8542D7C5999C}" sibTransId="{0A592E99-F344-4BE4-ADDE-41E6CCCB281C}"/>
    <dgm:cxn modelId="{B1B33CF1-A172-4064-A4EE-990B87B626EA}" type="presOf" srcId="{D369DF30-B634-402E-AF43-230591D12A46}" destId="{7B5D70F3-324A-4EA4-B0FC-AAC4C5B99002}" srcOrd="0" destOrd="0" presId="urn:microsoft.com/office/officeart/2005/8/layout/vList2"/>
    <dgm:cxn modelId="{AA6DBEF1-CC9C-44E6-A512-FF0CDF053ABB}" srcId="{18EA6042-2EA2-4065-81DF-7A18BEC42C1C}" destId="{D369DF30-B634-402E-AF43-230591D12A46}" srcOrd="1" destOrd="0" parTransId="{5A67967C-0EAD-41B6-AF7B-FDE6CBF6B651}" sibTransId="{90074336-EEFF-4709-87BA-15C51D5A8045}"/>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54912469-46A7-4510-8825-C6358F14551B}" type="presParOf" srcId="{5935E145-FD17-4F9E-B302-F21214F4A468}" destId="{7B5D70F3-324A-4EA4-B0FC-AAC4C5B99002}" srcOrd="2" destOrd="0" presId="urn:microsoft.com/office/officeart/2005/8/layout/vList2"/>
    <dgm:cxn modelId="{588DD5BA-068E-41AB-B54F-1ACE9BE839C6}" type="presParOf" srcId="{5935E145-FD17-4F9E-B302-F21214F4A468}" destId="{8BEC9764-8FDA-47DB-BA9E-60B836668861}" srcOrd="3" destOrd="0" presId="urn:microsoft.com/office/officeart/2005/8/layout/vList2"/>
    <dgm:cxn modelId="{70866D5C-0DAE-4E32-B1B5-54ECA714875E}" type="presParOf" srcId="{5935E145-FD17-4F9E-B302-F21214F4A468}" destId="{80F49CB3-EE90-49B1-AF3F-EAAE5DF558F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Segmentation </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949138AA-27A5-499F-B742-7C54E953FBBE}">
      <dgm:prSet/>
      <dgm:spPr/>
      <dgm:t>
        <a:bodyPr/>
        <a:lstStyle/>
        <a:p>
          <a:r>
            <a:rPr lang="en-GB"/>
            <a:t>Popular Image Segmentation Architectures, FCN Architecture, Upsampling Methods, Pixel Transformations, Geometric Operations, Spatial Operations in Image Processing, Instance Segmentation, Localisation, Object detection and image segmentation using CNNs, LSTM and GRU’s. Vision Models, Vision Languages, Quality Analysis, Visual Dialogue,   Active Contours &amp; Application, Split &amp; Merge, Mean Shift &amp; Mode Finding, Normalized Cuts. </a:t>
          </a:r>
          <a:endParaRPr lang="en-IN"/>
        </a:p>
      </dgm:t>
    </dgm:pt>
    <dgm:pt modelId="{468F6954-5806-4BF2-95D5-7311E16DEFE3}" type="parTrans" cxnId="{36A455C7-75A6-471D-A28E-6D94DA568809}">
      <dgm:prSet/>
      <dgm:spPr/>
      <dgm:t>
        <a:bodyPr/>
        <a:lstStyle/>
        <a:p>
          <a:endParaRPr lang="en-US"/>
        </a:p>
      </dgm:t>
    </dgm:pt>
    <dgm:pt modelId="{56AE27FD-559E-4230-8F25-D8705DD8AF8D}" type="sibTrans" cxnId="{36A455C7-75A6-471D-A28E-6D94DA568809}">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6C14554A-219F-4E02-A840-5F086559B97D}" type="pres">
      <dgm:prSet presAssocID="{949138AA-27A5-499F-B742-7C54E953FBBE}" presName="parentText" presStyleLbl="node1" presStyleIdx="1" presStyleCnt="2" custScaleY="1789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C87D780-1235-4BB0-A417-C1A29E397FE1}" type="presOf" srcId="{949138AA-27A5-499F-B742-7C54E953FBBE}" destId="{6C14554A-219F-4E02-A840-5F086559B97D}" srcOrd="0" destOrd="0" presId="urn:microsoft.com/office/officeart/2005/8/layout/vList2"/>
    <dgm:cxn modelId="{36A455C7-75A6-471D-A28E-6D94DA568809}" srcId="{18EA6042-2EA2-4065-81DF-7A18BEC42C1C}" destId="{949138AA-27A5-499F-B742-7C54E953FBBE}" srcOrd="1" destOrd="0" parTransId="{468F6954-5806-4BF2-95D5-7311E16DEFE3}" sibTransId="{56AE27FD-559E-4230-8F25-D8705DD8AF8D}"/>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82423B90-8197-4B15-86B7-28E2170F105D}" type="presParOf" srcId="{5935E145-FD17-4F9E-B302-F21214F4A468}" destId="{6C14554A-219F-4E02-A840-5F086559B97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Object Detection </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7076C3FC-D677-42D3-AFD9-519230148AA9}">
      <dgm:prSet/>
      <dgm:spPr/>
      <dgm:t>
        <a:bodyPr/>
        <a:lstStyle/>
        <a:p>
          <a:r>
            <a:rPr lang="en-GB" dirty="0"/>
            <a:t>Object Detection and Sliding Windows, R-CNN, Fast R-CNN, Object Recognition, 3-D vision and Geometry, Digital Watermarking. Object Detection, face recognition instance Recognition, Category Recognition   Objects, Scenes, Activities, Object classification. </a:t>
          </a:r>
          <a:endParaRPr lang="en-IN" dirty="0"/>
        </a:p>
      </dgm:t>
    </dgm:pt>
    <dgm:pt modelId="{0A592E99-F344-4BE4-ADDE-41E6CCCB281C}" type="sibTrans" cxnId="{919127EC-71E4-4C56-AD4E-96B02E5889B8}">
      <dgm:prSet/>
      <dgm:spPr/>
      <dgm:t>
        <a:bodyPr/>
        <a:lstStyle/>
        <a:p>
          <a:endParaRPr lang="en-US"/>
        </a:p>
      </dgm:t>
    </dgm:pt>
    <dgm:pt modelId="{FE62C8FC-8C64-4CE1-872F-8542D7C5999C}" type="par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80F49CB3-EE90-49B1-AF3F-EAAE5DF558FE}" type="pres">
      <dgm:prSet presAssocID="{7076C3FC-D677-42D3-AFD9-519230148AA9}" presName="parentText" presStyleLbl="node1" presStyleIdx="1" presStyleCnt="2">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1" destOrd="0" parTransId="{FE62C8FC-8C64-4CE1-872F-8542D7C5999C}" sibTransId="{0A592E99-F344-4BE4-ADDE-41E6CCCB281C}"/>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70866D5C-0DAE-4E32-B1B5-54ECA714875E}" type="presParOf" srcId="{5935E145-FD17-4F9E-B302-F21214F4A468}" destId="{80F49CB3-EE90-49B1-AF3F-EAAE5DF558F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Visualization and Generative Models</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7076C3FC-D677-42D3-AFD9-519230148AA9}">
      <dgm:prSet/>
      <dgm:spPr/>
      <dgm:t>
        <a:bodyPr/>
        <a:lstStyle/>
        <a:p>
          <a:r>
            <a:rPr lang="en-GB" dirty="0"/>
            <a:t>Object Detection and Sliding Windows, R-CNN, Fast R-CNN, Object Recognition, 3-D vision and Geometry, Digital Watermarking. Object Detection, face recognition instance Recognition, Category Recognition   Objects, Scenes, Activities, Object classification. </a:t>
          </a:r>
          <a:endParaRPr lang="en-IN" dirty="0"/>
        </a:p>
      </dgm:t>
    </dgm:pt>
    <dgm:pt modelId="{0A592E99-F344-4BE4-ADDE-41E6CCCB281C}" type="sibTrans" cxnId="{919127EC-71E4-4C56-AD4E-96B02E5889B8}">
      <dgm:prSet/>
      <dgm:spPr/>
      <dgm:t>
        <a:bodyPr/>
        <a:lstStyle/>
        <a:p>
          <a:endParaRPr lang="en-US"/>
        </a:p>
      </dgm:t>
    </dgm:pt>
    <dgm:pt modelId="{FE62C8FC-8C64-4CE1-872F-8542D7C5999C}" type="par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80F49CB3-EE90-49B1-AF3F-EAAE5DF558FE}" type="pres">
      <dgm:prSet presAssocID="{7076C3FC-D677-42D3-AFD9-519230148AA9}" presName="parentText" presStyleLbl="node1" presStyleIdx="1" presStyleCnt="2">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1" destOrd="0" parTransId="{FE62C8FC-8C64-4CE1-872F-8542D7C5999C}" sibTransId="{0A592E99-F344-4BE4-ADDE-41E6CCCB281C}"/>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70866D5C-0DAE-4E32-B1B5-54ECA714875E}" type="presParOf" srcId="{5935E145-FD17-4F9E-B302-F21214F4A468}" destId="{80F49CB3-EE90-49B1-AF3F-EAAE5DF558F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48E5BA7-139C-426B-89F7-6FDCC9986254}" type="doc">
      <dgm:prSet loTypeId="urn:microsoft.com/office/officeart/2005/8/layout/list1" loCatId="list" qsTypeId="urn:microsoft.com/office/officeart/2005/8/quickstyle/3d2#1" qsCatId="3D" csTypeId="urn:microsoft.com/office/officeart/2005/8/colors/colorful1#1" csCatId="colorful" phldr="1"/>
      <dgm:spPr/>
      <dgm:t>
        <a:bodyPr/>
        <a:lstStyle/>
        <a:p>
          <a:endParaRPr lang="en-US"/>
        </a:p>
      </dgm:t>
    </dgm:pt>
    <dgm:pt modelId="{2E76421B-DB30-4FA8-B16F-5EB453EB63EE}">
      <dgm:prSet custT="1"/>
      <dgm:spPr/>
      <dgm:t>
        <a:bodyPr/>
        <a:lstStyle/>
        <a:p>
          <a:pPr algn="ctr"/>
          <a:r>
            <a:rPr lang="en-GB" sz="1800" b="1" dirty="0">
              <a:latin typeface="Times New Roman" panose="02020603050405020304" pitchFamily="18" charset="0"/>
              <a:cs typeface="Times New Roman" panose="02020603050405020304" pitchFamily="18" charset="0"/>
            </a:rPr>
            <a:t>Computer Vision</a:t>
          </a:r>
          <a:endParaRPr lang="en-US" sz="1800" b="1" dirty="0">
            <a:latin typeface="Times New Roman" panose="02020603050405020304" pitchFamily="18" charset="0"/>
            <a:cs typeface="Times New Roman" panose="02020603050405020304" pitchFamily="18" charset="0"/>
          </a:endParaRPr>
        </a:p>
      </dgm:t>
    </dgm:pt>
    <dgm:pt modelId="{21C3A60E-A577-4CC5-9655-A11F1FB43A72}" type="parTrans" cxnId="{511CFD00-236D-430E-BA8F-3D218D3D33F0}">
      <dgm:prSet/>
      <dgm:spPr/>
      <dgm:t>
        <a:bodyPr/>
        <a:lstStyle/>
        <a:p>
          <a:endParaRPr lang="en-US" sz="2000"/>
        </a:p>
      </dgm:t>
    </dgm:pt>
    <dgm:pt modelId="{D6A3ED1B-3E0B-4E5B-B0B6-B1453BB0CD63}" type="sibTrans" cxnId="{511CFD00-236D-430E-BA8F-3D218D3D33F0}">
      <dgm:prSet/>
      <dgm:spPr/>
      <dgm:t>
        <a:bodyPr/>
        <a:lstStyle/>
        <a:p>
          <a:endParaRPr lang="en-US" sz="2000"/>
        </a:p>
      </dgm:t>
    </dgm:pt>
    <dgm:pt modelId="{FD185861-8CE6-4D06-9251-1B7C4FCB415A}">
      <dgm:prSet custT="1"/>
      <dgm:spPr>
        <a:solidFill>
          <a:srgbClr val="CC0066"/>
        </a:solidFill>
      </dgm:spPr>
      <dgm:t>
        <a:bodyPr/>
        <a:lstStyle/>
        <a:p>
          <a:pPr algn="ctr"/>
          <a:r>
            <a:rPr lang="en-GB" sz="1800" b="1" dirty="0">
              <a:latin typeface="Times New Roman" panose="02020603050405020304" pitchFamily="18" charset="0"/>
              <a:cs typeface="Times New Roman" panose="02020603050405020304" pitchFamily="18" charset="0"/>
            </a:rPr>
            <a:t>Research and Applications (Self-Driving Cars, Facial Recognition, Augmented &amp; Mixed Reality, Healthcare).</a:t>
          </a:r>
          <a:endParaRPr lang="en-IN" sz="1800" b="1" dirty="0">
            <a:latin typeface="Times New Roman" panose="02020603050405020304" pitchFamily="18" charset="0"/>
            <a:cs typeface="Times New Roman" panose="02020603050405020304" pitchFamily="18" charset="0"/>
          </a:endParaRPr>
        </a:p>
      </dgm:t>
    </dgm:pt>
    <dgm:pt modelId="{9EC411C3-9886-4B88-A2AC-5FF163382CAB}" type="parTrans" cxnId="{B237915B-2FFB-43C3-9F27-72A166E6AEF2}">
      <dgm:prSet/>
      <dgm:spPr/>
      <dgm:t>
        <a:bodyPr/>
        <a:lstStyle/>
        <a:p>
          <a:endParaRPr lang="en-US"/>
        </a:p>
      </dgm:t>
    </dgm:pt>
    <dgm:pt modelId="{E0103A15-DB8F-438F-B9BA-7CE37EF6909F}" type="sibTrans" cxnId="{B237915B-2FFB-43C3-9F27-72A166E6AEF2}">
      <dgm:prSet/>
      <dgm:spPr/>
      <dgm:t>
        <a:bodyPr/>
        <a:lstStyle/>
        <a:p>
          <a:endParaRPr lang="en-US"/>
        </a:p>
      </dgm:t>
    </dgm:pt>
    <dgm:pt modelId="{332F8809-646E-42AF-9D2D-A34BC837E318}">
      <dgm:prSet custT="1"/>
      <dgm:spPr>
        <a:solidFill>
          <a:srgbClr val="003300"/>
        </a:solidFill>
      </dgm:spPr>
      <dgm:t>
        <a:bodyPr/>
        <a:lstStyle/>
        <a:p>
          <a:pPr algn="ctr"/>
          <a:r>
            <a:rPr lang="en-GB" sz="1800" b="1" dirty="0">
              <a:latin typeface="Times New Roman" panose="02020603050405020304" pitchFamily="18" charset="0"/>
              <a:cs typeface="Times New Roman" panose="02020603050405020304" pitchFamily="18" charset="0"/>
            </a:rPr>
            <a:t>Most popular examples Categorization of Images</a:t>
          </a:r>
          <a:endParaRPr lang="en-IN" sz="1800" b="1" dirty="0">
            <a:latin typeface="Times New Roman" panose="02020603050405020304" pitchFamily="18" charset="0"/>
            <a:cs typeface="Times New Roman" panose="02020603050405020304" pitchFamily="18" charset="0"/>
          </a:endParaRPr>
        </a:p>
      </dgm:t>
    </dgm:pt>
    <dgm:pt modelId="{22682131-AA09-4EF5-B32D-59B5C5DB8223}" type="parTrans" cxnId="{CD496078-6F9A-4753-B753-7D1AD1B3B54E}">
      <dgm:prSet/>
      <dgm:spPr/>
      <dgm:t>
        <a:bodyPr/>
        <a:lstStyle/>
        <a:p>
          <a:endParaRPr lang="en-US"/>
        </a:p>
      </dgm:t>
    </dgm:pt>
    <dgm:pt modelId="{84349160-01E8-4106-A295-08BB4EFA2867}" type="sibTrans" cxnId="{CD496078-6F9A-4753-B753-7D1AD1B3B54E}">
      <dgm:prSet/>
      <dgm:spPr/>
      <dgm:t>
        <a:bodyPr/>
        <a:lstStyle/>
        <a:p>
          <a:endParaRPr lang="en-US"/>
        </a:p>
      </dgm:t>
    </dgm:pt>
    <dgm:pt modelId="{4DE9EA9A-0295-4EFB-9476-3B623BFC63D7}">
      <dgm:prSet custT="1"/>
      <dgm:spPr>
        <a:solidFill>
          <a:srgbClr val="0070C0"/>
        </a:solidFill>
      </dgm:spPr>
      <dgm:t>
        <a:bodyPr/>
        <a:lstStyle/>
        <a:p>
          <a:pPr algn="ctr"/>
          <a:r>
            <a:rPr lang="en-GB" sz="1800" b="1" dirty="0">
              <a:latin typeface="Times New Roman" panose="02020603050405020304" pitchFamily="18" charset="0"/>
              <a:cs typeface="Times New Roman" panose="02020603050405020304" pitchFamily="18" charset="0"/>
            </a:rPr>
            <a:t>Object  Detection</a:t>
          </a:r>
          <a:endParaRPr lang="en-IN" sz="1800" b="1" dirty="0">
            <a:latin typeface="Times New Roman" panose="02020603050405020304" pitchFamily="18" charset="0"/>
            <a:cs typeface="Times New Roman" panose="02020603050405020304" pitchFamily="18" charset="0"/>
          </a:endParaRPr>
        </a:p>
      </dgm:t>
    </dgm:pt>
    <dgm:pt modelId="{1CB33853-72FD-48F0-9DF6-263DA99B6E90}" type="parTrans" cxnId="{775FCAF8-2E01-4E25-A12B-AB198328B895}">
      <dgm:prSet/>
      <dgm:spPr/>
      <dgm:t>
        <a:bodyPr/>
        <a:lstStyle/>
        <a:p>
          <a:endParaRPr lang="en-US"/>
        </a:p>
      </dgm:t>
    </dgm:pt>
    <dgm:pt modelId="{E32F12E9-88E0-4A46-9E98-1D88C5634E07}" type="sibTrans" cxnId="{775FCAF8-2E01-4E25-A12B-AB198328B895}">
      <dgm:prSet/>
      <dgm:spPr/>
      <dgm:t>
        <a:bodyPr/>
        <a:lstStyle/>
        <a:p>
          <a:endParaRPr lang="en-US"/>
        </a:p>
      </dgm:t>
    </dgm:pt>
    <dgm:pt modelId="{910DC688-ECC1-46D6-90E2-5D75E5CFA3FC}">
      <dgm:prSet custT="1"/>
      <dgm:spPr>
        <a:solidFill>
          <a:srgbClr val="003300"/>
        </a:solidFill>
      </dgm:spPr>
      <dgm:t>
        <a:bodyPr/>
        <a:lstStyle/>
        <a:p>
          <a:pPr algn="ctr"/>
          <a:r>
            <a:rPr lang="en-GB" sz="1800" b="1">
              <a:latin typeface="Times New Roman" panose="02020603050405020304" pitchFamily="18" charset="0"/>
              <a:cs typeface="Times New Roman" panose="02020603050405020304" pitchFamily="18" charset="0"/>
            </a:rPr>
            <a:t>Observation of Moving Objects</a:t>
          </a:r>
          <a:endParaRPr lang="en-IN" sz="1800" b="1" dirty="0">
            <a:latin typeface="Times New Roman" panose="02020603050405020304" pitchFamily="18" charset="0"/>
            <a:cs typeface="Times New Roman" panose="02020603050405020304" pitchFamily="18" charset="0"/>
          </a:endParaRPr>
        </a:p>
      </dgm:t>
    </dgm:pt>
    <dgm:pt modelId="{9A952DD6-03DF-4763-A049-9F8269DCFED4}" type="parTrans" cxnId="{4A691409-95A4-48E0-A042-3D7390171623}">
      <dgm:prSet/>
      <dgm:spPr/>
      <dgm:t>
        <a:bodyPr/>
        <a:lstStyle/>
        <a:p>
          <a:endParaRPr lang="en-US"/>
        </a:p>
      </dgm:t>
    </dgm:pt>
    <dgm:pt modelId="{C393FF57-5DA1-4F24-BDD6-7A6DDBA539FC}" type="sibTrans" cxnId="{4A691409-95A4-48E0-A042-3D7390171623}">
      <dgm:prSet/>
      <dgm:spPr/>
      <dgm:t>
        <a:bodyPr/>
        <a:lstStyle/>
        <a:p>
          <a:endParaRPr lang="en-US"/>
        </a:p>
      </dgm:t>
    </dgm:pt>
    <dgm:pt modelId="{0AC380C0-9E07-4966-A0CF-E02C9B573525}">
      <dgm:prSet custT="1"/>
      <dgm:spPr>
        <a:solidFill>
          <a:srgbClr val="C00000"/>
        </a:solidFill>
      </dgm:spPr>
      <dgm:t>
        <a:bodyPr/>
        <a:lstStyle/>
        <a:p>
          <a:pPr algn="ctr"/>
          <a:r>
            <a:rPr lang="en-GB" sz="1800" b="1">
              <a:latin typeface="Times New Roman" panose="02020603050405020304" pitchFamily="18" charset="0"/>
              <a:cs typeface="Times New Roman" panose="02020603050405020304" pitchFamily="18" charset="0"/>
            </a:rPr>
            <a:t>Retrieval of Images Based on Their Contents</a:t>
          </a:r>
          <a:endParaRPr lang="en-IN" sz="1800" b="1" dirty="0">
            <a:latin typeface="Times New Roman" panose="02020603050405020304" pitchFamily="18" charset="0"/>
            <a:cs typeface="Times New Roman" panose="02020603050405020304" pitchFamily="18" charset="0"/>
          </a:endParaRPr>
        </a:p>
      </dgm:t>
    </dgm:pt>
    <dgm:pt modelId="{D1F9B705-60C2-4490-8B9A-B598230BC168}" type="parTrans" cxnId="{7EC93F50-1749-47B8-9703-57D38FF26892}">
      <dgm:prSet/>
      <dgm:spPr/>
      <dgm:t>
        <a:bodyPr/>
        <a:lstStyle/>
        <a:p>
          <a:endParaRPr lang="en-US"/>
        </a:p>
      </dgm:t>
    </dgm:pt>
    <dgm:pt modelId="{3D74E755-2313-4680-AB21-D3ED43D70344}" type="sibTrans" cxnId="{7EC93F50-1749-47B8-9703-57D38FF26892}">
      <dgm:prSet/>
      <dgm:spPr/>
      <dgm:t>
        <a:bodyPr/>
        <a:lstStyle/>
        <a:p>
          <a:endParaRPr lang="en-US"/>
        </a:p>
      </dgm:t>
    </dgm:pt>
    <dgm:pt modelId="{52A734FC-BE03-4FC2-9083-7280FD851C83}">
      <dgm:prSet custT="1"/>
      <dgm:spPr>
        <a:solidFill>
          <a:srgbClr val="FF3300"/>
        </a:solidFill>
      </dgm:spPr>
      <dgm:t>
        <a:bodyPr/>
        <a:lstStyle/>
        <a:p>
          <a:pPr algn="ctr"/>
          <a:r>
            <a:rPr lang="en-GB" sz="1800" b="1">
              <a:latin typeface="Times New Roman" panose="02020603050405020304" pitchFamily="18" charset="0"/>
              <a:cs typeface="Times New Roman" panose="02020603050405020304" pitchFamily="18" charset="0"/>
            </a:rPr>
            <a:t>Computer Vision Tasks classification</a:t>
          </a:r>
          <a:endParaRPr lang="en-IN" sz="1800" b="1" dirty="0">
            <a:latin typeface="Times New Roman" panose="02020603050405020304" pitchFamily="18" charset="0"/>
            <a:cs typeface="Times New Roman" panose="02020603050405020304" pitchFamily="18" charset="0"/>
          </a:endParaRPr>
        </a:p>
      </dgm:t>
    </dgm:pt>
    <dgm:pt modelId="{34D61F19-9C9B-48AC-BD84-2D8C2BFFB6BA}" type="parTrans" cxnId="{73586110-A983-40B6-8832-71500F7909E0}">
      <dgm:prSet/>
      <dgm:spPr/>
      <dgm:t>
        <a:bodyPr/>
        <a:lstStyle/>
        <a:p>
          <a:endParaRPr lang="en-US"/>
        </a:p>
      </dgm:t>
    </dgm:pt>
    <dgm:pt modelId="{7A604B12-CF00-4A46-B7E4-F6E09EF9FB57}" type="sibTrans" cxnId="{73586110-A983-40B6-8832-71500F7909E0}">
      <dgm:prSet/>
      <dgm:spPr/>
      <dgm:t>
        <a:bodyPr/>
        <a:lstStyle/>
        <a:p>
          <a:endParaRPr lang="en-US"/>
        </a:p>
      </dgm:t>
    </dgm:pt>
    <dgm:pt modelId="{0DCBAEB8-D794-4768-9593-F263FDD3AD01}">
      <dgm:prSet custT="1"/>
      <dgm:spPr/>
      <dgm:t>
        <a:bodyPr/>
        <a:lstStyle/>
        <a:p>
          <a:pPr algn="ctr"/>
          <a:r>
            <a:rPr lang="en-GB" sz="1800" b="1">
              <a:latin typeface="Times New Roman" panose="02020603050405020304" pitchFamily="18" charset="0"/>
              <a:cs typeface="Times New Roman" panose="02020603050405020304" pitchFamily="18" charset="0"/>
            </a:rPr>
            <a:t>object detection</a:t>
          </a:r>
          <a:endParaRPr lang="en-IN" sz="1800" b="1" dirty="0">
            <a:latin typeface="Times New Roman" panose="02020603050405020304" pitchFamily="18" charset="0"/>
            <a:cs typeface="Times New Roman" panose="02020603050405020304" pitchFamily="18" charset="0"/>
          </a:endParaRPr>
        </a:p>
      </dgm:t>
    </dgm:pt>
    <dgm:pt modelId="{3CFDF753-A114-4A0F-B560-4641E52A525C}" type="parTrans" cxnId="{2B548886-9EBA-43DA-A739-6C170C0B63E8}">
      <dgm:prSet/>
      <dgm:spPr/>
      <dgm:t>
        <a:bodyPr/>
        <a:lstStyle/>
        <a:p>
          <a:endParaRPr lang="en-US"/>
        </a:p>
      </dgm:t>
    </dgm:pt>
    <dgm:pt modelId="{E666510F-7FAC-45CC-B24F-7D772A2490B8}" type="sibTrans" cxnId="{2B548886-9EBA-43DA-A739-6C170C0B63E8}">
      <dgm:prSet/>
      <dgm:spPr/>
      <dgm:t>
        <a:bodyPr/>
        <a:lstStyle/>
        <a:p>
          <a:endParaRPr lang="en-US"/>
        </a:p>
      </dgm:t>
    </dgm:pt>
    <dgm:pt modelId="{9820C2B3-6983-4A94-9D58-ED8963FAF46A}">
      <dgm:prSet custT="1"/>
      <dgm:spPr/>
      <dgm:t>
        <a:bodyPr/>
        <a:lstStyle/>
        <a:p>
          <a:pPr algn="ctr"/>
          <a:r>
            <a:rPr lang="en-GB" sz="1800" b="1">
              <a:latin typeface="Times New Roman" panose="02020603050405020304" pitchFamily="18" charset="0"/>
              <a:cs typeface="Times New Roman" panose="02020603050405020304" pitchFamily="18" charset="0"/>
            </a:rPr>
            <a:t>Instance segmentation</a:t>
          </a:r>
          <a:endParaRPr lang="en-IN" sz="1800" b="1" dirty="0">
            <a:latin typeface="Times New Roman" panose="02020603050405020304" pitchFamily="18" charset="0"/>
            <a:cs typeface="Times New Roman" panose="02020603050405020304" pitchFamily="18" charset="0"/>
          </a:endParaRPr>
        </a:p>
      </dgm:t>
    </dgm:pt>
    <dgm:pt modelId="{431C1C25-1C78-40F1-8230-9A980BC36857}" type="parTrans" cxnId="{233C8A10-0492-4FE3-89EC-3DF6B0D9E146}">
      <dgm:prSet/>
      <dgm:spPr/>
      <dgm:t>
        <a:bodyPr/>
        <a:lstStyle/>
        <a:p>
          <a:endParaRPr lang="en-US"/>
        </a:p>
      </dgm:t>
    </dgm:pt>
    <dgm:pt modelId="{EDB3FAC6-887A-469A-B050-857B01DCFB4F}" type="sibTrans" cxnId="{233C8A10-0492-4FE3-89EC-3DF6B0D9E146}">
      <dgm:prSet/>
      <dgm:spPr/>
      <dgm:t>
        <a:bodyPr/>
        <a:lstStyle/>
        <a:p>
          <a:endParaRPr lang="en-US"/>
        </a:p>
      </dgm:t>
    </dgm:pt>
    <dgm:pt modelId="{9DDFBB48-524E-47FC-84C4-C7EBA29011F3}">
      <dgm:prSet custT="1"/>
      <dgm:spPr/>
      <dgm:t>
        <a:bodyPr/>
        <a:lstStyle/>
        <a:p>
          <a:pPr algn="ctr"/>
          <a:r>
            <a:rPr lang="en-GB" sz="1800" b="1" dirty="0">
              <a:latin typeface="Times New Roman" panose="02020603050405020304" pitchFamily="18" charset="0"/>
              <a:cs typeface="Times New Roman" panose="02020603050405020304" pitchFamily="18" charset="0"/>
            </a:rPr>
            <a:t>Convolutional Neural Networks</a:t>
          </a:r>
          <a:endParaRPr lang="en-IN" sz="1800" b="1" dirty="0">
            <a:latin typeface="Times New Roman" panose="02020603050405020304" pitchFamily="18" charset="0"/>
            <a:cs typeface="Times New Roman" panose="02020603050405020304" pitchFamily="18" charset="0"/>
          </a:endParaRPr>
        </a:p>
      </dgm:t>
    </dgm:pt>
    <dgm:pt modelId="{653C64CE-D798-488D-BF60-A22C833983C9}" type="parTrans" cxnId="{F8965402-FB43-458B-A6A0-CF5162178585}">
      <dgm:prSet/>
      <dgm:spPr/>
      <dgm:t>
        <a:bodyPr/>
        <a:lstStyle/>
        <a:p>
          <a:endParaRPr lang="en-US"/>
        </a:p>
      </dgm:t>
    </dgm:pt>
    <dgm:pt modelId="{9D75BF1F-ADA5-4CC9-8CB0-47D63732D30E}" type="sibTrans" cxnId="{F8965402-FB43-458B-A6A0-CF5162178585}">
      <dgm:prSet/>
      <dgm:spPr/>
      <dgm:t>
        <a:bodyPr/>
        <a:lstStyle/>
        <a:p>
          <a:endParaRPr lang="en-US"/>
        </a:p>
      </dgm:t>
    </dgm:pt>
    <dgm:pt modelId="{EAF75D90-4723-4848-AA4C-6124C13DA747}">
      <dgm:prSet custT="1"/>
      <dgm:spPr/>
      <dgm:t>
        <a:bodyPr/>
        <a:lstStyle/>
        <a:p>
          <a:pPr algn="ctr"/>
          <a:r>
            <a:rPr lang="en-GB" sz="1800" b="1">
              <a:latin typeface="Times New Roman" panose="02020603050405020304" pitchFamily="18" charset="0"/>
              <a:cs typeface="Times New Roman" panose="02020603050405020304" pitchFamily="18" charset="0"/>
            </a:rPr>
            <a:t>Evolution of CNN Architectures for Image</a:t>
          </a:r>
          <a:endParaRPr lang="en-IN" sz="1800" b="1" dirty="0">
            <a:latin typeface="Times New Roman" panose="02020603050405020304" pitchFamily="18" charset="0"/>
            <a:cs typeface="Times New Roman" panose="02020603050405020304" pitchFamily="18" charset="0"/>
          </a:endParaRPr>
        </a:p>
      </dgm:t>
    </dgm:pt>
    <dgm:pt modelId="{D6694592-2E3B-479F-8435-1C7AB8626959}" type="parTrans" cxnId="{E5E2EF86-BA59-49C9-8E72-4B1BC4726A8B}">
      <dgm:prSet/>
      <dgm:spPr/>
      <dgm:t>
        <a:bodyPr/>
        <a:lstStyle/>
        <a:p>
          <a:endParaRPr lang="en-US"/>
        </a:p>
      </dgm:t>
    </dgm:pt>
    <dgm:pt modelId="{9A6E61C3-FC22-4B02-9370-4D595934032C}" type="sibTrans" cxnId="{E5E2EF86-BA59-49C9-8E72-4B1BC4726A8B}">
      <dgm:prSet/>
      <dgm:spPr/>
      <dgm:t>
        <a:bodyPr/>
        <a:lstStyle/>
        <a:p>
          <a:endParaRPr lang="en-US"/>
        </a:p>
      </dgm:t>
    </dgm:pt>
    <dgm:pt modelId="{3563D27B-321B-4BC3-8B30-3D9231788433}">
      <dgm:prSet custT="1"/>
      <dgm:spPr/>
      <dgm:t>
        <a:bodyPr/>
        <a:lstStyle/>
        <a:p>
          <a:pPr algn="ctr"/>
          <a:r>
            <a:rPr lang="en-GB" sz="1800" b="1" dirty="0">
              <a:latin typeface="Times New Roman" panose="02020603050405020304" pitchFamily="18" charset="0"/>
              <a:cs typeface="Times New Roman" panose="02020603050405020304" pitchFamily="18" charset="0"/>
            </a:rPr>
            <a:t>Recent CNN</a:t>
          </a:r>
          <a:endParaRPr lang="en-IN" sz="1800" b="1" dirty="0">
            <a:latin typeface="Times New Roman" panose="02020603050405020304" pitchFamily="18" charset="0"/>
            <a:cs typeface="Times New Roman" panose="02020603050405020304" pitchFamily="18" charset="0"/>
          </a:endParaRPr>
        </a:p>
      </dgm:t>
    </dgm:pt>
    <dgm:pt modelId="{8A811B05-3FAC-454E-B3F2-11C7BC225CF7}" type="parTrans" cxnId="{47821628-64E0-48C6-B796-61FC50DB55EA}">
      <dgm:prSet/>
      <dgm:spPr/>
      <dgm:t>
        <a:bodyPr/>
        <a:lstStyle/>
        <a:p>
          <a:endParaRPr lang="en-US"/>
        </a:p>
      </dgm:t>
    </dgm:pt>
    <dgm:pt modelId="{BB498D33-D239-448E-A6B7-0EAA21869B71}" type="sibTrans" cxnId="{47821628-64E0-48C6-B796-61FC50DB55EA}">
      <dgm:prSet/>
      <dgm:spPr/>
      <dgm:t>
        <a:bodyPr/>
        <a:lstStyle/>
        <a:p>
          <a:endParaRPr lang="en-US"/>
        </a:p>
      </dgm:t>
    </dgm:pt>
    <dgm:pt modelId="{D33596F6-0387-4E81-AA22-5647C82493BE}" type="pres">
      <dgm:prSet presAssocID="{548E5BA7-139C-426B-89F7-6FDCC9986254}" presName="linear" presStyleCnt="0">
        <dgm:presLayoutVars>
          <dgm:dir/>
          <dgm:animLvl val="lvl"/>
          <dgm:resizeHandles val="exact"/>
        </dgm:presLayoutVars>
      </dgm:prSet>
      <dgm:spPr/>
    </dgm:pt>
    <dgm:pt modelId="{7E7EC990-8F4A-446F-B957-2B5851B95817}" type="pres">
      <dgm:prSet presAssocID="{2E76421B-DB30-4FA8-B16F-5EB453EB63EE}" presName="parentLin" presStyleCnt="0"/>
      <dgm:spPr/>
    </dgm:pt>
    <dgm:pt modelId="{08F8784F-DE29-4A72-AC74-527AD7CDEE04}" type="pres">
      <dgm:prSet presAssocID="{2E76421B-DB30-4FA8-B16F-5EB453EB63EE}" presName="parentLeftMargin" presStyleLbl="node1" presStyleIdx="0" presStyleCnt="12"/>
      <dgm:spPr/>
    </dgm:pt>
    <dgm:pt modelId="{19B87EFE-EE8E-4D49-80CB-CB255DC90386}" type="pres">
      <dgm:prSet presAssocID="{2E76421B-DB30-4FA8-B16F-5EB453EB63EE}" presName="parentText" presStyleLbl="node1" presStyleIdx="0" presStyleCnt="12" custScaleX="153554" custScaleY="244673" custLinFactY="-100000" custLinFactNeighborX="-81232" custLinFactNeighborY="-133128">
        <dgm:presLayoutVars>
          <dgm:chMax val="0"/>
          <dgm:bulletEnabled val="1"/>
        </dgm:presLayoutVars>
      </dgm:prSet>
      <dgm:spPr/>
    </dgm:pt>
    <dgm:pt modelId="{495B64E2-6ED8-4A2C-ABD7-475394D55342}" type="pres">
      <dgm:prSet presAssocID="{2E76421B-DB30-4FA8-B16F-5EB453EB63EE}" presName="negativeSpace" presStyleCnt="0"/>
      <dgm:spPr/>
    </dgm:pt>
    <dgm:pt modelId="{B04F9DC1-8189-462F-9CE6-DAB413F95679}" type="pres">
      <dgm:prSet presAssocID="{2E76421B-DB30-4FA8-B16F-5EB453EB63EE}" presName="childText" presStyleLbl="conFgAcc1" presStyleIdx="0" presStyleCnt="12">
        <dgm:presLayoutVars>
          <dgm:bulletEnabled val="1"/>
        </dgm:presLayoutVars>
      </dgm:prSet>
      <dgm:spPr/>
    </dgm:pt>
    <dgm:pt modelId="{97A31753-39CE-49E6-8DF5-70DEA860D7BF}" type="pres">
      <dgm:prSet presAssocID="{D6A3ED1B-3E0B-4E5B-B0B6-B1453BB0CD63}" presName="spaceBetweenRectangles" presStyleCnt="0"/>
      <dgm:spPr/>
    </dgm:pt>
    <dgm:pt modelId="{7F7AFA30-5092-457B-8993-083A4DEDD5EF}" type="pres">
      <dgm:prSet presAssocID="{FD185861-8CE6-4D06-9251-1B7C4FCB415A}" presName="parentLin" presStyleCnt="0"/>
      <dgm:spPr/>
    </dgm:pt>
    <dgm:pt modelId="{61D21AA2-CBBD-4B31-AC3C-41DBE89FF122}" type="pres">
      <dgm:prSet presAssocID="{FD185861-8CE6-4D06-9251-1B7C4FCB415A}" presName="parentLeftMargin" presStyleLbl="node1" presStyleIdx="0" presStyleCnt="12"/>
      <dgm:spPr/>
    </dgm:pt>
    <dgm:pt modelId="{02102633-764F-4C30-AEC0-514F4F7EC8B5}" type="pres">
      <dgm:prSet presAssocID="{FD185861-8CE6-4D06-9251-1B7C4FCB415A}" presName="parentText" presStyleLbl="node1" presStyleIdx="1" presStyleCnt="12" custScaleX="144837" custScaleY="340938" custLinFactNeighborX="-83217" custLinFactNeighborY="-18168">
        <dgm:presLayoutVars>
          <dgm:chMax val="0"/>
          <dgm:bulletEnabled val="1"/>
        </dgm:presLayoutVars>
      </dgm:prSet>
      <dgm:spPr/>
    </dgm:pt>
    <dgm:pt modelId="{110AA3EF-DF9F-48AF-AC35-7BB57CC6BF4E}" type="pres">
      <dgm:prSet presAssocID="{FD185861-8CE6-4D06-9251-1B7C4FCB415A}" presName="negativeSpace" presStyleCnt="0"/>
      <dgm:spPr/>
    </dgm:pt>
    <dgm:pt modelId="{E87BA916-7EC7-4CD1-8B4E-67D8E09E31D4}" type="pres">
      <dgm:prSet presAssocID="{FD185861-8CE6-4D06-9251-1B7C4FCB415A}" presName="childText" presStyleLbl="conFgAcc1" presStyleIdx="1" presStyleCnt="12">
        <dgm:presLayoutVars>
          <dgm:bulletEnabled val="1"/>
        </dgm:presLayoutVars>
      </dgm:prSet>
      <dgm:spPr/>
    </dgm:pt>
    <dgm:pt modelId="{F8A6B6A1-5637-4359-86B3-09E7B38A481B}" type="pres">
      <dgm:prSet presAssocID="{E0103A15-DB8F-438F-B9BA-7CE37EF6909F}" presName="spaceBetweenRectangles" presStyleCnt="0"/>
      <dgm:spPr/>
    </dgm:pt>
    <dgm:pt modelId="{2F24DA53-9F28-4784-9718-4FF486C4937B}" type="pres">
      <dgm:prSet presAssocID="{332F8809-646E-42AF-9D2D-A34BC837E318}" presName="parentLin" presStyleCnt="0"/>
      <dgm:spPr/>
    </dgm:pt>
    <dgm:pt modelId="{0B4E1DBB-903A-4A8A-8304-7F35E1DD3608}" type="pres">
      <dgm:prSet presAssocID="{332F8809-646E-42AF-9D2D-A34BC837E318}" presName="parentLeftMargin" presStyleLbl="node1" presStyleIdx="1" presStyleCnt="12"/>
      <dgm:spPr/>
    </dgm:pt>
    <dgm:pt modelId="{C850BFBB-0B1B-410F-A98B-7EF17C078B0E}" type="pres">
      <dgm:prSet presAssocID="{332F8809-646E-42AF-9D2D-A34BC837E318}" presName="parentText" presStyleLbl="node1" presStyleIdx="2" presStyleCnt="12" custScaleX="142857" custScaleY="213808">
        <dgm:presLayoutVars>
          <dgm:chMax val="0"/>
          <dgm:bulletEnabled val="1"/>
        </dgm:presLayoutVars>
      </dgm:prSet>
      <dgm:spPr/>
    </dgm:pt>
    <dgm:pt modelId="{CB7A183B-7B5D-4011-A26C-95F17A6332CF}" type="pres">
      <dgm:prSet presAssocID="{332F8809-646E-42AF-9D2D-A34BC837E318}" presName="negativeSpace" presStyleCnt="0"/>
      <dgm:spPr/>
    </dgm:pt>
    <dgm:pt modelId="{68CDAE6D-2177-473E-B1D2-93C9EFCC18CB}" type="pres">
      <dgm:prSet presAssocID="{332F8809-646E-42AF-9D2D-A34BC837E318}" presName="childText" presStyleLbl="conFgAcc1" presStyleIdx="2" presStyleCnt="12">
        <dgm:presLayoutVars>
          <dgm:bulletEnabled val="1"/>
        </dgm:presLayoutVars>
      </dgm:prSet>
      <dgm:spPr/>
    </dgm:pt>
    <dgm:pt modelId="{2CFBFA38-D824-4FC0-BC01-CBDE37D9F5B3}" type="pres">
      <dgm:prSet presAssocID="{84349160-01E8-4106-A295-08BB4EFA2867}" presName="spaceBetweenRectangles" presStyleCnt="0"/>
      <dgm:spPr/>
    </dgm:pt>
    <dgm:pt modelId="{F4D2BF5D-C3EB-4CBC-8C87-768C9D4EB374}" type="pres">
      <dgm:prSet presAssocID="{4DE9EA9A-0295-4EFB-9476-3B623BFC63D7}" presName="parentLin" presStyleCnt="0"/>
      <dgm:spPr/>
    </dgm:pt>
    <dgm:pt modelId="{44E2D38D-C621-4DE1-AD1B-DF39786A88D1}" type="pres">
      <dgm:prSet presAssocID="{4DE9EA9A-0295-4EFB-9476-3B623BFC63D7}" presName="parentLeftMargin" presStyleLbl="node1" presStyleIdx="2" presStyleCnt="12"/>
      <dgm:spPr/>
    </dgm:pt>
    <dgm:pt modelId="{A5578C90-49C9-4052-BE4C-0B5BBC1CAF61}" type="pres">
      <dgm:prSet presAssocID="{4DE9EA9A-0295-4EFB-9476-3B623BFC63D7}" presName="parentText" presStyleLbl="node1" presStyleIdx="3" presStyleCnt="12" custScaleX="123419" custScaleY="131538">
        <dgm:presLayoutVars>
          <dgm:chMax val="0"/>
          <dgm:bulletEnabled val="1"/>
        </dgm:presLayoutVars>
      </dgm:prSet>
      <dgm:spPr/>
    </dgm:pt>
    <dgm:pt modelId="{DD883938-B03F-4A48-8650-F21509803A90}" type="pres">
      <dgm:prSet presAssocID="{4DE9EA9A-0295-4EFB-9476-3B623BFC63D7}" presName="negativeSpace" presStyleCnt="0"/>
      <dgm:spPr/>
    </dgm:pt>
    <dgm:pt modelId="{8DC83C71-1B61-465E-B18F-3CFC15A71AA9}" type="pres">
      <dgm:prSet presAssocID="{4DE9EA9A-0295-4EFB-9476-3B623BFC63D7}" presName="childText" presStyleLbl="conFgAcc1" presStyleIdx="3" presStyleCnt="12">
        <dgm:presLayoutVars>
          <dgm:bulletEnabled val="1"/>
        </dgm:presLayoutVars>
      </dgm:prSet>
      <dgm:spPr/>
    </dgm:pt>
    <dgm:pt modelId="{35253B41-8397-46E4-BCE3-9D7820E06A63}" type="pres">
      <dgm:prSet presAssocID="{E32F12E9-88E0-4A46-9E98-1D88C5634E07}" presName="spaceBetweenRectangles" presStyleCnt="0"/>
      <dgm:spPr/>
    </dgm:pt>
    <dgm:pt modelId="{E0E7FA60-A656-4B29-87F9-7F82D17B286A}" type="pres">
      <dgm:prSet presAssocID="{910DC688-ECC1-46D6-90E2-5D75E5CFA3FC}" presName="parentLin" presStyleCnt="0"/>
      <dgm:spPr/>
    </dgm:pt>
    <dgm:pt modelId="{E1AEB959-A4BC-41CC-AB64-F143846F92DB}" type="pres">
      <dgm:prSet presAssocID="{910DC688-ECC1-46D6-90E2-5D75E5CFA3FC}" presName="parentLeftMargin" presStyleLbl="node1" presStyleIdx="3" presStyleCnt="12"/>
      <dgm:spPr/>
    </dgm:pt>
    <dgm:pt modelId="{0C6A1E47-160F-48B8-AA11-9C6661A01EF0}" type="pres">
      <dgm:prSet presAssocID="{910DC688-ECC1-46D6-90E2-5D75E5CFA3FC}" presName="parentText" presStyleLbl="node1" presStyleIdx="4" presStyleCnt="12" custScaleX="123419" custScaleY="186547">
        <dgm:presLayoutVars>
          <dgm:chMax val="0"/>
          <dgm:bulletEnabled val="1"/>
        </dgm:presLayoutVars>
      </dgm:prSet>
      <dgm:spPr/>
    </dgm:pt>
    <dgm:pt modelId="{BAD03946-0A55-47BD-965E-E45D751CB5DC}" type="pres">
      <dgm:prSet presAssocID="{910DC688-ECC1-46D6-90E2-5D75E5CFA3FC}" presName="negativeSpace" presStyleCnt="0"/>
      <dgm:spPr/>
    </dgm:pt>
    <dgm:pt modelId="{106667C8-3CF0-475D-928B-58F7870A8F1D}" type="pres">
      <dgm:prSet presAssocID="{910DC688-ECC1-46D6-90E2-5D75E5CFA3FC}" presName="childText" presStyleLbl="conFgAcc1" presStyleIdx="4" presStyleCnt="12">
        <dgm:presLayoutVars>
          <dgm:bulletEnabled val="1"/>
        </dgm:presLayoutVars>
      </dgm:prSet>
      <dgm:spPr/>
    </dgm:pt>
    <dgm:pt modelId="{6D3776D5-0B96-433A-96A4-4B691747D87B}" type="pres">
      <dgm:prSet presAssocID="{C393FF57-5DA1-4F24-BDD6-7A6DDBA539FC}" presName="spaceBetweenRectangles" presStyleCnt="0"/>
      <dgm:spPr/>
    </dgm:pt>
    <dgm:pt modelId="{0F4D78D1-E825-43BE-973F-422BE2880F8C}" type="pres">
      <dgm:prSet presAssocID="{0AC380C0-9E07-4966-A0CF-E02C9B573525}" presName="parentLin" presStyleCnt="0"/>
      <dgm:spPr/>
    </dgm:pt>
    <dgm:pt modelId="{C643665E-493B-4A4F-A717-9BEA8842CD90}" type="pres">
      <dgm:prSet presAssocID="{0AC380C0-9E07-4966-A0CF-E02C9B573525}" presName="parentLeftMargin" presStyleLbl="node1" presStyleIdx="4" presStyleCnt="12"/>
      <dgm:spPr/>
    </dgm:pt>
    <dgm:pt modelId="{2FD1299F-359E-4584-9903-80A47193E03A}" type="pres">
      <dgm:prSet presAssocID="{0AC380C0-9E07-4966-A0CF-E02C9B573525}" presName="parentText" presStyleLbl="node1" presStyleIdx="5" presStyleCnt="12" custScaleX="123419" custScaleY="272590">
        <dgm:presLayoutVars>
          <dgm:chMax val="0"/>
          <dgm:bulletEnabled val="1"/>
        </dgm:presLayoutVars>
      </dgm:prSet>
      <dgm:spPr/>
    </dgm:pt>
    <dgm:pt modelId="{D04197B4-BEE9-4EF4-A590-38D9D71CB048}" type="pres">
      <dgm:prSet presAssocID="{0AC380C0-9E07-4966-A0CF-E02C9B573525}" presName="negativeSpace" presStyleCnt="0"/>
      <dgm:spPr/>
    </dgm:pt>
    <dgm:pt modelId="{28326635-FDF9-47E5-86A2-9F72FD5D5F83}" type="pres">
      <dgm:prSet presAssocID="{0AC380C0-9E07-4966-A0CF-E02C9B573525}" presName="childText" presStyleLbl="conFgAcc1" presStyleIdx="5" presStyleCnt="12">
        <dgm:presLayoutVars>
          <dgm:bulletEnabled val="1"/>
        </dgm:presLayoutVars>
      </dgm:prSet>
      <dgm:spPr/>
    </dgm:pt>
    <dgm:pt modelId="{9BD897F5-5206-492F-92E9-ACE95759DDA1}" type="pres">
      <dgm:prSet presAssocID="{3D74E755-2313-4680-AB21-D3ED43D70344}" presName="spaceBetweenRectangles" presStyleCnt="0"/>
      <dgm:spPr/>
    </dgm:pt>
    <dgm:pt modelId="{BA463C80-169E-423B-8DA6-21D34FB75CFB}" type="pres">
      <dgm:prSet presAssocID="{52A734FC-BE03-4FC2-9083-7280FD851C83}" presName="parentLin" presStyleCnt="0"/>
      <dgm:spPr/>
    </dgm:pt>
    <dgm:pt modelId="{4624F777-1362-4433-A9BC-517B1F152F1B}" type="pres">
      <dgm:prSet presAssocID="{52A734FC-BE03-4FC2-9083-7280FD851C83}" presName="parentLeftMargin" presStyleLbl="node1" presStyleIdx="5" presStyleCnt="12"/>
      <dgm:spPr/>
    </dgm:pt>
    <dgm:pt modelId="{A88946DD-B105-49B6-823D-4C714B795B72}" type="pres">
      <dgm:prSet presAssocID="{52A734FC-BE03-4FC2-9083-7280FD851C83}" presName="parentText" presStyleLbl="node1" presStyleIdx="6" presStyleCnt="12" custScaleX="123419" custScaleY="246778">
        <dgm:presLayoutVars>
          <dgm:chMax val="0"/>
          <dgm:bulletEnabled val="1"/>
        </dgm:presLayoutVars>
      </dgm:prSet>
      <dgm:spPr/>
    </dgm:pt>
    <dgm:pt modelId="{682E3F3B-9019-4BAE-93C4-B5F2E60E1463}" type="pres">
      <dgm:prSet presAssocID="{52A734FC-BE03-4FC2-9083-7280FD851C83}" presName="negativeSpace" presStyleCnt="0"/>
      <dgm:spPr/>
    </dgm:pt>
    <dgm:pt modelId="{B206F4C0-C8F5-4434-8627-F8DD90B31BC8}" type="pres">
      <dgm:prSet presAssocID="{52A734FC-BE03-4FC2-9083-7280FD851C83}" presName="childText" presStyleLbl="conFgAcc1" presStyleIdx="6" presStyleCnt="12">
        <dgm:presLayoutVars>
          <dgm:bulletEnabled val="1"/>
        </dgm:presLayoutVars>
      </dgm:prSet>
      <dgm:spPr/>
    </dgm:pt>
    <dgm:pt modelId="{44AC0A31-141E-4151-9B47-6AF1C9D47DA1}" type="pres">
      <dgm:prSet presAssocID="{7A604B12-CF00-4A46-B7E4-F6E09EF9FB57}" presName="spaceBetweenRectangles" presStyleCnt="0"/>
      <dgm:spPr/>
    </dgm:pt>
    <dgm:pt modelId="{EB1C9E10-8E44-4874-B87E-6EE18E6AC2E5}" type="pres">
      <dgm:prSet presAssocID="{0DCBAEB8-D794-4768-9593-F263FDD3AD01}" presName="parentLin" presStyleCnt="0"/>
      <dgm:spPr/>
    </dgm:pt>
    <dgm:pt modelId="{7D1F8B56-433E-49F8-8CDE-7564F717983C}" type="pres">
      <dgm:prSet presAssocID="{0DCBAEB8-D794-4768-9593-F263FDD3AD01}" presName="parentLeftMargin" presStyleLbl="node1" presStyleIdx="6" presStyleCnt="12"/>
      <dgm:spPr/>
    </dgm:pt>
    <dgm:pt modelId="{4E445145-AED9-485B-A529-7927013B3642}" type="pres">
      <dgm:prSet presAssocID="{0DCBAEB8-D794-4768-9593-F263FDD3AD01}" presName="parentText" presStyleLbl="node1" presStyleIdx="7" presStyleCnt="12" custScaleX="123419" custScaleY="272589">
        <dgm:presLayoutVars>
          <dgm:chMax val="0"/>
          <dgm:bulletEnabled val="1"/>
        </dgm:presLayoutVars>
      </dgm:prSet>
      <dgm:spPr/>
    </dgm:pt>
    <dgm:pt modelId="{5743B155-0027-4866-8949-7A9A985431C2}" type="pres">
      <dgm:prSet presAssocID="{0DCBAEB8-D794-4768-9593-F263FDD3AD01}" presName="negativeSpace" presStyleCnt="0"/>
      <dgm:spPr/>
    </dgm:pt>
    <dgm:pt modelId="{5A2DE0B9-9DD7-4A30-AB19-7A350BC973E0}" type="pres">
      <dgm:prSet presAssocID="{0DCBAEB8-D794-4768-9593-F263FDD3AD01}" presName="childText" presStyleLbl="conFgAcc1" presStyleIdx="7" presStyleCnt="12">
        <dgm:presLayoutVars>
          <dgm:bulletEnabled val="1"/>
        </dgm:presLayoutVars>
      </dgm:prSet>
      <dgm:spPr/>
    </dgm:pt>
    <dgm:pt modelId="{C839E168-6DCA-49C4-A279-4C8726A3F00F}" type="pres">
      <dgm:prSet presAssocID="{E666510F-7FAC-45CC-B24F-7D772A2490B8}" presName="spaceBetweenRectangles" presStyleCnt="0"/>
      <dgm:spPr/>
    </dgm:pt>
    <dgm:pt modelId="{04C8FE97-EF29-469E-9B2A-43DC1CA2F0A8}" type="pres">
      <dgm:prSet presAssocID="{9820C2B3-6983-4A94-9D58-ED8963FAF46A}" presName="parentLin" presStyleCnt="0"/>
      <dgm:spPr/>
    </dgm:pt>
    <dgm:pt modelId="{37FC5D2F-677F-4F91-851C-67233AF3BC09}" type="pres">
      <dgm:prSet presAssocID="{9820C2B3-6983-4A94-9D58-ED8963FAF46A}" presName="parentLeftMargin" presStyleLbl="node1" presStyleIdx="7" presStyleCnt="12"/>
      <dgm:spPr/>
    </dgm:pt>
    <dgm:pt modelId="{8E5ED251-328F-4D45-B653-72712F48C97C}" type="pres">
      <dgm:prSet presAssocID="{9820C2B3-6983-4A94-9D58-ED8963FAF46A}" presName="parentText" presStyleLbl="node1" presStyleIdx="8" presStyleCnt="12" custScaleX="123419" custScaleY="169339">
        <dgm:presLayoutVars>
          <dgm:chMax val="0"/>
          <dgm:bulletEnabled val="1"/>
        </dgm:presLayoutVars>
      </dgm:prSet>
      <dgm:spPr/>
    </dgm:pt>
    <dgm:pt modelId="{DD7FEFC5-6CCF-4E33-8200-1C6338C57215}" type="pres">
      <dgm:prSet presAssocID="{9820C2B3-6983-4A94-9D58-ED8963FAF46A}" presName="negativeSpace" presStyleCnt="0"/>
      <dgm:spPr/>
    </dgm:pt>
    <dgm:pt modelId="{9A8B2044-1180-4423-8EB4-D939AB910ED5}" type="pres">
      <dgm:prSet presAssocID="{9820C2B3-6983-4A94-9D58-ED8963FAF46A}" presName="childText" presStyleLbl="conFgAcc1" presStyleIdx="8" presStyleCnt="12">
        <dgm:presLayoutVars>
          <dgm:bulletEnabled val="1"/>
        </dgm:presLayoutVars>
      </dgm:prSet>
      <dgm:spPr/>
    </dgm:pt>
    <dgm:pt modelId="{EEA0B182-CE03-4801-968E-A6523C6C51DD}" type="pres">
      <dgm:prSet presAssocID="{EDB3FAC6-887A-469A-B050-857B01DCFB4F}" presName="spaceBetweenRectangles" presStyleCnt="0"/>
      <dgm:spPr/>
    </dgm:pt>
    <dgm:pt modelId="{5A6BD477-FB58-4272-990C-AB164821E5C2}" type="pres">
      <dgm:prSet presAssocID="{9DDFBB48-524E-47FC-84C4-C7EBA29011F3}" presName="parentLin" presStyleCnt="0"/>
      <dgm:spPr/>
    </dgm:pt>
    <dgm:pt modelId="{20DE32C4-A022-45C2-876F-E5530BE71C74}" type="pres">
      <dgm:prSet presAssocID="{9DDFBB48-524E-47FC-84C4-C7EBA29011F3}" presName="parentLeftMargin" presStyleLbl="node1" presStyleIdx="8" presStyleCnt="12"/>
      <dgm:spPr/>
    </dgm:pt>
    <dgm:pt modelId="{9BB86192-9B5D-4B8A-B3E2-2753259F3AE5}" type="pres">
      <dgm:prSet presAssocID="{9DDFBB48-524E-47FC-84C4-C7EBA29011F3}" presName="parentText" presStyleLbl="node1" presStyleIdx="9" presStyleCnt="12" custScaleX="123419" custScaleY="169339">
        <dgm:presLayoutVars>
          <dgm:chMax val="0"/>
          <dgm:bulletEnabled val="1"/>
        </dgm:presLayoutVars>
      </dgm:prSet>
      <dgm:spPr/>
    </dgm:pt>
    <dgm:pt modelId="{9A3E241C-7BE5-4888-9ED8-D970D831CFE0}" type="pres">
      <dgm:prSet presAssocID="{9DDFBB48-524E-47FC-84C4-C7EBA29011F3}" presName="negativeSpace" presStyleCnt="0"/>
      <dgm:spPr/>
    </dgm:pt>
    <dgm:pt modelId="{5283829B-7D84-48A6-B86C-F83F61631188}" type="pres">
      <dgm:prSet presAssocID="{9DDFBB48-524E-47FC-84C4-C7EBA29011F3}" presName="childText" presStyleLbl="conFgAcc1" presStyleIdx="9" presStyleCnt="12">
        <dgm:presLayoutVars>
          <dgm:bulletEnabled val="1"/>
        </dgm:presLayoutVars>
      </dgm:prSet>
      <dgm:spPr/>
    </dgm:pt>
    <dgm:pt modelId="{FDD1C63A-D52D-42D6-860E-88D87D62737A}" type="pres">
      <dgm:prSet presAssocID="{9D75BF1F-ADA5-4CC9-8CB0-47D63732D30E}" presName="spaceBetweenRectangles" presStyleCnt="0"/>
      <dgm:spPr/>
    </dgm:pt>
    <dgm:pt modelId="{A284800B-0AE4-4FDE-B6B3-FE7AA08A2750}" type="pres">
      <dgm:prSet presAssocID="{EAF75D90-4723-4848-AA4C-6124C13DA747}" presName="parentLin" presStyleCnt="0"/>
      <dgm:spPr/>
    </dgm:pt>
    <dgm:pt modelId="{0D1A94B7-2603-457B-A57E-FA0643B24BCF}" type="pres">
      <dgm:prSet presAssocID="{EAF75D90-4723-4848-AA4C-6124C13DA747}" presName="parentLeftMargin" presStyleLbl="node1" presStyleIdx="9" presStyleCnt="12"/>
      <dgm:spPr/>
    </dgm:pt>
    <dgm:pt modelId="{A95029AC-89E1-4F1E-BC63-4C5EC467E6F8}" type="pres">
      <dgm:prSet presAssocID="{EAF75D90-4723-4848-AA4C-6124C13DA747}" presName="parentText" presStyleLbl="node1" presStyleIdx="10" presStyleCnt="12" custScaleX="127231" custScaleY="202324">
        <dgm:presLayoutVars>
          <dgm:chMax val="0"/>
          <dgm:bulletEnabled val="1"/>
        </dgm:presLayoutVars>
      </dgm:prSet>
      <dgm:spPr/>
    </dgm:pt>
    <dgm:pt modelId="{2AC181DA-35BF-4601-A172-7CBA59D03847}" type="pres">
      <dgm:prSet presAssocID="{EAF75D90-4723-4848-AA4C-6124C13DA747}" presName="negativeSpace" presStyleCnt="0"/>
      <dgm:spPr/>
    </dgm:pt>
    <dgm:pt modelId="{FEC97E0D-CDAF-48B7-8E98-10CDC073A59E}" type="pres">
      <dgm:prSet presAssocID="{EAF75D90-4723-4848-AA4C-6124C13DA747}" presName="childText" presStyleLbl="conFgAcc1" presStyleIdx="10" presStyleCnt="12">
        <dgm:presLayoutVars>
          <dgm:bulletEnabled val="1"/>
        </dgm:presLayoutVars>
      </dgm:prSet>
      <dgm:spPr/>
    </dgm:pt>
    <dgm:pt modelId="{CC430766-D98E-4871-B458-2CC4445FE75E}" type="pres">
      <dgm:prSet presAssocID="{9A6E61C3-FC22-4B02-9370-4D595934032C}" presName="spaceBetweenRectangles" presStyleCnt="0"/>
      <dgm:spPr/>
    </dgm:pt>
    <dgm:pt modelId="{5ABA514C-2F5C-4985-8DAC-1AC103B900E9}" type="pres">
      <dgm:prSet presAssocID="{3563D27B-321B-4BC3-8B30-3D9231788433}" presName="parentLin" presStyleCnt="0"/>
      <dgm:spPr/>
    </dgm:pt>
    <dgm:pt modelId="{2D7C452A-A490-4694-A122-46DDAA541280}" type="pres">
      <dgm:prSet presAssocID="{3563D27B-321B-4BC3-8B30-3D9231788433}" presName="parentLeftMargin" presStyleLbl="node1" presStyleIdx="10" presStyleCnt="12"/>
      <dgm:spPr/>
    </dgm:pt>
    <dgm:pt modelId="{ED7B8F8B-D588-48E6-B9D8-54BB6B12A690}" type="pres">
      <dgm:prSet presAssocID="{3563D27B-321B-4BC3-8B30-3D9231788433}" presName="parentText" presStyleLbl="node1" presStyleIdx="11" presStyleCnt="12" custScaleX="123419" custScaleY="169339">
        <dgm:presLayoutVars>
          <dgm:chMax val="0"/>
          <dgm:bulletEnabled val="1"/>
        </dgm:presLayoutVars>
      </dgm:prSet>
      <dgm:spPr/>
    </dgm:pt>
    <dgm:pt modelId="{29063C17-BDC9-49C8-9442-C1CCB8B96E3D}" type="pres">
      <dgm:prSet presAssocID="{3563D27B-321B-4BC3-8B30-3D9231788433}" presName="negativeSpace" presStyleCnt="0"/>
      <dgm:spPr/>
    </dgm:pt>
    <dgm:pt modelId="{BC94104F-623C-4B87-8839-AFCA25DD98C0}" type="pres">
      <dgm:prSet presAssocID="{3563D27B-321B-4BC3-8B30-3D9231788433}" presName="childText" presStyleLbl="conFgAcc1" presStyleIdx="11" presStyleCnt="12">
        <dgm:presLayoutVars>
          <dgm:bulletEnabled val="1"/>
        </dgm:presLayoutVars>
      </dgm:prSet>
      <dgm:spPr/>
    </dgm:pt>
  </dgm:ptLst>
  <dgm:cxnLst>
    <dgm:cxn modelId="{511CFD00-236D-430E-BA8F-3D218D3D33F0}" srcId="{548E5BA7-139C-426B-89F7-6FDCC9986254}" destId="{2E76421B-DB30-4FA8-B16F-5EB453EB63EE}" srcOrd="0" destOrd="0" parTransId="{21C3A60E-A577-4CC5-9655-A11F1FB43A72}" sibTransId="{D6A3ED1B-3E0B-4E5B-B0B6-B1453BB0CD63}"/>
    <dgm:cxn modelId="{F8965402-FB43-458B-A6A0-CF5162178585}" srcId="{548E5BA7-139C-426B-89F7-6FDCC9986254}" destId="{9DDFBB48-524E-47FC-84C4-C7EBA29011F3}" srcOrd="9" destOrd="0" parTransId="{653C64CE-D798-488D-BF60-A22C833983C9}" sibTransId="{9D75BF1F-ADA5-4CC9-8CB0-47D63732D30E}"/>
    <dgm:cxn modelId="{4A691409-95A4-48E0-A042-3D7390171623}" srcId="{548E5BA7-139C-426B-89F7-6FDCC9986254}" destId="{910DC688-ECC1-46D6-90E2-5D75E5CFA3FC}" srcOrd="4" destOrd="0" parTransId="{9A952DD6-03DF-4763-A049-9F8269DCFED4}" sibTransId="{C393FF57-5DA1-4F24-BDD6-7A6DDBA539FC}"/>
    <dgm:cxn modelId="{F489160E-BEC7-40E3-9EF8-41052CC2A856}" type="presOf" srcId="{52A734FC-BE03-4FC2-9083-7280FD851C83}" destId="{4624F777-1362-4433-A9BC-517B1F152F1B}" srcOrd="0" destOrd="0" presId="urn:microsoft.com/office/officeart/2005/8/layout/list1"/>
    <dgm:cxn modelId="{73586110-A983-40B6-8832-71500F7909E0}" srcId="{548E5BA7-139C-426B-89F7-6FDCC9986254}" destId="{52A734FC-BE03-4FC2-9083-7280FD851C83}" srcOrd="6" destOrd="0" parTransId="{34D61F19-9C9B-48AC-BD84-2D8C2BFFB6BA}" sibTransId="{7A604B12-CF00-4A46-B7E4-F6E09EF9FB57}"/>
    <dgm:cxn modelId="{233C8A10-0492-4FE3-89EC-3DF6B0D9E146}" srcId="{548E5BA7-139C-426B-89F7-6FDCC9986254}" destId="{9820C2B3-6983-4A94-9D58-ED8963FAF46A}" srcOrd="8" destOrd="0" parTransId="{431C1C25-1C78-40F1-8230-9A980BC36857}" sibTransId="{EDB3FAC6-887A-469A-B050-857B01DCFB4F}"/>
    <dgm:cxn modelId="{58147016-B88B-4091-80DF-9EEAA965A7C0}" type="presOf" srcId="{9820C2B3-6983-4A94-9D58-ED8963FAF46A}" destId="{37FC5D2F-677F-4F91-851C-67233AF3BC09}" srcOrd="0" destOrd="0" presId="urn:microsoft.com/office/officeart/2005/8/layout/list1"/>
    <dgm:cxn modelId="{1F500B17-8135-4D30-85A8-71F5A062E0AD}" type="presOf" srcId="{0DCBAEB8-D794-4768-9593-F263FDD3AD01}" destId="{4E445145-AED9-485B-A529-7927013B3642}" srcOrd="1" destOrd="0" presId="urn:microsoft.com/office/officeart/2005/8/layout/list1"/>
    <dgm:cxn modelId="{27CB0225-989B-49E0-ABD4-95E8803E323A}" type="presOf" srcId="{548E5BA7-139C-426B-89F7-6FDCC9986254}" destId="{D33596F6-0387-4E81-AA22-5647C82493BE}" srcOrd="0" destOrd="0" presId="urn:microsoft.com/office/officeart/2005/8/layout/list1"/>
    <dgm:cxn modelId="{47821628-64E0-48C6-B796-61FC50DB55EA}" srcId="{548E5BA7-139C-426B-89F7-6FDCC9986254}" destId="{3563D27B-321B-4BC3-8B30-3D9231788433}" srcOrd="11" destOrd="0" parTransId="{8A811B05-3FAC-454E-B3F2-11C7BC225CF7}" sibTransId="{BB498D33-D239-448E-A6B7-0EAA21869B71}"/>
    <dgm:cxn modelId="{097BB534-0469-484E-8CC4-C8D89D62C728}" type="presOf" srcId="{3563D27B-321B-4BC3-8B30-3D9231788433}" destId="{2D7C452A-A490-4694-A122-46DDAA541280}" srcOrd="0" destOrd="0" presId="urn:microsoft.com/office/officeart/2005/8/layout/list1"/>
    <dgm:cxn modelId="{15720A3B-6552-4D70-AB91-90217E743815}" type="presOf" srcId="{EAF75D90-4723-4848-AA4C-6124C13DA747}" destId="{0D1A94B7-2603-457B-A57E-FA0643B24BCF}" srcOrd="0" destOrd="0" presId="urn:microsoft.com/office/officeart/2005/8/layout/list1"/>
    <dgm:cxn modelId="{B237915B-2FFB-43C3-9F27-72A166E6AEF2}" srcId="{548E5BA7-139C-426B-89F7-6FDCC9986254}" destId="{FD185861-8CE6-4D06-9251-1B7C4FCB415A}" srcOrd="1" destOrd="0" parTransId="{9EC411C3-9886-4B88-A2AC-5FF163382CAB}" sibTransId="{E0103A15-DB8F-438F-B9BA-7CE37EF6909F}"/>
    <dgm:cxn modelId="{1C6C235E-3015-4E4F-B4CF-45C494629F68}" type="presOf" srcId="{4DE9EA9A-0295-4EFB-9476-3B623BFC63D7}" destId="{44E2D38D-C621-4DE1-AD1B-DF39786A88D1}" srcOrd="0" destOrd="0" presId="urn:microsoft.com/office/officeart/2005/8/layout/list1"/>
    <dgm:cxn modelId="{FED93660-7C5C-4836-ADB9-83C8880F048D}" type="presOf" srcId="{FD185861-8CE6-4D06-9251-1B7C4FCB415A}" destId="{02102633-764F-4C30-AEC0-514F4F7EC8B5}" srcOrd="1" destOrd="0" presId="urn:microsoft.com/office/officeart/2005/8/layout/list1"/>
    <dgm:cxn modelId="{B299AA62-B9A8-426A-A56F-3A23D8D93ACF}" type="presOf" srcId="{2E76421B-DB30-4FA8-B16F-5EB453EB63EE}" destId="{08F8784F-DE29-4A72-AC74-527AD7CDEE04}" srcOrd="0" destOrd="0" presId="urn:microsoft.com/office/officeart/2005/8/layout/list1"/>
    <dgm:cxn modelId="{194B5664-45B8-48C2-8E06-582E81254DE8}" type="presOf" srcId="{FD185861-8CE6-4D06-9251-1B7C4FCB415A}" destId="{61D21AA2-CBBD-4B31-AC3C-41DBE89FF122}" srcOrd="0" destOrd="0" presId="urn:microsoft.com/office/officeart/2005/8/layout/list1"/>
    <dgm:cxn modelId="{7A874948-D419-4EF1-A43E-F83A9EEFDB3B}" type="presOf" srcId="{332F8809-646E-42AF-9D2D-A34BC837E318}" destId="{0B4E1DBB-903A-4A8A-8304-7F35E1DD3608}" srcOrd="0" destOrd="0" presId="urn:microsoft.com/office/officeart/2005/8/layout/list1"/>
    <dgm:cxn modelId="{D7204B6E-7B35-4149-AF5D-624DDDF83433}" type="presOf" srcId="{0AC380C0-9E07-4966-A0CF-E02C9B573525}" destId="{C643665E-493B-4A4F-A717-9BEA8842CD90}" srcOrd="0" destOrd="0" presId="urn:microsoft.com/office/officeart/2005/8/layout/list1"/>
    <dgm:cxn modelId="{7EC93F50-1749-47B8-9703-57D38FF26892}" srcId="{548E5BA7-139C-426B-89F7-6FDCC9986254}" destId="{0AC380C0-9E07-4966-A0CF-E02C9B573525}" srcOrd="5" destOrd="0" parTransId="{D1F9B705-60C2-4490-8B9A-B598230BC168}" sibTransId="{3D74E755-2313-4680-AB21-D3ED43D70344}"/>
    <dgm:cxn modelId="{BBE59E56-FCE7-4E7B-95D5-2E00EE4F88F8}" type="presOf" srcId="{910DC688-ECC1-46D6-90E2-5D75E5CFA3FC}" destId="{E1AEB959-A4BC-41CC-AB64-F143846F92DB}" srcOrd="0" destOrd="0" presId="urn:microsoft.com/office/officeart/2005/8/layout/list1"/>
    <dgm:cxn modelId="{E1400F57-F468-4417-B228-8C30410F3E3E}" type="presOf" srcId="{0DCBAEB8-D794-4768-9593-F263FDD3AD01}" destId="{7D1F8B56-433E-49F8-8CDE-7564F717983C}" srcOrd="0" destOrd="0" presId="urn:microsoft.com/office/officeart/2005/8/layout/list1"/>
    <dgm:cxn modelId="{CD496078-6F9A-4753-B753-7D1AD1B3B54E}" srcId="{548E5BA7-139C-426B-89F7-6FDCC9986254}" destId="{332F8809-646E-42AF-9D2D-A34BC837E318}" srcOrd="2" destOrd="0" parTransId="{22682131-AA09-4EF5-B32D-59B5C5DB8223}" sibTransId="{84349160-01E8-4106-A295-08BB4EFA2867}"/>
    <dgm:cxn modelId="{59806081-C890-4F21-B85E-0A22860F61C2}" type="presOf" srcId="{9820C2B3-6983-4A94-9D58-ED8963FAF46A}" destId="{8E5ED251-328F-4D45-B653-72712F48C97C}" srcOrd="1" destOrd="0" presId="urn:microsoft.com/office/officeart/2005/8/layout/list1"/>
    <dgm:cxn modelId="{2B548886-9EBA-43DA-A739-6C170C0B63E8}" srcId="{548E5BA7-139C-426B-89F7-6FDCC9986254}" destId="{0DCBAEB8-D794-4768-9593-F263FDD3AD01}" srcOrd="7" destOrd="0" parTransId="{3CFDF753-A114-4A0F-B560-4641E52A525C}" sibTransId="{E666510F-7FAC-45CC-B24F-7D772A2490B8}"/>
    <dgm:cxn modelId="{E5E2EF86-BA59-49C9-8E72-4B1BC4726A8B}" srcId="{548E5BA7-139C-426B-89F7-6FDCC9986254}" destId="{EAF75D90-4723-4848-AA4C-6124C13DA747}" srcOrd="10" destOrd="0" parTransId="{D6694592-2E3B-479F-8435-1C7AB8626959}" sibTransId="{9A6E61C3-FC22-4B02-9370-4D595934032C}"/>
    <dgm:cxn modelId="{FBCBC795-C769-4312-95C8-00CFC8DC5AE7}" type="presOf" srcId="{0AC380C0-9E07-4966-A0CF-E02C9B573525}" destId="{2FD1299F-359E-4584-9903-80A47193E03A}" srcOrd="1" destOrd="0" presId="urn:microsoft.com/office/officeart/2005/8/layout/list1"/>
    <dgm:cxn modelId="{ACA2E9A7-81BB-42DF-8080-0657D0C3BCAF}" type="presOf" srcId="{2E76421B-DB30-4FA8-B16F-5EB453EB63EE}" destId="{19B87EFE-EE8E-4D49-80CB-CB255DC90386}" srcOrd="1" destOrd="0" presId="urn:microsoft.com/office/officeart/2005/8/layout/list1"/>
    <dgm:cxn modelId="{E4458CAA-B6DC-4C94-81AB-812A5A200429}" type="presOf" srcId="{332F8809-646E-42AF-9D2D-A34BC837E318}" destId="{C850BFBB-0B1B-410F-A98B-7EF17C078B0E}" srcOrd="1" destOrd="0" presId="urn:microsoft.com/office/officeart/2005/8/layout/list1"/>
    <dgm:cxn modelId="{2AB806B1-1718-4B38-9B7B-FAAAED33C6CC}" type="presOf" srcId="{3563D27B-321B-4BC3-8B30-3D9231788433}" destId="{ED7B8F8B-D588-48E6-B9D8-54BB6B12A690}" srcOrd="1" destOrd="0" presId="urn:microsoft.com/office/officeart/2005/8/layout/list1"/>
    <dgm:cxn modelId="{BA5023C7-47DD-4104-8FFA-D669A9896090}" type="presOf" srcId="{4DE9EA9A-0295-4EFB-9476-3B623BFC63D7}" destId="{A5578C90-49C9-4052-BE4C-0B5BBC1CAF61}" srcOrd="1" destOrd="0" presId="urn:microsoft.com/office/officeart/2005/8/layout/list1"/>
    <dgm:cxn modelId="{CF9A1FCA-97A1-4A1F-B501-19A5AD4DBEBA}" type="presOf" srcId="{52A734FC-BE03-4FC2-9083-7280FD851C83}" destId="{A88946DD-B105-49B6-823D-4C714B795B72}" srcOrd="1" destOrd="0" presId="urn:microsoft.com/office/officeart/2005/8/layout/list1"/>
    <dgm:cxn modelId="{922BC3D5-CE0B-4DAF-A195-4C5215F1DD7F}" type="presOf" srcId="{910DC688-ECC1-46D6-90E2-5D75E5CFA3FC}" destId="{0C6A1E47-160F-48B8-AA11-9C6661A01EF0}" srcOrd="1" destOrd="0" presId="urn:microsoft.com/office/officeart/2005/8/layout/list1"/>
    <dgm:cxn modelId="{4F0A69F3-9D9C-44AD-B628-40B6EBF5922D}" type="presOf" srcId="{9DDFBB48-524E-47FC-84C4-C7EBA29011F3}" destId="{20DE32C4-A022-45C2-876F-E5530BE71C74}" srcOrd="0" destOrd="0" presId="urn:microsoft.com/office/officeart/2005/8/layout/list1"/>
    <dgm:cxn modelId="{775FCAF8-2E01-4E25-A12B-AB198328B895}" srcId="{548E5BA7-139C-426B-89F7-6FDCC9986254}" destId="{4DE9EA9A-0295-4EFB-9476-3B623BFC63D7}" srcOrd="3" destOrd="0" parTransId="{1CB33853-72FD-48F0-9DF6-263DA99B6E90}" sibTransId="{E32F12E9-88E0-4A46-9E98-1D88C5634E07}"/>
    <dgm:cxn modelId="{7F5A34F9-F846-4A4B-8D8A-5BC56CF8E680}" type="presOf" srcId="{9DDFBB48-524E-47FC-84C4-C7EBA29011F3}" destId="{9BB86192-9B5D-4B8A-B3E2-2753259F3AE5}" srcOrd="1" destOrd="0" presId="urn:microsoft.com/office/officeart/2005/8/layout/list1"/>
    <dgm:cxn modelId="{470203FC-2D44-421E-8428-B2C5D2CB6E20}" type="presOf" srcId="{EAF75D90-4723-4848-AA4C-6124C13DA747}" destId="{A95029AC-89E1-4F1E-BC63-4C5EC467E6F8}" srcOrd="1" destOrd="0" presId="urn:microsoft.com/office/officeart/2005/8/layout/list1"/>
    <dgm:cxn modelId="{8B7F6B6F-17E0-49F3-B2E1-ED69242ACA68}" type="presParOf" srcId="{D33596F6-0387-4E81-AA22-5647C82493BE}" destId="{7E7EC990-8F4A-446F-B957-2B5851B95817}" srcOrd="0" destOrd="0" presId="urn:microsoft.com/office/officeart/2005/8/layout/list1"/>
    <dgm:cxn modelId="{20B47115-ABD7-4A6B-B04D-8074B5B87B35}" type="presParOf" srcId="{7E7EC990-8F4A-446F-B957-2B5851B95817}" destId="{08F8784F-DE29-4A72-AC74-527AD7CDEE04}" srcOrd="0" destOrd="0" presId="urn:microsoft.com/office/officeart/2005/8/layout/list1"/>
    <dgm:cxn modelId="{787AEA76-EDC0-4E4F-8D21-7F092DBC7223}" type="presParOf" srcId="{7E7EC990-8F4A-446F-B957-2B5851B95817}" destId="{19B87EFE-EE8E-4D49-80CB-CB255DC90386}" srcOrd="1" destOrd="0" presId="urn:microsoft.com/office/officeart/2005/8/layout/list1"/>
    <dgm:cxn modelId="{EA38F4D0-A710-43DE-84EE-442063479B1C}" type="presParOf" srcId="{D33596F6-0387-4E81-AA22-5647C82493BE}" destId="{495B64E2-6ED8-4A2C-ABD7-475394D55342}" srcOrd="1" destOrd="0" presId="urn:microsoft.com/office/officeart/2005/8/layout/list1"/>
    <dgm:cxn modelId="{4E0B9562-F0CE-418B-B708-D6D5E6C416C4}" type="presParOf" srcId="{D33596F6-0387-4E81-AA22-5647C82493BE}" destId="{B04F9DC1-8189-462F-9CE6-DAB413F95679}" srcOrd="2" destOrd="0" presId="urn:microsoft.com/office/officeart/2005/8/layout/list1"/>
    <dgm:cxn modelId="{2B8243FD-5B99-4863-A869-3CD741BEFE24}" type="presParOf" srcId="{D33596F6-0387-4E81-AA22-5647C82493BE}" destId="{97A31753-39CE-49E6-8DF5-70DEA860D7BF}" srcOrd="3" destOrd="0" presId="urn:microsoft.com/office/officeart/2005/8/layout/list1"/>
    <dgm:cxn modelId="{D84DDA0E-1E63-48F3-8A78-FE34BAA67A4B}" type="presParOf" srcId="{D33596F6-0387-4E81-AA22-5647C82493BE}" destId="{7F7AFA30-5092-457B-8993-083A4DEDD5EF}" srcOrd="4" destOrd="0" presId="urn:microsoft.com/office/officeart/2005/8/layout/list1"/>
    <dgm:cxn modelId="{5A51E778-DFCF-41D8-B47D-8A1F815E64AF}" type="presParOf" srcId="{7F7AFA30-5092-457B-8993-083A4DEDD5EF}" destId="{61D21AA2-CBBD-4B31-AC3C-41DBE89FF122}" srcOrd="0" destOrd="0" presId="urn:microsoft.com/office/officeart/2005/8/layout/list1"/>
    <dgm:cxn modelId="{A77F1558-88BD-499B-8BBC-8C10C3E30C00}" type="presParOf" srcId="{7F7AFA30-5092-457B-8993-083A4DEDD5EF}" destId="{02102633-764F-4C30-AEC0-514F4F7EC8B5}" srcOrd="1" destOrd="0" presId="urn:microsoft.com/office/officeart/2005/8/layout/list1"/>
    <dgm:cxn modelId="{6CA3FB7D-CDEB-4B9A-91B9-5FEEFC8D9972}" type="presParOf" srcId="{D33596F6-0387-4E81-AA22-5647C82493BE}" destId="{110AA3EF-DF9F-48AF-AC35-7BB57CC6BF4E}" srcOrd="5" destOrd="0" presId="urn:microsoft.com/office/officeart/2005/8/layout/list1"/>
    <dgm:cxn modelId="{118D689E-AF29-46D4-A962-26450A06138F}" type="presParOf" srcId="{D33596F6-0387-4E81-AA22-5647C82493BE}" destId="{E87BA916-7EC7-4CD1-8B4E-67D8E09E31D4}" srcOrd="6" destOrd="0" presId="urn:microsoft.com/office/officeart/2005/8/layout/list1"/>
    <dgm:cxn modelId="{28A5D344-6F27-48B5-B007-67648DBF6CE6}" type="presParOf" srcId="{D33596F6-0387-4E81-AA22-5647C82493BE}" destId="{F8A6B6A1-5637-4359-86B3-09E7B38A481B}" srcOrd="7" destOrd="0" presId="urn:microsoft.com/office/officeart/2005/8/layout/list1"/>
    <dgm:cxn modelId="{36F489CA-873A-45B4-930A-4845B2074504}" type="presParOf" srcId="{D33596F6-0387-4E81-AA22-5647C82493BE}" destId="{2F24DA53-9F28-4784-9718-4FF486C4937B}" srcOrd="8" destOrd="0" presId="urn:microsoft.com/office/officeart/2005/8/layout/list1"/>
    <dgm:cxn modelId="{F17E923C-14FF-4BEA-B3FD-DB64BA85FA01}" type="presParOf" srcId="{2F24DA53-9F28-4784-9718-4FF486C4937B}" destId="{0B4E1DBB-903A-4A8A-8304-7F35E1DD3608}" srcOrd="0" destOrd="0" presId="urn:microsoft.com/office/officeart/2005/8/layout/list1"/>
    <dgm:cxn modelId="{DF74D9DE-39FD-47C2-B85E-976D72D68268}" type="presParOf" srcId="{2F24DA53-9F28-4784-9718-4FF486C4937B}" destId="{C850BFBB-0B1B-410F-A98B-7EF17C078B0E}" srcOrd="1" destOrd="0" presId="urn:microsoft.com/office/officeart/2005/8/layout/list1"/>
    <dgm:cxn modelId="{B1CCD960-4245-4678-8777-ABDB3C2D6A88}" type="presParOf" srcId="{D33596F6-0387-4E81-AA22-5647C82493BE}" destId="{CB7A183B-7B5D-4011-A26C-95F17A6332CF}" srcOrd="9" destOrd="0" presId="urn:microsoft.com/office/officeart/2005/8/layout/list1"/>
    <dgm:cxn modelId="{3E4299F2-DAC5-4299-836B-1ADE331A4377}" type="presParOf" srcId="{D33596F6-0387-4E81-AA22-5647C82493BE}" destId="{68CDAE6D-2177-473E-B1D2-93C9EFCC18CB}" srcOrd="10" destOrd="0" presId="urn:microsoft.com/office/officeart/2005/8/layout/list1"/>
    <dgm:cxn modelId="{D6A53E3E-02E4-4873-9A2D-E11497BB6FF4}" type="presParOf" srcId="{D33596F6-0387-4E81-AA22-5647C82493BE}" destId="{2CFBFA38-D824-4FC0-BC01-CBDE37D9F5B3}" srcOrd="11" destOrd="0" presId="urn:microsoft.com/office/officeart/2005/8/layout/list1"/>
    <dgm:cxn modelId="{5D491F8E-A088-42AC-8D61-7695B960CE9A}" type="presParOf" srcId="{D33596F6-0387-4E81-AA22-5647C82493BE}" destId="{F4D2BF5D-C3EB-4CBC-8C87-768C9D4EB374}" srcOrd="12" destOrd="0" presId="urn:microsoft.com/office/officeart/2005/8/layout/list1"/>
    <dgm:cxn modelId="{FF3850CE-F2A3-4F55-BE9B-FB86BAAF6E5B}" type="presParOf" srcId="{F4D2BF5D-C3EB-4CBC-8C87-768C9D4EB374}" destId="{44E2D38D-C621-4DE1-AD1B-DF39786A88D1}" srcOrd="0" destOrd="0" presId="urn:microsoft.com/office/officeart/2005/8/layout/list1"/>
    <dgm:cxn modelId="{D264F0E5-20C2-405E-A8DE-A46E235A055D}" type="presParOf" srcId="{F4D2BF5D-C3EB-4CBC-8C87-768C9D4EB374}" destId="{A5578C90-49C9-4052-BE4C-0B5BBC1CAF61}" srcOrd="1" destOrd="0" presId="urn:microsoft.com/office/officeart/2005/8/layout/list1"/>
    <dgm:cxn modelId="{DC1B667A-B060-48B0-988A-E1D90BAB70CF}" type="presParOf" srcId="{D33596F6-0387-4E81-AA22-5647C82493BE}" destId="{DD883938-B03F-4A48-8650-F21509803A90}" srcOrd="13" destOrd="0" presId="urn:microsoft.com/office/officeart/2005/8/layout/list1"/>
    <dgm:cxn modelId="{148F9B95-6619-4179-A55F-1A985C9B41BE}" type="presParOf" srcId="{D33596F6-0387-4E81-AA22-5647C82493BE}" destId="{8DC83C71-1B61-465E-B18F-3CFC15A71AA9}" srcOrd="14" destOrd="0" presId="urn:microsoft.com/office/officeart/2005/8/layout/list1"/>
    <dgm:cxn modelId="{2CB9C02F-D031-4D99-B5E9-30EA806A07D2}" type="presParOf" srcId="{D33596F6-0387-4E81-AA22-5647C82493BE}" destId="{35253B41-8397-46E4-BCE3-9D7820E06A63}" srcOrd="15" destOrd="0" presId="urn:microsoft.com/office/officeart/2005/8/layout/list1"/>
    <dgm:cxn modelId="{D83B380D-6D8A-4AE2-83E1-C41B6089CAC8}" type="presParOf" srcId="{D33596F6-0387-4E81-AA22-5647C82493BE}" destId="{E0E7FA60-A656-4B29-87F9-7F82D17B286A}" srcOrd="16" destOrd="0" presId="urn:microsoft.com/office/officeart/2005/8/layout/list1"/>
    <dgm:cxn modelId="{063541F4-1BBC-4704-AAC2-F3D9B460CFA2}" type="presParOf" srcId="{E0E7FA60-A656-4B29-87F9-7F82D17B286A}" destId="{E1AEB959-A4BC-41CC-AB64-F143846F92DB}" srcOrd="0" destOrd="0" presId="urn:microsoft.com/office/officeart/2005/8/layout/list1"/>
    <dgm:cxn modelId="{AB8BD3C1-F6EB-43FE-8D39-04B33800FB23}" type="presParOf" srcId="{E0E7FA60-A656-4B29-87F9-7F82D17B286A}" destId="{0C6A1E47-160F-48B8-AA11-9C6661A01EF0}" srcOrd="1" destOrd="0" presId="urn:microsoft.com/office/officeart/2005/8/layout/list1"/>
    <dgm:cxn modelId="{5CB8606D-FC2D-475B-B948-1EC485A20E1A}" type="presParOf" srcId="{D33596F6-0387-4E81-AA22-5647C82493BE}" destId="{BAD03946-0A55-47BD-965E-E45D751CB5DC}" srcOrd="17" destOrd="0" presId="urn:microsoft.com/office/officeart/2005/8/layout/list1"/>
    <dgm:cxn modelId="{66E3A79B-A897-4D56-9293-96582461BD16}" type="presParOf" srcId="{D33596F6-0387-4E81-AA22-5647C82493BE}" destId="{106667C8-3CF0-475D-928B-58F7870A8F1D}" srcOrd="18" destOrd="0" presId="urn:microsoft.com/office/officeart/2005/8/layout/list1"/>
    <dgm:cxn modelId="{2A4419BA-3CA3-431F-B4A1-40FB35DDFEB5}" type="presParOf" srcId="{D33596F6-0387-4E81-AA22-5647C82493BE}" destId="{6D3776D5-0B96-433A-96A4-4B691747D87B}" srcOrd="19" destOrd="0" presId="urn:microsoft.com/office/officeart/2005/8/layout/list1"/>
    <dgm:cxn modelId="{8CC989BC-6698-4319-9E3C-7A8FFFE1B369}" type="presParOf" srcId="{D33596F6-0387-4E81-AA22-5647C82493BE}" destId="{0F4D78D1-E825-43BE-973F-422BE2880F8C}" srcOrd="20" destOrd="0" presId="urn:microsoft.com/office/officeart/2005/8/layout/list1"/>
    <dgm:cxn modelId="{0F17B831-5169-4DBF-8F30-275DFE3BA6F6}" type="presParOf" srcId="{0F4D78D1-E825-43BE-973F-422BE2880F8C}" destId="{C643665E-493B-4A4F-A717-9BEA8842CD90}" srcOrd="0" destOrd="0" presId="urn:microsoft.com/office/officeart/2005/8/layout/list1"/>
    <dgm:cxn modelId="{03A7344F-07D3-4210-B7DB-5D3D0A6EAC2C}" type="presParOf" srcId="{0F4D78D1-E825-43BE-973F-422BE2880F8C}" destId="{2FD1299F-359E-4584-9903-80A47193E03A}" srcOrd="1" destOrd="0" presId="urn:microsoft.com/office/officeart/2005/8/layout/list1"/>
    <dgm:cxn modelId="{C5F195C0-4A00-4A2C-8D4D-5ADD1CDB7ABD}" type="presParOf" srcId="{D33596F6-0387-4E81-AA22-5647C82493BE}" destId="{D04197B4-BEE9-4EF4-A590-38D9D71CB048}" srcOrd="21" destOrd="0" presId="urn:microsoft.com/office/officeart/2005/8/layout/list1"/>
    <dgm:cxn modelId="{3401EDAD-2FD3-45C1-B174-A101D89D48A8}" type="presParOf" srcId="{D33596F6-0387-4E81-AA22-5647C82493BE}" destId="{28326635-FDF9-47E5-86A2-9F72FD5D5F83}" srcOrd="22" destOrd="0" presId="urn:microsoft.com/office/officeart/2005/8/layout/list1"/>
    <dgm:cxn modelId="{2F2DF427-1D58-4671-AA1D-BB42A529D6D5}" type="presParOf" srcId="{D33596F6-0387-4E81-AA22-5647C82493BE}" destId="{9BD897F5-5206-492F-92E9-ACE95759DDA1}" srcOrd="23" destOrd="0" presId="urn:microsoft.com/office/officeart/2005/8/layout/list1"/>
    <dgm:cxn modelId="{C2124236-2A64-4B07-BFA5-6FE13757BE63}" type="presParOf" srcId="{D33596F6-0387-4E81-AA22-5647C82493BE}" destId="{BA463C80-169E-423B-8DA6-21D34FB75CFB}" srcOrd="24" destOrd="0" presId="urn:microsoft.com/office/officeart/2005/8/layout/list1"/>
    <dgm:cxn modelId="{FFF782A7-FF1E-4694-8F84-0622DD0483F6}" type="presParOf" srcId="{BA463C80-169E-423B-8DA6-21D34FB75CFB}" destId="{4624F777-1362-4433-A9BC-517B1F152F1B}" srcOrd="0" destOrd="0" presId="urn:microsoft.com/office/officeart/2005/8/layout/list1"/>
    <dgm:cxn modelId="{EDA76F2A-00E8-44F1-91EC-BCAFB1706810}" type="presParOf" srcId="{BA463C80-169E-423B-8DA6-21D34FB75CFB}" destId="{A88946DD-B105-49B6-823D-4C714B795B72}" srcOrd="1" destOrd="0" presId="urn:microsoft.com/office/officeart/2005/8/layout/list1"/>
    <dgm:cxn modelId="{236A18B8-0684-42E6-9C22-5227C985E254}" type="presParOf" srcId="{D33596F6-0387-4E81-AA22-5647C82493BE}" destId="{682E3F3B-9019-4BAE-93C4-B5F2E60E1463}" srcOrd="25" destOrd="0" presId="urn:microsoft.com/office/officeart/2005/8/layout/list1"/>
    <dgm:cxn modelId="{09B0B008-D811-48E1-9571-F0018076A9CC}" type="presParOf" srcId="{D33596F6-0387-4E81-AA22-5647C82493BE}" destId="{B206F4C0-C8F5-4434-8627-F8DD90B31BC8}" srcOrd="26" destOrd="0" presId="urn:microsoft.com/office/officeart/2005/8/layout/list1"/>
    <dgm:cxn modelId="{6A6B69DF-0002-40B1-9B10-2B0C7DCC5209}" type="presParOf" srcId="{D33596F6-0387-4E81-AA22-5647C82493BE}" destId="{44AC0A31-141E-4151-9B47-6AF1C9D47DA1}" srcOrd="27" destOrd="0" presId="urn:microsoft.com/office/officeart/2005/8/layout/list1"/>
    <dgm:cxn modelId="{58EA4132-4448-4AF2-A9F5-A743ACBE1132}" type="presParOf" srcId="{D33596F6-0387-4E81-AA22-5647C82493BE}" destId="{EB1C9E10-8E44-4874-B87E-6EE18E6AC2E5}" srcOrd="28" destOrd="0" presId="urn:microsoft.com/office/officeart/2005/8/layout/list1"/>
    <dgm:cxn modelId="{84B73D44-2362-439A-AA92-37EFD5AD5157}" type="presParOf" srcId="{EB1C9E10-8E44-4874-B87E-6EE18E6AC2E5}" destId="{7D1F8B56-433E-49F8-8CDE-7564F717983C}" srcOrd="0" destOrd="0" presId="urn:microsoft.com/office/officeart/2005/8/layout/list1"/>
    <dgm:cxn modelId="{2A724D0D-25AC-44C8-BFF1-9B1C0B414547}" type="presParOf" srcId="{EB1C9E10-8E44-4874-B87E-6EE18E6AC2E5}" destId="{4E445145-AED9-485B-A529-7927013B3642}" srcOrd="1" destOrd="0" presId="urn:microsoft.com/office/officeart/2005/8/layout/list1"/>
    <dgm:cxn modelId="{204FAF46-5E30-42A3-9741-D0DCF38F4519}" type="presParOf" srcId="{D33596F6-0387-4E81-AA22-5647C82493BE}" destId="{5743B155-0027-4866-8949-7A9A985431C2}" srcOrd="29" destOrd="0" presId="urn:microsoft.com/office/officeart/2005/8/layout/list1"/>
    <dgm:cxn modelId="{8B68BA02-DFC2-401C-84E8-E0C75081AA24}" type="presParOf" srcId="{D33596F6-0387-4E81-AA22-5647C82493BE}" destId="{5A2DE0B9-9DD7-4A30-AB19-7A350BC973E0}" srcOrd="30" destOrd="0" presId="urn:microsoft.com/office/officeart/2005/8/layout/list1"/>
    <dgm:cxn modelId="{88ACCAB1-C3B5-460E-8EF6-0E8AA3F5701D}" type="presParOf" srcId="{D33596F6-0387-4E81-AA22-5647C82493BE}" destId="{C839E168-6DCA-49C4-A279-4C8726A3F00F}" srcOrd="31" destOrd="0" presId="urn:microsoft.com/office/officeart/2005/8/layout/list1"/>
    <dgm:cxn modelId="{BE6ECBB9-FB76-478A-9C19-F51272CA1C03}" type="presParOf" srcId="{D33596F6-0387-4E81-AA22-5647C82493BE}" destId="{04C8FE97-EF29-469E-9B2A-43DC1CA2F0A8}" srcOrd="32" destOrd="0" presId="urn:microsoft.com/office/officeart/2005/8/layout/list1"/>
    <dgm:cxn modelId="{C99A77F0-7622-4971-9D38-7E15EE4A8885}" type="presParOf" srcId="{04C8FE97-EF29-469E-9B2A-43DC1CA2F0A8}" destId="{37FC5D2F-677F-4F91-851C-67233AF3BC09}" srcOrd="0" destOrd="0" presId="urn:microsoft.com/office/officeart/2005/8/layout/list1"/>
    <dgm:cxn modelId="{4B4B185F-7478-4A05-95A4-D285BD54AE05}" type="presParOf" srcId="{04C8FE97-EF29-469E-9B2A-43DC1CA2F0A8}" destId="{8E5ED251-328F-4D45-B653-72712F48C97C}" srcOrd="1" destOrd="0" presId="urn:microsoft.com/office/officeart/2005/8/layout/list1"/>
    <dgm:cxn modelId="{B9375EB7-9026-481F-A550-09CAC74F87A3}" type="presParOf" srcId="{D33596F6-0387-4E81-AA22-5647C82493BE}" destId="{DD7FEFC5-6CCF-4E33-8200-1C6338C57215}" srcOrd="33" destOrd="0" presId="urn:microsoft.com/office/officeart/2005/8/layout/list1"/>
    <dgm:cxn modelId="{F1B0D2D8-AAEE-416D-AEE0-B24E923BC82C}" type="presParOf" srcId="{D33596F6-0387-4E81-AA22-5647C82493BE}" destId="{9A8B2044-1180-4423-8EB4-D939AB910ED5}" srcOrd="34" destOrd="0" presId="urn:microsoft.com/office/officeart/2005/8/layout/list1"/>
    <dgm:cxn modelId="{D875DDF8-4998-457A-8BFD-A31B8DB2A6A1}" type="presParOf" srcId="{D33596F6-0387-4E81-AA22-5647C82493BE}" destId="{EEA0B182-CE03-4801-968E-A6523C6C51DD}" srcOrd="35" destOrd="0" presId="urn:microsoft.com/office/officeart/2005/8/layout/list1"/>
    <dgm:cxn modelId="{C7BB41DD-B694-468D-885E-BD1A94FE2C4F}" type="presParOf" srcId="{D33596F6-0387-4E81-AA22-5647C82493BE}" destId="{5A6BD477-FB58-4272-990C-AB164821E5C2}" srcOrd="36" destOrd="0" presId="urn:microsoft.com/office/officeart/2005/8/layout/list1"/>
    <dgm:cxn modelId="{5A12D69D-5DC9-4C42-9123-8C9BBF0640FC}" type="presParOf" srcId="{5A6BD477-FB58-4272-990C-AB164821E5C2}" destId="{20DE32C4-A022-45C2-876F-E5530BE71C74}" srcOrd="0" destOrd="0" presId="urn:microsoft.com/office/officeart/2005/8/layout/list1"/>
    <dgm:cxn modelId="{C540A03B-CA3B-46E2-BAC8-F512A8F55AE7}" type="presParOf" srcId="{5A6BD477-FB58-4272-990C-AB164821E5C2}" destId="{9BB86192-9B5D-4B8A-B3E2-2753259F3AE5}" srcOrd="1" destOrd="0" presId="urn:microsoft.com/office/officeart/2005/8/layout/list1"/>
    <dgm:cxn modelId="{42BC698F-E146-4132-BEC3-8C6A237B43A4}" type="presParOf" srcId="{D33596F6-0387-4E81-AA22-5647C82493BE}" destId="{9A3E241C-7BE5-4888-9ED8-D970D831CFE0}" srcOrd="37" destOrd="0" presId="urn:microsoft.com/office/officeart/2005/8/layout/list1"/>
    <dgm:cxn modelId="{79C5BF32-9904-4215-88BA-B83465C8D6C9}" type="presParOf" srcId="{D33596F6-0387-4E81-AA22-5647C82493BE}" destId="{5283829B-7D84-48A6-B86C-F83F61631188}" srcOrd="38" destOrd="0" presId="urn:microsoft.com/office/officeart/2005/8/layout/list1"/>
    <dgm:cxn modelId="{A8ECDDFF-92C4-48DB-A37B-BBFE63B44539}" type="presParOf" srcId="{D33596F6-0387-4E81-AA22-5647C82493BE}" destId="{FDD1C63A-D52D-42D6-860E-88D87D62737A}" srcOrd="39" destOrd="0" presId="urn:microsoft.com/office/officeart/2005/8/layout/list1"/>
    <dgm:cxn modelId="{CA126701-1912-4CDE-8AF8-BEE9DAB4C712}" type="presParOf" srcId="{D33596F6-0387-4E81-AA22-5647C82493BE}" destId="{A284800B-0AE4-4FDE-B6B3-FE7AA08A2750}" srcOrd="40" destOrd="0" presId="urn:microsoft.com/office/officeart/2005/8/layout/list1"/>
    <dgm:cxn modelId="{6E0AFB3A-1A64-4185-9F00-5DD466A988BB}" type="presParOf" srcId="{A284800B-0AE4-4FDE-B6B3-FE7AA08A2750}" destId="{0D1A94B7-2603-457B-A57E-FA0643B24BCF}" srcOrd="0" destOrd="0" presId="urn:microsoft.com/office/officeart/2005/8/layout/list1"/>
    <dgm:cxn modelId="{3D2F8F7E-1C1D-4FE9-9944-2F97D1F19299}" type="presParOf" srcId="{A284800B-0AE4-4FDE-B6B3-FE7AA08A2750}" destId="{A95029AC-89E1-4F1E-BC63-4C5EC467E6F8}" srcOrd="1" destOrd="0" presId="urn:microsoft.com/office/officeart/2005/8/layout/list1"/>
    <dgm:cxn modelId="{5839833F-7A12-4CFD-B9F3-A2F560C61E63}" type="presParOf" srcId="{D33596F6-0387-4E81-AA22-5647C82493BE}" destId="{2AC181DA-35BF-4601-A172-7CBA59D03847}" srcOrd="41" destOrd="0" presId="urn:microsoft.com/office/officeart/2005/8/layout/list1"/>
    <dgm:cxn modelId="{9986BE7E-E2FA-4839-B19B-F626E8F24F5F}" type="presParOf" srcId="{D33596F6-0387-4E81-AA22-5647C82493BE}" destId="{FEC97E0D-CDAF-48B7-8E98-10CDC073A59E}" srcOrd="42" destOrd="0" presId="urn:microsoft.com/office/officeart/2005/8/layout/list1"/>
    <dgm:cxn modelId="{CDF4C6A3-640A-494E-82A1-5DD505D9124A}" type="presParOf" srcId="{D33596F6-0387-4E81-AA22-5647C82493BE}" destId="{CC430766-D98E-4871-B458-2CC4445FE75E}" srcOrd="43" destOrd="0" presId="urn:microsoft.com/office/officeart/2005/8/layout/list1"/>
    <dgm:cxn modelId="{14403300-6F4A-4267-A1DD-2F057D3816E6}" type="presParOf" srcId="{D33596F6-0387-4E81-AA22-5647C82493BE}" destId="{5ABA514C-2F5C-4985-8DAC-1AC103B900E9}" srcOrd="44" destOrd="0" presId="urn:microsoft.com/office/officeart/2005/8/layout/list1"/>
    <dgm:cxn modelId="{DBDAD8B6-8E2F-408F-961D-3C7F6919005A}" type="presParOf" srcId="{5ABA514C-2F5C-4985-8DAC-1AC103B900E9}" destId="{2D7C452A-A490-4694-A122-46DDAA541280}" srcOrd="0" destOrd="0" presId="urn:microsoft.com/office/officeart/2005/8/layout/list1"/>
    <dgm:cxn modelId="{42214C61-395B-4BBF-91E3-3B3D96D0B78C}" type="presParOf" srcId="{5ABA514C-2F5C-4985-8DAC-1AC103B900E9}" destId="{ED7B8F8B-D588-48E6-B9D8-54BB6B12A690}" srcOrd="1" destOrd="0" presId="urn:microsoft.com/office/officeart/2005/8/layout/list1"/>
    <dgm:cxn modelId="{AFC03D8E-D117-4D51-8FF1-801E9DF1EE79}" type="presParOf" srcId="{D33596F6-0387-4E81-AA22-5647C82493BE}" destId="{29063C17-BDC9-49C8-9442-C1CCB8B96E3D}" srcOrd="45" destOrd="0" presId="urn:microsoft.com/office/officeart/2005/8/layout/list1"/>
    <dgm:cxn modelId="{240D24E5-98CF-4C66-A0B6-3DF02F802CE9}" type="presParOf" srcId="{D33596F6-0387-4E81-AA22-5647C82493BE}" destId="{BC94104F-623C-4B87-8839-AFCA25DD98C0}" srcOrd="4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FC28A39-CEFE-4F73-9077-8360496B80DC}" type="doc">
      <dgm:prSet loTypeId="urn:microsoft.com/office/officeart/2005/8/layout/vList2" loCatId="list" qsTypeId="urn:microsoft.com/office/officeart/2005/8/quickstyle/simple3" qsCatId="simple" csTypeId="urn:microsoft.com/office/officeart/2005/8/colors/accent1_5" csCatId="accent1" phldr="1"/>
      <dgm:spPr/>
      <dgm:t>
        <a:bodyPr/>
        <a:lstStyle/>
        <a:p>
          <a:endParaRPr lang="en-US"/>
        </a:p>
      </dgm:t>
    </dgm:pt>
    <dgm:pt modelId="{878553B2-7AB2-46D0-931C-E2E8587F8541}">
      <dgm:prSet custT="1"/>
      <dgm:spPr/>
      <dgm:t>
        <a:bodyPr/>
        <a:lstStyle/>
        <a:p>
          <a:pPr rtl="0"/>
          <a:r>
            <a:rPr lang="en-US" sz="1800" dirty="0">
              <a:solidFill>
                <a:srgbClr val="002060"/>
              </a:solidFill>
            </a:rPr>
            <a:t>Students should have the knowledge of computer organization</a:t>
          </a:r>
        </a:p>
      </dgm:t>
    </dgm:pt>
    <dgm:pt modelId="{F71B97A4-CEE4-4B79-B4DE-CE3B193A629F}" type="parTrans" cxnId="{CBD3A26E-CB15-42AA-AB1D-497E41D0DB02}">
      <dgm:prSet/>
      <dgm:spPr/>
      <dgm:t>
        <a:bodyPr/>
        <a:lstStyle/>
        <a:p>
          <a:endParaRPr lang="en-US"/>
        </a:p>
      </dgm:t>
    </dgm:pt>
    <dgm:pt modelId="{7B1727D7-BB73-46B5-99C8-B468CE97E783}" type="sibTrans" cxnId="{CBD3A26E-CB15-42AA-AB1D-497E41D0DB02}">
      <dgm:prSet/>
      <dgm:spPr/>
      <dgm:t>
        <a:bodyPr/>
        <a:lstStyle/>
        <a:p>
          <a:endParaRPr lang="en-US"/>
        </a:p>
      </dgm:t>
    </dgm:pt>
    <dgm:pt modelId="{8899F491-005D-4F6B-817E-2178B1CE4EEB}">
      <dgm:prSet custT="1"/>
      <dgm:spPr/>
      <dgm:t>
        <a:bodyPr/>
        <a:lstStyle/>
        <a:p>
          <a:pPr rtl="0"/>
          <a:r>
            <a:rPr lang="en-US" sz="1800" dirty="0">
              <a:solidFill>
                <a:srgbClr val="002060"/>
              </a:solidFill>
            </a:rPr>
            <a:t>Students should know the artificial intelligence basic concepts. </a:t>
          </a:r>
        </a:p>
      </dgm:t>
    </dgm:pt>
    <dgm:pt modelId="{4C8B1D2D-25CB-4068-AB25-4B05EBEC8901}" type="parTrans" cxnId="{66301D15-22B9-4BD6-9833-6571569DBDB7}">
      <dgm:prSet/>
      <dgm:spPr/>
      <dgm:t>
        <a:bodyPr/>
        <a:lstStyle/>
        <a:p>
          <a:endParaRPr lang="en-US"/>
        </a:p>
      </dgm:t>
    </dgm:pt>
    <dgm:pt modelId="{61B65048-1390-43D1-A8DB-4A727BB29741}" type="sibTrans" cxnId="{66301D15-22B9-4BD6-9833-6571569DBDB7}">
      <dgm:prSet/>
      <dgm:spPr/>
      <dgm:t>
        <a:bodyPr/>
        <a:lstStyle/>
        <a:p>
          <a:endParaRPr lang="en-US"/>
        </a:p>
      </dgm:t>
    </dgm:pt>
    <dgm:pt modelId="{27020DC9-4531-4652-A243-695A6126C379}">
      <dgm:prSet custT="1"/>
      <dgm:spPr/>
      <dgm:t>
        <a:bodyPr/>
        <a:lstStyle/>
        <a:p>
          <a:pPr rtl="0"/>
          <a:r>
            <a:rPr lang="en-US" sz="1800" dirty="0">
              <a:solidFill>
                <a:srgbClr val="002060"/>
              </a:solidFill>
            </a:rPr>
            <a:t>Students should be able to create, design and manipulate the images and idea about pixels</a:t>
          </a:r>
        </a:p>
      </dgm:t>
    </dgm:pt>
    <dgm:pt modelId="{3B3688DD-9A38-4953-B425-34C7C9EAA2AD}" type="sibTrans" cxnId="{8C44F8DE-B802-4E48-A637-75A25B987C4A}">
      <dgm:prSet/>
      <dgm:spPr/>
      <dgm:t>
        <a:bodyPr/>
        <a:lstStyle/>
        <a:p>
          <a:endParaRPr lang="en-US"/>
        </a:p>
      </dgm:t>
    </dgm:pt>
    <dgm:pt modelId="{06774066-0DAF-4B4C-97F1-45C84C713B57}" type="parTrans" cxnId="{8C44F8DE-B802-4E48-A637-75A25B987C4A}">
      <dgm:prSet/>
      <dgm:spPr/>
      <dgm:t>
        <a:bodyPr/>
        <a:lstStyle/>
        <a:p>
          <a:endParaRPr lang="en-US"/>
        </a:p>
      </dgm:t>
    </dgm:pt>
    <dgm:pt modelId="{ED12C27D-48EC-46B3-BCD0-10543FA21F01}" type="pres">
      <dgm:prSet presAssocID="{1FC28A39-CEFE-4F73-9077-8360496B80DC}" presName="linear" presStyleCnt="0">
        <dgm:presLayoutVars>
          <dgm:animLvl val="lvl"/>
          <dgm:resizeHandles val="exact"/>
        </dgm:presLayoutVars>
      </dgm:prSet>
      <dgm:spPr/>
    </dgm:pt>
    <dgm:pt modelId="{52FA7E8A-D5D9-47CB-81AF-F7191FAE1B94}" type="pres">
      <dgm:prSet presAssocID="{878553B2-7AB2-46D0-931C-E2E8587F8541}" presName="parentText" presStyleLbl="node1" presStyleIdx="0" presStyleCnt="3">
        <dgm:presLayoutVars>
          <dgm:chMax val="0"/>
          <dgm:bulletEnabled val="1"/>
        </dgm:presLayoutVars>
      </dgm:prSet>
      <dgm:spPr/>
    </dgm:pt>
    <dgm:pt modelId="{705AE775-66DB-4E07-AEC5-2FCCA3611473}" type="pres">
      <dgm:prSet presAssocID="{7B1727D7-BB73-46B5-99C8-B468CE97E783}" presName="spacer" presStyleCnt="0"/>
      <dgm:spPr/>
    </dgm:pt>
    <dgm:pt modelId="{79A547AB-E9E5-45A9-B71D-435BE91D3ADD}" type="pres">
      <dgm:prSet presAssocID="{8899F491-005D-4F6B-817E-2178B1CE4EEB}" presName="parentText" presStyleLbl="node1" presStyleIdx="1" presStyleCnt="3">
        <dgm:presLayoutVars>
          <dgm:chMax val="0"/>
          <dgm:bulletEnabled val="1"/>
        </dgm:presLayoutVars>
      </dgm:prSet>
      <dgm:spPr/>
    </dgm:pt>
    <dgm:pt modelId="{FA0F0EB9-7FC5-4C15-8285-BD08D79D5336}" type="pres">
      <dgm:prSet presAssocID="{61B65048-1390-43D1-A8DB-4A727BB29741}" presName="spacer" presStyleCnt="0"/>
      <dgm:spPr/>
    </dgm:pt>
    <dgm:pt modelId="{48FAC247-B64A-44FB-9BF6-C529E8C91B3B}" type="pres">
      <dgm:prSet presAssocID="{27020DC9-4531-4652-A243-695A6126C379}" presName="parentText" presStyleLbl="node1" presStyleIdx="2" presStyleCnt="3">
        <dgm:presLayoutVars>
          <dgm:chMax val="0"/>
          <dgm:bulletEnabled val="1"/>
        </dgm:presLayoutVars>
      </dgm:prSet>
      <dgm:spPr/>
    </dgm:pt>
  </dgm:ptLst>
  <dgm:cxnLst>
    <dgm:cxn modelId="{66301D15-22B9-4BD6-9833-6571569DBDB7}" srcId="{1FC28A39-CEFE-4F73-9077-8360496B80DC}" destId="{8899F491-005D-4F6B-817E-2178B1CE4EEB}" srcOrd="1" destOrd="0" parTransId="{4C8B1D2D-25CB-4068-AB25-4B05EBEC8901}" sibTransId="{61B65048-1390-43D1-A8DB-4A727BB29741}"/>
    <dgm:cxn modelId="{3F44403B-BFA6-4044-9204-D5A328B17CF5}" type="presOf" srcId="{8899F491-005D-4F6B-817E-2178B1CE4EEB}" destId="{79A547AB-E9E5-45A9-B71D-435BE91D3ADD}" srcOrd="0" destOrd="0" presId="urn:microsoft.com/office/officeart/2005/8/layout/vList2"/>
    <dgm:cxn modelId="{9ACD545D-5EFA-4402-B948-5162B6DA8B7D}" type="presOf" srcId="{1FC28A39-CEFE-4F73-9077-8360496B80DC}" destId="{ED12C27D-48EC-46B3-BCD0-10543FA21F01}" srcOrd="0" destOrd="0" presId="urn:microsoft.com/office/officeart/2005/8/layout/vList2"/>
    <dgm:cxn modelId="{2717896E-9541-47B3-A83F-10D3B2B25D00}" type="presOf" srcId="{878553B2-7AB2-46D0-931C-E2E8587F8541}" destId="{52FA7E8A-D5D9-47CB-81AF-F7191FAE1B94}" srcOrd="0" destOrd="0" presId="urn:microsoft.com/office/officeart/2005/8/layout/vList2"/>
    <dgm:cxn modelId="{CBD3A26E-CB15-42AA-AB1D-497E41D0DB02}" srcId="{1FC28A39-CEFE-4F73-9077-8360496B80DC}" destId="{878553B2-7AB2-46D0-931C-E2E8587F8541}" srcOrd="0" destOrd="0" parTransId="{F71B97A4-CEE4-4B79-B4DE-CE3B193A629F}" sibTransId="{7B1727D7-BB73-46B5-99C8-B468CE97E783}"/>
    <dgm:cxn modelId="{B9847759-E2F6-466C-B29F-FDF9EEB19119}" type="presOf" srcId="{27020DC9-4531-4652-A243-695A6126C379}" destId="{48FAC247-B64A-44FB-9BF6-C529E8C91B3B}" srcOrd="0" destOrd="0" presId="urn:microsoft.com/office/officeart/2005/8/layout/vList2"/>
    <dgm:cxn modelId="{8C44F8DE-B802-4E48-A637-75A25B987C4A}" srcId="{1FC28A39-CEFE-4F73-9077-8360496B80DC}" destId="{27020DC9-4531-4652-A243-695A6126C379}" srcOrd="2" destOrd="0" parTransId="{06774066-0DAF-4B4C-97F1-45C84C713B57}" sibTransId="{3B3688DD-9A38-4953-B425-34C7C9EAA2AD}"/>
    <dgm:cxn modelId="{B6703A23-0D4D-4B54-A35E-4A181FEFECE1}" type="presParOf" srcId="{ED12C27D-48EC-46B3-BCD0-10543FA21F01}" destId="{52FA7E8A-D5D9-47CB-81AF-F7191FAE1B94}" srcOrd="0" destOrd="0" presId="urn:microsoft.com/office/officeart/2005/8/layout/vList2"/>
    <dgm:cxn modelId="{7A198B5B-6C12-41E4-8991-BB6C10C45F83}" type="presParOf" srcId="{ED12C27D-48EC-46B3-BCD0-10543FA21F01}" destId="{705AE775-66DB-4E07-AEC5-2FCCA3611473}" srcOrd="1" destOrd="0" presId="urn:microsoft.com/office/officeart/2005/8/layout/vList2"/>
    <dgm:cxn modelId="{068A3B8D-DE27-4B27-BB1D-C57DA570EFFD}" type="presParOf" srcId="{ED12C27D-48EC-46B3-BCD0-10543FA21F01}" destId="{79A547AB-E9E5-45A9-B71D-435BE91D3ADD}" srcOrd="2" destOrd="0" presId="urn:microsoft.com/office/officeart/2005/8/layout/vList2"/>
    <dgm:cxn modelId="{4BF526A6-9D25-4823-B8CA-A9F492164D7C}" type="presParOf" srcId="{ED12C27D-48EC-46B3-BCD0-10543FA21F01}" destId="{FA0F0EB9-7FC5-4C15-8285-BD08D79D5336}" srcOrd="3" destOrd="0" presId="urn:microsoft.com/office/officeart/2005/8/layout/vList2"/>
    <dgm:cxn modelId="{203726D3-4174-4724-A855-8586C8C7E505}" type="presParOf" srcId="{ED12C27D-48EC-46B3-BCD0-10543FA21F01}" destId="{48FAC247-B64A-44FB-9BF6-C529E8C91B3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38970"/>
          <a:ext cx="8839200" cy="472714"/>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Introduction to Computer Vision </a:t>
          </a:r>
          <a:endParaRPr lang="en-IN" sz="2000" kern="1200" dirty="0"/>
        </a:p>
      </dsp:txBody>
      <dsp:txXfrm>
        <a:off x="23076" y="62046"/>
        <a:ext cx="8793048" cy="426562"/>
      </dsp:txXfrm>
    </dsp:sp>
    <dsp:sp modelId="{7B5D70F3-324A-4EA4-B0FC-AAC4C5B99002}">
      <dsp:nvSpPr>
        <dsp:cNvPr id="0" name=""/>
        <dsp:cNvSpPr/>
      </dsp:nvSpPr>
      <dsp:spPr>
        <a:xfrm>
          <a:off x="0" y="626440"/>
          <a:ext cx="8839200" cy="2567565"/>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Computer Vision, Research and Applications, (Self-Driving Cars, Facial Recognition, Augmented &amp; Mixed Reality, Healthcare). Most popular examples Categorization of Images, Object Detection, Observation of Moving Objects, Retrieval of Images Based on Their Contents, Computer Vision Tasks classification, object detection, Instance segmentation. Convolutional Neural Networks, Evolution of CNN Architectures for Image, Recent CNN </a:t>
          </a:r>
          <a:endParaRPr lang="en-IN" sz="2100" kern="1200" dirty="0"/>
        </a:p>
      </dsp:txBody>
      <dsp:txXfrm>
        <a:off x="125338" y="751778"/>
        <a:ext cx="8588524" cy="23168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0"/>
          <a:ext cx="8839200" cy="255461"/>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Architectures</a:t>
          </a:r>
          <a:r>
            <a:rPr lang="en-GB" sz="2000" kern="1200" dirty="0"/>
            <a:t>  </a:t>
          </a:r>
          <a:endParaRPr lang="en-IN" sz="2000" kern="1200" dirty="0"/>
        </a:p>
      </dsp:txBody>
      <dsp:txXfrm>
        <a:off x="12471" y="12471"/>
        <a:ext cx="8814258" cy="230519"/>
      </dsp:txXfrm>
    </dsp:sp>
    <dsp:sp modelId="{7B5D70F3-324A-4EA4-B0FC-AAC4C5B99002}">
      <dsp:nvSpPr>
        <dsp:cNvPr id="0" name=""/>
        <dsp:cNvSpPr/>
      </dsp:nvSpPr>
      <dsp:spPr>
        <a:xfrm>
          <a:off x="0" y="337186"/>
          <a:ext cx="8839200" cy="138754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Representation of a Three-Dimensional Moving Scene. Convolutional layers, pooling layers, and padding. Transfer learning and pre-trained models Architectures.   </a:t>
          </a:r>
          <a:endParaRPr lang="en-IN" sz="2400" kern="1200" dirty="0"/>
        </a:p>
      </dsp:txBody>
      <dsp:txXfrm>
        <a:off x="67734" y="404920"/>
        <a:ext cx="8703732" cy="1252078"/>
      </dsp:txXfrm>
    </dsp:sp>
    <dsp:sp modelId="{80F49CB3-EE90-49B1-AF3F-EAAE5DF558FE}">
      <dsp:nvSpPr>
        <dsp:cNvPr id="0" name=""/>
        <dsp:cNvSpPr/>
      </dsp:nvSpPr>
      <dsp:spPr>
        <a:xfrm>
          <a:off x="0" y="1796733"/>
          <a:ext cx="8839200" cy="138754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Architectures Design: LeNet-5, AlexNet, VGGNet, GoogLeNet, ResNet, Efficient Net, Mobile Net, RNN Introduction.     </a:t>
          </a:r>
          <a:endParaRPr lang="en-IN" sz="2400" kern="1200"/>
        </a:p>
      </dsp:txBody>
      <dsp:txXfrm>
        <a:off x="67734" y="1864467"/>
        <a:ext cx="8703732" cy="12520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10179"/>
          <a:ext cx="8839200" cy="284258"/>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Segmentation </a:t>
          </a:r>
          <a:r>
            <a:rPr lang="en-GB" sz="2000" kern="1200" dirty="0"/>
            <a:t>  </a:t>
          </a:r>
          <a:endParaRPr lang="en-IN" sz="2000" kern="1200" dirty="0"/>
        </a:p>
      </dsp:txBody>
      <dsp:txXfrm>
        <a:off x="13876" y="24055"/>
        <a:ext cx="8811448" cy="256506"/>
      </dsp:txXfrm>
    </dsp:sp>
    <dsp:sp modelId="{6C14554A-219F-4E02-A840-5F086559B97D}">
      <dsp:nvSpPr>
        <dsp:cNvPr id="0" name=""/>
        <dsp:cNvSpPr/>
      </dsp:nvSpPr>
      <dsp:spPr>
        <a:xfrm>
          <a:off x="0" y="383245"/>
          <a:ext cx="8839200" cy="2763613"/>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Popular Image Segmentation Architectures, FCN Architecture, Upsampling Methods, Pixel Transformations, Geometric Operations, Spatial Operations in Image Processing, Instance Segmentation, Localisation, Object detection and image segmentation using CNNs, LSTM and GRU’s. Vision Models, Vision Languages, Quality Analysis, Visual Dialogue,   Active Contours &amp; Application, Split &amp; Merge, Mean Shift &amp; Mode Finding, Normalized Cuts. </a:t>
          </a:r>
          <a:endParaRPr lang="en-IN" sz="1700" kern="1200"/>
        </a:p>
      </dsp:txBody>
      <dsp:txXfrm>
        <a:off x="134908" y="518153"/>
        <a:ext cx="8569384" cy="24937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3894"/>
          <a:ext cx="8839200" cy="44632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Object Detection </a:t>
          </a:r>
          <a:r>
            <a:rPr lang="en-GB" sz="2000" kern="1200" dirty="0"/>
            <a:t> </a:t>
          </a:r>
          <a:endParaRPr lang="en-IN" sz="2000" kern="1200" dirty="0"/>
        </a:p>
      </dsp:txBody>
      <dsp:txXfrm>
        <a:off x="21788" y="85682"/>
        <a:ext cx="8795624" cy="402750"/>
      </dsp:txXfrm>
    </dsp:sp>
    <dsp:sp modelId="{80F49CB3-EE90-49B1-AF3F-EAAE5DF558FE}">
      <dsp:nvSpPr>
        <dsp:cNvPr id="0" name=""/>
        <dsp:cNvSpPr/>
      </dsp:nvSpPr>
      <dsp:spPr>
        <a:xfrm>
          <a:off x="0" y="648366"/>
          <a:ext cx="8839200" cy="242424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Object Detection and Sliding Windows, R-CNN, Fast R-CNN, Object Recognition, 3-D vision and Geometry, Digital Watermarking. Object Detection, face recognition instance Recognition, Category Recognition   Objects, Scenes, Activities, Object classification. </a:t>
          </a:r>
          <a:endParaRPr lang="en-IN" sz="2700" kern="1200" dirty="0"/>
        </a:p>
      </dsp:txBody>
      <dsp:txXfrm>
        <a:off x="118342" y="766708"/>
        <a:ext cx="8602516" cy="21875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3894"/>
          <a:ext cx="8839200" cy="44632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Visualization and Generative Models</a:t>
          </a:r>
          <a:r>
            <a:rPr lang="en-GB" sz="2000" kern="1200" dirty="0"/>
            <a:t> </a:t>
          </a:r>
          <a:endParaRPr lang="en-IN" sz="2000" kern="1200" dirty="0"/>
        </a:p>
      </dsp:txBody>
      <dsp:txXfrm>
        <a:off x="21788" y="85682"/>
        <a:ext cx="8795624" cy="402750"/>
      </dsp:txXfrm>
    </dsp:sp>
    <dsp:sp modelId="{80F49CB3-EE90-49B1-AF3F-EAAE5DF558FE}">
      <dsp:nvSpPr>
        <dsp:cNvPr id="0" name=""/>
        <dsp:cNvSpPr/>
      </dsp:nvSpPr>
      <dsp:spPr>
        <a:xfrm>
          <a:off x="0" y="648366"/>
          <a:ext cx="8839200" cy="242424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Object Detection and Sliding Windows, R-CNN, Fast R-CNN, Object Recognition, 3-D vision and Geometry, Digital Watermarking. Object Detection, face recognition instance Recognition, Category Recognition   Objects, Scenes, Activities, Object classification. </a:t>
          </a:r>
          <a:endParaRPr lang="en-IN" sz="2700" kern="1200" dirty="0"/>
        </a:p>
      </dsp:txBody>
      <dsp:txXfrm>
        <a:off x="118342" y="766708"/>
        <a:ext cx="8602516" cy="21875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F9DC1-8189-462F-9CE6-DAB413F95679}">
      <dsp:nvSpPr>
        <dsp:cNvPr id="0" name=""/>
        <dsp:cNvSpPr/>
      </dsp:nvSpPr>
      <dsp:spPr>
        <a:xfrm>
          <a:off x="0" y="596134"/>
          <a:ext cx="8458200" cy="12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19B87EFE-EE8E-4D49-80CB-CB255DC90386}">
      <dsp:nvSpPr>
        <dsp:cNvPr id="0" name=""/>
        <dsp:cNvSpPr/>
      </dsp:nvSpPr>
      <dsp:spPr>
        <a:xfrm>
          <a:off x="70535" y="0"/>
          <a:ext cx="8079389" cy="36113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dirty="0">
              <a:latin typeface="Times New Roman" panose="02020603050405020304" pitchFamily="18" charset="0"/>
              <a:cs typeface="Times New Roman" panose="02020603050405020304" pitchFamily="18" charset="0"/>
            </a:rPr>
            <a:t>Computer Vision</a:t>
          </a:r>
          <a:endParaRPr lang="en-US" sz="1800" b="1" kern="1200" dirty="0">
            <a:latin typeface="Times New Roman" panose="02020603050405020304" pitchFamily="18" charset="0"/>
            <a:cs typeface="Times New Roman" panose="02020603050405020304" pitchFamily="18" charset="0"/>
          </a:endParaRPr>
        </a:p>
      </dsp:txBody>
      <dsp:txXfrm>
        <a:off x="88164" y="17629"/>
        <a:ext cx="8044131" cy="325879"/>
      </dsp:txXfrm>
    </dsp:sp>
    <dsp:sp modelId="{E87BA916-7EC7-4CD1-8B4E-67D8E09E31D4}">
      <dsp:nvSpPr>
        <dsp:cNvPr id="0" name=""/>
        <dsp:cNvSpPr/>
      </dsp:nvSpPr>
      <dsp:spPr>
        <a:xfrm>
          <a:off x="0" y="1178559"/>
          <a:ext cx="8458200" cy="126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2102633-764F-4C30-AEC0-514F4F7EC8B5}">
      <dsp:nvSpPr>
        <dsp:cNvPr id="0" name=""/>
        <dsp:cNvSpPr/>
      </dsp:nvSpPr>
      <dsp:spPr>
        <a:xfrm>
          <a:off x="66679" y="722319"/>
          <a:ext cx="8056207" cy="503224"/>
        </a:xfrm>
        <a:prstGeom prst="roundRect">
          <a:avLst/>
        </a:prstGeom>
        <a:solidFill>
          <a:srgbClr val="CC0066"/>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dirty="0">
              <a:latin typeface="Times New Roman" panose="02020603050405020304" pitchFamily="18" charset="0"/>
              <a:cs typeface="Times New Roman" panose="02020603050405020304" pitchFamily="18" charset="0"/>
            </a:rPr>
            <a:t>Research and Applications (Self-Driving Cars, Facial Recognition, Augmented &amp; Mixed Reality, Healthcare).</a:t>
          </a:r>
          <a:endParaRPr lang="en-IN" sz="1800" b="1" kern="1200" dirty="0">
            <a:latin typeface="Times New Roman" panose="02020603050405020304" pitchFamily="18" charset="0"/>
            <a:cs typeface="Times New Roman" panose="02020603050405020304" pitchFamily="18" charset="0"/>
          </a:endParaRPr>
        </a:p>
      </dsp:txBody>
      <dsp:txXfrm>
        <a:off x="91244" y="746884"/>
        <a:ext cx="8007077" cy="454094"/>
      </dsp:txXfrm>
    </dsp:sp>
    <dsp:sp modelId="{68CDAE6D-2177-473E-B1D2-93C9EFCC18CB}">
      <dsp:nvSpPr>
        <dsp:cNvPr id="0" name=""/>
        <dsp:cNvSpPr/>
      </dsp:nvSpPr>
      <dsp:spPr>
        <a:xfrm>
          <a:off x="0" y="1573340"/>
          <a:ext cx="8458200" cy="1260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C850BFBB-0B1B-410F-A98B-7EF17C078B0E}">
      <dsp:nvSpPr>
        <dsp:cNvPr id="0" name=""/>
        <dsp:cNvSpPr/>
      </dsp:nvSpPr>
      <dsp:spPr>
        <a:xfrm>
          <a:off x="402673" y="1331559"/>
          <a:ext cx="8053453" cy="315580"/>
        </a:xfrm>
        <a:prstGeom prst="roundRect">
          <a:avLst/>
        </a:prstGeom>
        <a:solidFill>
          <a:srgbClr val="0033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dirty="0">
              <a:latin typeface="Times New Roman" panose="02020603050405020304" pitchFamily="18" charset="0"/>
              <a:cs typeface="Times New Roman" panose="02020603050405020304" pitchFamily="18" charset="0"/>
            </a:rPr>
            <a:t>Most popular examples Categorization of Images</a:t>
          </a:r>
          <a:endParaRPr lang="en-IN" sz="1800" b="1" kern="1200" dirty="0">
            <a:latin typeface="Times New Roman" panose="02020603050405020304" pitchFamily="18" charset="0"/>
            <a:cs typeface="Times New Roman" panose="02020603050405020304" pitchFamily="18" charset="0"/>
          </a:endParaRPr>
        </a:p>
      </dsp:txBody>
      <dsp:txXfrm>
        <a:off x="418078" y="1346964"/>
        <a:ext cx="8022643" cy="284770"/>
      </dsp:txXfrm>
    </dsp:sp>
    <dsp:sp modelId="{8DC83C71-1B61-465E-B18F-3CFC15A71AA9}">
      <dsp:nvSpPr>
        <dsp:cNvPr id="0" name=""/>
        <dsp:cNvSpPr/>
      </dsp:nvSpPr>
      <dsp:spPr>
        <a:xfrm>
          <a:off x="0" y="1846690"/>
          <a:ext cx="8458200" cy="1260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5578C90-49C9-4052-BE4C-0B5BBC1CAF61}">
      <dsp:nvSpPr>
        <dsp:cNvPr id="0" name=""/>
        <dsp:cNvSpPr/>
      </dsp:nvSpPr>
      <dsp:spPr>
        <a:xfrm>
          <a:off x="422910" y="1726340"/>
          <a:ext cx="7307318" cy="194150"/>
        </a:xfrm>
        <a:prstGeom prst="roundRect">
          <a:avLst/>
        </a:prstGeom>
        <a:solidFill>
          <a:srgbClr val="0070C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dirty="0">
              <a:latin typeface="Times New Roman" panose="02020603050405020304" pitchFamily="18" charset="0"/>
              <a:cs typeface="Times New Roman" panose="02020603050405020304" pitchFamily="18" charset="0"/>
            </a:rPr>
            <a:t>Object  Detection</a:t>
          </a:r>
          <a:endParaRPr lang="en-IN" sz="1800" b="1" kern="1200" dirty="0">
            <a:latin typeface="Times New Roman" panose="02020603050405020304" pitchFamily="18" charset="0"/>
            <a:cs typeface="Times New Roman" panose="02020603050405020304" pitchFamily="18" charset="0"/>
          </a:endParaRPr>
        </a:p>
      </dsp:txBody>
      <dsp:txXfrm>
        <a:off x="432388" y="1735818"/>
        <a:ext cx="7288362" cy="175194"/>
      </dsp:txXfrm>
    </dsp:sp>
    <dsp:sp modelId="{106667C8-3CF0-475D-928B-58F7870A8F1D}">
      <dsp:nvSpPr>
        <dsp:cNvPr id="0" name=""/>
        <dsp:cNvSpPr/>
      </dsp:nvSpPr>
      <dsp:spPr>
        <a:xfrm>
          <a:off x="0" y="2201233"/>
          <a:ext cx="8458200" cy="1260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C6A1E47-160F-48B8-AA11-9C6661A01EF0}">
      <dsp:nvSpPr>
        <dsp:cNvPr id="0" name=""/>
        <dsp:cNvSpPr/>
      </dsp:nvSpPr>
      <dsp:spPr>
        <a:xfrm>
          <a:off x="422910" y="1999690"/>
          <a:ext cx="7307318" cy="275343"/>
        </a:xfrm>
        <a:prstGeom prst="roundRect">
          <a:avLst/>
        </a:prstGeom>
        <a:solidFill>
          <a:srgbClr val="0033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a:latin typeface="Times New Roman" panose="02020603050405020304" pitchFamily="18" charset="0"/>
              <a:cs typeface="Times New Roman" panose="02020603050405020304" pitchFamily="18" charset="0"/>
            </a:rPr>
            <a:t>Observation of Moving Objects</a:t>
          </a:r>
          <a:endParaRPr lang="en-IN" sz="1800" b="1" kern="1200" dirty="0">
            <a:latin typeface="Times New Roman" panose="02020603050405020304" pitchFamily="18" charset="0"/>
            <a:cs typeface="Times New Roman" panose="02020603050405020304" pitchFamily="18" charset="0"/>
          </a:endParaRPr>
        </a:p>
      </dsp:txBody>
      <dsp:txXfrm>
        <a:off x="436351" y="2013131"/>
        <a:ext cx="7280436" cy="248461"/>
      </dsp:txXfrm>
    </dsp:sp>
    <dsp:sp modelId="{28326635-FDF9-47E5-86A2-9F72FD5D5F83}">
      <dsp:nvSpPr>
        <dsp:cNvPr id="0" name=""/>
        <dsp:cNvSpPr/>
      </dsp:nvSpPr>
      <dsp:spPr>
        <a:xfrm>
          <a:off x="0" y="2682776"/>
          <a:ext cx="8458200" cy="12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2FD1299F-359E-4584-9903-80A47193E03A}">
      <dsp:nvSpPr>
        <dsp:cNvPr id="0" name=""/>
        <dsp:cNvSpPr/>
      </dsp:nvSpPr>
      <dsp:spPr>
        <a:xfrm>
          <a:off x="422910" y="2354233"/>
          <a:ext cx="7307318" cy="402342"/>
        </a:xfrm>
        <a:prstGeom prst="roundRect">
          <a:avLst/>
        </a:prstGeom>
        <a:solidFill>
          <a:srgbClr val="C000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a:latin typeface="Times New Roman" panose="02020603050405020304" pitchFamily="18" charset="0"/>
              <a:cs typeface="Times New Roman" panose="02020603050405020304" pitchFamily="18" charset="0"/>
            </a:rPr>
            <a:t>Retrieval of Images Based on Their Contents</a:t>
          </a:r>
          <a:endParaRPr lang="en-IN" sz="1800" b="1" kern="1200" dirty="0">
            <a:latin typeface="Times New Roman" panose="02020603050405020304" pitchFamily="18" charset="0"/>
            <a:cs typeface="Times New Roman" panose="02020603050405020304" pitchFamily="18" charset="0"/>
          </a:endParaRPr>
        </a:p>
      </dsp:txBody>
      <dsp:txXfrm>
        <a:off x="442551" y="2373874"/>
        <a:ext cx="7268036" cy="363060"/>
      </dsp:txXfrm>
    </dsp:sp>
    <dsp:sp modelId="{B206F4C0-C8F5-4434-8627-F8DD90B31BC8}">
      <dsp:nvSpPr>
        <dsp:cNvPr id="0" name=""/>
        <dsp:cNvSpPr/>
      </dsp:nvSpPr>
      <dsp:spPr>
        <a:xfrm>
          <a:off x="0" y="3126220"/>
          <a:ext cx="8458200" cy="126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88946DD-B105-49B6-823D-4C714B795B72}">
      <dsp:nvSpPr>
        <dsp:cNvPr id="0" name=""/>
        <dsp:cNvSpPr/>
      </dsp:nvSpPr>
      <dsp:spPr>
        <a:xfrm>
          <a:off x="422910" y="2835776"/>
          <a:ext cx="7307318" cy="364244"/>
        </a:xfrm>
        <a:prstGeom prst="roundRect">
          <a:avLst/>
        </a:prstGeom>
        <a:solidFill>
          <a:srgbClr val="FF33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a:latin typeface="Times New Roman" panose="02020603050405020304" pitchFamily="18" charset="0"/>
              <a:cs typeface="Times New Roman" panose="02020603050405020304" pitchFamily="18" charset="0"/>
            </a:rPr>
            <a:t>Computer Vision Tasks classification</a:t>
          </a:r>
          <a:endParaRPr lang="en-IN" sz="1800" b="1" kern="1200" dirty="0">
            <a:latin typeface="Times New Roman" panose="02020603050405020304" pitchFamily="18" charset="0"/>
            <a:cs typeface="Times New Roman" panose="02020603050405020304" pitchFamily="18" charset="0"/>
          </a:endParaRPr>
        </a:p>
      </dsp:txBody>
      <dsp:txXfrm>
        <a:off x="440691" y="2853557"/>
        <a:ext cx="7271756" cy="328682"/>
      </dsp:txXfrm>
    </dsp:sp>
    <dsp:sp modelId="{5A2DE0B9-9DD7-4A30-AB19-7A350BC973E0}">
      <dsp:nvSpPr>
        <dsp:cNvPr id="0" name=""/>
        <dsp:cNvSpPr/>
      </dsp:nvSpPr>
      <dsp:spPr>
        <a:xfrm>
          <a:off x="0" y="3607762"/>
          <a:ext cx="8458200" cy="1260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4E445145-AED9-485B-A529-7927013B3642}">
      <dsp:nvSpPr>
        <dsp:cNvPr id="0" name=""/>
        <dsp:cNvSpPr/>
      </dsp:nvSpPr>
      <dsp:spPr>
        <a:xfrm>
          <a:off x="422910" y="3279220"/>
          <a:ext cx="7307318" cy="402341"/>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a:latin typeface="Times New Roman" panose="02020603050405020304" pitchFamily="18" charset="0"/>
              <a:cs typeface="Times New Roman" panose="02020603050405020304" pitchFamily="18" charset="0"/>
            </a:rPr>
            <a:t>object detection</a:t>
          </a:r>
          <a:endParaRPr lang="en-IN" sz="1800" b="1" kern="1200" dirty="0">
            <a:latin typeface="Times New Roman" panose="02020603050405020304" pitchFamily="18" charset="0"/>
            <a:cs typeface="Times New Roman" panose="02020603050405020304" pitchFamily="18" charset="0"/>
          </a:endParaRPr>
        </a:p>
      </dsp:txBody>
      <dsp:txXfrm>
        <a:off x="442551" y="3298861"/>
        <a:ext cx="7268036" cy="363059"/>
      </dsp:txXfrm>
    </dsp:sp>
    <dsp:sp modelId="{9A8B2044-1180-4423-8EB4-D939AB910ED5}">
      <dsp:nvSpPr>
        <dsp:cNvPr id="0" name=""/>
        <dsp:cNvSpPr/>
      </dsp:nvSpPr>
      <dsp:spPr>
        <a:xfrm>
          <a:off x="0" y="3936906"/>
          <a:ext cx="8458200" cy="1260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8E5ED251-328F-4D45-B653-72712F48C97C}">
      <dsp:nvSpPr>
        <dsp:cNvPr id="0" name=""/>
        <dsp:cNvSpPr/>
      </dsp:nvSpPr>
      <dsp:spPr>
        <a:xfrm>
          <a:off x="422910" y="3760762"/>
          <a:ext cx="7307318" cy="249944"/>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a:latin typeface="Times New Roman" panose="02020603050405020304" pitchFamily="18" charset="0"/>
              <a:cs typeface="Times New Roman" panose="02020603050405020304" pitchFamily="18" charset="0"/>
            </a:rPr>
            <a:t>Instance segmentation</a:t>
          </a:r>
          <a:endParaRPr lang="en-IN" sz="1800" b="1" kern="1200" dirty="0">
            <a:latin typeface="Times New Roman" panose="02020603050405020304" pitchFamily="18" charset="0"/>
            <a:cs typeface="Times New Roman" panose="02020603050405020304" pitchFamily="18" charset="0"/>
          </a:endParaRPr>
        </a:p>
      </dsp:txBody>
      <dsp:txXfrm>
        <a:off x="435111" y="3772963"/>
        <a:ext cx="7282916" cy="225542"/>
      </dsp:txXfrm>
    </dsp:sp>
    <dsp:sp modelId="{5283829B-7D84-48A6-B86C-F83F61631188}">
      <dsp:nvSpPr>
        <dsp:cNvPr id="0" name=""/>
        <dsp:cNvSpPr/>
      </dsp:nvSpPr>
      <dsp:spPr>
        <a:xfrm>
          <a:off x="0" y="4266050"/>
          <a:ext cx="8458200" cy="1260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9BB86192-9B5D-4B8A-B3E2-2753259F3AE5}">
      <dsp:nvSpPr>
        <dsp:cNvPr id="0" name=""/>
        <dsp:cNvSpPr/>
      </dsp:nvSpPr>
      <dsp:spPr>
        <a:xfrm>
          <a:off x="422910" y="4089906"/>
          <a:ext cx="7307318" cy="249944"/>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dirty="0">
              <a:latin typeface="Times New Roman" panose="02020603050405020304" pitchFamily="18" charset="0"/>
              <a:cs typeface="Times New Roman" panose="02020603050405020304" pitchFamily="18" charset="0"/>
            </a:rPr>
            <a:t>Convolutional Neural Networks</a:t>
          </a:r>
          <a:endParaRPr lang="en-IN" sz="1800" b="1" kern="1200" dirty="0">
            <a:latin typeface="Times New Roman" panose="02020603050405020304" pitchFamily="18" charset="0"/>
            <a:cs typeface="Times New Roman" panose="02020603050405020304" pitchFamily="18" charset="0"/>
          </a:endParaRPr>
        </a:p>
      </dsp:txBody>
      <dsp:txXfrm>
        <a:off x="435111" y="4102107"/>
        <a:ext cx="7282916" cy="225542"/>
      </dsp:txXfrm>
    </dsp:sp>
    <dsp:sp modelId="{FEC97E0D-CDAF-48B7-8E98-10CDC073A59E}">
      <dsp:nvSpPr>
        <dsp:cNvPr id="0" name=""/>
        <dsp:cNvSpPr/>
      </dsp:nvSpPr>
      <dsp:spPr>
        <a:xfrm>
          <a:off x="0" y="4643881"/>
          <a:ext cx="8458200" cy="12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95029AC-89E1-4F1E-BC63-4C5EC467E6F8}">
      <dsp:nvSpPr>
        <dsp:cNvPr id="0" name=""/>
        <dsp:cNvSpPr/>
      </dsp:nvSpPr>
      <dsp:spPr>
        <a:xfrm>
          <a:off x="422910" y="4419050"/>
          <a:ext cx="7533016" cy="29863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a:latin typeface="Times New Roman" panose="02020603050405020304" pitchFamily="18" charset="0"/>
              <a:cs typeface="Times New Roman" panose="02020603050405020304" pitchFamily="18" charset="0"/>
            </a:rPr>
            <a:t>Evolution of CNN Architectures for Image</a:t>
          </a:r>
          <a:endParaRPr lang="en-IN" sz="1800" b="1" kern="1200" dirty="0">
            <a:latin typeface="Times New Roman" panose="02020603050405020304" pitchFamily="18" charset="0"/>
            <a:cs typeface="Times New Roman" panose="02020603050405020304" pitchFamily="18" charset="0"/>
          </a:endParaRPr>
        </a:p>
      </dsp:txBody>
      <dsp:txXfrm>
        <a:off x="437488" y="4433628"/>
        <a:ext cx="7503860" cy="269474"/>
      </dsp:txXfrm>
    </dsp:sp>
    <dsp:sp modelId="{BC94104F-623C-4B87-8839-AFCA25DD98C0}">
      <dsp:nvSpPr>
        <dsp:cNvPr id="0" name=""/>
        <dsp:cNvSpPr/>
      </dsp:nvSpPr>
      <dsp:spPr>
        <a:xfrm>
          <a:off x="0" y="4973025"/>
          <a:ext cx="8458200" cy="126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ED7B8F8B-D588-48E6-B9D8-54BB6B12A690}">
      <dsp:nvSpPr>
        <dsp:cNvPr id="0" name=""/>
        <dsp:cNvSpPr/>
      </dsp:nvSpPr>
      <dsp:spPr>
        <a:xfrm>
          <a:off x="422910" y="4796881"/>
          <a:ext cx="7307318" cy="249944"/>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dirty="0">
              <a:latin typeface="Times New Roman" panose="02020603050405020304" pitchFamily="18" charset="0"/>
              <a:cs typeface="Times New Roman" panose="02020603050405020304" pitchFamily="18" charset="0"/>
            </a:rPr>
            <a:t>Recent CNN</a:t>
          </a:r>
          <a:endParaRPr lang="en-IN" sz="1800" b="1" kern="1200" dirty="0">
            <a:latin typeface="Times New Roman" panose="02020603050405020304" pitchFamily="18" charset="0"/>
            <a:cs typeface="Times New Roman" panose="02020603050405020304" pitchFamily="18" charset="0"/>
          </a:endParaRPr>
        </a:p>
      </dsp:txBody>
      <dsp:txXfrm>
        <a:off x="435111" y="4809082"/>
        <a:ext cx="7282916" cy="2255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A7E8A-D5D9-47CB-81AF-F7191FAE1B94}">
      <dsp:nvSpPr>
        <dsp:cNvPr id="0" name=""/>
        <dsp:cNvSpPr/>
      </dsp:nvSpPr>
      <dsp:spPr>
        <a:xfrm>
          <a:off x="0" y="250581"/>
          <a:ext cx="8229600" cy="1216800"/>
        </a:xfrm>
        <a:prstGeom prst="round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solidFill>
                <a:srgbClr val="002060"/>
              </a:solidFill>
            </a:rPr>
            <a:t>Students should have the knowledge of computer organization</a:t>
          </a:r>
        </a:p>
      </dsp:txBody>
      <dsp:txXfrm>
        <a:off x="59399" y="309980"/>
        <a:ext cx="8110802" cy="1098002"/>
      </dsp:txXfrm>
    </dsp:sp>
    <dsp:sp modelId="{79A547AB-E9E5-45A9-B71D-435BE91D3ADD}">
      <dsp:nvSpPr>
        <dsp:cNvPr id="0" name=""/>
        <dsp:cNvSpPr/>
      </dsp:nvSpPr>
      <dsp:spPr>
        <a:xfrm>
          <a:off x="0" y="1654581"/>
          <a:ext cx="8229600" cy="1216800"/>
        </a:xfrm>
        <a:prstGeom prst="roundRect">
          <a:avLst/>
        </a:prstGeom>
        <a:gradFill rotWithShape="0">
          <a:gsLst>
            <a:gs pos="0">
              <a:schemeClr val="accent1">
                <a:alpha val="90000"/>
                <a:hueOff val="0"/>
                <a:satOff val="0"/>
                <a:lumOff val="0"/>
                <a:alphaOff val="-20000"/>
                <a:lumMod val="110000"/>
                <a:satMod val="105000"/>
                <a:tint val="67000"/>
              </a:schemeClr>
            </a:gs>
            <a:gs pos="50000">
              <a:schemeClr val="accent1">
                <a:alpha val="90000"/>
                <a:hueOff val="0"/>
                <a:satOff val="0"/>
                <a:lumOff val="0"/>
                <a:alphaOff val="-20000"/>
                <a:lumMod val="105000"/>
                <a:satMod val="103000"/>
                <a:tint val="73000"/>
              </a:schemeClr>
            </a:gs>
            <a:gs pos="100000">
              <a:schemeClr val="accent1">
                <a:alpha val="90000"/>
                <a:hueOff val="0"/>
                <a:satOff val="0"/>
                <a:lumOff val="0"/>
                <a:alphaOff val="-2000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solidFill>
                <a:srgbClr val="002060"/>
              </a:solidFill>
            </a:rPr>
            <a:t>Students should know the artificial intelligence basic concepts. </a:t>
          </a:r>
        </a:p>
      </dsp:txBody>
      <dsp:txXfrm>
        <a:off x="59399" y="1713980"/>
        <a:ext cx="8110802" cy="1098002"/>
      </dsp:txXfrm>
    </dsp:sp>
    <dsp:sp modelId="{48FAC247-B64A-44FB-9BF6-C529E8C91B3B}">
      <dsp:nvSpPr>
        <dsp:cNvPr id="0" name=""/>
        <dsp:cNvSpPr/>
      </dsp:nvSpPr>
      <dsp:spPr>
        <a:xfrm>
          <a:off x="0" y="3058581"/>
          <a:ext cx="8229600" cy="1216800"/>
        </a:xfrm>
        <a:prstGeom prst="roundRect">
          <a:avLst/>
        </a:prstGeom>
        <a:gradFill rotWithShape="0">
          <a:gsLst>
            <a:gs pos="0">
              <a:schemeClr val="accent1">
                <a:alpha val="90000"/>
                <a:hueOff val="0"/>
                <a:satOff val="0"/>
                <a:lumOff val="0"/>
                <a:alphaOff val="-40000"/>
                <a:lumMod val="110000"/>
                <a:satMod val="105000"/>
                <a:tint val="67000"/>
              </a:schemeClr>
            </a:gs>
            <a:gs pos="50000">
              <a:schemeClr val="accent1">
                <a:alpha val="90000"/>
                <a:hueOff val="0"/>
                <a:satOff val="0"/>
                <a:lumOff val="0"/>
                <a:alphaOff val="-40000"/>
                <a:lumMod val="105000"/>
                <a:satMod val="103000"/>
                <a:tint val="73000"/>
              </a:schemeClr>
            </a:gs>
            <a:gs pos="100000">
              <a:schemeClr val="accent1">
                <a:alpha val="90000"/>
                <a:hueOff val="0"/>
                <a:satOff val="0"/>
                <a:lumOff val="0"/>
                <a:alphaOff val="-4000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solidFill>
                <a:srgbClr val="002060"/>
              </a:solidFill>
            </a:rPr>
            <a:t>Students should be able to create, design and manipulate the images and idea about pixels</a:t>
          </a:r>
        </a:p>
      </dsp:txBody>
      <dsp:txXfrm>
        <a:off x="59399" y="3117980"/>
        <a:ext cx="8110802"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EB0EEF-16C6-4DBB-91ED-CEA546BFFABC}" type="datetimeFigureOut">
              <a:rPr lang="en-US" smtClean="0"/>
              <a:pPr/>
              <a:t>17-Dec-25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329676-7EF0-4696-AF50-7A80E837C36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8543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48037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18304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1/5/2020</a:t>
            </a:r>
          </a:p>
        </p:txBody>
      </p:sp>
      <p:sp>
        <p:nvSpPr>
          <p:cNvPr id="6" name="Footer Placeholder 5"/>
          <p:cNvSpPr>
            <a:spLocks noGrp="1"/>
          </p:cNvSpPr>
          <p:nvPr>
            <p:ph type="ftr" sz="quarter" idx="11"/>
          </p:nvPr>
        </p:nvSpPr>
        <p:spPr/>
        <p:txBody>
          <a:bodyPr/>
          <a:lstStyle/>
          <a:p>
            <a:r>
              <a:rPr lang="sv-SE"/>
              <a:t>Mr K PRABHANJAN KUMAR                COMPUTER VISION  UNIT- 1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2772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1/5/2020</a:t>
            </a:r>
          </a:p>
        </p:txBody>
      </p:sp>
      <p:sp>
        <p:nvSpPr>
          <p:cNvPr id="8" name="Footer Placeholder 7"/>
          <p:cNvSpPr>
            <a:spLocks noGrp="1"/>
          </p:cNvSpPr>
          <p:nvPr>
            <p:ph type="ftr" sz="quarter" idx="11"/>
          </p:nvPr>
        </p:nvSpPr>
        <p:spPr/>
        <p:txBody>
          <a:bodyPr/>
          <a:lstStyle/>
          <a:p>
            <a:r>
              <a:rPr lang="sv-SE"/>
              <a:t>Mr K PRABHANJAN KUMAR                COMPUTER VISION  UNIT- 1</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6284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1/5/2020</a:t>
            </a:r>
          </a:p>
        </p:txBody>
      </p:sp>
      <p:sp>
        <p:nvSpPr>
          <p:cNvPr id="4" name="Footer Placeholder 3"/>
          <p:cNvSpPr>
            <a:spLocks noGrp="1"/>
          </p:cNvSpPr>
          <p:nvPr>
            <p:ph type="ftr" sz="quarter" idx="11"/>
          </p:nvPr>
        </p:nvSpPr>
        <p:spPr/>
        <p:txBody>
          <a:bodyPr/>
          <a:lstStyle/>
          <a:p>
            <a:r>
              <a:rPr lang="sv-SE"/>
              <a:t>Mr K PRABHANJAN KUMAR                COMPUTER VISION  UNIT- 1</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2340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0459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r>
              <a:rPr lang="en-US"/>
              <a:t>1/5/2020</a:t>
            </a:r>
          </a:p>
        </p:txBody>
      </p:sp>
      <p:sp>
        <p:nvSpPr>
          <p:cNvPr id="6" name="Footer Placeholder 5"/>
          <p:cNvSpPr>
            <a:spLocks noGrp="1"/>
          </p:cNvSpPr>
          <p:nvPr>
            <p:ph type="ftr" sz="quarter" idx="11"/>
          </p:nvPr>
        </p:nvSpPr>
        <p:spPr/>
        <p:txBody>
          <a:bodyPr/>
          <a:lstStyle/>
          <a:p>
            <a:r>
              <a:rPr lang="sv-SE"/>
              <a:t>Mr K PRABHANJAN KUMAR                COMPUTER VISION  UNIT- 1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836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r>
              <a:rPr lang="en-US"/>
              <a:t>1/5/2020</a:t>
            </a:r>
          </a:p>
        </p:txBody>
      </p:sp>
      <p:sp>
        <p:nvSpPr>
          <p:cNvPr id="6" name="Footer Placeholder 5"/>
          <p:cNvSpPr>
            <a:spLocks noGrp="1"/>
          </p:cNvSpPr>
          <p:nvPr>
            <p:ph type="ftr" sz="quarter" idx="11"/>
          </p:nvPr>
        </p:nvSpPr>
        <p:spPr/>
        <p:txBody>
          <a:bodyPr/>
          <a:lstStyle/>
          <a:p>
            <a:r>
              <a:rPr lang="sv-SE"/>
              <a:t>Mr K PRABHANJAN KUMAR                COMPUTER VISION  UNIT- 1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3197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2704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1/5/2020</a:t>
            </a:r>
          </a:p>
        </p:txBody>
      </p:sp>
      <p:sp>
        <p:nvSpPr>
          <p:cNvPr id="5" name="Footer Placeholder 4"/>
          <p:cNvSpPr>
            <a:spLocks noGrp="1"/>
          </p:cNvSpPr>
          <p:nvPr>
            <p:ph type="ftr" sz="quarter" idx="11"/>
          </p:nvPr>
        </p:nvSpPr>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45911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1/5/2020</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sv-SE"/>
              <a:t>Mr K PRABHANJAN KUMAR                COMPUTER VISION  UNIT- 1</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48632945"/>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3.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adobe.com/in/products/substance3d/discover/what-is-vr.html" TargetMode="External"/><Relationship Id="rId2" Type="http://schemas.openxmlformats.org/officeDocument/2006/relationships/image" Target="../media/image18.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www.adobe.com/in/products/substance3d/discover/what-is-augmented-reality.html"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hyperlink" Target="https://machinelearningmastery.com/object-recognition-with-deep-learning/" TargetMode="External"/><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3.png"/><Relationship Id="rId5" Type="http://schemas.openxmlformats.org/officeDocument/2006/relationships/image" Target="../media/image30.png"/><Relationship Id="rId4" Type="http://schemas.openxmlformats.org/officeDocument/2006/relationships/hyperlink" Target="https://debuggercafe.com/moving-object-detection-using-frame-differencing-with-opencv/"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www.baeldung.com/deeplearning4j" TargetMode="External"/><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www.baeldung.com/java-cnn-deeplearning4j"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www.v7labs.com/medical-imaging-annotation" TargetMode="External"/><Relationship Id="rId2" Type="http://schemas.openxmlformats.org/officeDocument/2006/relationships/hyperlink" Target="https://www.v7labs.com/blog/image-segmentation-guide" TargetMode="Externa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9.png"/><Relationship Id="rId4" Type="http://schemas.openxmlformats.org/officeDocument/2006/relationships/image" Target="../media/image38.jpe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www.v7labs.com/blog/neural-network-architectures-guide" TargetMode="Externa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v7labs.com/blog/computer-vision-applications"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iq.opengenus.org/evolution-of-cnn-architectures/" TargetMode="Externa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hyperlink" Target="https://www.youtube.com/watch?v=m-aKj5ovDfg" TargetMode="External"/><Relationship Id="rId2" Type="http://schemas.openxmlformats.org/officeDocument/2006/relationships/hyperlink" Target="https://nptel.ac.in/courses/106106093/"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youtube.com/watch?v=G4NYQox4n2g" TargetMode="Externa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www.slideshare.net/2cdude/data-warehousing-3292359" TargetMode="External"/><Relationship Id="rId2" Type="http://schemas.openxmlformats.org/officeDocument/2006/relationships/hyperlink" Target="https://www.oreilly.com/library/view/datawarehousingarchitecture/0130809020/ch07.html"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58705" y="1219200"/>
            <a:ext cx="6400800" cy="990600"/>
          </a:xfrm>
        </p:spPr>
        <p:style>
          <a:lnRef idx="2">
            <a:schemeClr val="accent5"/>
          </a:lnRef>
          <a:fillRef idx="1">
            <a:schemeClr val="lt1"/>
          </a:fillRef>
          <a:effectRef idx="0">
            <a:schemeClr val="accent5"/>
          </a:effectRef>
          <a:fontRef idx="minor">
            <a:schemeClr val="dk1"/>
          </a:fontRef>
        </p:style>
        <p:txBody>
          <a:bodyPr>
            <a:normAutofit/>
          </a:bodyPr>
          <a:lstStyle/>
          <a:p>
            <a:r>
              <a:rPr lang="en-US" sz="3500" b="1" dirty="0">
                <a:solidFill>
                  <a:srgbClr val="7030A0"/>
                </a:solidFill>
                <a:effectLst>
                  <a:outerShdw blurRad="38100" dist="38100" dir="2700000" algn="tl">
                    <a:srgbClr val="000000">
                      <a:alpha val="43137"/>
                    </a:srgbClr>
                  </a:outerShdw>
                </a:effectLst>
              </a:rPr>
              <a:t>Introduction to </a:t>
            </a:r>
            <a:r>
              <a:rPr lang="en-IN" sz="3500" b="1" dirty="0">
                <a:solidFill>
                  <a:srgbClr val="7030A0"/>
                </a:solidFill>
              </a:rPr>
              <a:t>Computer Vision</a:t>
            </a:r>
            <a:endParaRPr lang="en-US" sz="3500" b="1" dirty="0">
              <a:solidFill>
                <a:srgbClr val="7030A0"/>
              </a:solidFill>
              <a:effectLst>
                <a:outerShdw blurRad="38100" dist="38100" dir="2700000" algn="tl">
                  <a:srgbClr val="000000">
                    <a:alpha val="43137"/>
                  </a:srgbClr>
                </a:outerShdw>
              </a:effectLst>
            </a:endParaRPr>
          </a:p>
        </p:txBody>
      </p:sp>
      <p:sp>
        <p:nvSpPr>
          <p:cNvPr id="9" name="Date Placeholder 8"/>
          <p:cNvSpPr>
            <a:spLocks noGrp="1"/>
          </p:cNvSpPr>
          <p:nvPr>
            <p:ph type="dt" sz="half" idx="10"/>
          </p:nvPr>
        </p:nvSpPr>
        <p:spPr>
          <a:xfrm>
            <a:off x="381000" y="6492875"/>
            <a:ext cx="2133600" cy="365125"/>
          </a:xfrm>
        </p:spPr>
        <p:txBody>
          <a:bodyPr/>
          <a:lstStyle/>
          <a:p>
            <a:r>
              <a:rPr lang="en-US"/>
              <a:t>1/5/2020</a:t>
            </a:r>
            <a:endParaRPr lang="en-US" dirty="0"/>
          </a:p>
        </p:txBody>
      </p:sp>
      <p:sp>
        <p:nvSpPr>
          <p:cNvPr id="13" name="Footer Placeholder 12"/>
          <p:cNvSpPr>
            <a:spLocks noGrp="1"/>
          </p:cNvSpPr>
          <p:nvPr>
            <p:ph type="ftr" sz="quarter" idx="11"/>
          </p:nvPr>
        </p:nvSpPr>
        <p:spPr>
          <a:xfrm>
            <a:off x="1600200" y="6248400"/>
            <a:ext cx="5715000" cy="320675"/>
          </a:xfrm>
        </p:spPr>
        <p:txBody>
          <a:bodyPr/>
          <a:lstStyle/>
          <a:p>
            <a:r>
              <a:rPr lang="sv-SE"/>
              <a:t>Mr K PRABHANJAN KUMAR                COMPUTER VISION  UNIT- 1</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6" name="Subtitle 2"/>
          <p:cNvSpPr txBox="1">
            <a:spLocks/>
          </p:cNvSpPr>
          <p:nvPr/>
        </p:nvSpPr>
        <p:spPr>
          <a:xfrm>
            <a:off x="5410200" y="3962400"/>
            <a:ext cx="3429000" cy="1905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fontScale="850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b="1" dirty="0">
                <a:solidFill>
                  <a:schemeClr val="tx1"/>
                </a:solidFill>
              </a:rPr>
              <a:t>Faculty Name: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a:solidFill>
                  <a:schemeClr val="tx1"/>
                </a:solidFill>
              </a:rPr>
              <a:t>Subhas</a:t>
            </a:r>
            <a:r>
              <a:rPr lang="en-US" sz="2400" dirty="0">
                <a:solidFill>
                  <a:schemeClr val="tx1"/>
                </a:solidFill>
              </a:rPr>
              <a:t> Chandra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Affiliation</a:t>
            </a:r>
            <a:r>
              <a:rPr lang="en-US" sz="2400" b="1" baseline="0" dirty="0">
                <a:solidFill>
                  <a:schemeClr val="tx1"/>
                </a:solidFill>
              </a:rPr>
              <a:t>: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b="1" baseline="0" dirty="0">
                <a:solidFill>
                  <a:schemeClr val="tx1"/>
                </a:solidFill>
              </a:rPr>
              <a:t>Department: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noProof="0">
                <a:solidFill>
                  <a:schemeClr val="tx1"/>
                </a:solidFill>
              </a:rPr>
              <a:t>AIML</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362200"/>
            <a:ext cx="1524000" cy="1524000"/>
          </a:xfrm>
          <a:prstGeom prst="rect">
            <a:avLst/>
          </a:prstGeom>
          <a:noFill/>
        </p:spPr>
      </p:pic>
      <p:sp>
        <p:nvSpPr>
          <p:cNvPr id="12" name="Subtitle 2"/>
          <p:cNvSpPr txBox="1">
            <a:spLocks/>
          </p:cNvSpPr>
          <p:nvPr/>
        </p:nvSpPr>
        <p:spPr>
          <a:xfrm>
            <a:off x="152400" y="2971800"/>
            <a:ext cx="2057400" cy="685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kumimoji="0" lang="en-US" sz="2500" b="0" i="0" u="none" strike="noStrike" kern="1200" cap="none" spc="0" normalizeH="0" noProof="0" dirty="0">
                <a:ln>
                  <a:noFill/>
                </a:ln>
                <a:solidFill>
                  <a:schemeClr val="tx1"/>
                </a:solidFill>
                <a:effectLst/>
                <a:uLnTx/>
                <a:uFillTx/>
                <a:latin typeface="+mn-lt"/>
                <a:ea typeface="+mn-ea"/>
                <a:cs typeface="+mn-cs"/>
              </a:rPr>
              <a:t>1</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Subtitle 2"/>
          <p:cNvSpPr txBox="1">
            <a:spLocks/>
          </p:cNvSpPr>
          <p:nvPr/>
        </p:nvSpPr>
        <p:spPr>
          <a:xfrm>
            <a:off x="152400" y="3810000"/>
            <a:ext cx="4191000" cy="914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Subject</a:t>
            </a:r>
            <a:r>
              <a:rPr kumimoji="0" lang="en-US" sz="2400" b="1" i="0" u="none" strike="noStrike" kern="1200" cap="none" spc="0" normalizeH="0" noProof="0" dirty="0">
                <a:ln>
                  <a:noFill/>
                </a:ln>
                <a:solidFill>
                  <a:schemeClr val="tx1"/>
                </a:solidFill>
                <a:effectLst/>
                <a:uLnTx/>
                <a:uFillTx/>
                <a:latin typeface="+mn-lt"/>
                <a:ea typeface="+mn-ea"/>
                <a:cs typeface="+mn-cs"/>
              </a:rPr>
              <a:t> Name: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noProof="0" dirty="0">
                <a:solidFill>
                  <a:schemeClr val="tx1"/>
                </a:solidFill>
              </a:rPr>
              <a:t>Computer Vision</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00600"/>
            <a:ext cx="4191000" cy="990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rmAutofit fontScale="9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Course</a:t>
            </a:r>
            <a:r>
              <a:rPr kumimoji="0" lang="en-US" sz="2600" b="1" i="0" u="none" strike="noStrike" kern="1200" cap="none" spc="0" normalizeH="0" noProof="0" dirty="0">
                <a:ln>
                  <a:noFill/>
                </a:ln>
                <a:solidFill>
                  <a:schemeClr val="tx1"/>
                </a:solidFill>
                <a:effectLst/>
                <a:uLnTx/>
                <a:uFillTx/>
                <a:latin typeface="+mn-lt"/>
                <a:ea typeface="+mn-ea"/>
                <a:cs typeface="+mn-cs"/>
              </a:rPr>
              <a:t> Details:</a:t>
            </a:r>
          </a:p>
          <a:p>
            <a:pPr algn="ctr">
              <a:spcBef>
                <a:spcPct val="20000"/>
              </a:spcBef>
              <a:defRPr/>
            </a:pPr>
            <a:r>
              <a:rPr lang="en-US" sz="2000" dirty="0" err="1">
                <a:solidFill>
                  <a:schemeClr val="tx1"/>
                </a:solidFill>
              </a:rPr>
              <a:t>B.Tech</a:t>
            </a:r>
            <a:r>
              <a:rPr lang="en-US" sz="2000" dirty="0">
                <a:solidFill>
                  <a:schemeClr val="tx1"/>
                </a:solidFill>
              </a:rPr>
              <a:t> 7th </a:t>
            </a:r>
            <a:r>
              <a:rPr kumimoji="0" lang="en-US" sz="2000" b="0" i="0" u="none" strike="noStrike" kern="1200" cap="none" spc="0" normalizeH="0" noProof="0" dirty="0">
                <a:ln>
                  <a:noFill/>
                </a:ln>
                <a:solidFill>
                  <a:schemeClr val="tx1"/>
                </a:solidFill>
                <a:effectLst/>
                <a:uLnTx/>
                <a:uFillTx/>
                <a:latin typeface="+mn-lt"/>
                <a:ea typeface="+mn-ea"/>
                <a:cs typeface="+mn-cs"/>
              </a:rPr>
              <a:t> Sem</a:t>
            </a:r>
            <a:br>
              <a:rPr kumimoji="0" lang="en-US" sz="2000" b="0" i="0" u="none" strike="noStrike" kern="1200" cap="none" spc="0" normalizeH="0" noProof="0" dirty="0">
                <a:ln>
                  <a:noFill/>
                </a:ln>
                <a:solidFill>
                  <a:schemeClr val="tx1"/>
                </a:solidFill>
                <a:effectLst/>
                <a:uLnTx/>
                <a:uFillTx/>
                <a:latin typeface="+mn-lt"/>
                <a:ea typeface="+mn-ea"/>
                <a:cs typeface="+mn-cs"/>
              </a:rPr>
            </a:b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Title 1"/>
          <p:cNvSpPr txBox="1"/>
          <p:nvPr/>
        </p:nvSpPr>
        <p:spPr>
          <a:xfrm>
            <a:off x="1371600" y="76200"/>
            <a:ext cx="7772400" cy="685799"/>
          </a:xfrm>
          <a:prstGeom prst="rect">
            <a:avLst/>
          </a:prstGeom>
          <a:solidFill>
            <a:srgbClr val="F99999"/>
          </a:soli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dirty="0"/>
              <a:t>Noida Institute of Engineering and Technology, Greater Noida</a:t>
            </a:r>
          </a:p>
        </p:txBody>
      </p:sp>
      <p:pic>
        <p:nvPicPr>
          <p:cNvPr id="1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050E05-EFB7-4C27-891C-9AD56656A6F6}" type="datetime1">
              <a:rPr lang="en-US" smtClean="0"/>
              <a:pPr/>
              <a:t>17-Dec-25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11" name="Footer Placeholder 12"/>
          <p:cNvSpPr>
            <a:spLocks noGrp="1"/>
          </p:cNvSpPr>
          <p:nvPr>
            <p:ph type="ftr" sz="quarter" idx="11"/>
          </p:nvPr>
        </p:nvSpPr>
        <p:spPr>
          <a:xfrm>
            <a:off x="1600200" y="6248400"/>
            <a:ext cx="5715000" cy="320675"/>
          </a:xfrm>
        </p:spPr>
        <p:txBody>
          <a:bodyPr/>
          <a:lstStyle/>
          <a:p>
            <a:r>
              <a:rPr lang="sv-SE"/>
              <a:t>Mr K PRABHANJAN KUMAR                COMPUTER VISION  UNIT- 1</a:t>
            </a:r>
            <a:endParaRPr lang="en-US" dirty="0"/>
          </a:p>
        </p:txBody>
      </p:sp>
      <p:sp>
        <p:nvSpPr>
          <p:cNvPr id="9" name="Rectangle 8"/>
          <p:cNvSpPr/>
          <p:nvPr/>
        </p:nvSpPr>
        <p:spPr>
          <a:xfrm>
            <a:off x="280556" y="983674"/>
            <a:ext cx="8593281" cy="5687711"/>
          </a:xfrm>
          <a:prstGeom prst="rect">
            <a:avLst/>
          </a:prstGeom>
        </p:spPr>
        <p:txBody>
          <a:bodyPr wrap="square">
            <a:spAutoFit/>
          </a:bodyPr>
          <a:lstStyle/>
          <a:p>
            <a:pPr lvl="0">
              <a:spcBef>
                <a:spcPct val="20000"/>
              </a:spcBef>
              <a:defRPr/>
            </a:pPr>
            <a:r>
              <a:rPr lang="en-US" dirty="0">
                <a:latin typeface="Times New Roman" pitchFamily="18" charset="0"/>
                <a:cs typeface="Times New Roman" pitchFamily="18" charset="0"/>
              </a:rPr>
              <a:t>Name:-	</a:t>
            </a:r>
            <a:r>
              <a:rPr lang="en-US" b="1" dirty="0">
                <a:latin typeface="Times New Roman" pitchFamily="18" charset="0"/>
                <a:cs typeface="Times New Roman" pitchFamily="18" charset="0"/>
              </a:rPr>
              <a:t>K </a:t>
            </a:r>
            <a:r>
              <a:rPr lang="en-US" b="1" dirty="0" err="1">
                <a:latin typeface="Times New Roman" pitchFamily="18" charset="0"/>
                <a:cs typeface="Times New Roman" pitchFamily="18" charset="0"/>
              </a:rPr>
              <a:t>Prabhanjan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kumar</a:t>
            </a:r>
            <a:endParaRPr lang="en-US" b="1" dirty="0">
              <a:latin typeface="Times New Roman" pitchFamily="18" charset="0"/>
              <a:cs typeface="Times New Roman" pitchFamily="18" charset="0"/>
            </a:endParaRPr>
          </a:p>
          <a:p>
            <a:pPr lvl="0">
              <a:spcBef>
                <a:spcPct val="20000"/>
              </a:spcBef>
              <a:defRPr/>
            </a:pPr>
            <a:r>
              <a:rPr lang="en-US" dirty="0">
                <a:latin typeface="Times New Roman" pitchFamily="18" charset="0"/>
                <a:cs typeface="Times New Roman" pitchFamily="18" charset="0"/>
              </a:rPr>
              <a:t>	Assistant Professor, IT</a:t>
            </a:r>
          </a:p>
          <a:p>
            <a:pPr lvl="0">
              <a:spcBef>
                <a:spcPct val="20000"/>
              </a:spcBef>
              <a:defRPr/>
            </a:pPr>
            <a:r>
              <a:rPr lang="en-US" dirty="0">
                <a:latin typeface="Times New Roman" pitchFamily="18" charset="0"/>
                <a:cs typeface="Times New Roman" pitchFamily="18" charset="0"/>
              </a:rPr>
              <a:t>	NIET , </a:t>
            </a:r>
            <a:r>
              <a:rPr lang="en-US" dirty="0" err="1">
                <a:latin typeface="Times New Roman" pitchFamily="18" charset="0"/>
                <a:cs typeface="Times New Roman" pitchFamily="18" charset="0"/>
              </a:rPr>
              <a:t>Greter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Noida</a:t>
            </a:r>
            <a:endParaRPr lang="en-US" dirty="0">
              <a:latin typeface="Times New Roman" pitchFamily="18" charset="0"/>
              <a:cs typeface="Times New Roman" pitchFamily="18" charset="0"/>
            </a:endParaRPr>
          </a:p>
          <a:p>
            <a:pPr lvl="0">
              <a:spcBef>
                <a:spcPct val="20000"/>
              </a:spcBef>
              <a:defRPr/>
            </a:pPr>
            <a:r>
              <a:rPr lang="en-US" dirty="0">
                <a:latin typeface="Times New Roman" pitchFamily="18" charset="0"/>
                <a:cs typeface="Times New Roman" pitchFamily="18" charset="0"/>
              </a:rPr>
              <a:t>Qualification </a:t>
            </a:r>
          </a:p>
          <a:p>
            <a:pPr lvl="1">
              <a:spcBef>
                <a:spcPct val="20000"/>
              </a:spcBef>
              <a:buFont typeface="Wingdings" pitchFamily="2" charset="2"/>
              <a:buChar char="v"/>
              <a:defRPr/>
            </a:pPr>
            <a:r>
              <a:rPr lang="en-US" dirty="0">
                <a:latin typeface="Times New Roman" pitchFamily="18" charset="0"/>
                <a:cs typeface="Times New Roman" pitchFamily="18" charset="0"/>
              </a:rPr>
              <a:t>Post Graduated from </a:t>
            </a:r>
            <a:r>
              <a:rPr lang="en-US" dirty="0" err="1">
                <a:latin typeface="Times New Roman" pitchFamily="18" charset="0"/>
                <a:cs typeface="Times New Roman" pitchFamily="18" charset="0"/>
              </a:rPr>
              <a:t>Pydah</a:t>
            </a:r>
            <a:r>
              <a:rPr lang="en-US" dirty="0">
                <a:latin typeface="Times New Roman" pitchFamily="18" charset="0"/>
                <a:cs typeface="Times New Roman" pitchFamily="18" charset="0"/>
              </a:rPr>
              <a:t> Engineering college VIZAG affiliated under JNTU KAKINADA, Andhra Pradesh.</a:t>
            </a:r>
          </a:p>
          <a:p>
            <a:pPr lvl="1">
              <a:spcBef>
                <a:spcPct val="20000"/>
              </a:spcBef>
              <a:buFont typeface="Wingdings" pitchFamily="2" charset="2"/>
              <a:buChar char="v"/>
              <a:defRPr/>
            </a:pPr>
            <a:r>
              <a:rPr lang="en-US" dirty="0">
                <a:latin typeface="Times New Roman" pitchFamily="18" charset="0"/>
                <a:cs typeface="Times New Roman" pitchFamily="18" charset="0"/>
              </a:rPr>
              <a:t>Graduation from </a:t>
            </a:r>
            <a:r>
              <a:rPr lang="en-US" dirty="0" err="1">
                <a:latin typeface="Times New Roman" pitchFamily="18" charset="0"/>
                <a:cs typeface="Times New Roman" pitchFamily="18" charset="0"/>
              </a:rPr>
              <a:t>Prakasam</a:t>
            </a:r>
            <a:r>
              <a:rPr lang="en-US" dirty="0">
                <a:latin typeface="Times New Roman" pitchFamily="18" charset="0"/>
                <a:cs typeface="Times New Roman" pitchFamily="18" charset="0"/>
              </a:rPr>
              <a:t> Engineering college </a:t>
            </a:r>
            <a:r>
              <a:rPr lang="en-US" dirty="0" err="1">
                <a:latin typeface="Times New Roman" pitchFamily="18" charset="0"/>
                <a:cs typeface="Times New Roman" pitchFamily="18" charset="0"/>
              </a:rPr>
              <a:t>Kandukur</a:t>
            </a:r>
            <a:r>
              <a:rPr lang="en-US" dirty="0">
                <a:latin typeface="Times New Roman" pitchFamily="18" charset="0"/>
                <a:cs typeface="Times New Roman" pitchFamily="18" charset="0"/>
              </a:rPr>
              <a:t> affiliated under JNTU KAKINADA, Andhra Pradesh.</a:t>
            </a:r>
          </a:p>
          <a:p>
            <a:endParaRPr lang="en-US" b="1" u="sng" dirty="0">
              <a:latin typeface="Times New Roman" pitchFamily="18" charset="0"/>
              <a:cs typeface="Times New Roman" pitchFamily="18" charset="0"/>
            </a:endParaRPr>
          </a:p>
          <a:p>
            <a:r>
              <a:rPr lang="en-US" b="1" dirty="0">
                <a:latin typeface="Times New Roman" pitchFamily="18" charset="0"/>
                <a:cs typeface="Times New Roman" pitchFamily="18" charset="0"/>
              </a:rPr>
              <a:t>Teaching Experience	:	9 Years</a:t>
            </a:r>
          </a:p>
          <a:p>
            <a:r>
              <a:rPr lang="en-US" b="1" u="sng" dirty="0">
                <a:latin typeface="Times New Roman" pitchFamily="18" charset="0"/>
                <a:cs typeface="Times New Roman" pitchFamily="18" charset="0"/>
              </a:rPr>
              <a:t>Technical skills </a:t>
            </a:r>
            <a:endParaRPr lang="en-IN" sz="1200" u="sng" dirty="0">
              <a:latin typeface="Times New Roman" pitchFamily="18" charset="0"/>
              <a:cs typeface="Times New Roman" pitchFamily="18" charset="0"/>
            </a:endParaRPr>
          </a:p>
          <a:p>
            <a:r>
              <a:rPr lang="en-IN" b="1" dirty="0">
                <a:latin typeface="Times New Roman" pitchFamily="18" charset="0"/>
                <a:cs typeface="Times New Roman" pitchFamily="18" charset="0"/>
              </a:rPr>
              <a:t>Big Data &amp; Eco System	:	 </a:t>
            </a:r>
            <a:r>
              <a:rPr lang="en-IN" b="1" dirty="0" err="1">
                <a:latin typeface="Times New Roman" pitchFamily="18" charset="0"/>
                <a:cs typeface="Times New Roman" pitchFamily="18" charset="0"/>
              </a:rPr>
              <a:t>Hadoop</a:t>
            </a:r>
            <a:r>
              <a:rPr lang="en-IN" b="1" dirty="0">
                <a:latin typeface="Times New Roman" pitchFamily="18" charset="0"/>
                <a:cs typeface="Times New Roman" pitchFamily="18" charset="0"/>
              </a:rPr>
              <a:t>,  Hive, Pig, </a:t>
            </a:r>
            <a:r>
              <a:rPr lang="en-IN" b="1" dirty="0" err="1">
                <a:latin typeface="Times New Roman" pitchFamily="18" charset="0"/>
                <a:cs typeface="Times New Roman" pitchFamily="18" charset="0"/>
              </a:rPr>
              <a:t>Sqoop</a:t>
            </a:r>
            <a:r>
              <a:rPr lang="en-IN" b="1" dirty="0">
                <a:latin typeface="Times New Roman" pitchFamily="18" charset="0"/>
                <a:cs typeface="Times New Roman" pitchFamily="18" charset="0"/>
              </a:rPr>
              <a:t>, Flume,                            </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                                                            	 </a:t>
            </a:r>
            <a:r>
              <a:rPr lang="en-IN" b="1" dirty="0" err="1">
                <a:latin typeface="Times New Roman" pitchFamily="18" charset="0"/>
                <a:cs typeface="Times New Roman" pitchFamily="18" charset="0"/>
              </a:rPr>
              <a:t>Oozie</a:t>
            </a:r>
            <a:r>
              <a:rPr lang="en-IN" b="1" dirty="0">
                <a:latin typeface="Times New Roman" pitchFamily="18" charset="0"/>
                <a:cs typeface="Times New Roman" pitchFamily="18" charset="0"/>
              </a:rPr>
              <a:t>. </a:t>
            </a:r>
            <a:endParaRPr lang="en-IN" sz="1200" dirty="0">
              <a:latin typeface="Times New Roman" pitchFamily="18" charset="0"/>
              <a:cs typeface="Times New Roman" pitchFamily="18" charset="0"/>
            </a:endParaRPr>
          </a:p>
          <a:p>
            <a:r>
              <a:rPr lang="en-IN" b="1" dirty="0" err="1">
                <a:latin typeface="Times New Roman" pitchFamily="18" charset="0"/>
                <a:cs typeface="Times New Roman" pitchFamily="18" charset="0"/>
              </a:rPr>
              <a:t>Nosql</a:t>
            </a:r>
            <a:r>
              <a:rPr lang="en-IN" b="1" dirty="0">
                <a:latin typeface="Times New Roman" pitchFamily="18" charset="0"/>
                <a:cs typeface="Times New Roman" pitchFamily="18" charset="0"/>
              </a:rPr>
              <a:t> Databases		:	</a:t>
            </a:r>
            <a:r>
              <a:rPr lang="en-IN" b="1" dirty="0" err="1">
                <a:latin typeface="Times New Roman" pitchFamily="18" charset="0"/>
                <a:cs typeface="Times New Roman" pitchFamily="18" charset="0"/>
              </a:rPr>
              <a:t>Hbase</a:t>
            </a:r>
            <a:r>
              <a:rPr lang="en-IN" b="1" dirty="0">
                <a:latin typeface="Times New Roman" pitchFamily="18" charset="0"/>
                <a:cs typeface="Times New Roman" pitchFamily="18" charset="0"/>
              </a:rPr>
              <a:t>.</a:t>
            </a:r>
            <a:endParaRPr lang="en-IN" sz="1200" dirty="0">
              <a:latin typeface="Times New Roman" pitchFamily="18" charset="0"/>
              <a:cs typeface="Times New Roman" pitchFamily="18" charset="0"/>
            </a:endParaRPr>
          </a:p>
          <a:p>
            <a:r>
              <a:rPr lang="en-US" b="1" dirty="0">
                <a:latin typeface="Times New Roman" pitchFamily="18" charset="0"/>
                <a:cs typeface="Times New Roman" pitchFamily="18" charset="0"/>
              </a:rPr>
              <a:t>Database Languages	:	 Oracle 10g,Mysql.</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Operating Systems	:	Windows Family, Linux (</a:t>
            </a:r>
            <a:r>
              <a:rPr lang="en-IN" b="1" dirty="0" err="1">
                <a:latin typeface="Times New Roman" pitchFamily="18" charset="0"/>
                <a:cs typeface="Times New Roman" pitchFamily="18" charset="0"/>
              </a:rPr>
              <a:t>Ubuntu</a:t>
            </a:r>
            <a:r>
              <a:rPr lang="en-IN" b="1" dirty="0">
                <a:latin typeface="Times New Roman" pitchFamily="18" charset="0"/>
                <a:cs typeface="Times New Roman" pitchFamily="18" charset="0"/>
              </a:rPr>
              <a:t>).</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Programming Languages	:	</a:t>
            </a:r>
            <a:r>
              <a:rPr lang="en-IN" b="1" dirty="0" err="1">
                <a:latin typeface="Times New Roman" pitchFamily="18" charset="0"/>
                <a:cs typeface="Times New Roman" pitchFamily="18" charset="0"/>
              </a:rPr>
              <a:t>C,Core</a:t>
            </a:r>
            <a:r>
              <a:rPr lang="en-IN" b="1" dirty="0">
                <a:latin typeface="Times New Roman" pitchFamily="18" charset="0"/>
                <a:cs typeface="Times New Roman" pitchFamily="18" charset="0"/>
              </a:rPr>
              <a:t>-java.</a:t>
            </a:r>
            <a:endParaRPr lang="en-IN" sz="1200" dirty="0">
              <a:latin typeface="Times New Roman" pitchFamily="18" charset="0"/>
              <a:cs typeface="Times New Roman" pitchFamily="18" charset="0"/>
            </a:endParaRPr>
          </a:p>
          <a:p>
            <a:r>
              <a:rPr lang="en-US" b="1" dirty="0">
                <a:latin typeface="Times New Roman" pitchFamily="18" charset="0"/>
                <a:cs typeface="Times New Roman" pitchFamily="18" charset="0"/>
              </a:rPr>
              <a:t>IDE			:	Eclipse.</a:t>
            </a:r>
            <a:endParaRPr lang="en-IN" sz="1200" dirty="0">
              <a:latin typeface="Times New Roman" pitchFamily="18" charset="0"/>
              <a:cs typeface="Times New Roman" pitchFamily="18" charset="0"/>
            </a:endParaRPr>
          </a:p>
          <a:p>
            <a:pPr lvl="1">
              <a:spcBef>
                <a:spcPct val="20000"/>
              </a:spcBef>
              <a:defRPr/>
            </a:pPr>
            <a:endParaRPr lang="en-US" dirty="0">
              <a:latin typeface="Times New Roman" pitchFamily="18" charset="0"/>
              <a:cs typeface="Times New Roman" pitchFamily="18" charset="0"/>
            </a:endParaRPr>
          </a:p>
        </p:txBody>
      </p:sp>
      <p:pic>
        <p:nvPicPr>
          <p:cNvPr id="10" name="Picture 2"/>
          <p:cNvPicPr>
            <a:picLocks noChangeAspect="1" noChangeArrowheads="1"/>
          </p:cNvPicPr>
          <p:nvPr/>
        </p:nvPicPr>
        <p:blipFill>
          <a:blip r:embed="rId2"/>
          <a:srcRect/>
          <a:stretch>
            <a:fillRect/>
          </a:stretch>
        </p:blipFill>
        <p:spPr bwMode="auto">
          <a:xfrm>
            <a:off x="6763110" y="685817"/>
            <a:ext cx="1728794" cy="1571632"/>
          </a:xfrm>
          <a:prstGeom prst="rect">
            <a:avLst/>
          </a:prstGeom>
          <a:noFill/>
          <a:ln w="9525">
            <a:noFill/>
            <a:miter lim="800000"/>
            <a:headEnd/>
            <a:tailEnd/>
          </a:ln>
          <a:effectLst/>
        </p:spPr>
      </p:pic>
      <p:sp>
        <p:nvSpPr>
          <p:cNvPr id="12" name="Title 1"/>
          <p:cNvSpPr txBox="1">
            <a:spLocks/>
          </p:cNvSpPr>
          <p:nvPr/>
        </p:nvSpPr>
        <p:spPr>
          <a:xfrm>
            <a:off x="1371600" y="21"/>
            <a:ext cx="7772400" cy="685799"/>
          </a:xfrm>
          <a:prstGeom prst="rect">
            <a:avLst/>
          </a:prstGeom>
          <a:solidFill>
            <a:srgbClr val="F99999"/>
          </a:solidFill>
          <a:ln>
            <a:solidFill>
              <a:schemeClr val="accent3">
                <a:lumMod val="40000"/>
                <a:lumOff val="6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itchFamily="18" charset="0"/>
                <a:cs typeface="Times New Roman" pitchFamily="18" charset="0"/>
              </a:rPr>
              <a:t>Brief Introduction About Me</a:t>
            </a:r>
            <a:endParaRPr kumimoji="0" lang="en-US" sz="2400" b="0"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13"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56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9" name="Title 1"/>
          <p:cNvSpPr txBox="1">
            <a:spLocks/>
          </p:cNvSpPr>
          <p:nvPr/>
        </p:nvSpPr>
        <p:spPr>
          <a:xfrm>
            <a:off x="1600200" y="1"/>
            <a:ext cx="75438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a:t>
            </a:r>
            <a:r>
              <a:rPr lang="en-GB" sz="2800" kern="100" dirty="0">
                <a:latin typeface="Times New Roman" panose="02020603050405020304" pitchFamily="18" charset="0"/>
                <a:cs typeface="Times New Roman" panose="02020603050405020304" pitchFamily="18" charset="0"/>
              </a:rPr>
              <a:t>Introduction to Computer Vision:</a:t>
            </a:r>
            <a:endParaRPr lang="en-IN" sz="2800" kern="100" dirty="0">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658985148"/>
              </p:ext>
            </p:extLst>
          </p:nvPr>
        </p:nvGraphicFramePr>
        <p:xfrm>
          <a:off x="297766" y="1940139"/>
          <a:ext cx="8839200" cy="319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42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9" name="Title 1"/>
          <p:cNvSpPr txBox="1">
            <a:spLocks/>
          </p:cNvSpPr>
          <p:nvPr/>
        </p:nvSpPr>
        <p:spPr>
          <a:xfrm>
            <a:off x="1600200" y="1"/>
            <a:ext cx="75438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UNIT-II</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477054"/>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UNIT-II: </a:t>
            </a:r>
            <a:r>
              <a:rPr lang="en-US" sz="2500" b="1" dirty="0"/>
              <a:t> </a:t>
            </a:r>
            <a:r>
              <a:rPr lang="en-GB" sz="2500" b="1" dirty="0"/>
              <a:t>Architectures</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971803105"/>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32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9" name="Title 1"/>
          <p:cNvSpPr txBox="1">
            <a:spLocks/>
          </p:cNvSpPr>
          <p:nvPr/>
        </p:nvSpPr>
        <p:spPr>
          <a:xfrm>
            <a:off x="1600200" y="1"/>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UNIT-III</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UNIT-III: </a:t>
            </a:r>
            <a:r>
              <a:rPr lang="en-GB" sz="2800" b="1" dirty="0"/>
              <a:t>Segmentation </a:t>
            </a:r>
            <a:r>
              <a:rPr lang="en-GB" sz="2800" dirty="0"/>
              <a:t> </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3856732678"/>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5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9" name="Title 1"/>
          <p:cNvSpPr txBox="1">
            <a:spLocks/>
          </p:cNvSpPr>
          <p:nvPr/>
        </p:nvSpPr>
        <p:spPr>
          <a:xfrm>
            <a:off x="1600200" y="1"/>
            <a:ext cx="75438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UNIT-IV</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477054"/>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UNIT-IV: </a:t>
            </a:r>
            <a:r>
              <a:rPr lang="en-US" sz="2500" b="1" dirty="0"/>
              <a:t> Object Detection</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3819699156"/>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094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9" name="Title 1"/>
          <p:cNvSpPr txBox="1">
            <a:spLocks/>
          </p:cNvSpPr>
          <p:nvPr/>
        </p:nvSpPr>
        <p:spPr>
          <a:xfrm>
            <a:off x="1600200" y="1"/>
            <a:ext cx="75438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UNIT-V</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800" b="1" dirty="0"/>
              <a:t>UNIT-V: </a:t>
            </a:r>
            <a:r>
              <a:rPr lang="en-US" sz="2800" b="1" dirty="0"/>
              <a:t> </a:t>
            </a:r>
            <a:r>
              <a:rPr lang="en-GB" sz="2800" b="1" dirty="0"/>
              <a:t>Visualization and Generative Models</a:t>
            </a:r>
            <a:r>
              <a:rPr lang="en-GB" sz="2800" dirty="0"/>
              <a:t> </a:t>
            </a:r>
            <a:endParaRPr lang="en-IN" sz="28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1108321299"/>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6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a:t>Mr K PRABHANJAN KUMAR                COMPUTER VISION  UNIT- 1</a:t>
            </a:r>
            <a:endParaRPr lang="en-US" dirty="0"/>
          </a:p>
        </p:txBody>
      </p:sp>
      <p:sp>
        <p:nvSpPr>
          <p:cNvPr id="6" name="Slide Number Placeholder 5"/>
          <p:cNvSpPr>
            <a:spLocks noGrp="1"/>
          </p:cNvSpPr>
          <p:nvPr>
            <p:ph type="sldNum" sz="quarter" idx="12"/>
          </p:nvPr>
        </p:nvSpPr>
        <p:spPr>
          <a:xfrm>
            <a:off x="7315200" y="6356351"/>
            <a:ext cx="1200150" cy="365125"/>
          </a:xfrm>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Syllabus</a:t>
            </a:r>
            <a:endParaRPr kumimoji="0" lang="en-US" sz="32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1413191065"/>
              </p:ext>
            </p:extLst>
          </p:nvPr>
        </p:nvGraphicFramePr>
        <p:xfrm>
          <a:off x="234463" y="904340"/>
          <a:ext cx="8757136" cy="5272153"/>
        </p:xfrm>
        <a:graphic>
          <a:graphicData uri="http://schemas.openxmlformats.org/drawingml/2006/table">
            <a:tbl>
              <a:tblPr firstRow="1" firstCol="1" bandRow="1">
                <a:tableStyleId>{5C22544A-7EE6-4342-B048-85BDC9FD1C3A}</a:tableStyleId>
              </a:tblPr>
              <a:tblGrid>
                <a:gridCol w="449379">
                  <a:extLst>
                    <a:ext uri="{9D8B030D-6E8A-4147-A177-3AD203B41FA5}">
                      <a16:colId xmlns:a16="http://schemas.microsoft.com/office/drawing/2014/main" val="3750308691"/>
                    </a:ext>
                  </a:extLst>
                </a:gridCol>
                <a:gridCol w="1144958">
                  <a:extLst>
                    <a:ext uri="{9D8B030D-6E8A-4147-A177-3AD203B41FA5}">
                      <a16:colId xmlns:a16="http://schemas.microsoft.com/office/drawing/2014/main" val="1266988224"/>
                    </a:ext>
                  </a:extLst>
                </a:gridCol>
                <a:gridCol w="7162799">
                  <a:extLst>
                    <a:ext uri="{9D8B030D-6E8A-4147-A177-3AD203B41FA5}">
                      <a16:colId xmlns:a16="http://schemas.microsoft.com/office/drawing/2014/main" val="3719325867"/>
                    </a:ext>
                  </a:extLst>
                </a:gridCol>
              </a:tblGrid>
              <a:tr h="180944">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Unit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Module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Topics Covered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extLst>
                  <a:ext uri="{0D108BD9-81ED-4DB2-BD59-A6C34878D82A}">
                    <a16:rowId xmlns:a16="http://schemas.microsoft.com/office/drawing/2014/main" val="2085078514"/>
                  </a:ext>
                </a:extLst>
              </a:tr>
              <a:tr h="895758">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1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Introduction to Computer Vision:</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tabLst>
                          <a:tab pos="1533525" algn="l"/>
                        </a:tabLst>
                      </a:pPr>
                      <a:r>
                        <a:rPr lang="en-GB" sz="1200" kern="100" dirty="0">
                          <a:effectLst/>
                          <a:highlight>
                            <a:srgbClr val="D3D3D3"/>
                          </a:highlight>
                          <a:latin typeface="Times New Roman" panose="02020603050405020304" pitchFamily="18" charset="0"/>
                          <a:cs typeface="Times New Roman" panose="02020603050405020304" pitchFamily="18" charset="0"/>
                        </a:rPr>
                        <a:t>Computer Vision, Research and Applications, (Self-Driving Cars, Facial Recognition, Augmented &amp; Mixed Reality, Healthcare). Most popular examples Categorization of Images, Object</a:t>
                      </a:r>
                      <a:r>
                        <a:rPr lang="en-GB" sz="1200" kern="100" dirty="0">
                          <a:effectLst/>
                          <a:latin typeface="Times New Roman" panose="02020603050405020304" pitchFamily="18" charset="0"/>
                          <a:cs typeface="Times New Roman" panose="02020603050405020304" pitchFamily="18" charset="0"/>
                        </a:rPr>
                        <a:t> </a:t>
                      </a:r>
                      <a:r>
                        <a:rPr lang="en-GB" sz="1200" kern="100" dirty="0">
                          <a:effectLst/>
                          <a:highlight>
                            <a:srgbClr val="D3D3D3"/>
                          </a:highlight>
                          <a:latin typeface="Times New Roman" panose="02020603050405020304" pitchFamily="18" charset="0"/>
                          <a:cs typeface="Times New Roman" panose="02020603050405020304" pitchFamily="18" charset="0"/>
                        </a:rPr>
                        <a:t> Detection, Observation of Moving Objects, Retrieval of Images Based on Their Contents, Computer Vision Tasks classification, ,object detection, Instance segmentation</a:t>
                      </a:r>
                      <a:r>
                        <a:rPr lang="en-GB" sz="1200" kern="100" dirty="0">
                          <a:effectLst/>
                          <a:latin typeface="Times New Roman" panose="02020603050405020304" pitchFamily="18" charset="0"/>
                          <a:cs typeface="Times New Roman" panose="02020603050405020304" pitchFamily="18" charset="0"/>
                        </a:rPr>
                        <a:t>. Convolutional Neural Networks, Evolution of CNN Architectures for Image, Recent CNN</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4116754695"/>
                  </a:ext>
                </a:extLst>
              </a:tr>
              <a:tr h="723776">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a:effectLst/>
                          <a:latin typeface="Times New Roman" panose="02020603050405020304" pitchFamily="18" charset="0"/>
                          <a:cs typeface="Times New Roman" panose="02020603050405020304" pitchFamily="18" charset="0"/>
                        </a:rPr>
                        <a:t>Architectures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Representation of a Three-Dimensional Moving Scene. Convolutional layers, pooling layers, and padding. Transfer learning and pre-trained models Architectures. </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Architectures Design : LeNet-5, </a:t>
                      </a:r>
                      <a:r>
                        <a:rPr lang="en-GB" sz="1200" kern="100" dirty="0" err="1">
                          <a:effectLst/>
                          <a:latin typeface="Times New Roman" panose="02020603050405020304" pitchFamily="18" charset="0"/>
                          <a:cs typeface="Times New Roman" panose="02020603050405020304" pitchFamily="18" charset="0"/>
                        </a:rPr>
                        <a:t>AlexNet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VGGNet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GoogLeNet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ResNet</a:t>
                      </a:r>
                      <a:r>
                        <a:rPr lang="en-GB" sz="1200" kern="100" dirty="0">
                          <a:effectLst/>
                          <a:latin typeface="Times New Roman" panose="02020603050405020304" pitchFamily="18" charset="0"/>
                          <a:cs typeface="Times New Roman" panose="02020603050405020304" pitchFamily="18" charset="0"/>
                        </a:rPr>
                        <a:t>, Efficient Net, Mobile Net . RNN Introduction, perceptron      Backpropagation in CNN,RNN.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1162194211"/>
                  </a:ext>
                </a:extLst>
              </a:tr>
              <a:tr h="1196990">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 </a:t>
                      </a:r>
                      <a:endParaRPr lang="en-IN" sz="1200" kern="100">
                        <a:effectLst/>
                        <a:latin typeface="Times New Roman" panose="02020603050405020304" pitchFamily="18" charset="0"/>
                        <a:cs typeface="Times New Roman" panose="02020603050405020304" pitchFamily="18" charset="0"/>
                      </a:endParaRPr>
                    </a:p>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Segmentation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Popular Image Segmentation Architectures, FCN Architecture, </a:t>
                      </a:r>
                      <a:r>
                        <a:rPr lang="en-GB" sz="1200" kern="100" dirty="0" err="1">
                          <a:effectLst/>
                          <a:latin typeface="Times New Roman" panose="02020603050405020304" pitchFamily="18" charset="0"/>
                          <a:cs typeface="Times New Roman" panose="02020603050405020304" pitchFamily="18" charset="0"/>
                        </a:rPr>
                        <a:t>Upsampling</a:t>
                      </a:r>
                      <a:r>
                        <a:rPr lang="en-GB" sz="1200" kern="100" dirty="0">
                          <a:effectLst/>
                          <a:latin typeface="Times New Roman" panose="02020603050405020304" pitchFamily="18" charset="0"/>
                          <a:cs typeface="Times New Roman" panose="02020603050405020304" pitchFamily="18" charset="0"/>
                        </a:rPr>
                        <a:t> Methods, Pixel Transformations, Geometric Operations, Spatial Operations in Image Processing, Instance Segmentation, Localisation, Object detection  and image segmentation using CNNs, LSTM and GRU’s. Vision Models, Vision Languages,  Quality Analysis, Visual Dialogue, other attention models, self attention and transformers. Active Contours &amp; Application, Split &amp; Merge, Mean Shift &amp; Mode Finding, Normalized Cuts,</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2202851331"/>
                  </a:ext>
                </a:extLst>
              </a:tr>
              <a:tr h="1085664">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Object Detection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highlight>
                            <a:srgbClr val="D3D3D3"/>
                          </a:highlight>
                          <a:latin typeface="Times New Roman" panose="02020603050405020304" pitchFamily="18" charset="0"/>
                          <a:cs typeface="Times New Roman" panose="02020603050405020304" pitchFamily="18" charset="0"/>
                        </a:rPr>
                        <a:t>Object Detection and Sliding Windows, R-CNN, Fast R-CNN, Object Recognition, 3-D vision and Geometry, Digital Watermarking. Object Detection, face recognition instance Recognition, Category Recognition   Objects, Scenes, Activities, Object classification and detection, Encoder in Code, Decoder in Code, U-Net Code: Encoder, Decoder ,</a:t>
                      </a:r>
                      <a:r>
                        <a:rPr lang="en-GB" sz="1200" kern="100" dirty="0">
                          <a:effectLst/>
                          <a:latin typeface="Times New Roman" panose="02020603050405020304" pitchFamily="18" charset="0"/>
                          <a:cs typeface="Times New Roman" panose="02020603050405020304" pitchFamily="18" charset="0"/>
                        </a:rPr>
                        <a:t>  </a:t>
                      </a:r>
                      <a:r>
                        <a:rPr lang="en-GB" sz="1200" kern="100" dirty="0">
                          <a:effectLst/>
                          <a:highlight>
                            <a:srgbClr val="D3D3D3"/>
                          </a:highlight>
                          <a:latin typeface="Times New Roman" panose="02020603050405020304" pitchFamily="18" charset="0"/>
                          <a:cs typeface="Times New Roman" panose="02020603050405020304" pitchFamily="18" charset="0"/>
                        </a:rPr>
                        <a:t>Few Shot and zero shot learning, self-supervised learning, Adversarial Robustness, Pruning and model compression, Neural Architecture search, Objects in Scenes.</a:t>
                      </a:r>
                      <a:r>
                        <a:rPr lang="en-GB" sz="1200" kern="100" dirty="0">
                          <a:effectLst/>
                          <a:latin typeface="Times New Roman" panose="02020603050405020304" pitchFamily="18" charset="0"/>
                          <a:cs typeface="Times New Roman" panose="02020603050405020304" pitchFamily="18" charset="0"/>
                        </a:rPr>
                        <a:t> YOLO Fundamentals of Image Formation, Convolution and Filtering.</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2783879934"/>
                  </a:ext>
                </a:extLst>
              </a:tr>
              <a:tr h="1024368">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cs typeface="Times New Roman" panose="02020603050405020304" pitchFamily="18" charset="0"/>
                      </a:endParaRPr>
                    </a:p>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Visualization and Generative Models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Benefits of Interpretability, Fashion MNIST Class Activation Map code walkthrough, </a:t>
                      </a:r>
                      <a:r>
                        <a:rPr lang="en-GB" sz="1200" kern="100" dirty="0" err="1">
                          <a:effectLst/>
                          <a:latin typeface="Times New Roman" panose="02020603050405020304" pitchFamily="18" charset="0"/>
                          <a:cs typeface="Times New Roman" panose="02020603050405020304" pitchFamily="18" charset="0"/>
                        </a:rPr>
                        <a:t>GradCAM,ZFNet.Image</a:t>
                      </a:r>
                      <a:r>
                        <a:rPr lang="en-GB" sz="1200" kern="100" dirty="0">
                          <a:effectLst/>
                          <a:latin typeface="Times New Roman" panose="02020603050405020304" pitchFamily="18" charset="0"/>
                          <a:cs typeface="Times New Roman" panose="02020603050405020304" pitchFamily="18" charset="0"/>
                        </a:rPr>
                        <a:t> compression methods and its  </a:t>
                      </a:r>
                      <a:r>
                        <a:rPr lang="en-GB" sz="1200" kern="100" dirty="0" err="1">
                          <a:effectLst/>
                          <a:latin typeface="Times New Roman" panose="02020603050405020304" pitchFamily="18" charset="0"/>
                          <a:cs typeface="Times New Roman" panose="02020603050405020304" pitchFamily="18" charset="0"/>
                        </a:rPr>
                        <a:t>requirements,statisticalcompression</a:t>
                      </a:r>
                      <a:r>
                        <a:rPr lang="en-GB" sz="1200" kern="100" dirty="0">
                          <a:effectLst/>
                          <a:latin typeface="Times New Roman" panose="02020603050405020304" pitchFamily="18" charset="0"/>
                          <a:cs typeface="Times New Roman" panose="02020603050405020304" pitchFamily="18" charset="0"/>
                        </a:rPr>
                        <a:t>, spatial compression, contour coding. Deep Generative Models </a:t>
                      </a:r>
                      <a:r>
                        <a:rPr lang="en-GB" sz="1200" kern="100" dirty="0" err="1">
                          <a:effectLst/>
                          <a:latin typeface="Times New Roman" panose="02020603050405020304" pitchFamily="18" charset="0"/>
                          <a:cs typeface="Times New Roman" panose="02020603050405020304" pitchFamily="18" charset="0"/>
                        </a:rPr>
                        <a:t>introduction,Generative</a:t>
                      </a:r>
                      <a:r>
                        <a:rPr lang="en-GB" sz="1200" kern="100" dirty="0">
                          <a:effectLst/>
                          <a:latin typeface="Times New Roman" panose="02020603050405020304" pitchFamily="18" charset="0"/>
                          <a:cs typeface="Times New Roman" panose="02020603050405020304" pitchFamily="18" charset="0"/>
                        </a:rPr>
                        <a:t> Adversarial Networks Combination VAE and GAN’s,  other VAE and GAN’s deep generative models. GAN Improvements, Deep Generative Models across multiple domains, Deep Generative Models image and video applications.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973944303"/>
                  </a:ext>
                </a:extLst>
              </a:tr>
            </a:tbl>
          </a:graphicData>
        </a:graphic>
      </p:graphicFrame>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10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819400" y="6248400"/>
            <a:ext cx="4724400" cy="365125"/>
          </a:xfrm>
        </p:spPr>
        <p:txBody>
          <a:bodyPr/>
          <a:lstStyle/>
          <a:p>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1"/>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Rectangle 1"/>
          <p:cNvSpPr/>
          <p:nvPr/>
        </p:nvSpPr>
        <p:spPr>
          <a:xfrm>
            <a:off x="425355" y="1143000"/>
            <a:ext cx="8534400" cy="1005788"/>
          </a:xfrm>
          <a:prstGeom prst="rect">
            <a:avLst/>
          </a:prstGeom>
        </p:spPr>
        <p:txBody>
          <a:bodyPr wrap="square">
            <a:spAutoFit/>
          </a:bodyPr>
          <a:lstStyle/>
          <a:p>
            <a:pPr marL="66675" algn="just" fontAlgn="base">
              <a:lnSpc>
                <a:spcPct val="106000"/>
              </a:lnSpc>
              <a:spcAft>
                <a:spcPts val="800"/>
              </a:spcAft>
            </a:pPr>
            <a:r>
              <a:rPr lang="en-GB" sz="2000" b="1" kern="100" dirty="0">
                <a:latin typeface="Times New Roman" panose="02020603050405020304" pitchFamily="18" charset="0"/>
                <a:ea typeface="Calibri" panose="020F0502020204030204" pitchFamily="34" charset="0"/>
                <a:cs typeface="Times New Roman" panose="02020603050405020304" pitchFamily="18" charset="0"/>
              </a:rPr>
              <a:t>Course Objective:</a:t>
            </a:r>
            <a:r>
              <a:rPr lang="en-US" kern="100" dirty="0">
                <a:latin typeface="Times New Roman" panose="02020603050405020304" pitchFamily="18" charset="0"/>
                <a:ea typeface="Times New Roman" panose="02020603050405020304" pitchFamily="18" charset="0"/>
                <a:cs typeface="Times New Roman" panose="02020603050405020304" pitchFamily="18" charset="0"/>
              </a:rPr>
              <a:t> To </a:t>
            </a:r>
            <a:r>
              <a:rPr lang="en-GB" kern="100" dirty="0">
                <a:latin typeface="Times New Roman" panose="02020603050405020304" pitchFamily="18" charset="0"/>
                <a:ea typeface="Calibri" panose="020F0502020204030204" pitchFamily="34" charset="0"/>
                <a:cs typeface="Times New Roman" panose="02020603050405020304" pitchFamily="18" charset="0"/>
              </a:rPr>
              <a:t>learn about</a:t>
            </a:r>
            <a:r>
              <a:rPr lang="en-GB" kern="100" dirty="0">
                <a:latin typeface="Times New Roman" panose="02020603050405020304" pitchFamily="18" charset="0"/>
                <a:ea typeface="Times New Roman" panose="02020603050405020304" pitchFamily="18" charset="0"/>
                <a:cs typeface="Times New Roman" panose="02020603050405020304" pitchFamily="18" charset="0"/>
              </a:rPr>
              <a:t> key features of Computer Vision, design, implement and</a:t>
            </a:r>
            <a:r>
              <a:rPr lang="en-US" kern="100" dirty="0">
                <a:latin typeface="Times New Roman" panose="02020603050405020304" pitchFamily="18" charset="0"/>
                <a:ea typeface="Times New Roman" panose="02020603050405020304" pitchFamily="18" charset="0"/>
                <a:cs typeface="Times New Roman" panose="02020603050405020304" pitchFamily="18" charset="0"/>
              </a:rPr>
              <a:t> provide continuous improvement in the accuracy and outcomes of various datasets with more reliable and concise analysis results.</a:t>
            </a:r>
            <a:r>
              <a:rPr lang="en-GB" kern="1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148" name="Picture 4" descr="Computer vi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1551296" y="2474625"/>
            <a:ext cx="5794375" cy="304204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665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160078154"/>
              </p:ext>
            </p:extLst>
          </p:nvPr>
        </p:nvGraphicFramePr>
        <p:xfrm>
          <a:off x="457200" y="1287869"/>
          <a:ext cx="7924800" cy="4905646"/>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1779417915"/>
                    </a:ext>
                  </a:extLst>
                </a:gridCol>
                <a:gridCol w="5334000">
                  <a:extLst>
                    <a:ext uri="{9D8B030D-6E8A-4147-A177-3AD203B41FA5}">
                      <a16:colId xmlns:a16="http://schemas.microsoft.com/office/drawing/2014/main" val="4036850883"/>
                    </a:ext>
                  </a:extLst>
                </a:gridCol>
                <a:gridCol w="1905000">
                  <a:extLst>
                    <a:ext uri="{9D8B030D-6E8A-4147-A177-3AD203B41FA5}">
                      <a16:colId xmlns:a16="http://schemas.microsoft.com/office/drawing/2014/main" val="3465314929"/>
                    </a:ext>
                  </a:extLst>
                </a:gridCol>
              </a:tblGrid>
              <a:tr h="293146">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Description</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Bloom’s Taxonomy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859514">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IN" sz="1800" kern="0">
                          <a:effectLst/>
                          <a:latin typeface="Times New Roman" panose="02020603050405020304" pitchFamily="18" charset="0"/>
                          <a:ea typeface="Calibri" panose="020F0502020204030204" pitchFamily="34" charset="0"/>
                          <a:cs typeface="Times New Roman" panose="02020603050405020304" pitchFamily="18" charset="0"/>
                        </a:rPr>
                        <a:t>Analyse</a:t>
                      </a: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 knowledge of deep architectures used for solving various Vision and Pattern Association tasks.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K4</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861927">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0">
                          <a:effectLst/>
                          <a:latin typeface="Times New Roman" panose="02020603050405020304" pitchFamily="18" charset="0"/>
                          <a:ea typeface="Calibri" panose="020F0502020204030204" pitchFamily="34" charset="0"/>
                          <a:cs typeface="Times New Roman" panose="02020603050405020304" pitchFamily="18" charset="0"/>
                        </a:rPr>
                        <a:t>Develop</a:t>
                      </a: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 appropriate learning rules for each of the architectures of perceptron and learn about different factors of back propagation.</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 K2</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859514">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pPr>
                      <a:r>
                        <a:rPr lang="en-GB" sz="1800" kern="100">
                          <a:effectLst/>
                          <a:latin typeface="Times New Roman" panose="02020603050405020304" pitchFamily="18" charset="0"/>
                          <a:cs typeface="Times New Roman" panose="02020603050405020304" pitchFamily="18" charset="0"/>
                        </a:rPr>
                        <a:t>Deploy training algorithm for pattern association with the help of memory network.</a:t>
                      </a:r>
                      <a:endParaRPr lang="en-IN" sz="1800" kern="100">
                        <a:effectLst/>
                        <a:latin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K5</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641435">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Design and deploy the models of deep learning with the help of use cases.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K5</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077593">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Understand, Analyse</a:t>
                      </a:r>
                      <a:r>
                        <a:rPr lang="en-GB" sz="1800" kern="100" dirty="0">
                          <a:effectLst/>
                          <a:latin typeface="Times New Roman" panose="02020603050405020304" pitchFamily="18" charset="0"/>
                          <a:ea typeface="Calibri" panose="020F0502020204030204" pitchFamily="34" charset="0"/>
                          <a:cs typeface="Times New Roman" panose="02020603050405020304" pitchFamily="18" charset="0"/>
                        </a:rPr>
                        <a:t> different theories of deep learning using neural networks.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dirty="0">
                          <a:effectLst/>
                          <a:latin typeface="Times New Roman" panose="02020603050405020304" pitchFamily="18" charset="0"/>
                          <a:ea typeface="Calibri" panose="020F0502020204030204" pitchFamily="34" charset="0"/>
                          <a:cs typeface="Times New Roman" panose="02020603050405020304" pitchFamily="18" charset="0"/>
                        </a:rPr>
                        <a:t>K3</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514600" y="6356350"/>
            <a:ext cx="5029200" cy="365125"/>
          </a:xfrm>
        </p:spPr>
        <p:txBody>
          <a:bodyPr/>
          <a:lstStyle/>
          <a:p>
            <a:r>
              <a:rPr lang="fi-FI"/>
              <a:t>Mr K PRABHANJAN KUMAR                COMPUTER VISION  UNIT- 1</a:t>
            </a:r>
            <a:endParaRPr lang="en-US" dirty="0"/>
          </a:p>
        </p:txBody>
      </p:sp>
      <p:sp>
        <p:nvSpPr>
          <p:cNvPr id="6" name="Slide Number Placeholder 5"/>
          <p:cNvSpPr>
            <a:spLocks noGrp="1"/>
          </p:cNvSpPr>
          <p:nvPr>
            <p:ph type="sldNum" sz="quarter" idx="12"/>
          </p:nvPr>
        </p:nvSpPr>
        <p:spPr>
          <a:xfrm>
            <a:off x="6477000" y="6384399"/>
            <a:ext cx="2133600" cy="365125"/>
          </a:xfrm>
        </p:spPr>
        <p:txBody>
          <a:bodyPr/>
          <a:lstStyle/>
          <a:p>
            <a:fld id="{B6F15528-21DE-4FAA-801E-634DDDAF4B2B}" type="slidenum">
              <a:rPr lang="en-US" smtClean="0"/>
              <a:pPr/>
              <a:t>10</a:t>
            </a:fld>
            <a:endParaRPr lang="en-US"/>
          </a:p>
        </p:txBody>
      </p:sp>
      <p:sp>
        <p:nvSpPr>
          <p:cNvPr id="7" name="Title 1"/>
          <p:cNvSpPr txBox="1">
            <a:spLocks/>
          </p:cNvSpPr>
          <p:nvPr/>
        </p:nvSpPr>
        <p:spPr>
          <a:xfrm>
            <a:off x="1348154"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8359140" cy="410882"/>
          </a:xfrm>
          <a:prstGeom prst="rect">
            <a:avLst/>
          </a:prstGeom>
        </p:spPr>
        <p:txBody>
          <a:bodyPr wrap="square">
            <a:spAutoFit/>
          </a:bodyPr>
          <a:lstStyle/>
          <a:p>
            <a:pPr>
              <a:lnSpc>
                <a:spcPct val="115000"/>
              </a:lnSpc>
              <a:spcAft>
                <a:spcPts val="1000"/>
              </a:spcAft>
            </a:pPr>
            <a:r>
              <a:rPr lang="en-GB" b="1" dirty="0"/>
              <a:t>Course outcome: After completion of this course students will be able to</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0250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514600" y="6356350"/>
            <a:ext cx="5029200" cy="365125"/>
          </a:xfrm>
        </p:spPr>
        <p:txBody>
          <a:bodyPr/>
          <a:lstStyle/>
          <a:p>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48154"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873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980427597"/>
              </p:ext>
            </p:extLst>
          </p:nvPr>
        </p:nvGraphicFramePr>
        <p:xfrm>
          <a:off x="152403" y="1219201"/>
          <a:ext cx="8839199" cy="4343401"/>
        </p:xfrm>
        <a:graphic>
          <a:graphicData uri="http://schemas.openxmlformats.org/drawingml/2006/table">
            <a:tbl>
              <a:tblPr>
                <a:tableStyleId>{D7AC3CCA-C797-4891-BE02-D94E43425B78}</a:tableStyleId>
              </a:tblPr>
              <a:tblGrid>
                <a:gridCol w="1622065">
                  <a:extLst>
                    <a:ext uri="{9D8B030D-6E8A-4147-A177-3AD203B41FA5}">
                      <a16:colId xmlns:a16="http://schemas.microsoft.com/office/drawing/2014/main" val="336454987"/>
                    </a:ext>
                  </a:extLst>
                </a:gridCol>
                <a:gridCol w="407168">
                  <a:extLst>
                    <a:ext uri="{9D8B030D-6E8A-4147-A177-3AD203B41FA5}">
                      <a16:colId xmlns:a16="http://schemas.microsoft.com/office/drawing/2014/main" val="2419786324"/>
                    </a:ext>
                  </a:extLst>
                </a:gridCol>
                <a:gridCol w="463661">
                  <a:extLst>
                    <a:ext uri="{9D8B030D-6E8A-4147-A177-3AD203B41FA5}">
                      <a16:colId xmlns:a16="http://schemas.microsoft.com/office/drawing/2014/main" val="2116179407"/>
                    </a:ext>
                  </a:extLst>
                </a:gridCol>
                <a:gridCol w="643026">
                  <a:extLst>
                    <a:ext uri="{9D8B030D-6E8A-4147-A177-3AD203B41FA5}">
                      <a16:colId xmlns:a16="http://schemas.microsoft.com/office/drawing/2014/main" val="4150870881"/>
                    </a:ext>
                  </a:extLst>
                </a:gridCol>
                <a:gridCol w="643026">
                  <a:extLst>
                    <a:ext uri="{9D8B030D-6E8A-4147-A177-3AD203B41FA5}">
                      <a16:colId xmlns:a16="http://schemas.microsoft.com/office/drawing/2014/main" val="1959501051"/>
                    </a:ext>
                  </a:extLst>
                </a:gridCol>
                <a:gridCol w="643026">
                  <a:extLst>
                    <a:ext uri="{9D8B030D-6E8A-4147-A177-3AD203B41FA5}">
                      <a16:colId xmlns:a16="http://schemas.microsoft.com/office/drawing/2014/main" val="714186528"/>
                    </a:ext>
                  </a:extLst>
                </a:gridCol>
                <a:gridCol w="643026">
                  <a:extLst>
                    <a:ext uri="{9D8B030D-6E8A-4147-A177-3AD203B41FA5}">
                      <a16:colId xmlns:a16="http://schemas.microsoft.com/office/drawing/2014/main" val="1947496999"/>
                    </a:ext>
                  </a:extLst>
                </a:gridCol>
                <a:gridCol w="643026">
                  <a:extLst>
                    <a:ext uri="{9D8B030D-6E8A-4147-A177-3AD203B41FA5}">
                      <a16:colId xmlns:a16="http://schemas.microsoft.com/office/drawing/2014/main" val="1278955555"/>
                    </a:ext>
                  </a:extLst>
                </a:gridCol>
                <a:gridCol w="643026">
                  <a:extLst>
                    <a:ext uri="{9D8B030D-6E8A-4147-A177-3AD203B41FA5}">
                      <a16:colId xmlns:a16="http://schemas.microsoft.com/office/drawing/2014/main" val="293989632"/>
                    </a:ext>
                  </a:extLst>
                </a:gridCol>
                <a:gridCol w="560586">
                  <a:extLst>
                    <a:ext uri="{9D8B030D-6E8A-4147-A177-3AD203B41FA5}">
                      <a16:colId xmlns:a16="http://schemas.microsoft.com/office/drawing/2014/main" val="2587493755"/>
                    </a:ext>
                  </a:extLst>
                </a:gridCol>
                <a:gridCol w="643026">
                  <a:extLst>
                    <a:ext uri="{9D8B030D-6E8A-4147-A177-3AD203B41FA5}">
                      <a16:colId xmlns:a16="http://schemas.microsoft.com/office/drawing/2014/main" val="3619800553"/>
                    </a:ext>
                  </a:extLst>
                </a:gridCol>
                <a:gridCol w="560586">
                  <a:extLst>
                    <a:ext uri="{9D8B030D-6E8A-4147-A177-3AD203B41FA5}">
                      <a16:colId xmlns:a16="http://schemas.microsoft.com/office/drawing/2014/main" val="3634469593"/>
                    </a:ext>
                  </a:extLst>
                </a:gridCol>
                <a:gridCol w="686084">
                  <a:extLst>
                    <a:ext uri="{9D8B030D-6E8A-4147-A177-3AD203B41FA5}">
                      <a16:colId xmlns:a16="http://schemas.microsoft.com/office/drawing/2014/main" val="1787714184"/>
                    </a:ext>
                  </a:extLst>
                </a:gridCol>
                <a:gridCol w="37867">
                  <a:extLst>
                    <a:ext uri="{9D8B030D-6E8A-4147-A177-3AD203B41FA5}">
                      <a16:colId xmlns:a16="http://schemas.microsoft.com/office/drawing/2014/main" val="2421800470"/>
                    </a:ext>
                  </a:extLst>
                </a:gridCol>
              </a:tblGrid>
              <a:tr h="653707">
                <a:tc gridSpan="14">
                  <a:txBody>
                    <a:bodyPr/>
                    <a:lstStyle/>
                    <a:p>
                      <a:pPr algn="ctr">
                        <a:lnSpc>
                          <a:spcPct val="106000"/>
                        </a:lnSpc>
                        <a:spcAft>
                          <a:spcPts val="0"/>
                        </a:spcAft>
                      </a:pPr>
                      <a:r>
                        <a:rPr lang="en-US" sz="1800" kern="1200" dirty="0">
                          <a:effectLst/>
                        </a:rPr>
                        <a:t>Computer vision</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43829">
                <a:tc>
                  <a:txBody>
                    <a:bodyPr/>
                    <a:lstStyle/>
                    <a:p>
                      <a:pPr algn="ctr">
                        <a:lnSpc>
                          <a:spcPct val="106000"/>
                        </a:lnSpc>
                        <a:spcAft>
                          <a:spcPts val="0"/>
                        </a:spcAft>
                      </a:pPr>
                      <a:r>
                        <a:rPr lang="en-US" sz="180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484538">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Subject code</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74096">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63651">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484538">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74096">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64946">
                <a:tc>
                  <a:txBody>
                    <a:bodyPr/>
                    <a:lstStyle/>
                    <a:p>
                      <a:pPr algn="ctr">
                        <a:lnSpc>
                          <a:spcPct val="106000"/>
                        </a:lnSpc>
                        <a:spcAft>
                          <a:spcPts val="0"/>
                        </a:spcAft>
                      </a:pPr>
                      <a:r>
                        <a:rPr lang="en-US" sz="1800" b="0" dirty="0" err="1">
                          <a:effectLst/>
                          <a:latin typeface="Calibri" panose="020F0502020204030204" pitchFamily="34" charset="0"/>
                          <a:ea typeface="Calibri" panose="020F0502020204030204" pitchFamily="34" charset="0"/>
                          <a:cs typeface="Times New Roman" panose="02020603050405020304" pitchFamily="18" charset="0"/>
                        </a:rPr>
                        <a:t>avg</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514600" y="6356350"/>
            <a:ext cx="5029200" cy="365125"/>
          </a:xfrm>
        </p:spPr>
        <p:txBody>
          <a:bodyPr/>
          <a:lstStyle/>
          <a:p>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901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514600" y="6356350"/>
            <a:ext cx="5029200" cy="365125"/>
          </a:xfrm>
        </p:spPr>
        <p:txBody>
          <a:bodyPr/>
          <a:lstStyle/>
          <a:p>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98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(SEM-VII) THEORY EXAMINATION 20__-20__</a:t>
            </a:r>
          </a:p>
          <a:p>
            <a:pPr marL="0" indent="0" algn="ctr">
              <a:buFont typeface="Arial" panose="020B0604020202020204" pitchFamily="34" charset="0"/>
              <a:buNone/>
              <a:defRPr/>
            </a:pPr>
            <a:r>
              <a:rPr lang="en-IN" sz="2000" dirty="0">
                <a:sym typeface="Arial" charset="0"/>
              </a:rPr>
              <a:t>DESIGN AND ANALYSIS OF ALGORITHMS</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sp>
        <p:nvSpPr>
          <p:cNvPr id="53250" name="Date Placeholder 3">
            <a:extLst>
              <a:ext uri="{FF2B5EF4-FFF2-40B4-BE49-F238E27FC236}">
                <a16:creationId xmlns:a16="http://schemas.microsoft.com/office/drawing/2014/main" id="{F07DA384-37D6-4169-B171-F551AFB58F28}"/>
              </a:ext>
            </a:extLst>
          </p:cNvPr>
          <p:cNvSpPr>
            <a:spLocks noGrp="1"/>
          </p:cNvSpPr>
          <p:nvPr>
            <p:ph type="dt" sz="half" idx="10"/>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July 4,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1"/>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Mr K PRABHANJAN KUMAR                COMPUTER VISION  UNIT- 1</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12"/>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4859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11"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52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sp>
        <p:nvSpPr>
          <p:cNvPr id="54274" name="Date Placeholder 3">
            <a:extLst>
              <a:ext uri="{FF2B5EF4-FFF2-40B4-BE49-F238E27FC236}">
                <a16:creationId xmlns:a16="http://schemas.microsoft.com/office/drawing/2014/main" id="{1583C611-A80D-43ED-8102-CB220BA542E2}"/>
              </a:ext>
            </a:extLst>
          </p:cNvPr>
          <p:cNvSpPr>
            <a:spLocks noGrp="1"/>
          </p:cNvSpPr>
          <p:nvPr>
            <p:ph type="dt" sz="half" idx="10"/>
          </p:nvPr>
        </p:nvSpPr>
        <p:spPr>
          <a:xfrm>
            <a:off x="-76200" y="6424612"/>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dirty="0">
                <a:solidFill>
                  <a:srgbClr val="888888"/>
                </a:solidFill>
                <a:latin typeface="Calibri" panose="020F0502020204030204" pitchFamily="34" charset="0"/>
                <a:sym typeface="Calibri" panose="020F0502020204030204" pitchFamily="34" charset="0"/>
              </a:rPr>
              <a:t>July 4, 2023</a:t>
            </a:r>
          </a:p>
        </p:txBody>
      </p:sp>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1"/>
          </p:nvPr>
        </p:nvSpPr>
        <p:spPr>
          <a:xfrm>
            <a:off x="70104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Mr K PRABHANJAN KUMAR                COMPUTER VISION  UNIT- 1</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12"/>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772400" cy="85751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148590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12"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5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sp>
        <p:nvSpPr>
          <p:cNvPr id="55298" name="Date Placeholder 3">
            <a:extLst>
              <a:ext uri="{FF2B5EF4-FFF2-40B4-BE49-F238E27FC236}">
                <a16:creationId xmlns:a16="http://schemas.microsoft.com/office/drawing/2014/main" id="{12272BC1-981B-462C-8FCD-ACAF5146F8A5}"/>
              </a:ext>
            </a:extLst>
          </p:cNvPr>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July 4, 2023</a:t>
            </a: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1"/>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Mr K PRABHANJAN KUMAR                COMPUTER VISION  UNIT- 1</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12"/>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14"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8934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July 4, 2023</a:t>
            </a:r>
          </a:p>
        </p:txBody>
      </p:sp>
      <p:sp>
        <p:nvSpPr>
          <p:cNvPr id="5" name="Footer Placeholder 4"/>
          <p:cNvSpPr>
            <a:spLocks noGrp="1"/>
          </p:cNvSpPr>
          <p:nvPr>
            <p:ph type="ftr" sz="quarter" idx="11"/>
          </p:nvPr>
        </p:nvSpPr>
        <p:spPr>
          <a:xfrm>
            <a:off x="2514600" y="6356350"/>
            <a:ext cx="5029200" cy="365125"/>
          </a:xfrm>
        </p:spPr>
        <p:txBody>
          <a:bodyPr/>
          <a:lstStyle/>
          <a:p>
            <a:r>
              <a:rPr lang="fi-FI"/>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Introduction About Subject With Videos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Rectangle 1"/>
          <p:cNvSpPr/>
          <p:nvPr/>
        </p:nvSpPr>
        <p:spPr>
          <a:xfrm>
            <a:off x="533400" y="1295400"/>
            <a:ext cx="8153400" cy="3139321"/>
          </a:xfrm>
          <a:prstGeom prst="rect">
            <a:avLst/>
          </a:prstGeom>
        </p:spPr>
        <p:txBody>
          <a:bodyPr wrap="square">
            <a:spAutoFit/>
          </a:bodyPr>
          <a:lstStyle/>
          <a:p>
            <a:r>
              <a:rPr lang="en-US" b="1" dirty="0">
                <a:solidFill>
                  <a:schemeClr val="accent1">
                    <a:lumMod val="50000"/>
                  </a:schemeClr>
                </a:solidFill>
                <a:latin typeface="Times New Roman" panose="02020603050405020304" pitchFamily="18" charset="0"/>
                <a:cs typeface="Times New Roman" panose="02020603050405020304" pitchFamily="18" charset="0"/>
              </a:rPr>
              <a:t>Computer vision is a field of artificial intelligence (AI) that enables computers and systems to derive meaningful information from digital images, videos and other visual inputs — and take actions or make recommendations based on that information.</a:t>
            </a:r>
          </a:p>
          <a:p>
            <a:endParaRPr lang="en-US" b="1" dirty="0">
              <a:solidFill>
                <a:schemeClr val="accent1">
                  <a:lumMod val="50000"/>
                </a:schemeClr>
              </a:solidFill>
              <a:latin typeface="Times New Roman" panose="02020603050405020304" pitchFamily="18" charset="0"/>
              <a:cs typeface="Times New Roman" panose="02020603050405020304" pitchFamily="18" charset="0"/>
            </a:endParaRPr>
          </a:p>
          <a:p>
            <a:endParaRPr lang="en-US" b="1" dirty="0">
              <a:solidFill>
                <a:schemeClr val="accent1">
                  <a:lumMod val="50000"/>
                </a:schemeClr>
              </a:solidFill>
              <a:latin typeface="Times New Roman" panose="02020603050405020304" pitchFamily="18" charset="0"/>
              <a:cs typeface="Times New Roman" panose="02020603050405020304" pitchFamily="18" charset="0"/>
            </a:endParaRPr>
          </a:p>
          <a:p>
            <a:endParaRPr lang="en-US" b="1" dirty="0">
              <a:solidFill>
                <a:schemeClr val="accent1">
                  <a:lumMod val="50000"/>
                </a:schemeClr>
              </a:solidFill>
              <a:latin typeface="Times New Roman" panose="02020603050405020304" pitchFamily="18" charset="0"/>
              <a:cs typeface="Times New Roman" panose="02020603050405020304" pitchFamily="18" charset="0"/>
            </a:endParaRPr>
          </a:p>
          <a:p>
            <a:endParaRPr lang="en-US" b="1" dirty="0">
              <a:solidFill>
                <a:schemeClr val="accent1">
                  <a:lumMod val="50000"/>
                </a:schemeClr>
              </a:solidFill>
              <a:latin typeface="Times New Roman" panose="02020603050405020304" pitchFamily="18" charset="0"/>
              <a:cs typeface="Times New Roman" panose="02020603050405020304" pitchFamily="18" charset="0"/>
            </a:endParaRPr>
          </a:p>
          <a:p>
            <a:r>
              <a:rPr lang="en-US" b="1" dirty="0">
                <a:solidFill>
                  <a:schemeClr val="accent1">
                    <a:lumMod val="50000"/>
                  </a:schemeClr>
                </a:solidFill>
                <a:latin typeface="Times New Roman" panose="02020603050405020304" pitchFamily="18" charset="0"/>
                <a:cs typeface="Times New Roman" panose="02020603050405020304" pitchFamily="18" charset="0"/>
              </a:rPr>
              <a:t>Computer Vision covers a huge ground as its applications know no bounds. It often escapes our minds as we fail to notice the role Computer Vision plays in the gadgets, we use day in and day out.</a:t>
            </a:r>
            <a:endParaRPr lang="en-IN" b="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323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p:cNvGraphicFramePr>
            <a:graphicFrameLocks noGrp="1"/>
          </p:cNvGraphicFramePr>
          <p:nvPr>
            <p:ph idx="1"/>
            <p:extLst>
              <p:ext uri="{D42A27DB-BD31-4B8C-83A1-F6EECF244321}">
                <p14:modId xmlns:p14="http://schemas.microsoft.com/office/powerpoint/2010/main" val="3015898860"/>
              </p:ext>
            </p:extLst>
          </p:nvPr>
        </p:nvGraphicFramePr>
        <p:xfrm>
          <a:off x="381000" y="817163"/>
          <a:ext cx="8458200" cy="54078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Date Placeholder 5">
            <a:extLst>
              <a:ext uri="{FF2B5EF4-FFF2-40B4-BE49-F238E27FC236}">
                <a16:creationId xmlns:a16="http://schemas.microsoft.com/office/drawing/2014/main" id="{B1757793-90FB-4088-839F-34D4A8F96F57}"/>
              </a:ext>
            </a:extLst>
          </p:cNvPr>
          <p:cNvSpPr>
            <a:spLocks noGrp="1"/>
          </p:cNvSpPr>
          <p:nvPr>
            <p:ph type="dt" sz="half" idx="10"/>
          </p:nvPr>
        </p:nvSpPr>
        <p:spPr/>
        <p:txBody>
          <a:bodyPr/>
          <a:lstStyle/>
          <a:p>
            <a:r>
              <a:rPr lang="en-US"/>
              <a:t>1/5/2020</a:t>
            </a:r>
            <a:endParaRPr lang="en-US" dirty="0"/>
          </a:p>
        </p:txBody>
      </p:sp>
      <p:sp>
        <p:nvSpPr>
          <p:cNvPr id="10" name="Footer Placeholder 9"/>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dk1"/>
                </a:solidFill>
                <a:effectLst/>
                <a:uLnTx/>
                <a:uFillTx/>
                <a:latin typeface="+mn-lt"/>
                <a:ea typeface="+mn-ea"/>
                <a:cs typeface="+mn-cs"/>
              </a:rPr>
              <a:t>CONTENT</a:t>
            </a:r>
          </a:p>
        </p:txBody>
      </p:sp>
      <p:sp>
        <p:nvSpPr>
          <p:cNvPr id="13"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latin typeface="Times New Roman" panose="02020603050405020304" pitchFamily="18" charset="0"/>
                <a:cs typeface="Times New Roman" panose="02020603050405020304" pitchFamily="18" charset="0"/>
              </a:rPr>
              <a:t>Unit Content</a:t>
            </a:r>
          </a:p>
        </p:txBody>
      </p:sp>
      <p:pic>
        <p:nvPicPr>
          <p:cNvPr id="14"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93D3CB1A-9670-4977-8041-56311EB97A78}"/>
              </a:ext>
            </a:extLst>
          </p:cNvPr>
          <p:cNvGraphicFramePr>
            <a:graphicFrameLocks noGrp="1"/>
          </p:cNvGraphicFramePr>
          <p:nvPr>
            <p:ph idx="1"/>
            <p:extLst>
              <p:ext uri="{D42A27DB-BD31-4B8C-83A1-F6EECF244321}">
                <p14:modId xmlns:p14="http://schemas.microsoft.com/office/powerpoint/2010/main" val="2406554826"/>
              </p:ext>
            </p:extLst>
          </p:nvPr>
        </p:nvGraphicFramePr>
        <p:xfrm>
          <a:off x="1676400" y="1524000"/>
          <a:ext cx="4675824" cy="2971799"/>
        </p:xfrm>
        <a:graphic>
          <a:graphicData uri="http://schemas.openxmlformats.org/drawingml/2006/table">
            <a:tbl>
              <a:tblPr firstRow="1" firstCol="1" bandRow="1">
                <a:tableStyleId>{22838BEF-8BB2-4498-84A7-C5851F593DF1}</a:tableStyleId>
              </a:tblPr>
              <a:tblGrid>
                <a:gridCol w="1671723">
                  <a:extLst>
                    <a:ext uri="{9D8B030D-6E8A-4147-A177-3AD203B41FA5}">
                      <a16:colId xmlns:a16="http://schemas.microsoft.com/office/drawing/2014/main" val="1556318809"/>
                    </a:ext>
                  </a:extLst>
                </a:gridCol>
                <a:gridCol w="1001367">
                  <a:extLst>
                    <a:ext uri="{9D8B030D-6E8A-4147-A177-3AD203B41FA5}">
                      <a16:colId xmlns:a16="http://schemas.microsoft.com/office/drawing/2014/main" val="295577440"/>
                    </a:ext>
                  </a:extLst>
                </a:gridCol>
                <a:gridCol w="1001367">
                  <a:extLst>
                    <a:ext uri="{9D8B030D-6E8A-4147-A177-3AD203B41FA5}">
                      <a16:colId xmlns:a16="http://schemas.microsoft.com/office/drawing/2014/main" val="4077231196"/>
                    </a:ext>
                  </a:extLst>
                </a:gridCol>
                <a:gridCol w="1001367">
                  <a:extLst>
                    <a:ext uri="{9D8B030D-6E8A-4147-A177-3AD203B41FA5}">
                      <a16:colId xmlns:a16="http://schemas.microsoft.com/office/drawing/2014/main" val="604849472"/>
                    </a:ext>
                  </a:extLst>
                </a:gridCol>
              </a:tblGrid>
              <a:tr h="429661">
                <a:tc>
                  <a:txBody>
                    <a:bodyPr/>
                    <a:lstStyle/>
                    <a:p>
                      <a:pPr algn="just">
                        <a:lnSpc>
                          <a:spcPct val="115000"/>
                        </a:lnSpc>
                        <a:spcAft>
                          <a:spcPts val="0"/>
                        </a:spcAft>
                      </a:pPr>
                      <a:r>
                        <a:rPr lang="en-US" sz="2200" dirty="0">
                          <a:solidFill>
                            <a:srgbClr val="FF0000"/>
                          </a:solidFill>
                          <a:effectLst/>
                        </a:rPr>
                        <a:t> </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2200" dirty="0">
                          <a:solidFill>
                            <a:srgbClr val="FF0000"/>
                          </a:solidFill>
                          <a:effectLst/>
                        </a:rPr>
                        <a:t>PSO1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2200">
                          <a:solidFill>
                            <a:srgbClr val="FF0000"/>
                          </a:solidFill>
                          <a:effectLst/>
                        </a:rPr>
                        <a:t>PSO2</a:t>
                      </a: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2200">
                          <a:solidFill>
                            <a:srgbClr val="FF0000"/>
                          </a:solidFill>
                          <a:effectLst/>
                        </a:rPr>
                        <a:t>PSO3</a:t>
                      </a: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7867174"/>
                  </a:ext>
                </a:extLst>
              </a:tr>
              <a:tr h="429661">
                <a:tc>
                  <a:txBody>
                    <a:bodyPr/>
                    <a:lstStyle/>
                    <a:p>
                      <a:pP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Subject</a:t>
                      </a:r>
                      <a:r>
                        <a:rPr lang="en-US" sz="2200" baseline="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code</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499"/>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6448684"/>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2054971"/>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1140698"/>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326070"/>
                  </a:ext>
                </a:extLst>
              </a:tr>
              <a:tr h="393833">
                <a:tc>
                  <a:txBody>
                    <a:bodyPr/>
                    <a:lstStyle/>
                    <a:p>
                      <a:pPr>
                        <a:lnSpc>
                          <a:spcPct val="115000"/>
                        </a:lnSpc>
                        <a:spcAft>
                          <a:spcPts val="0"/>
                        </a:spcAft>
                      </a:pPr>
                      <a:r>
                        <a:rPr lang="en-US" sz="22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avg</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06027915"/>
                  </a:ext>
                </a:extLst>
              </a:tr>
            </a:tbl>
          </a:graphicData>
        </a:graphic>
      </p:graphicFrame>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CO-PO and PSO Mapping</a:t>
            </a:r>
          </a:p>
        </p:txBody>
      </p:sp>
      <p:sp>
        <p:nvSpPr>
          <p:cNvPr id="11" name="Rectangle 10">
            <a:extLst>
              <a:ext uri="{FF2B5EF4-FFF2-40B4-BE49-F238E27FC236}">
                <a16:creationId xmlns:a16="http://schemas.microsoft.com/office/drawing/2014/main" id="{4A858EEA-5BBF-4E33-BDF3-5A79CA92D58F}"/>
              </a:ext>
            </a:extLst>
          </p:cNvPr>
          <p:cNvSpPr/>
          <p:nvPr/>
        </p:nvSpPr>
        <p:spPr>
          <a:xfrm>
            <a:off x="1752600" y="4800600"/>
            <a:ext cx="4362092"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 *3= High	*2= Medium      *1=Low</a:t>
            </a:r>
            <a:endParaRPr lang="en-IN" dirty="0"/>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12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497360693"/>
              </p:ext>
            </p:extLst>
          </p:nvPr>
        </p:nvGraphicFramePr>
        <p:xfrm>
          <a:off x="533400" y="11430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PREREQUISITE</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PREREQUISITE</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sp>
        <p:nvSpPr>
          <p:cNvPr id="5" name="Rectangle 4"/>
          <p:cNvSpPr/>
          <p:nvPr/>
        </p:nvSpPr>
        <p:spPr>
          <a:xfrm>
            <a:off x="304800" y="1028343"/>
            <a:ext cx="8458200" cy="5093702"/>
          </a:xfrm>
          <a:prstGeom prst="rect">
            <a:avLst/>
          </a:prstGeom>
        </p:spPr>
        <p:txBody>
          <a:bodyPr wrap="square">
            <a:spAutoFit/>
          </a:bodyPr>
          <a:lstStyle/>
          <a:p>
            <a:pPr algn="just"/>
            <a:r>
              <a:rPr lang="en-US" sz="2500" dirty="0">
                <a:solidFill>
                  <a:srgbClr val="003300"/>
                </a:solidFill>
                <a:latin typeface="Times New Roman" panose="02020603050405020304" pitchFamily="18" charset="0"/>
                <a:cs typeface="Times New Roman" panose="02020603050405020304" pitchFamily="18" charset="0"/>
              </a:rPr>
              <a:t>Prerequisites</a:t>
            </a:r>
          </a:p>
          <a:p>
            <a:pPr algn="just"/>
            <a:r>
              <a:rPr lang="en-US" sz="2500" dirty="0">
                <a:solidFill>
                  <a:srgbClr val="003300"/>
                </a:solidFill>
                <a:latin typeface="Times New Roman" panose="02020603050405020304" pitchFamily="18" charset="0"/>
                <a:cs typeface="Times New Roman" panose="02020603050405020304" pitchFamily="18" charset="0"/>
              </a:rPr>
              <a:t>No prior experience with computer vision is assumed, although previous knowledge of visual computing or signal processing will be helpful (e.g., CSCI 1230). The following skills are necessary for this class:</a:t>
            </a:r>
          </a:p>
          <a:p>
            <a:pPr algn="just">
              <a:buFont typeface="Arial" panose="020B0604020202020204" pitchFamily="34" charset="0"/>
              <a:buChar char="•"/>
            </a:pPr>
            <a:r>
              <a:rPr lang="en-US" sz="2500" b="1" dirty="0">
                <a:solidFill>
                  <a:srgbClr val="003300"/>
                </a:solidFill>
                <a:latin typeface="Times New Roman" panose="02020603050405020304" pitchFamily="18" charset="0"/>
                <a:cs typeface="Times New Roman" panose="02020603050405020304" pitchFamily="18" charset="0"/>
              </a:rPr>
              <a:t>Math:</a:t>
            </a:r>
            <a:r>
              <a:rPr lang="en-US" sz="2500" dirty="0">
                <a:solidFill>
                  <a:srgbClr val="003300"/>
                </a:solidFill>
                <a:latin typeface="Times New Roman" panose="02020603050405020304" pitchFamily="18" charset="0"/>
                <a:cs typeface="Times New Roman" panose="02020603050405020304" pitchFamily="18" charset="0"/>
              </a:rPr>
              <a:t> Linear algebra, vector calculus, and probability. Linear algebra is the most important and is required.</a:t>
            </a:r>
          </a:p>
          <a:p>
            <a:pPr algn="just">
              <a:buFont typeface="Arial" panose="020B0604020202020204" pitchFamily="34" charset="0"/>
              <a:buChar char="•"/>
            </a:pPr>
            <a:r>
              <a:rPr lang="en-US" sz="2500" b="1" dirty="0">
                <a:solidFill>
                  <a:srgbClr val="003300"/>
                </a:solidFill>
                <a:latin typeface="Times New Roman" panose="02020603050405020304" pitchFamily="18" charset="0"/>
                <a:cs typeface="Times New Roman" panose="02020603050405020304" pitchFamily="18" charset="0"/>
              </a:rPr>
              <a:t>Data structures:</a:t>
            </a:r>
            <a:r>
              <a:rPr lang="en-US" sz="2500" dirty="0">
                <a:solidFill>
                  <a:srgbClr val="003300"/>
                </a:solidFill>
                <a:latin typeface="Times New Roman" panose="02020603050405020304" pitchFamily="18" charset="0"/>
                <a:cs typeface="Times New Roman" panose="02020603050405020304" pitchFamily="18" charset="0"/>
              </a:rPr>
              <a:t> You will write code that represents images as matrices, high-dimensional features, and geometric constructions.</a:t>
            </a:r>
          </a:p>
          <a:p>
            <a:pPr algn="just">
              <a:buFont typeface="Arial" panose="020B0604020202020204" pitchFamily="34" charset="0"/>
              <a:buChar char="•"/>
            </a:pPr>
            <a:r>
              <a:rPr lang="en-US" sz="2500" b="1" dirty="0">
                <a:solidFill>
                  <a:srgbClr val="003300"/>
                </a:solidFill>
                <a:latin typeface="Times New Roman" panose="02020603050405020304" pitchFamily="18" charset="0"/>
                <a:cs typeface="Times New Roman" panose="02020603050405020304" pitchFamily="18" charset="0"/>
              </a:rPr>
              <a:t>Programming and toolchains:</a:t>
            </a:r>
            <a:r>
              <a:rPr lang="en-US" sz="2500" dirty="0">
                <a:solidFill>
                  <a:srgbClr val="003300"/>
                </a:solidFill>
                <a:latin typeface="Times New Roman" panose="02020603050405020304" pitchFamily="18" charset="0"/>
                <a:cs typeface="Times New Roman" panose="02020603050405020304" pitchFamily="18" charset="0"/>
              </a:rPr>
              <a:t> A good working knowledge. Intro CS is required, and an intermediate systems course is strongly encouraged.</a:t>
            </a:r>
            <a:endParaRPr lang="en-US" sz="2500" b="0" i="0" dirty="0">
              <a:solidFill>
                <a:srgbClr val="003300"/>
              </a:solidFill>
              <a:effectLst/>
              <a:latin typeface="Times New Roman" panose="02020603050405020304" pitchFamily="18" charset="0"/>
              <a:cs typeface="Times New Roman" panose="02020603050405020304" pitchFamily="18" charset="0"/>
            </a:endParaRPr>
          </a:p>
        </p:txBody>
      </p:sp>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411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8" name="Picture 7"/>
          <p:cNvPicPr>
            <a:picLocks noChangeAspect="1"/>
          </p:cNvPicPr>
          <p:nvPr/>
        </p:nvPicPr>
        <p:blipFill>
          <a:blip r:embed="rId2"/>
          <a:stretch>
            <a:fillRect/>
          </a:stretch>
        </p:blipFill>
        <p:spPr>
          <a:xfrm>
            <a:off x="304800" y="1295400"/>
            <a:ext cx="8596428" cy="4763729"/>
          </a:xfrm>
          <a:prstGeom prst="rect">
            <a:avLst/>
          </a:prstGeom>
        </p:spPr>
      </p:pic>
      <p:sp>
        <p:nvSpPr>
          <p:cNvPr id="9"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Computer</a:t>
            </a:r>
            <a:r>
              <a:rPr kumimoji="0" lang="en-US" sz="2400" b="0" i="0" u="none" strike="noStrike" kern="1200" cap="none" spc="0" normalizeH="0" noProof="0" dirty="0">
                <a:ln>
                  <a:noFill/>
                </a:ln>
                <a:solidFill>
                  <a:schemeClr val="dk1"/>
                </a:solidFill>
                <a:effectLst/>
                <a:uLnTx/>
                <a:uFillTx/>
                <a:latin typeface="+mn-lt"/>
                <a:ea typeface="+mn-ea"/>
                <a:cs typeface="+mn-cs"/>
              </a:rPr>
              <a:t> Vision</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545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Rectangle 4"/>
          <p:cNvSpPr/>
          <p:nvPr/>
        </p:nvSpPr>
        <p:spPr>
          <a:xfrm>
            <a:off x="228600" y="1219200"/>
            <a:ext cx="8915400" cy="707886"/>
          </a:xfrm>
          <a:prstGeom prst="rect">
            <a:avLst/>
          </a:prstGeom>
        </p:spPr>
        <p:txBody>
          <a:bodyPr wrap="square">
            <a:spAutoFit/>
          </a:bodyPr>
          <a:lstStyle/>
          <a:p>
            <a:pPr algn="just"/>
            <a:r>
              <a:rPr lang="en-US" sz="2000" b="1" dirty="0">
                <a:solidFill>
                  <a:schemeClr val="accent6">
                    <a:lumMod val="75000"/>
                  </a:schemeClr>
                </a:solidFill>
                <a:latin typeface="Times New Roman" panose="02020603050405020304" pitchFamily="18" charset="0"/>
                <a:cs typeface="Times New Roman" panose="02020603050405020304" pitchFamily="18" charset="0"/>
              </a:rPr>
              <a:t> a field of study that seeks to develop techniques to help computers “see” and understand the content of digital images such as photographs and videos.</a:t>
            </a:r>
            <a:endParaRPr lang="en-IN" sz="2000" b="1"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6146" name="Picture 2" descr="Overview of the Relationship of Artificial Intelligence and Computer Vi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5969" y="1919068"/>
            <a:ext cx="3476625" cy="295773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478080" y="5029200"/>
            <a:ext cx="7903919" cy="1015663"/>
          </a:xfrm>
          <a:prstGeom prst="rect">
            <a:avLst/>
          </a:prstGeom>
        </p:spPr>
        <p:txBody>
          <a:bodyPr wrap="square">
            <a:spAutoFit/>
          </a:bodyPr>
          <a:lstStyle/>
          <a:p>
            <a:pPr algn="just"/>
            <a:r>
              <a:rPr lang="en-US" sz="2000" b="1" dirty="0">
                <a:solidFill>
                  <a:schemeClr val="accent6">
                    <a:lumMod val="75000"/>
                  </a:schemeClr>
                </a:solidFill>
                <a:latin typeface="Times New Roman" panose="02020603050405020304" pitchFamily="18" charset="0"/>
                <a:cs typeface="Times New Roman" panose="02020603050405020304" pitchFamily="18" charset="0"/>
              </a:rPr>
              <a:t>It is a multidisciplinary field that could broadly be called a subfield of artificial intelligence and machine learning, which may involve the use of specialized methods and make use of general learning algorithms.</a:t>
            </a:r>
            <a:endParaRPr lang="en-IN" sz="20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Computer</a:t>
            </a:r>
            <a:r>
              <a:rPr kumimoji="0" lang="en-US" sz="2400" b="0" i="0" u="none" strike="noStrike" kern="1200" cap="none" spc="0" normalizeH="0" noProof="0" dirty="0">
                <a:ln>
                  <a:noFill/>
                </a:ln>
                <a:solidFill>
                  <a:schemeClr val="dk1"/>
                </a:solidFill>
                <a:effectLst/>
                <a:uLnTx/>
                <a:uFillTx/>
                <a:latin typeface="+mn-lt"/>
                <a:ea typeface="+mn-ea"/>
                <a:cs typeface="+mn-cs"/>
              </a:rPr>
              <a:t> Vision</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11"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551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Rectangle 4"/>
          <p:cNvSpPr/>
          <p:nvPr/>
        </p:nvSpPr>
        <p:spPr>
          <a:xfrm>
            <a:off x="811923" y="1575638"/>
            <a:ext cx="7700580" cy="1200329"/>
          </a:xfrm>
          <a:prstGeom prst="rect">
            <a:avLst/>
          </a:prstGeom>
        </p:spPr>
        <p:txBody>
          <a:bodyPr wrap="square">
            <a:spAutoFit/>
          </a:bodyPr>
          <a:lstStyle/>
          <a:p>
            <a:pPr algn="just"/>
            <a:r>
              <a:rPr lang="en-US" dirty="0">
                <a:solidFill>
                  <a:srgbClr val="424242"/>
                </a:solidFill>
                <a:latin typeface="Verdana" panose="020B0604030504040204" pitchFamily="34" charset="0"/>
              </a:rPr>
              <a:t>Artificial intelligence (AI), also known as machine intelligence, is a branch of computer science that focuses on building and managing technology that can learn to autonomously make decisions and carry out actions on behalf of a human being.</a:t>
            </a:r>
            <a:endParaRPr lang="en-IN" dirty="0"/>
          </a:p>
        </p:txBody>
      </p:sp>
      <p:pic>
        <p:nvPicPr>
          <p:cNvPr id="8194" name="Picture 2" descr="What is AI? A Beginner's Guide to Artificial Intelligence (20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2138" y="2781829"/>
            <a:ext cx="6773246" cy="3120741"/>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a:spLocks/>
          </p:cNvSpPr>
          <p:nvPr/>
        </p:nvSpPr>
        <p:spPr>
          <a:xfrm>
            <a:off x="1371600" y="65681"/>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Computer</a:t>
            </a:r>
            <a:r>
              <a:rPr kumimoji="0" lang="en-US" sz="2400" b="0" i="0" u="none" strike="noStrike" kern="1200" cap="none" spc="0" normalizeH="0" noProof="0" dirty="0">
                <a:ln>
                  <a:noFill/>
                </a:ln>
                <a:solidFill>
                  <a:schemeClr val="dk1"/>
                </a:solidFill>
                <a:effectLst/>
                <a:uLnTx/>
                <a:uFillTx/>
                <a:latin typeface="+mn-lt"/>
                <a:ea typeface="+mn-ea"/>
                <a:cs typeface="+mn-cs"/>
              </a:rPr>
              <a:t> Vision</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178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GB" sz="2400" kern="100" dirty="0">
                <a:latin typeface="Times New Roman" panose="02020603050405020304" pitchFamily="18" charset="0"/>
                <a:cs typeface="Times New Roman" panose="02020603050405020304" pitchFamily="18" charset="0"/>
              </a:rPr>
              <a:t>Computer Vision</a:t>
            </a:r>
            <a:endParaRPr kumimoji="0" lang="en-US" sz="2400" i="0" u="none" strike="noStrike" kern="1200" cap="none" spc="0" normalizeH="0" baseline="0" noProof="0" dirty="0">
              <a:ln>
                <a:noFill/>
              </a:ln>
              <a:solidFill>
                <a:schemeClr val="dk1"/>
              </a:solidFill>
              <a:effectLst/>
              <a:uLnTx/>
              <a:uFillTx/>
              <a:latin typeface="+mn-lt"/>
              <a:ea typeface="+mn-ea"/>
              <a:cs typeface="+mn-cs"/>
            </a:endParaRPr>
          </a:p>
        </p:txBody>
      </p:sp>
      <p:sp>
        <p:nvSpPr>
          <p:cNvPr id="8" name="Rectangle 7"/>
          <p:cNvSpPr/>
          <p:nvPr/>
        </p:nvSpPr>
        <p:spPr>
          <a:xfrm>
            <a:off x="614582" y="1335563"/>
            <a:ext cx="8327972" cy="1477328"/>
          </a:xfrm>
          <a:prstGeom prst="rect">
            <a:avLst/>
          </a:prstGeom>
        </p:spPr>
        <p:txBody>
          <a:bodyPr wrap="square">
            <a:spAutoFit/>
          </a:bodyPr>
          <a:lstStyle/>
          <a:p>
            <a:r>
              <a:rPr lang="en-US" b="1" dirty="0">
                <a:solidFill>
                  <a:srgbClr val="272727"/>
                </a:solidFill>
                <a:latin typeface="Futura LT W01 Heavy"/>
              </a:rPr>
              <a:t>What is machine learning?</a:t>
            </a:r>
            <a:endParaRPr lang="en-US" dirty="0">
              <a:solidFill>
                <a:srgbClr val="272727"/>
              </a:solidFill>
              <a:latin typeface="Futura LT W01 Heavy"/>
            </a:endParaRPr>
          </a:p>
          <a:p>
            <a:r>
              <a:rPr lang="en-US" dirty="0">
                <a:solidFill>
                  <a:srgbClr val="272727"/>
                </a:solidFill>
                <a:latin typeface="Adelle W01 Regular"/>
              </a:rPr>
              <a:t>Machine learning is a subfield of artificial intelligence, which is broadly defined as the capability of a machine to imitate intelligent human behavior. Artificial intelligence systems are used to perform complex tasks in a way that is similar to how humans solve problems.</a:t>
            </a:r>
            <a:endParaRPr lang="en-US" b="0" i="0" dirty="0">
              <a:solidFill>
                <a:srgbClr val="272727"/>
              </a:solidFill>
              <a:effectLst/>
              <a:latin typeface="Adelle W01 Regular"/>
            </a:endParaRPr>
          </a:p>
        </p:txBody>
      </p:sp>
      <p:pic>
        <p:nvPicPr>
          <p:cNvPr id="7170" name="Picture 2" descr="Introduction to Machine Learning for Beginners | by Ayush Pant | Towards  Data Scie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42415" y="3179198"/>
            <a:ext cx="4688672" cy="293042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101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Computer</a:t>
            </a:r>
            <a:r>
              <a:rPr kumimoji="0" lang="en-US" sz="2400" b="0" i="0" u="none" strike="noStrike" kern="1200" cap="none" spc="0" normalizeH="0" noProof="0" dirty="0">
                <a:ln>
                  <a:noFill/>
                </a:ln>
                <a:solidFill>
                  <a:schemeClr val="dk1"/>
                </a:solidFill>
                <a:effectLst/>
                <a:uLnTx/>
                <a:uFillTx/>
                <a:latin typeface="+mn-lt"/>
                <a:ea typeface="+mn-ea"/>
                <a:cs typeface="+mn-cs"/>
              </a:rPr>
              <a:t> Vision Applications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5" name="Picture 4"/>
          <p:cNvPicPr>
            <a:picLocks noChangeAspect="1"/>
          </p:cNvPicPr>
          <p:nvPr/>
        </p:nvPicPr>
        <p:blipFill>
          <a:blip r:embed="rId2"/>
          <a:stretch>
            <a:fillRect/>
          </a:stretch>
        </p:blipFill>
        <p:spPr>
          <a:xfrm>
            <a:off x="83234" y="817163"/>
            <a:ext cx="4495800" cy="2774952"/>
          </a:xfrm>
          <a:prstGeom prst="rect">
            <a:avLst/>
          </a:prstGeom>
        </p:spPr>
      </p:pic>
      <p:pic>
        <p:nvPicPr>
          <p:cNvPr id="9" name="Picture 8"/>
          <p:cNvPicPr>
            <a:picLocks noChangeAspect="1"/>
          </p:cNvPicPr>
          <p:nvPr/>
        </p:nvPicPr>
        <p:blipFill>
          <a:blip r:embed="rId3"/>
          <a:stretch>
            <a:fillRect/>
          </a:stretch>
        </p:blipFill>
        <p:spPr>
          <a:xfrm>
            <a:off x="4682197" y="817163"/>
            <a:ext cx="4396749" cy="2764236"/>
          </a:xfrm>
          <a:prstGeom prst="rect">
            <a:avLst/>
          </a:prstGeom>
        </p:spPr>
      </p:pic>
      <p:pic>
        <p:nvPicPr>
          <p:cNvPr id="6146" name="Picture 2" descr="Computer Vision Applicat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7078" y="3712763"/>
            <a:ext cx="6667500" cy="271701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521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Computer</a:t>
            </a:r>
            <a:r>
              <a:rPr kumimoji="0" lang="en-US" sz="2400" b="0" i="0" u="none" strike="noStrike" kern="1200" cap="none" spc="0" normalizeH="0" noProof="0" dirty="0">
                <a:ln>
                  <a:noFill/>
                </a:ln>
                <a:solidFill>
                  <a:schemeClr val="dk1"/>
                </a:solidFill>
                <a:effectLst/>
                <a:uLnTx/>
                <a:uFillTx/>
                <a:latin typeface="+mn-lt"/>
                <a:ea typeface="+mn-ea"/>
                <a:cs typeface="+mn-cs"/>
              </a:rPr>
              <a:t> Vision Applications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Rectangle 7"/>
          <p:cNvSpPr/>
          <p:nvPr/>
        </p:nvSpPr>
        <p:spPr>
          <a:xfrm>
            <a:off x="628650" y="817164"/>
            <a:ext cx="7067550" cy="2862322"/>
          </a:xfrm>
          <a:prstGeom prst="rect">
            <a:avLst/>
          </a:prstGeom>
        </p:spPr>
        <p:txBody>
          <a:bodyPr wrap="square">
            <a:spAutoFit/>
          </a:bodyPr>
          <a:lstStyle/>
          <a:p>
            <a:pPr algn="ctr"/>
            <a:r>
              <a:rPr lang="en-IN" dirty="0">
                <a:solidFill>
                  <a:srgbClr val="272C37"/>
                </a:solidFill>
                <a:latin typeface="Roboto"/>
              </a:rPr>
              <a:t>Computer Vision Applications</a:t>
            </a:r>
          </a:p>
          <a:p>
            <a:pPr marL="285750" indent="-285750">
              <a:buFont typeface="Wingdings" panose="05000000000000000000" pitchFamily="2" charset="2"/>
              <a:buChar char="q"/>
            </a:pPr>
            <a:r>
              <a:rPr lang="en-IN" dirty="0"/>
              <a:t>Self-Driving Cars</a:t>
            </a:r>
          </a:p>
          <a:p>
            <a:pPr marL="285750" indent="-285750">
              <a:buFont typeface="Wingdings" panose="05000000000000000000" pitchFamily="2" charset="2"/>
              <a:buChar char="q"/>
            </a:pPr>
            <a:r>
              <a:rPr lang="en-IN" dirty="0"/>
              <a:t>Facial Recognition</a:t>
            </a:r>
          </a:p>
          <a:p>
            <a:pPr marL="285750" indent="-285750">
              <a:buFont typeface="Wingdings" panose="05000000000000000000" pitchFamily="2" charset="2"/>
              <a:buChar char="q"/>
            </a:pPr>
            <a:r>
              <a:rPr lang="en-IN" dirty="0"/>
              <a:t>Augmented &amp; Mixed Reality</a:t>
            </a:r>
          </a:p>
          <a:p>
            <a:pPr marL="285750" indent="-285750">
              <a:buFont typeface="Wingdings" panose="05000000000000000000" pitchFamily="2" charset="2"/>
              <a:buChar char="q"/>
            </a:pPr>
            <a:r>
              <a:rPr lang="en-IN" dirty="0"/>
              <a:t>Healthcare</a:t>
            </a:r>
          </a:p>
          <a:p>
            <a:pPr marL="285750" indent="-285750">
              <a:buFont typeface="Wingdings" panose="05000000000000000000" pitchFamily="2" charset="2"/>
              <a:buChar char="q"/>
            </a:pPr>
            <a:r>
              <a:rPr lang="en-IN" dirty="0"/>
              <a:t>Categorization of Images</a:t>
            </a:r>
          </a:p>
          <a:p>
            <a:pPr marL="285750" indent="-285750">
              <a:buFont typeface="Wingdings" panose="05000000000000000000" pitchFamily="2" charset="2"/>
              <a:buChar char="q"/>
            </a:pPr>
            <a:r>
              <a:rPr lang="en-IN" dirty="0"/>
              <a:t>Object Detection </a:t>
            </a:r>
          </a:p>
          <a:p>
            <a:pPr marL="285750" indent="-285750">
              <a:buFont typeface="Wingdings" panose="05000000000000000000" pitchFamily="2" charset="2"/>
              <a:buChar char="q"/>
            </a:pPr>
            <a:r>
              <a:rPr lang="en-IN" dirty="0"/>
              <a:t>Observation of Moving Objects</a:t>
            </a:r>
          </a:p>
          <a:p>
            <a:pPr marL="285750" indent="-285750">
              <a:buFont typeface="Wingdings" panose="05000000000000000000" pitchFamily="2" charset="2"/>
              <a:buChar char="q"/>
            </a:pPr>
            <a:r>
              <a:rPr lang="en-US" dirty="0"/>
              <a:t>Retrieval of Images Based on Their Contents</a:t>
            </a:r>
          </a:p>
          <a:p>
            <a:endParaRPr lang="en-IN" b="0" i="0" dirty="0">
              <a:solidFill>
                <a:srgbClr val="272C37"/>
              </a:solidFill>
              <a:effectLst/>
              <a:latin typeface="Roboto"/>
            </a:endParaRPr>
          </a:p>
        </p:txBody>
      </p:sp>
      <p:pic>
        <p:nvPicPr>
          <p:cNvPr id="7170" name="Picture 2" descr="ComputerVi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 y="3388455"/>
            <a:ext cx="8972550" cy="304199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506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noProof="0" dirty="0"/>
              <a:t>Self Driving cars</a:t>
            </a:r>
            <a:endParaRPr kumimoji="0" lang="en-US" sz="2400" b="1" i="0" u="none" strike="noStrike" kern="1200" cap="none" spc="0" normalizeH="0" baseline="0" noProof="0" dirty="0">
              <a:ln>
                <a:noFill/>
              </a:ln>
              <a:solidFill>
                <a:schemeClr val="dk1"/>
              </a:solidFill>
              <a:effectLst/>
              <a:uLnTx/>
              <a:uFillTx/>
            </a:endParaRPr>
          </a:p>
        </p:txBody>
      </p:sp>
      <p:sp>
        <p:nvSpPr>
          <p:cNvPr id="5" name="Rectangle 4"/>
          <p:cNvSpPr/>
          <p:nvPr/>
        </p:nvSpPr>
        <p:spPr>
          <a:xfrm>
            <a:off x="615755" y="990600"/>
            <a:ext cx="8210550" cy="1477328"/>
          </a:xfrm>
          <a:prstGeom prst="rect">
            <a:avLst/>
          </a:prstGeom>
        </p:spPr>
        <p:txBody>
          <a:bodyPr wrap="square">
            <a:spAutoFit/>
          </a:bodyPr>
          <a:lstStyle/>
          <a:p>
            <a:r>
              <a:rPr lang="en-US" dirty="0">
                <a:solidFill>
                  <a:srgbClr val="111C24"/>
                </a:solidFill>
                <a:latin typeface="Times New Roman" panose="02020603050405020304" pitchFamily="18" charset="0"/>
                <a:cs typeface="Times New Roman" panose="02020603050405020304" pitchFamily="18" charset="0"/>
              </a:rPr>
              <a:t>An autonomous car is a vehicle capable of sensing its environment and operating without human involvement. A human passenger is not required to take control of the vehicle at any time, nor is a human passenger required to be present in the vehicle at all. An autonomous car can go anywhere a traditional car goes and do everything that an experienced human driver does.</a:t>
            </a:r>
            <a:endParaRPr lang="en-IN" dirty="0">
              <a:latin typeface="Times New Roman" panose="02020603050405020304" pitchFamily="18" charset="0"/>
              <a:cs typeface="Times New Roman" panose="02020603050405020304" pitchFamily="18" charset="0"/>
            </a:endParaRPr>
          </a:p>
        </p:txBody>
      </p:sp>
      <p:pic>
        <p:nvPicPr>
          <p:cNvPr id="11266" name="Picture 2" descr="How Self-driving Cars Work: Sensor Systems | Udac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2833764"/>
            <a:ext cx="3505200" cy="334526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The Privacy Dilemma: How Autonomous Cars May Impact Your Personal 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881" y="2833764"/>
            <a:ext cx="3983919" cy="334526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866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noProof="0" dirty="0"/>
              <a:t>Self Driving cars</a:t>
            </a:r>
            <a:endParaRPr kumimoji="0" lang="en-US" sz="2400" b="1" i="0" u="none" strike="noStrike" kern="1200" cap="none" spc="0" normalizeH="0" baseline="0" noProof="0" dirty="0">
              <a:ln>
                <a:noFill/>
              </a:ln>
              <a:solidFill>
                <a:schemeClr val="dk1"/>
              </a:solidFill>
              <a:effectLst/>
              <a:uLnTx/>
              <a:uFillTx/>
            </a:endParaRPr>
          </a:p>
        </p:txBody>
      </p:sp>
      <p:pic>
        <p:nvPicPr>
          <p:cNvPr id="11" name="Picture 10"/>
          <p:cNvPicPr>
            <a:picLocks noChangeAspect="1"/>
          </p:cNvPicPr>
          <p:nvPr/>
        </p:nvPicPr>
        <p:blipFill>
          <a:blip r:embed="rId2"/>
          <a:stretch>
            <a:fillRect/>
          </a:stretch>
        </p:blipFill>
        <p:spPr>
          <a:xfrm>
            <a:off x="409575" y="711199"/>
            <a:ext cx="8067675" cy="3773288"/>
          </a:xfrm>
          <a:prstGeom prst="rect">
            <a:avLst/>
          </a:prstGeom>
        </p:spPr>
      </p:pic>
      <p:sp>
        <p:nvSpPr>
          <p:cNvPr id="12" name="Rectangle 11"/>
          <p:cNvSpPr/>
          <p:nvPr/>
        </p:nvSpPr>
        <p:spPr>
          <a:xfrm>
            <a:off x="300037" y="4694553"/>
            <a:ext cx="8286750" cy="1477328"/>
          </a:xfrm>
          <a:prstGeom prst="rect">
            <a:avLst/>
          </a:prstGeom>
        </p:spPr>
        <p:txBody>
          <a:bodyPr wrap="square">
            <a:spAutoFit/>
          </a:bodyPr>
          <a:lstStyle/>
          <a:p>
            <a:pPr>
              <a:buFont typeface="Arial" panose="020B0604020202020204" pitchFamily="34" charset="0"/>
              <a:buChar char="•"/>
            </a:pPr>
            <a:r>
              <a:rPr lang="en-US" dirty="0">
                <a:solidFill>
                  <a:srgbClr val="111C24"/>
                </a:solidFill>
                <a:latin typeface="Roboto"/>
              </a:rPr>
              <a:t>Reduce traffic congestion (30% fewer vehicles on the road)</a:t>
            </a:r>
          </a:p>
          <a:p>
            <a:pPr>
              <a:buFont typeface="Arial" panose="020B0604020202020204" pitchFamily="34" charset="0"/>
              <a:buChar char="•"/>
            </a:pPr>
            <a:r>
              <a:rPr lang="en-US" dirty="0">
                <a:solidFill>
                  <a:srgbClr val="111C24"/>
                </a:solidFill>
                <a:latin typeface="Roboto"/>
              </a:rPr>
              <a:t>Cut transportation costs by 40% (in terms of vehicles, fuel, and infrastructure)</a:t>
            </a:r>
          </a:p>
          <a:p>
            <a:pPr>
              <a:buFont typeface="Arial" panose="020B0604020202020204" pitchFamily="34" charset="0"/>
              <a:buChar char="•"/>
            </a:pPr>
            <a:r>
              <a:rPr lang="en-US" dirty="0">
                <a:solidFill>
                  <a:srgbClr val="111C24"/>
                </a:solidFill>
                <a:latin typeface="Roboto"/>
              </a:rPr>
              <a:t>Improve walkability and livability</a:t>
            </a:r>
          </a:p>
          <a:p>
            <a:pPr>
              <a:buFont typeface="Arial" panose="020B0604020202020204" pitchFamily="34" charset="0"/>
              <a:buChar char="•"/>
            </a:pPr>
            <a:r>
              <a:rPr lang="en-US" dirty="0">
                <a:solidFill>
                  <a:srgbClr val="111C24"/>
                </a:solidFill>
                <a:latin typeface="Roboto"/>
              </a:rPr>
              <a:t>Free up parking lots for other uses (schools, parks, community centers)</a:t>
            </a:r>
          </a:p>
          <a:p>
            <a:pPr>
              <a:buFont typeface="Arial" panose="020B0604020202020204" pitchFamily="34" charset="0"/>
              <a:buChar char="•"/>
            </a:pPr>
            <a:r>
              <a:rPr lang="en-US" dirty="0">
                <a:solidFill>
                  <a:srgbClr val="111C24"/>
                </a:solidFill>
                <a:latin typeface="Roboto"/>
              </a:rPr>
              <a:t>Reduce urban CO2 emissions by 80% worldwide </a:t>
            </a:r>
            <a:endParaRPr lang="en-US" b="0" i="0" dirty="0">
              <a:solidFill>
                <a:srgbClr val="111C24"/>
              </a:solidFill>
              <a:effectLst/>
              <a:latin typeface="Roboto"/>
            </a:endParaRPr>
          </a:p>
        </p:txBody>
      </p:sp>
      <p:sp>
        <p:nvSpPr>
          <p:cNvPr id="15" name="Rectangle 14"/>
          <p:cNvSpPr/>
          <p:nvPr/>
        </p:nvSpPr>
        <p:spPr>
          <a:xfrm>
            <a:off x="0" y="4325221"/>
            <a:ext cx="3685689" cy="369332"/>
          </a:xfrm>
          <a:prstGeom prst="rect">
            <a:avLst/>
          </a:prstGeom>
        </p:spPr>
        <p:txBody>
          <a:bodyPr wrap="none">
            <a:spAutoFit/>
          </a:bodyPr>
          <a:lstStyle/>
          <a:p>
            <a:r>
              <a:rPr lang="en-US" dirty="0">
                <a:solidFill>
                  <a:srgbClr val="5A2A82"/>
                </a:solidFill>
                <a:latin typeface="Roboto"/>
              </a:rPr>
              <a:t>The Benefits Of Autonomous Cars</a:t>
            </a:r>
            <a:endParaRPr lang="en-US" b="0" i="0" dirty="0">
              <a:solidFill>
                <a:srgbClr val="5A2A82"/>
              </a:solidFill>
              <a:effectLst/>
              <a:latin typeface="Roboto"/>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275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schemeClr val="tx1"/>
                </a:solidFill>
                <a:latin typeface="MuseoSans"/>
              </a:rPr>
              <a:t>facial recognition</a:t>
            </a:r>
            <a:endParaRPr kumimoji="0" lang="en-US" sz="2400" b="1" i="0" u="none" strike="noStrike" kern="1200" cap="none" spc="0" normalizeH="0" baseline="0" noProof="0" dirty="0">
              <a:ln>
                <a:noFill/>
              </a:ln>
              <a:solidFill>
                <a:schemeClr val="tx1"/>
              </a:solidFill>
              <a:effectLst/>
              <a:uLnTx/>
              <a:uFillTx/>
            </a:endParaRPr>
          </a:p>
        </p:txBody>
      </p:sp>
      <p:sp>
        <p:nvSpPr>
          <p:cNvPr id="8" name="Rectangle 7"/>
          <p:cNvSpPr/>
          <p:nvPr/>
        </p:nvSpPr>
        <p:spPr>
          <a:xfrm>
            <a:off x="385983" y="774593"/>
            <a:ext cx="8286750" cy="1200329"/>
          </a:xfrm>
          <a:prstGeom prst="rect">
            <a:avLst/>
          </a:prstGeom>
        </p:spPr>
        <p:txBody>
          <a:bodyPr wrap="square">
            <a:spAutoFit/>
          </a:bodyPr>
          <a:lstStyle/>
          <a:p>
            <a:pPr algn="just" fontAlgn="base"/>
            <a:r>
              <a:rPr lang="en-US" b="1" dirty="0">
                <a:latin typeface="MuseoSans"/>
              </a:rPr>
              <a:t>What is facial recognition?</a:t>
            </a:r>
          </a:p>
          <a:p>
            <a:pPr algn="just" fontAlgn="base"/>
            <a:r>
              <a:rPr lang="en-US" dirty="0">
                <a:latin typeface="MuseoSans"/>
              </a:rPr>
              <a:t>Facial recognition is a way of identifying or confirming an individual’s identity using their face. Facial recognition systems can be used to identify people in photos, videos, or in real-time.</a:t>
            </a:r>
            <a:endParaRPr lang="en-US" b="0" i="0" dirty="0">
              <a:effectLst/>
              <a:latin typeface="MuseoSans"/>
            </a:endParaRPr>
          </a:p>
        </p:txBody>
      </p:sp>
      <p:sp>
        <p:nvSpPr>
          <p:cNvPr id="9" name="Rectangle 8"/>
          <p:cNvSpPr/>
          <p:nvPr/>
        </p:nvSpPr>
        <p:spPr>
          <a:xfrm>
            <a:off x="385983" y="2183890"/>
            <a:ext cx="3673121" cy="1754326"/>
          </a:xfrm>
          <a:prstGeom prst="rect">
            <a:avLst/>
          </a:prstGeom>
        </p:spPr>
        <p:txBody>
          <a:bodyPr wrap="none">
            <a:spAutoFit/>
          </a:bodyPr>
          <a:lstStyle/>
          <a:p>
            <a:pPr fontAlgn="base"/>
            <a:r>
              <a:rPr lang="en-IN" b="1" u="sng" dirty="0">
                <a:latin typeface="MuseoSans"/>
              </a:rPr>
              <a:t>Procedure</a:t>
            </a:r>
          </a:p>
          <a:p>
            <a:pPr fontAlgn="base"/>
            <a:r>
              <a:rPr lang="en-IN" b="1" dirty="0">
                <a:latin typeface="MuseoSans"/>
              </a:rPr>
              <a:t>Step 1: Face detection</a:t>
            </a:r>
          </a:p>
          <a:p>
            <a:pPr fontAlgn="base"/>
            <a:r>
              <a:rPr lang="en-IN" b="1" dirty="0"/>
              <a:t>Step 2: Face analysis</a:t>
            </a:r>
          </a:p>
          <a:p>
            <a:pPr fontAlgn="base"/>
            <a:r>
              <a:rPr lang="en-US" b="1" dirty="0"/>
              <a:t>Step 3: Converting the image to data</a:t>
            </a:r>
          </a:p>
          <a:p>
            <a:pPr fontAlgn="base"/>
            <a:r>
              <a:rPr lang="en-US" b="1" dirty="0"/>
              <a:t>Step 4: Finding a match</a:t>
            </a:r>
          </a:p>
          <a:p>
            <a:pPr fontAlgn="base"/>
            <a:endParaRPr lang="en-IN" b="1" i="0" dirty="0">
              <a:effectLst/>
              <a:latin typeface="MuseoSans"/>
            </a:endParaRPr>
          </a:p>
        </p:txBody>
      </p:sp>
      <p:sp>
        <p:nvSpPr>
          <p:cNvPr id="10" name="Rectangle 9"/>
          <p:cNvSpPr/>
          <p:nvPr/>
        </p:nvSpPr>
        <p:spPr>
          <a:xfrm>
            <a:off x="4921947" y="2357740"/>
            <a:ext cx="4222053" cy="3970318"/>
          </a:xfrm>
          <a:prstGeom prst="rect">
            <a:avLst/>
          </a:prstGeom>
        </p:spPr>
        <p:txBody>
          <a:bodyPr wrap="none">
            <a:spAutoFit/>
          </a:bodyPr>
          <a:lstStyle/>
          <a:p>
            <a:pPr fontAlgn="base"/>
            <a:r>
              <a:rPr lang="en-US" b="1" u="sng" dirty="0">
                <a:latin typeface="MuseoSans"/>
              </a:rPr>
              <a:t>How facial recognition is used</a:t>
            </a:r>
          </a:p>
          <a:p>
            <a:pPr marL="342900" indent="-342900" fontAlgn="base">
              <a:buFont typeface="+mj-lt"/>
              <a:buAutoNum type="arabicPeriod"/>
            </a:pPr>
            <a:r>
              <a:rPr lang="en-IN" b="1" dirty="0"/>
              <a:t>Unlocking phones</a:t>
            </a:r>
          </a:p>
          <a:p>
            <a:pPr marL="342900" indent="-342900" fontAlgn="base">
              <a:buFont typeface="+mj-lt"/>
              <a:buAutoNum type="arabicPeriod"/>
            </a:pPr>
            <a:r>
              <a:rPr lang="en-IN" b="1" dirty="0"/>
              <a:t>Law enforcement</a:t>
            </a:r>
          </a:p>
          <a:p>
            <a:pPr marL="342900" indent="-342900" fontAlgn="base">
              <a:buFont typeface="+mj-lt"/>
              <a:buAutoNum type="arabicPeriod"/>
            </a:pPr>
            <a:r>
              <a:rPr lang="en-IN" b="1" dirty="0"/>
              <a:t>Airports and border control</a:t>
            </a:r>
          </a:p>
          <a:p>
            <a:pPr marL="342900" indent="-342900" fontAlgn="base">
              <a:buFont typeface="+mj-lt"/>
              <a:buAutoNum type="arabicPeriod"/>
            </a:pPr>
            <a:r>
              <a:rPr lang="en-IN" b="1" dirty="0"/>
              <a:t>Finding missing persons</a:t>
            </a:r>
          </a:p>
          <a:p>
            <a:pPr marL="342900" indent="-342900" fontAlgn="base">
              <a:buFont typeface="+mj-lt"/>
              <a:buAutoNum type="arabicPeriod"/>
            </a:pPr>
            <a:r>
              <a:rPr lang="en-IN" b="1" dirty="0"/>
              <a:t>Reducing retail crime</a:t>
            </a:r>
          </a:p>
          <a:p>
            <a:pPr marL="342900" indent="-342900" fontAlgn="base">
              <a:buFont typeface="+mj-lt"/>
              <a:buAutoNum type="arabicPeriod"/>
            </a:pPr>
            <a:r>
              <a:rPr lang="en-IN" b="1" dirty="0"/>
              <a:t>Improving retail experiences</a:t>
            </a:r>
          </a:p>
          <a:p>
            <a:pPr marL="342900" indent="-342900" fontAlgn="base">
              <a:buFont typeface="+mj-lt"/>
              <a:buAutoNum type="arabicPeriod"/>
            </a:pPr>
            <a:r>
              <a:rPr lang="en-IN" b="1" dirty="0"/>
              <a:t>Banking</a:t>
            </a:r>
          </a:p>
          <a:p>
            <a:pPr marL="342900" indent="-342900" fontAlgn="base">
              <a:buFont typeface="+mj-lt"/>
              <a:buAutoNum type="arabicPeriod"/>
            </a:pPr>
            <a:r>
              <a:rPr lang="en-IN" b="1" dirty="0"/>
              <a:t>Marketing and advertising</a:t>
            </a:r>
          </a:p>
          <a:p>
            <a:pPr marL="342900" indent="-342900" fontAlgn="base">
              <a:buFont typeface="+mj-lt"/>
              <a:buAutoNum type="arabicPeriod"/>
            </a:pPr>
            <a:r>
              <a:rPr lang="en-IN" b="1" dirty="0"/>
              <a:t>Healthcare</a:t>
            </a:r>
          </a:p>
          <a:p>
            <a:pPr marL="342900" indent="-342900" fontAlgn="base">
              <a:buFont typeface="+mj-lt"/>
              <a:buAutoNum type="arabicPeriod"/>
            </a:pPr>
            <a:r>
              <a:rPr lang="en-US" b="1" dirty="0"/>
              <a:t>Tracking student or worker attendance</a:t>
            </a:r>
          </a:p>
          <a:p>
            <a:pPr marL="342900" indent="-342900" fontAlgn="base">
              <a:buFont typeface="+mj-lt"/>
              <a:buAutoNum type="arabicPeriod"/>
            </a:pPr>
            <a:r>
              <a:rPr lang="en-IN" b="1" dirty="0"/>
              <a:t>Recognizing drivers</a:t>
            </a:r>
          </a:p>
          <a:p>
            <a:pPr marL="342900" indent="-342900" fontAlgn="base">
              <a:buFont typeface="+mj-lt"/>
              <a:buAutoNum type="arabicPeriod"/>
            </a:pPr>
            <a:r>
              <a:rPr lang="en-IN" b="1" dirty="0"/>
              <a:t>Monitoring gambling addictions</a:t>
            </a:r>
          </a:p>
          <a:p>
            <a:pPr fontAlgn="base"/>
            <a:endParaRPr lang="en-US" b="1" i="0" dirty="0">
              <a:effectLst/>
              <a:latin typeface="MuseoSans"/>
            </a:endParaRPr>
          </a:p>
        </p:txBody>
      </p:sp>
      <p:pic>
        <p:nvPicPr>
          <p:cNvPr id="13316" name="Picture 4" descr="AI is at the Edge. What does this mean for Face Recogni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079" y="3607519"/>
            <a:ext cx="4881868" cy="27205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302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schemeClr val="tx1"/>
                </a:solidFill>
                <a:latin typeface="MuseoSans"/>
              </a:rPr>
              <a:t>Augmented &amp; Mixed Reality</a:t>
            </a:r>
            <a:endParaRPr kumimoji="0" lang="en-US" sz="2400" b="1" i="0" u="none" strike="noStrike" kern="1200" cap="none" spc="0" normalizeH="0" baseline="0" noProof="0" dirty="0">
              <a:ln>
                <a:noFill/>
              </a:ln>
              <a:solidFill>
                <a:schemeClr val="tx1"/>
              </a:solidFill>
              <a:effectLst/>
              <a:uLnTx/>
              <a:uFillTx/>
            </a:endParaRPr>
          </a:p>
        </p:txBody>
      </p:sp>
      <p:pic>
        <p:nvPicPr>
          <p:cNvPr id="14338" name="Picture 2" descr="Augmented, Virtual, and Mixed Reality Employee Training – SphereGe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 y="817163"/>
            <a:ext cx="4914900" cy="339616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143500" y="685799"/>
            <a:ext cx="4053839" cy="1200329"/>
          </a:xfrm>
          <a:prstGeom prst="rect">
            <a:avLst/>
          </a:prstGeom>
        </p:spPr>
        <p:txBody>
          <a:bodyPr wrap="square">
            <a:spAutoFit/>
          </a:bodyPr>
          <a:lstStyle/>
          <a:p>
            <a:pPr algn="just"/>
            <a:r>
              <a:rPr lang="en-US" b="1" dirty="0">
                <a:solidFill>
                  <a:srgbClr val="FF0000"/>
                </a:solidFill>
                <a:latin typeface="Times New Roman" panose="02020603050405020304" pitchFamily="18" charset="0"/>
                <a:cs typeface="Times New Roman" panose="02020603050405020304" pitchFamily="18" charset="0"/>
              </a:rPr>
              <a:t>Augmented reality </a:t>
            </a:r>
            <a:r>
              <a:rPr lang="en-US" b="1" dirty="0">
                <a:solidFill>
                  <a:srgbClr val="003300"/>
                </a:solidFill>
                <a:latin typeface="Times New Roman" panose="02020603050405020304" pitchFamily="18" charset="0"/>
                <a:cs typeface="Times New Roman" panose="02020603050405020304" pitchFamily="18" charset="0"/>
              </a:rPr>
              <a:t>is an interactive experience that enhances the real world with computer-generated perceptual information.</a:t>
            </a:r>
            <a:endParaRPr lang="en-IN" b="1" dirty="0">
              <a:solidFill>
                <a:srgbClr val="00330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5143500" y="1904999"/>
            <a:ext cx="4021307" cy="2308324"/>
          </a:xfrm>
          <a:prstGeom prst="rect">
            <a:avLst/>
          </a:prstGeom>
        </p:spPr>
        <p:txBody>
          <a:bodyPr wrap="square">
            <a:spAutoFit/>
          </a:bodyPr>
          <a:lstStyle/>
          <a:p>
            <a:pPr algn="just"/>
            <a:r>
              <a:rPr lang="en-US" b="1" dirty="0">
                <a:solidFill>
                  <a:srgbClr val="FF0000"/>
                </a:solidFill>
                <a:latin typeface="Times New Roman" panose="02020603050405020304" pitchFamily="18" charset="0"/>
                <a:cs typeface="Times New Roman" panose="02020603050405020304" pitchFamily="18" charset="0"/>
              </a:rPr>
              <a:t>Virtual Reality (VR) </a:t>
            </a:r>
            <a:r>
              <a:rPr lang="en-US" b="1" dirty="0">
                <a:solidFill>
                  <a:srgbClr val="00402A"/>
                </a:solidFill>
                <a:latin typeface="Times New Roman" panose="02020603050405020304" pitchFamily="18" charset="0"/>
                <a:cs typeface="Times New Roman" panose="02020603050405020304" pitchFamily="18" charset="0"/>
              </a:rPr>
              <a:t>is a computer-generated environment with scenes and objects that appear to be real, making the user feel they are immersed in their surroundings. This environment is perceived through a device known as a </a:t>
            </a:r>
            <a:r>
              <a:rPr lang="en-US" b="1" dirty="0">
                <a:solidFill>
                  <a:srgbClr val="CF4900"/>
                </a:solidFill>
                <a:latin typeface="Times New Roman" panose="02020603050405020304" pitchFamily="18" charset="0"/>
                <a:cs typeface="Times New Roman" panose="02020603050405020304" pitchFamily="18" charset="0"/>
              </a:rPr>
              <a:t>Virtual Reality headset or helmet.</a:t>
            </a:r>
            <a:endParaRPr lang="en-IN" b="1" dirty="0">
              <a:latin typeface="Times New Roman" panose="02020603050405020304" pitchFamily="18" charset="0"/>
              <a:cs typeface="Times New Roman" panose="02020603050405020304" pitchFamily="18" charset="0"/>
            </a:endParaRPr>
          </a:p>
        </p:txBody>
      </p:sp>
      <p:sp>
        <p:nvSpPr>
          <p:cNvPr id="12" name="Rectangle 11"/>
          <p:cNvSpPr/>
          <p:nvPr/>
        </p:nvSpPr>
        <p:spPr>
          <a:xfrm>
            <a:off x="114300" y="4557592"/>
            <a:ext cx="9002444" cy="1754326"/>
          </a:xfrm>
          <a:prstGeom prst="rect">
            <a:avLst/>
          </a:prstGeom>
        </p:spPr>
        <p:txBody>
          <a:bodyPr wrap="square">
            <a:spAutoFit/>
          </a:bodyPr>
          <a:lstStyle/>
          <a:p>
            <a:pPr algn="just"/>
            <a:r>
              <a:rPr lang="en-US" b="1" dirty="0">
                <a:solidFill>
                  <a:srgbClr val="FF0000"/>
                </a:solidFill>
                <a:latin typeface="Times New Roman" panose="02020603050405020304" pitchFamily="18" charset="0"/>
                <a:cs typeface="Times New Roman" panose="02020603050405020304" pitchFamily="18" charset="0"/>
              </a:rPr>
              <a:t>Mixed reality (MR) </a:t>
            </a:r>
            <a:r>
              <a:rPr lang="en-US" b="1" dirty="0">
                <a:solidFill>
                  <a:srgbClr val="003300"/>
                </a:solidFill>
                <a:latin typeface="Times New Roman" panose="02020603050405020304" pitchFamily="18" charset="0"/>
                <a:cs typeface="Times New Roman" panose="02020603050405020304" pitchFamily="18" charset="0"/>
              </a:rPr>
              <a:t>is an emergent technology that blends </a:t>
            </a:r>
            <a:r>
              <a:rPr lang="en-US" b="1" dirty="0">
                <a:solidFill>
                  <a:srgbClr val="003300"/>
                </a:solidFill>
                <a:latin typeface="Times New Roman" panose="02020603050405020304" pitchFamily="18" charset="0"/>
                <a:cs typeface="Times New Roman" panose="02020603050405020304" pitchFamily="18" charset="0"/>
                <a:hlinkClick r:id="rId3"/>
              </a:rPr>
              <a:t>virtual reality (VR)</a:t>
            </a:r>
            <a:r>
              <a:rPr lang="en-US" b="1" dirty="0">
                <a:solidFill>
                  <a:srgbClr val="003300"/>
                </a:solidFill>
                <a:latin typeface="Times New Roman" panose="02020603050405020304" pitchFamily="18" charset="0"/>
                <a:cs typeface="Times New Roman" panose="02020603050405020304" pitchFamily="18" charset="0"/>
              </a:rPr>
              <a:t> and </a:t>
            </a:r>
            <a:r>
              <a:rPr lang="en-US" b="1" dirty="0">
                <a:solidFill>
                  <a:srgbClr val="003300"/>
                </a:solidFill>
                <a:latin typeface="Times New Roman" panose="02020603050405020304" pitchFamily="18" charset="0"/>
                <a:cs typeface="Times New Roman" panose="02020603050405020304" pitchFamily="18" charset="0"/>
                <a:hlinkClick r:id="rId4"/>
              </a:rPr>
              <a:t>augmented reality (AR)</a:t>
            </a:r>
            <a:r>
              <a:rPr lang="en-US" b="1" dirty="0">
                <a:solidFill>
                  <a:srgbClr val="003300"/>
                </a:solidFill>
                <a:latin typeface="Times New Roman" panose="02020603050405020304" pitchFamily="18" charset="0"/>
                <a:cs typeface="Times New Roman" panose="02020603050405020304" pitchFamily="18" charset="0"/>
              </a:rPr>
              <a:t>. Mixed reality headsets like the Microsoft HoloLens are opening up possibilities in the gaming world for mixed reality experiences. These head-mounted displays include cameras that constantly map the wearer’s environment. When you play games made for these devices, characters can walk around the physical world you’re in and even help themselves to a seat on your couch. </a:t>
            </a:r>
            <a:endParaRPr lang="en-IN" b="1" dirty="0">
              <a:solidFill>
                <a:srgbClr val="003300"/>
              </a:solidFill>
              <a:latin typeface="Times New Roman" panose="02020603050405020304" pitchFamily="18" charset="0"/>
              <a:cs typeface="Times New Roman" panose="02020603050405020304" pitchFamily="18" charset="0"/>
            </a:endParaRPr>
          </a:p>
        </p:txBody>
      </p:sp>
      <p:pic>
        <p:nvPicPr>
          <p:cNvPr id="13"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590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200" b="1" dirty="0">
                <a:latin typeface="Times New Roman" panose="02020603050405020304" pitchFamily="18" charset="0"/>
                <a:cs typeface="Times New Roman" panose="02020603050405020304" pitchFamily="18" charset="0"/>
              </a:rPr>
              <a:t>Healthcare</a:t>
            </a:r>
          </a:p>
        </p:txBody>
      </p:sp>
      <p:sp>
        <p:nvSpPr>
          <p:cNvPr id="8" name="Rectangle 7"/>
          <p:cNvSpPr/>
          <p:nvPr/>
        </p:nvSpPr>
        <p:spPr>
          <a:xfrm>
            <a:off x="152400" y="914400"/>
            <a:ext cx="8991600" cy="1477328"/>
          </a:xfrm>
          <a:prstGeom prst="rect">
            <a:avLst/>
          </a:prstGeom>
        </p:spPr>
        <p:txBody>
          <a:bodyPr wrap="square">
            <a:spAutoFit/>
          </a:bodyPr>
          <a:lstStyle/>
          <a:p>
            <a:r>
              <a:rPr lang="en-US" b="1" dirty="0">
                <a:solidFill>
                  <a:srgbClr val="222222"/>
                </a:solidFill>
                <a:latin typeface="Times New Roman" panose="02020603050405020304" pitchFamily="18" charset="0"/>
                <a:cs typeface="Times New Roman" panose="02020603050405020304" pitchFamily="18" charset="0"/>
              </a:rPr>
              <a:t>What is Computer Vision in Healthcare?</a:t>
            </a:r>
          </a:p>
          <a:p>
            <a:pPr algn="just"/>
            <a:r>
              <a:rPr lang="en-US" dirty="0">
                <a:solidFill>
                  <a:srgbClr val="333333"/>
                </a:solidFill>
                <a:latin typeface="Times New Roman" panose="02020603050405020304" pitchFamily="18" charset="0"/>
                <a:cs typeface="Times New Roman" panose="02020603050405020304" pitchFamily="18" charset="0"/>
              </a:rPr>
              <a:t>As surprising as it may sound, computer vision goes back as far as the 1960s, when computers started appearing at universities and scientific labs in large numbers. Back then, the growing infatuation with cybernetics and robotics paved the way for the emergence of several important disciplines, including artificial intelligence and computer vision.</a:t>
            </a:r>
            <a:endParaRPr lang="en-US" b="0" i="0" dirty="0">
              <a:solidFill>
                <a:srgbClr val="333333"/>
              </a:solidFill>
              <a:effectLst/>
              <a:latin typeface="Times New Roman" panose="02020603050405020304" pitchFamily="18" charset="0"/>
              <a:cs typeface="Times New Roman" panose="02020603050405020304" pitchFamily="18" charset="0"/>
            </a:endParaRPr>
          </a:p>
        </p:txBody>
      </p:sp>
      <p:pic>
        <p:nvPicPr>
          <p:cNvPr id="17410" name="Picture 2" descr="How AI-based Computer Vision is Transforming Healthcare - Revolve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2803477"/>
            <a:ext cx="5962650" cy="34937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757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200" b="1" dirty="0">
                <a:latin typeface="Times New Roman" panose="02020603050405020304" pitchFamily="18" charset="0"/>
                <a:cs typeface="Times New Roman" panose="02020603050405020304" pitchFamily="18" charset="0"/>
              </a:rPr>
              <a:t>Healthcare</a:t>
            </a:r>
          </a:p>
        </p:txBody>
      </p:sp>
      <p:sp>
        <p:nvSpPr>
          <p:cNvPr id="5" name="Rectangle 4"/>
          <p:cNvSpPr/>
          <p:nvPr/>
        </p:nvSpPr>
        <p:spPr>
          <a:xfrm>
            <a:off x="152400" y="685799"/>
            <a:ext cx="8801100" cy="5786199"/>
          </a:xfrm>
          <a:prstGeom prst="rect">
            <a:avLst/>
          </a:prstGeom>
        </p:spPr>
        <p:txBody>
          <a:bodyPr wrap="square">
            <a:spAutoFit/>
          </a:bodyPr>
          <a:lstStyle/>
          <a:p>
            <a:r>
              <a:rPr lang="en-US" sz="2000" dirty="0">
                <a:solidFill>
                  <a:srgbClr val="003300"/>
                </a:solidFill>
                <a:latin typeface="Times New Roman" panose="02020603050405020304" pitchFamily="18" charset="0"/>
                <a:cs typeface="Times New Roman" panose="02020603050405020304" pitchFamily="18" charset="0"/>
              </a:rPr>
              <a:t>Healthcare was one of the first industries to recognize the immense potential of computer vision and the convolutional neural networks (CNNs) powering the technology. Application of computer vision in the medical field is based on leveraging the capabilities of artificial intelligence and deep learning in a variety of contexts. Let’s name just a few of them:</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DICOM image analysis</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Detection of anomalies in MRI, CAT and X-ray scans</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Diagnostic assistance</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Surgical assistance and prevention of inadvertent retention of surgical instruments</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Calculation of blood cells</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Retina scans and early detection of structural changes</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Identification and analysis of new or recurring skin anomalies</a:t>
            </a:r>
          </a:p>
          <a:p>
            <a:pPr marL="342900" indent="-342900">
              <a:lnSpc>
                <a:spcPct val="150000"/>
              </a:lnSpc>
              <a:buFont typeface="+mj-lt"/>
              <a:buAutoNum type="arabicPeriod"/>
            </a:pPr>
            <a:r>
              <a:rPr lang="en-US" sz="2000" dirty="0">
                <a:solidFill>
                  <a:srgbClr val="003300"/>
                </a:solidFill>
                <a:latin typeface="Times New Roman" panose="02020603050405020304" pitchFamily="18" charset="0"/>
                <a:cs typeface="Times New Roman" panose="02020603050405020304" pitchFamily="18" charset="0"/>
              </a:rPr>
              <a:t>Remote monitoring and patient care</a:t>
            </a:r>
            <a:endParaRPr lang="en-US" sz="2000" b="0" i="0" dirty="0">
              <a:solidFill>
                <a:srgbClr val="003300"/>
              </a:solidFill>
              <a:effectLst/>
              <a:latin typeface="Times New Roman" panose="02020603050405020304" pitchFamily="18" charset="0"/>
              <a:cs typeface="Times New Roman" panose="02020603050405020304" pitchFamily="18" charset="0"/>
            </a:endParaRPr>
          </a:p>
        </p:txBody>
      </p:sp>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2669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200" b="1" dirty="0">
                <a:latin typeface="Times New Roman" panose="02020603050405020304" pitchFamily="18" charset="0"/>
                <a:cs typeface="Times New Roman" panose="02020603050405020304" pitchFamily="18" charset="0"/>
              </a:rPr>
              <a:t>Healthcare</a:t>
            </a:r>
          </a:p>
        </p:txBody>
      </p:sp>
      <p:pic>
        <p:nvPicPr>
          <p:cNvPr id="8" name="Picture 7"/>
          <p:cNvPicPr>
            <a:picLocks noChangeAspect="1"/>
          </p:cNvPicPr>
          <p:nvPr/>
        </p:nvPicPr>
        <p:blipFill>
          <a:blip r:embed="rId2"/>
          <a:stretch>
            <a:fillRect/>
          </a:stretch>
        </p:blipFill>
        <p:spPr>
          <a:xfrm>
            <a:off x="-914400" y="461963"/>
            <a:ext cx="5991225" cy="5857875"/>
          </a:xfrm>
          <a:prstGeom prst="rect">
            <a:avLst/>
          </a:prstGeom>
        </p:spPr>
      </p:pic>
      <p:pic>
        <p:nvPicPr>
          <p:cNvPr id="9" name="Picture 8"/>
          <p:cNvPicPr>
            <a:picLocks noChangeAspect="1"/>
          </p:cNvPicPr>
          <p:nvPr/>
        </p:nvPicPr>
        <p:blipFill>
          <a:blip r:embed="rId3"/>
          <a:stretch>
            <a:fillRect/>
          </a:stretch>
        </p:blipFill>
        <p:spPr>
          <a:xfrm>
            <a:off x="3886200" y="914400"/>
            <a:ext cx="4800600" cy="5105400"/>
          </a:xfrm>
          <a:prstGeom prst="rect">
            <a:avLst/>
          </a:prstGeom>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5233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200" b="1" dirty="0">
                <a:latin typeface="Times New Roman" panose="02020603050405020304" pitchFamily="18" charset="0"/>
                <a:cs typeface="Times New Roman" panose="02020603050405020304" pitchFamily="18" charset="0"/>
              </a:rPr>
              <a:t>Most popular example Categorization of IMAGES</a:t>
            </a:r>
            <a:endParaRPr lang="en-IN" sz="22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228600" y="1147069"/>
            <a:ext cx="8686800" cy="2031325"/>
          </a:xfrm>
          <a:prstGeom prst="rect">
            <a:avLst/>
          </a:prstGeom>
        </p:spPr>
        <p:txBody>
          <a:bodyPr wrap="square">
            <a:spAutoFit/>
          </a:bodyPr>
          <a:lstStyle/>
          <a:p>
            <a:r>
              <a:rPr lang="en-US" b="1" dirty="0">
                <a:solidFill>
                  <a:srgbClr val="003300"/>
                </a:solidFill>
                <a:latin typeface="Times New Roman" panose="02020603050405020304" pitchFamily="18" charset="0"/>
                <a:cs typeface="Times New Roman" panose="02020603050405020304" pitchFamily="18" charset="0"/>
              </a:rPr>
              <a:t>What is image classification?</a:t>
            </a:r>
          </a:p>
          <a:p>
            <a:pPr algn="just"/>
            <a:r>
              <a:rPr lang="en-US" dirty="0">
                <a:solidFill>
                  <a:srgbClr val="003300"/>
                </a:solidFill>
                <a:latin typeface="Times New Roman" panose="02020603050405020304" pitchFamily="18" charset="0"/>
                <a:cs typeface="Times New Roman" panose="02020603050405020304" pitchFamily="18" charset="0"/>
              </a:rPr>
              <a:t>Among computer vision tasks, image classification stands out with its irreplaceable role in modern technology. It involves assigning a label or tag to an entire image based on preexisting training data of already labeled images. While the process may appear simple at first glance, it actually entails pixel-level image analysis to determine the most appropriate label for the overall image. This provides us with valuable data and insights, enabling informed decisions and actionable outcomes.</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2"/>
          <a:stretch>
            <a:fillRect/>
          </a:stretch>
        </p:blipFill>
        <p:spPr>
          <a:xfrm>
            <a:off x="990600" y="3178394"/>
            <a:ext cx="7179468" cy="3177957"/>
          </a:xfrm>
          <a:prstGeom prst="rect">
            <a:avLst/>
          </a:prstGeom>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070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200" b="1" dirty="0">
                <a:latin typeface="Times New Roman" panose="02020603050405020304" pitchFamily="18" charset="0"/>
                <a:cs typeface="Times New Roman" panose="02020603050405020304" pitchFamily="18" charset="0"/>
              </a:rPr>
              <a:t>Most popular example Categorization of IMAGES</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628650" y="1054736"/>
            <a:ext cx="8210550" cy="4801314"/>
          </a:xfrm>
          <a:prstGeom prst="rect">
            <a:avLst/>
          </a:prstGeom>
        </p:spPr>
        <p:txBody>
          <a:bodyPr wrap="square">
            <a:spAutoFit/>
          </a:bodyPr>
          <a:lstStyle/>
          <a:p>
            <a:pPr algn="just"/>
            <a:r>
              <a:rPr lang="en-US" b="1" dirty="0">
                <a:solidFill>
                  <a:srgbClr val="003300"/>
                </a:solidFill>
                <a:latin typeface="Times New Roman" panose="02020603050405020304" pitchFamily="18" charset="0"/>
                <a:cs typeface="Times New Roman" panose="02020603050405020304" pitchFamily="18" charset="0"/>
              </a:rPr>
              <a:t>Structure for performing Image Classification</a:t>
            </a:r>
            <a:endParaRPr lang="en-US" dirty="0">
              <a:solidFill>
                <a:srgbClr val="003300"/>
              </a:solidFill>
              <a:latin typeface="Times New Roman" panose="02020603050405020304" pitchFamily="18" charset="0"/>
              <a:cs typeface="Times New Roman" panose="02020603050405020304" pitchFamily="18" charset="0"/>
            </a:endParaRPr>
          </a:p>
          <a:p>
            <a:pPr algn="just">
              <a:buFont typeface="+mj-lt"/>
              <a:buAutoNum type="arabicPeriod"/>
            </a:pPr>
            <a:r>
              <a:rPr lang="en-US" b="1" i="1" dirty="0">
                <a:solidFill>
                  <a:srgbClr val="003300"/>
                </a:solidFill>
                <a:latin typeface="Times New Roman" panose="02020603050405020304" pitchFamily="18" charset="0"/>
                <a:cs typeface="Times New Roman" panose="02020603050405020304" pitchFamily="18" charset="0"/>
              </a:rPr>
              <a:t>Image Pre-processing</a:t>
            </a:r>
            <a:r>
              <a:rPr lang="en-US" i="1" dirty="0">
                <a:solidFill>
                  <a:srgbClr val="003300"/>
                </a:solidFill>
                <a:latin typeface="Times New Roman" panose="02020603050405020304" pitchFamily="18" charset="0"/>
                <a:cs typeface="Times New Roman" panose="02020603050405020304" pitchFamily="18" charset="0"/>
              </a:rPr>
              <a:t>:</a:t>
            </a:r>
            <a:r>
              <a:rPr lang="en-US" dirty="0">
                <a:solidFill>
                  <a:srgbClr val="003300"/>
                </a:solidFill>
                <a:latin typeface="Times New Roman" panose="02020603050405020304" pitchFamily="18" charset="0"/>
                <a:cs typeface="Times New Roman" panose="02020603050405020304" pitchFamily="18" charset="0"/>
              </a:rPr>
              <a:t> The aim of this process is to improve the image data (features) by suppressing unwanted distortions and enhancement of some important image features so that the computer vision models can benefit from this improved data to work on. Steps for image pre-processing includes</a:t>
            </a:r>
            <a:r>
              <a:rPr lang="en-US" b="1" dirty="0">
                <a:solidFill>
                  <a:srgbClr val="003300"/>
                </a:solidFill>
                <a:latin typeface="Times New Roman" panose="02020603050405020304" pitchFamily="18" charset="0"/>
                <a:cs typeface="Times New Roman" panose="02020603050405020304" pitchFamily="18" charset="0"/>
              </a:rPr>
              <a:t> </a:t>
            </a:r>
            <a:r>
              <a:rPr lang="en-US" dirty="0">
                <a:solidFill>
                  <a:srgbClr val="003300"/>
                </a:solidFill>
                <a:latin typeface="Times New Roman" panose="02020603050405020304" pitchFamily="18" charset="0"/>
                <a:cs typeface="Times New Roman" panose="02020603050405020304" pitchFamily="18" charset="0"/>
              </a:rPr>
              <a:t>Reading image, Resizing image, and Data Augmentation (Gray scaling of image, Reflection, Gaussian Blurring, Histogram, Equalization, Rotation, and Translation).</a:t>
            </a:r>
          </a:p>
          <a:p>
            <a:pPr algn="just">
              <a:buFont typeface="+mj-lt"/>
              <a:buAutoNum type="arabicPeriod"/>
            </a:pPr>
            <a:r>
              <a:rPr lang="en-US" b="1" i="1" dirty="0">
                <a:solidFill>
                  <a:srgbClr val="003300"/>
                </a:solidFill>
                <a:latin typeface="Times New Roman" panose="02020603050405020304" pitchFamily="18" charset="0"/>
                <a:cs typeface="Times New Roman" panose="02020603050405020304" pitchFamily="18" charset="0"/>
              </a:rPr>
              <a:t>Detection of an object</a:t>
            </a:r>
            <a:r>
              <a:rPr lang="en-US" i="1" dirty="0">
                <a:solidFill>
                  <a:srgbClr val="003300"/>
                </a:solidFill>
                <a:latin typeface="Times New Roman" panose="02020603050405020304" pitchFamily="18" charset="0"/>
                <a:cs typeface="Times New Roman" panose="02020603050405020304" pitchFamily="18" charset="0"/>
              </a:rPr>
              <a:t>:</a:t>
            </a:r>
            <a:r>
              <a:rPr lang="en-US" dirty="0">
                <a:solidFill>
                  <a:srgbClr val="003300"/>
                </a:solidFill>
                <a:latin typeface="Times New Roman" panose="02020603050405020304" pitchFamily="18" charset="0"/>
                <a:cs typeface="Times New Roman" panose="02020603050405020304" pitchFamily="18" charset="0"/>
              </a:rPr>
              <a:t> Detection refers to the localization of an object which means the segmentation of the image and identifying the position of the object of interest.</a:t>
            </a:r>
          </a:p>
          <a:p>
            <a:pPr algn="just">
              <a:buFont typeface="+mj-lt"/>
              <a:buAutoNum type="arabicPeriod"/>
            </a:pPr>
            <a:r>
              <a:rPr lang="en-US" b="1" i="1" dirty="0">
                <a:solidFill>
                  <a:srgbClr val="003300"/>
                </a:solidFill>
                <a:latin typeface="Times New Roman" panose="02020603050405020304" pitchFamily="18" charset="0"/>
                <a:cs typeface="Times New Roman" panose="02020603050405020304" pitchFamily="18" charset="0"/>
              </a:rPr>
              <a:t>Feature extraction and training</a:t>
            </a:r>
            <a:r>
              <a:rPr lang="en-US" i="1" dirty="0">
                <a:solidFill>
                  <a:srgbClr val="003300"/>
                </a:solidFill>
                <a:latin typeface="Times New Roman" panose="02020603050405020304" pitchFamily="18" charset="0"/>
                <a:cs typeface="Times New Roman" panose="02020603050405020304" pitchFamily="18" charset="0"/>
              </a:rPr>
              <a:t>:</a:t>
            </a:r>
            <a:r>
              <a:rPr lang="en-US" dirty="0">
                <a:solidFill>
                  <a:srgbClr val="003300"/>
                </a:solidFill>
                <a:latin typeface="Times New Roman" panose="02020603050405020304" pitchFamily="18" charset="0"/>
                <a:cs typeface="Times New Roman" panose="02020603050405020304" pitchFamily="18" charset="0"/>
              </a:rPr>
              <a:t> This is a crucial step wherein statistical or deep learning methods are used to identify the most interesting patterns of the image, features that might be unique to a particular class and that will, later on, help the model to differentiate between different classes. This process where the model learns the features from the dataset is called model training.</a:t>
            </a:r>
          </a:p>
          <a:p>
            <a:pPr algn="just">
              <a:buFont typeface="+mj-lt"/>
              <a:buAutoNum type="arabicPeriod"/>
            </a:pPr>
            <a:r>
              <a:rPr lang="en-US" b="1" i="1" dirty="0">
                <a:solidFill>
                  <a:srgbClr val="003300"/>
                </a:solidFill>
                <a:latin typeface="Times New Roman" panose="02020603050405020304" pitchFamily="18" charset="0"/>
                <a:cs typeface="Times New Roman" panose="02020603050405020304" pitchFamily="18" charset="0"/>
              </a:rPr>
              <a:t>Classification of the object</a:t>
            </a:r>
            <a:r>
              <a:rPr lang="en-US" i="1" dirty="0">
                <a:solidFill>
                  <a:srgbClr val="003300"/>
                </a:solidFill>
                <a:latin typeface="Times New Roman" panose="02020603050405020304" pitchFamily="18" charset="0"/>
                <a:cs typeface="Times New Roman" panose="02020603050405020304" pitchFamily="18" charset="0"/>
              </a:rPr>
              <a:t>:</a:t>
            </a:r>
            <a:r>
              <a:rPr lang="en-US" dirty="0">
                <a:solidFill>
                  <a:srgbClr val="003300"/>
                </a:solidFill>
                <a:latin typeface="Times New Roman" panose="02020603050405020304" pitchFamily="18" charset="0"/>
                <a:cs typeface="Times New Roman" panose="02020603050405020304" pitchFamily="18" charset="0"/>
              </a:rPr>
              <a:t> This step categorizes detected objects into predefined classes by using a suitable classification technique that compares the image patterns with the target patterns.</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705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200" b="1" dirty="0">
                <a:latin typeface="Times New Roman" panose="02020603050405020304" pitchFamily="18" charset="0"/>
                <a:cs typeface="Times New Roman" panose="02020603050405020304" pitchFamily="18" charset="0"/>
              </a:rPr>
              <a:t>Most popular example Categorization of IMAGES</a:t>
            </a:r>
            <a:endParaRPr lang="en-IN" sz="2200" b="1" dirty="0">
              <a:latin typeface="Times New Roman" panose="02020603050405020304" pitchFamily="18" charset="0"/>
              <a:cs typeface="Times New Roman" panose="02020603050405020304" pitchFamily="18" charset="0"/>
            </a:endParaRPr>
          </a:p>
        </p:txBody>
      </p:sp>
      <p:pic>
        <p:nvPicPr>
          <p:cNvPr id="6146" name="Picture 2" descr="Computer Vi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152" y="1127805"/>
            <a:ext cx="7308850" cy="46551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670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200" b="1" dirty="0">
                <a:latin typeface="Times New Roman" panose="02020603050405020304" pitchFamily="18" charset="0"/>
                <a:cs typeface="Times New Roman" panose="02020603050405020304" pitchFamily="18" charset="0"/>
              </a:rPr>
              <a:t>Object Detection</a:t>
            </a:r>
            <a:endParaRPr lang="en-IN" sz="2200" b="1" dirty="0">
              <a:latin typeface="Times New Roman" panose="02020603050405020304" pitchFamily="18" charset="0"/>
              <a:cs typeface="Times New Roman" panose="02020603050405020304" pitchFamily="18" charset="0"/>
            </a:endParaRPr>
          </a:p>
        </p:txBody>
      </p:sp>
      <p:pic>
        <p:nvPicPr>
          <p:cNvPr id="7170" name="Picture 2" descr="Object Detection with KotlinDL and Ktor | The Kotlin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85799"/>
            <a:ext cx="4590757" cy="567055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Manual to Object Detection with Machine Learning | Analytics Insigh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0757" y="685799"/>
            <a:ext cx="4553243" cy="567055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4274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200" b="1" dirty="0">
                <a:latin typeface="Times New Roman" panose="02020603050405020304" pitchFamily="18" charset="0"/>
                <a:cs typeface="Times New Roman" panose="02020603050405020304" pitchFamily="18" charset="0"/>
              </a:rPr>
              <a:t>Object Detection</a:t>
            </a:r>
            <a:endParaRPr lang="en-IN" sz="22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0" y="1166843"/>
            <a:ext cx="8839200" cy="2308324"/>
          </a:xfrm>
          <a:prstGeom prst="rect">
            <a:avLst/>
          </a:prstGeom>
        </p:spPr>
        <p:txBody>
          <a:bodyPr wrap="square">
            <a:spAutoFit/>
          </a:bodyPr>
          <a:lstStyle/>
          <a:p>
            <a:pPr fontAlgn="base"/>
            <a:r>
              <a:rPr lang="en-US" b="1" dirty="0">
                <a:solidFill>
                  <a:srgbClr val="003300"/>
                </a:solidFill>
                <a:latin typeface="Times New Roman" panose="02020603050405020304" pitchFamily="18" charset="0"/>
                <a:cs typeface="Times New Roman" panose="02020603050405020304" pitchFamily="18" charset="0"/>
              </a:rPr>
              <a:t>What is Object Recognition?</a:t>
            </a:r>
          </a:p>
          <a:p>
            <a:pPr fontAlgn="base"/>
            <a:r>
              <a:rPr lang="en-US" dirty="0">
                <a:solidFill>
                  <a:srgbClr val="003300"/>
                </a:solidFill>
                <a:latin typeface="Times New Roman" panose="02020603050405020304" pitchFamily="18" charset="0"/>
                <a:cs typeface="Times New Roman" panose="02020603050405020304" pitchFamily="18" charset="0"/>
              </a:rPr>
              <a:t>Object recognition is a general term to describe a collection of related computer vision tasks that involve identifying objects in digital photographs.</a:t>
            </a:r>
          </a:p>
          <a:p>
            <a:pPr fontAlgn="base"/>
            <a:r>
              <a:rPr lang="en-US" i="1" dirty="0">
                <a:solidFill>
                  <a:srgbClr val="003300"/>
                </a:solidFill>
                <a:latin typeface="Times New Roman" panose="02020603050405020304" pitchFamily="18" charset="0"/>
                <a:cs typeface="Times New Roman" panose="02020603050405020304" pitchFamily="18" charset="0"/>
              </a:rPr>
              <a:t>Image classification</a:t>
            </a:r>
            <a:r>
              <a:rPr lang="en-US" dirty="0">
                <a:solidFill>
                  <a:srgbClr val="003300"/>
                </a:solidFill>
                <a:latin typeface="Times New Roman" panose="02020603050405020304" pitchFamily="18" charset="0"/>
                <a:cs typeface="Times New Roman" panose="02020603050405020304" pitchFamily="18" charset="0"/>
              </a:rPr>
              <a:t> involves predicting the class of one object in an image. </a:t>
            </a:r>
            <a:r>
              <a:rPr lang="en-US" i="1" dirty="0">
                <a:solidFill>
                  <a:srgbClr val="003300"/>
                </a:solidFill>
                <a:latin typeface="Times New Roman" panose="02020603050405020304" pitchFamily="18" charset="0"/>
                <a:cs typeface="Times New Roman" panose="02020603050405020304" pitchFamily="18" charset="0"/>
              </a:rPr>
              <a:t>Object localization</a:t>
            </a:r>
            <a:r>
              <a:rPr lang="en-US" dirty="0">
                <a:solidFill>
                  <a:srgbClr val="003300"/>
                </a:solidFill>
                <a:latin typeface="Times New Roman" panose="02020603050405020304" pitchFamily="18" charset="0"/>
                <a:cs typeface="Times New Roman" panose="02020603050405020304" pitchFamily="18" charset="0"/>
              </a:rPr>
              <a:t> refers to identifying the location of one or more objects in an image and drawing abounding box around their extent. </a:t>
            </a:r>
            <a:r>
              <a:rPr lang="en-US" i="1" dirty="0">
                <a:solidFill>
                  <a:srgbClr val="003300"/>
                </a:solidFill>
                <a:latin typeface="Times New Roman" panose="02020603050405020304" pitchFamily="18" charset="0"/>
                <a:cs typeface="Times New Roman" panose="02020603050405020304" pitchFamily="18" charset="0"/>
              </a:rPr>
              <a:t>Object detection</a:t>
            </a:r>
            <a:r>
              <a:rPr lang="en-US" dirty="0">
                <a:solidFill>
                  <a:srgbClr val="003300"/>
                </a:solidFill>
                <a:latin typeface="Times New Roman" panose="02020603050405020304" pitchFamily="18" charset="0"/>
                <a:cs typeface="Times New Roman" panose="02020603050405020304" pitchFamily="18" charset="0"/>
              </a:rPr>
              <a:t> combines these two tasks and localizes and classifies one or more objects in an image.</a:t>
            </a:r>
          </a:p>
          <a:p>
            <a:pPr fontAlgn="base"/>
            <a:r>
              <a:rPr lang="en-US" dirty="0">
                <a:solidFill>
                  <a:srgbClr val="003300"/>
                </a:solidFill>
                <a:latin typeface="Times New Roman" panose="02020603050405020304" pitchFamily="18" charset="0"/>
                <a:cs typeface="Times New Roman" panose="02020603050405020304" pitchFamily="18" charset="0"/>
              </a:rPr>
              <a:t>When a user or practitioner refers to “</a:t>
            </a:r>
            <a:r>
              <a:rPr lang="en-US" i="1" dirty="0">
                <a:solidFill>
                  <a:srgbClr val="003300"/>
                </a:solidFill>
                <a:latin typeface="Times New Roman" panose="02020603050405020304" pitchFamily="18" charset="0"/>
                <a:cs typeface="Times New Roman" panose="02020603050405020304" pitchFamily="18" charset="0"/>
              </a:rPr>
              <a:t>object recognition</a:t>
            </a:r>
            <a:r>
              <a:rPr lang="en-US" dirty="0">
                <a:solidFill>
                  <a:srgbClr val="003300"/>
                </a:solidFill>
                <a:latin typeface="Times New Roman" panose="02020603050405020304" pitchFamily="18" charset="0"/>
                <a:cs typeface="Times New Roman" panose="02020603050405020304" pitchFamily="18" charset="0"/>
              </a:rPr>
              <a:t>“, they often mean “</a:t>
            </a:r>
            <a:r>
              <a:rPr lang="en-US" i="1" dirty="0">
                <a:solidFill>
                  <a:srgbClr val="003300"/>
                </a:solidFill>
                <a:latin typeface="Times New Roman" panose="02020603050405020304" pitchFamily="18" charset="0"/>
                <a:cs typeface="Times New Roman" panose="02020603050405020304" pitchFamily="18" charset="0"/>
              </a:rPr>
              <a:t>object detection</a:t>
            </a:r>
            <a:r>
              <a:rPr lang="en-US" dirty="0">
                <a:solidFill>
                  <a:srgbClr val="003300"/>
                </a:solidFill>
                <a:latin typeface="Times New Roman" panose="02020603050405020304" pitchFamily="18" charset="0"/>
                <a:cs typeface="Times New Roman" panose="02020603050405020304" pitchFamily="18" charset="0"/>
              </a:rPr>
              <a:t>“.</a:t>
            </a:r>
            <a:endParaRPr lang="en-US" b="0" dirty="0">
              <a:solidFill>
                <a:srgbClr val="003300"/>
              </a:solidFill>
              <a:effectLst/>
              <a:latin typeface="Times New Roman" panose="02020603050405020304" pitchFamily="18" charset="0"/>
              <a:cs typeface="Times New Roman" panose="02020603050405020304" pitchFamily="18" charset="0"/>
            </a:endParaRPr>
          </a:p>
        </p:txBody>
      </p:sp>
      <p:pic>
        <p:nvPicPr>
          <p:cNvPr id="14" name="Picture 2" descr="Overview of Object Recognition Computer Vision Tas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425422"/>
            <a:ext cx="3971925" cy="3098826"/>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4876800" y="4269427"/>
            <a:ext cx="3867150" cy="646331"/>
          </a:xfrm>
          <a:prstGeom prst="rect">
            <a:avLst/>
          </a:prstGeom>
        </p:spPr>
        <p:txBody>
          <a:bodyPr wrap="square">
            <a:spAutoFit/>
          </a:bodyPr>
          <a:lstStyle/>
          <a:p>
            <a:r>
              <a:rPr lang="en-IN" dirty="0">
                <a:hlinkClick r:id="rId3"/>
              </a:rPr>
              <a:t>https://machinelearningmastery.com/object-recognition-with-deep-learning/</a:t>
            </a:r>
            <a:r>
              <a:rPr lang="en-IN" dirty="0"/>
              <a:t> </a:t>
            </a: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0090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200" b="1" dirty="0">
                <a:latin typeface="Times New Roman" panose="02020603050405020304" pitchFamily="18" charset="0"/>
                <a:cs typeface="Times New Roman" panose="02020603050405020304" pitchFamily="18" charset="0"/>
              </a:rPr>
              <a:t>Object Detection</a:t>
            </a:r>
            <a:endParaRPr lang="en-IN" sz="22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152400" y="685799"/>
            <a:ext cx="8991600" cy="3693319"/>
          </a:xfrm>
          <a:prstGeom prst="rect">
            <a:avLst/>
          </a:prstGeom>
        </p:spPr>
        <p:txBody>
          <a:bodyPr wrap="square">
            <a:spAutoFit/>
          </a:bodyPr>
          <a:lstStyle/>
          <a:p>
            <a:pPr fontAlgn="base"/>
            <a:r>
              <a:rPr lang="en-US" dirty="0">
                <a:solidFill>
                  <a:srgbClr val="003300"/>
                </a:solidFill>
                <a:latin typeface="Times New Roman" panose="02020603050405020304" pitchFamily="18" charset="0"/>
                <a:cs typeface="Times New Roman" panose="02020603050405020304" pitchFamily="18" charset="0"/>
              </a:rPr>
              <a:t>distinguish between these three computer vision tasks:</a:t>
            </a:r>
          </a:p>
          <a:p>
            <a:pPr fontAlgn="base">
              <a:buFont typeface="Arial" panose="020B0604020202020204" pitchFamily="34" charset="0"/>
              <a:buChar char="•"/>
            </a:pPr>
            <a:r>
              <a:rPr lang="en-US" b="1" dirty="0">
                <a:solidFill>
                  <a:srgbClr val="003300"/>
                </a:solidFill>
                <a:latin typeface="Times New Roman" panose="02020603050405020304" pitchFamily="18" charset="0"/>
                <a:cs typeface="Times New Roman" panose="02020603050405020304" pitchFamily="18" charset="0"/>
              </a:rPr>
              <a:t>Image Classification</a:t>
            </a:r>
            <a:r>
              <a:rPr lang="en-US" dirty="0">
                <a:solidFill>
                  <a:srgbClr val="003300"/>
                </a:solidFill>
                <a:latin typeface="Times New Roman" panose="02020603050405020304" pitchFamily="18" charset="0"/>
                <a:cs typeface="Times New Roman" panose="02020603050405020304" pitchFamily="18" charset="0"/>
              </a:rPr>
              <a:t>: Predict the type or class of an object in an image.</a:t>
            </a:r>
          </a:p>
          <a:p>
            <a:pPr marL="742950" lvl="1" indent="-285750" fontAlgn="base">
              <a:buFont typeface="Arial" panose="020B0604020202020204" pitchFamily="34" charset="0"/>
              <a:buChar char="•"/>
            </a:pPr>
            <a:r>
              <a:rPr lang="en-US" i="1" dirty="0">
                <a:solidFill>
                  <a:srgbClr val="003300"/>
                </a:solidFill>
                <a:latin typeface="Times New Roman" panose="02020603050405020304" pitchFamily="18" charset="0"/>
                <a:cs typeface="Times New Roman" panose="02020603050405020304" pitchFamily="18" charset="0"/>
              </a:rPr>
              <a:t>Input</a:t>
            </a:r>
            <a:r>
              <a:rPr lang="en-US" dirty="0">
                <a:solidFill>
                  <a:srgbClr val="003300"/>
                </a:solidFill>
                <a:latin typeface="Times New Roman" panose="02020603050405020304" pitchFamily="18" charset="0"/>
                <a:cs typeface="Times New Roman" panose="02020603050405020304" pitchFamily="18" charset="0"/>
              </a:rPr>
              <a:t>: An image with a single object, such as a photograph.</a:t>
            </a:r>
          </a:p>
          <a:p>
            <a:pPr marL="742950" lvl="1" indent="-285750" fontAlgn="base">
              <a:buFont typeface="Arial" panose="020B0604020202020204" pitchFamily="34" charset="0"/>
              <a:buChar char="•"/>
            </a:pPr>
            <a:r>
              <a:rPr lang="en-US" i="1" dirty="0">
                <a:solidFill>
                  <a:srgbClr val="003300"/>
                </a:solidFill>
                <a:latin typeface="Times New Roman" panose="02020603050405020304" pitchFamily="18" charset="0"/>
                <a:cs typeface="Times New Roman" panose="02020603050405020304" pitchFamily="18" charset="0"/>
              </a:rPr>
              <a:t>Output</a:t>
            </a:r>
            <a:r>
              <a:rPr lang="en-US" dirty="0">
                <a:solidFill>
                  <a:srgbClr val="003300"/>
                </a:solidFill>
                <a:latin typeface="Times New Roman" panose="02020603050405020304" pitchFamily="18" charset="0"/>
                <a:cs typeface="Times New Roman" panose="02020603050405020304" pitchFamily="18" charset="0"/>
              </a:rPr>
              <a:t>: A class label (e.g. one or more integers that are mapped to class labels).</a:t>
            </a:r>
          </a:p>
          <a:p>
            <a:pPr fontAlgn="base">
              <a:buFont typeface="Arial" panose="020B0604020202020204" pitchFamily="34" charset="0"/>
              <a:buChar char="•"/>
            </a:pPr>
            <a:r>
              <a:rPr lang="en-US" b="1" dirty="0">
                <a:solidFill>
                  <a:srgbClr val="003300"/>
                </a:solidFill>
                <a:latin typeface="Times New Roman" panose="02020603050405020304" pitchFamily="18" charset="0"/>
                <a:cs typeface="Times New Roman" panose="02020603050405020304" pitchFamily="18" charset="0"/>
              </a:rPr>
              <a:t>Object Localization</a:t>
            </a:r>
            <a:r>
              <a:rPr lang="en-US" dirty="0">
                <a:solidFill>
                  <a:srgbClr val="003300"/>
                </a:solidFill>
                <a:latin typeface="Times New Roman" panose="02020603050405020304" pitchFamily="18" charset="0"/>
                <a:cs typeface="Times New Roman" panose="02020603050405020304" pitchFamily="18" charset="0"/>
              </a:rPr>
              <a:t>: Locate the presence of objects in an image and indicate their location with a bounding box.</a:t>
            </a:r>
          </a:p>
          <a:p>
            <a:pPr marL="742950" lvl="1" indent="-285750" fontAlgn="base">
              <a:buFont typeface="Arial" panose="020B0604020202020204" pitchFamily="34" charset="0"/>
              <a:buChar char="•"/>
            </a:pPr>
            <a:r>
              <a:rPr lang="en-US" i="1" dirty="0">
                <a:solidFill>
                  <a:srgbClr val="003300"/>
                </a:solidFill>
                <a:latin typeface="Times New Roman" panose="02020603050405020304" pitchFamily="18" charset="0"/>
                <a:cs typeface="Times New Roman" panose="02020603050405020304" pitchFamily="18" charset="0"/>
              </a:rPr>
              <a:t>Input</a:t>
            </a:r>
            <a:r>
              <a:rPr lang="en-US" dirty="0">
                <a:solidFill>
                  <a:srgbClr val="003300"/>
                </a:solidFill>
                <a:latin typeface="Times New Roman" panose="02020603050405020304" pitchFamily="18" charset="0"/>
                <a:cs typeface="Times New Roman" panose="02020603050405020304" pitchFamily="18" charset="0"/>
              </a:rPr>
              <a:t>: An image with one or more objects, such as a photograph.</a:t>
            </a:r>
          </a:p>
          <a:p>
            <a:pPr marL="742950" lvl="1" indent="-285750" fontAlgn="base">
              <a:buFont typeface="Arial" panose="020B0604020202020204" pitchFamily="34" charset="0"/>
              <a:buChar char="•"/>
            </a:pPr>
            <a:r>
              <a:rPr lang="en-US" i="1" dirty="0">
                <a:solidFill>
                  <a:srgbClr val="003300"/>
                </a:solidFill>
                <a:latin typeface="Times New Roman" panose="02020603050405020304" pitchFamily="18" charset="0"/>
                <a:cs typeface="Times New Roman" panose="02020603050405020304" pitchFamily="18" charset="0"/>
              </a:rPr>
              <a:t>Output</a:t>
            </a:r>
            <a:r>
              <a:rPr lang="en-US" dirty="0">
                <a:solidFill>
                  <a:srgbClr val="003300"/>
                </a:solidFill>
                <a:latin typeface="Times New Roman" panose="02020603050405020304" pitchFamily="18" charset="0"/>
                <a:cs typeface="Times New Roman" panose="02020603050405020304" pitchFamily="18" charset="0"/>
              </a:rPr>
              <a:t>: One or more bounding boxes (e.g. defined by a point, width, and height).</a:t>
            </a:r>
          </a:p>
          <a:p>
            <a:pPr fontAlgn="base">
              <a:buFont typeface="Arial" panose="020B0604020202020204" pitchFamily="34" charset="0"/>
              <a:buChar char="•"/>
            </a:pPr>
            <a:r>
              <a:rPr lang="en-US" b="1" dirty="0">
                <a:solidFill>
                  <a:srgbClr val="003300"/>
                </a:solidFill>
                <a:latin typeface="Times New Roman" panose="02020603050405020304" pitchFamily="18" charset="0"/>
                <a:cs typeface="Times New Roman" panose="02020603050405020304" pitchFamily="18" charset="0"/>
              </a:rPr>
              <a:t>Object Detection</a:t>
            </a:r>
            <a:r>
              <a:rPr lang="en-US" dirty="0">
                <a:solidFill>
                  <a:srgbClr val="003300"/>
                </a:solidFill>
                <a:latin typeface="Times New Roman" panose="02020603050405020304" pitchFamily="18" charset="0"/>
                <a:cs typeface="Times New Roman" panose="02020603050405020304" pitchFamily="18" charset="0"/>
              </a:rPr>
              <a:t>: Locate the presence of objects with a bounding box and types or classes of the located objects in an image.</a:t>
            </a:r>
          </a:p>
          <a:p>
            <a:pPr marL="742950" lvl="1" indent="-285750" fontAlgn="base">
              <a:buFont typeface="Arial" panose="020B0604020202020204" pitchFamily="34" charset="0"/>
              <a:buChar char="•"/>
            </a:pPr>
            <a:r>
              <a:rPr lang="en-US" i="1" dirty="0">
                <a:solidFill>
                  <a:srgbClr val="003300"/>
                </a:solidFill>
                <a:latin typeface="Times New Roman" panose="02020603050405020304" pitchFamily="18" charset="0"/>
                <a:cs typeface="Times New Roman" panose="02020603050405020304" pitchFamily="18" charset="0"/>
              </a:rPr>
              <a:t>Input</a:t>
            </a:r>
            <a:r>
              <a:rPr lang="en-US" dirty="0">
                <a:solidFill>
                  <a:srgbClr val="003300"/>
                </a:solidFill>
                <a:latin typeface="Times New Roman" panose="02020603050405020304" pitchFamily="18" charset="0"/>
                <a:cs typeface="Times New Roman" panose="02020603050405020304" pitchFamily="18" charset="0"/>
              </a:rPr>
              <a:t>: An image with one or more objects, such as a photograph.</a:t>
            </a:r>
          </a:p>
          <a:p>
            <a:pPr marL="742950" lvl="1" indent="-285750" fontAlgn="base">
              <a:buFont typeface="Arial" panose="020B0604020202020204" pitchFamily="34" charset="0"/>
              <a:buChar char="•"/>
            </a:pPr>
            <a:r>
              <a:rPr lang="en-US" i="1" dirty="0">
                <a:solidFill>
                  <a:srgbClr val="003300"/>
                </a:solidFill>
                <a:latin typeface="Times New Roman" panose="02020603050405020304" pitchFamily="18" charset="0"/>
                <a:cs typeface="Times New Roman" panose="02020603050405020304" pitchFamily="18" charset="0"/>
              </a:rPr>
              <a:t>Output</a:t>
            </a:r>
            <a:r>
              <a:rPr lang="en-US" dirty="0">
                <a:solidFill>
                  <a:srgbClr val="003300"/>
                </a:solidFill>
                <a:latin typeface="Times New Roman" panose="02020603050405020304" pitchFamily="18" charset="0"/>
                <a:cs typeface="Times New Roman" panose="02020603050405020304" pitchFamily="18" charset="0"/>
              </a:rPr>
              <a:t>: One or more bounding boxes (e.g. defined by a point, width, and height), and a class label for each bounding box.</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9220" name="Picture 4" descr="Summary of the R-CNN Model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095840"/>
            <a:ext cx="8382000" cy="22605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732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Observation of Moving Objects</a:t>
            </a:r>
            <a:endParaRPr lang="en-IN" sz="2200" b="1" dirty="0">
              <a:latin typeface="Times New Roman" panose="02020603050405020304" pitchFamily="18" charset="0"/>
              <a:cs typeface="Times New Roman" panose="02020603050405020304" pitchFamily="18" charset="0"/>
            </a:endParaRPr>
          </a:p>
        </p:txBody>
      </p:sp>
      <p:pic>
        <p:nvPicPr>
          <p:cNvPr id="5" name="video_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45062" y="1066800"/>
            <a:ext cx="8346538" cy="4694928"/>
          </a:xfrm>
          <a:prstGeom prst="rect">
            <a:avLst/>
          </a:prstGeom>
        </p:spPr>
      </p:pic>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68112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Observation of Moving Objects</a:t>
            </a:r>
            <a:endParaRPr lang="en-IN" sz="2200" b="1" dirty="0">
              <a:latin typeface="Times New Roman" panose="02020603050405020304" pitchFamily="18" charset="0"/>
              <a:cs typeface="Times New Roman" panose="02020603050405020304" pitchFamily="18" charset="0"/>
            </a:endParaRPr>
          </a:p>
        </p:txBody>
      </p:sp>
      <p:sp>
        <p:nvSpPr>
          <p:cNvPr id="8" name="Rectangle 7"/>
          <p:cNvSpPr/>
          <p:nvPr/>
        </p:nvSpPr>
        <p:spPr>
          <a:xfrm>
            <a:off x="304800" y="914401"/>
            <a:ext cx="8839200" cy="1754326"/>
          </a:xfrm>
          <a:prstGeom prst="rect">
            <a:avLst/>
          </a:prstGeom>
        </p:spPr>
        <p:txBody>
          <a:bodyPr wrap="square">
            <a:spAutoFit/>
          </a:bodyPr>
          <a:lstStyle/>
          <a:p>
            <a:r>
              <a:rPr lang="en-US" dirty="0">
                <a:solidFill>
                  <a:srgbClr val="003300"/>
                </a:solidFill>
                <a:latin typeface="Times New Roman" panose="02020603050405020304" pitchFamily="18" charset="0"/>
                <a:cs typeface="Times New Roman" panose="02020603050405020304" pitchFamily="18" charset="0"/>
              </a:rPr>
              <a:t>Steps for Moving Object Detection using Frame Differencing and Summing</a:t>
            </a:r>
          </a:p>
          <a:p>
            <a:r>
              <a:rPr lang="en-US" dirty="0">
                <a:solidFill>
                  <a:srgbClr val="003300"/>
                </a:solidFill>
                <a:latin typeface="Times New Roman" panose="02020603050405020304" pitchFamily="18" charset="0"/>
                <a:cs typeface="Times New Roman" panose="02020603050405020304" pitchFamily="18" charset="0"/>
              </a:rPr>
              <a:t>Detecting moving objects using frame differencing and summing involves some simple steps.</a:t>
            </a:r>
          </a:p>
          <a:p>
            <a:r>
              <a:rPr lang="en-US" dirty="0">
                <a:solidFill>
                  <a:srgbClr val="003300"/>
                </a:solidFill>
                <a:latin typeface="Times New Roman" panose="02020603050405020304" pitchFamily="18" charset="0"/>
                <a:cs typeface="Times New Roman" panose="02020603050405020304" pitchFamily="18" charset="0"/>
              </a:rPr>
              <a:t>The authors have described it quite well in the paper. We will go through the steps briefly in this tutorial.</a:t>
            </a:r>
          </a:p>
          <a:p>
            <a:r>
              <a:rPr lang="en-US" dirty="0">
                <a:solidFill>
                  <a:srgbClr val="003300"/>
                </a:solidFill>
                <a:latin typeface="Times New Roman" panose="02020603050405020304" pitchFamily="18" charset="0"/>
                <a:cs typeface="Times New Roman" panose="02020603050405020304" pitchFamily="18" charset="0"/>
              </a:rPr>
              <a:t>Let’s observe the block diagram which shows the complete procedure.</a:t>
            </a:r>
          </a:p>
          <a:p>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10242" name="Picture 2" descr="Moving Object Detection using Frame Differenc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507407"/>
            <a:ext cx="7753350" cy="351239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76200" y="5894686"/>
            <a:ext cx="9143999" cy="338554"/>
          </a:xfrm>
          <a:prstGeom prst="rect">
            <a:avLst/>
          </a:prstGeom>
        </p:spPr>
        <p:txBody>
          <a:bodyPr wrap="square">
            <a:spAutoFit/>
          </a:bodyPr>
          <a:lstStyle/>
          <a:p>
            <a:r>
              <a:rPr lang="en-US" sz="1600" b="1" dirty="0">
                <a:solidFill>
                  <a:srgbClr val="000000"/>
                </a:solidFill>
                <a:latin typeface="Times New Roman" panose="02020603050405020304" pitchFamily="18" charset="0"/>
                <a:cs typeface="Times New Roman" panose="02020603050405020304" pitchFamily="18" charset="0"/>
              </a:rPr>
              <a:t>Figure 1. Figure illustrating the steps for moving object detection using frame differencing</a:t>
            </a:r>
            <a:endParaRPr lang="en-IN" sz="1600" dirty="0">
              <a:latin typeface="Times New Roman" panose="02020603050405020304" pitchFamily="18" charset="0"/>
              <a:cs typeface="Times New Roman" panose="02020603050405020304" pitchFamily="18" charset="0"/>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682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Observation of Moving Objects</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152400" y="5855655"/>
            <a:ext cx="8839200" cy="369332"/>
          </a:xfrm>
          <a:prstGeom prst="rect">
            <a:avLst/>
          </a:prstGeom>
        </p:spPr>
        <p:txBody>
          <a:bodyPr wrap="square">
            <a:spAutoFit/>
          </a:bodyPr>
          <a:lstStyle/>
          <a:p>
            <a:r>
              <a:rPr lang="en-IN" dirty="0">
                <a:hlinkClick r:id="rId4"/>
              </a:rPr>
              <a:t>https://debuggercafe.com/moving-object-detection-using-frame-differencing-with-opencv/</a:t>
            </a:r>
            <a:r>
              <a:rPr lang="en-IN" dirty="0"/>
              <a:t> </a:t>
            </a:r>
          </a:p>
        </p:txBody>
      </p:sp>
      <p:pic>
        <p:nvPicPr>
          <p:cNvPr id="9" name="video_3_convreted">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2400" y="854677"/>
            <a:ext cx="8839200" cy="4098323"/>
          </a:xfrm>
          <a:prstGeom prst="rect">
            <a:avLst/>
          </a:prstGeom>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49734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9"/>
                                        </p:tgtEl>
                                      </p:cBhvr>
                                    </p:cmd>
                                  </p:childTnLst>
                                </p:cTn>
                              </p:par>
                            </p:childTnLst>
                          </p:cTn>
                        </p:par>
                      </p:childTnLst>
                    </p:cTn>
                  </p:par>
                </p:childTnLst>
              </p:cTn>
              <p:nextCondLst>
                <p:cond evt="onClick" delay="0">
                  <p:tgtEl>
                    <p:spTgt spid="9"/>
                  </p:tgtEl>
                </p:cond>
              </p:nextCondLst>
            </p:seq>
            <p:video>
              <p:cMediaNode vol="80000">
                <p:cTn id="7" fill="hold" display="0">
                  <p:stCondLst>
                    <p:cond delay="indefinite"/>
                  </p:stCondLst>
                </p:cTn>
                <p:tgtEl>
                  <p:spTgt spid="9"/>
                </p:tgtEl>
              </p:cMediaNode>
            </p:video>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Observation of Moving Objects</a:t>
            </a:r>
            <a:endParaRPr lang="en-IN" sz="2200" b="1" dirty="0">
              <a:latin typeface="Times New Roman" panose="02020603050405020304" pitchFamily="18" charset="0"/>
              <a:cs typeface="Times New Roman" panose="02020603050405020304" pitchFamily="18" charset="0"/>
            </a:endParaRPr>
          </a:p>
        </p:txBody>
      </p:sp>
      <p:pic>
        <p:nvPicPr>
          <p:cNvPr id="12290" name="Picture 2" descr="Moving Object Detection using Frame Differenc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90" y="738552"/>
            <a:ext cx="9082210" cy="245037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Moving Object Detection using Frame Differenc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16" y="3241675"/>
            <a:ext cx="9090416" cy="29305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6006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Observation of Moving Objects</a:t>
            </a:r>
            <a:endParaRPr lang="en-IN" sz="2200" b="1" dirty="0">
              <a:latin typeface="Times New Roman" panose="02020603050405020304" pitchFamily="18" charset="0"/>
              <a:cs typeface="Times New Roman" panose="02020603050405020304" pitchFamily="18" charset="0"/>
            </a:endParaRPr>
          </a:p>
        </p:txBody>
      </p:sp>
      <p:pic>
        <p:nvPicPr>
          <p:cNvPr id="14338" name="Picture 2" descr="Summing of 8 consecutive fram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817163"/>
            <a:ext cx="5086350" cy="2683157"/>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Applying contour to the detected moving objec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5" y="3500320"/>
            <a:ext cx="5138225" cy="289991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148190" y="1219200"/>
            <a:ext cx="3995810" cy="4524315"/>
          </a:xfrm>
          <a:prstGeom prst="rect">
            <a:avLst/>
          </a:prstGeom>
        </p:spPr>
        <p:txBody>
          <a:bodyPr wrap="square">
            <a:spAutoFit/>
          </a:bodyPr>
          <a:lstStyle/>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Moving Object Detection and Segmentation</a:t>
            </a:r>
          </a:p>
          <a:p>
            <a:pPr algn="just">
              <a:lnSpc>
                <a:spcPct val="150000"/>
              </a:lnSpc>
            </a:pPr>
            <a:endParaRPr lang="en-US" sz="1600" b="1" i="0" dirty="0">
              <a:solidFill>
                <a:srgbClr val="003300"/>
              </a:solidFill>
              <a:effectLst/>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1: Read 8 Consecutive Frames from the Video</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2: Convert the Frames into Grayscale</a:t>
            </a:r>
          </a:p>
          <a:p>
            <a:pPr algn="just">
              <a:lnSpc>
                <a:spcPct val="150000"/>
              </a:lnSpc>
            </a:pPr>
            <a:r>
              <a:rPr lang="en-IN" sz="1600" b="1" dirty="0">
                <a:solidFill>
                  <a:srgbClr val="003300"/>
                </a:solidFill>
                <a:latin typeface="Times New Roman" panose="02020603050405020304" pitchFamily="18" charset="0"/>
                <a:cs typeface="Times New Roman" panose="02020603050405020304" pitchFamily="18" charset="0"/>
              </a:rPr>
              <a:t>Step 3: Frame Differencing</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4: Add the 8 Frames</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5: Fill the Gaps Inside the Objects</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6: Convert to Binary</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7: Remove Noise from the Resulting Image</a:t>
            </a:r>
          </a:p>
          <a:p>
            <a:pPr algn="just">
              <a:lnSpc>
                <a:spcPct val="150000"/>
              </a:lnSpc>
            </a:pPr>
            <a:endParaRPr lang="en-US" sz="1600" b="1" i="0" dirty="0">
              <a:solidFill>
                <a:srgbClr val="003300"/>
              </a:solidFill>
              <a:effectLst/>
              <a:latin typeface="Times New Roman" panose="02020603050405020304" pitchFamily="18" charset="0"/>
              <a:cs typeface="Times New Roman" panose="02020603050405020304" pitchFamily="18" charset="0"/>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5356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Retrieval of Images Based on Their Contents</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266700" y="1143000"/>
            <a:ext cx="8610600" cy="1200329"/>
          </a:xfrm>
          <a:prstGeom prst="rect">
            <a:avLst/>
          </a:prstGeom>
        </p:spPr>
        <p:txBody>
          <a:bodyPr wrap="square">
            <a:spAutoFit/>
          </a:bodyPr>
          <a:lstStyle/>
          <a:p>
            <a:pPr algn="just"/>
            <a:r>
              <a:rPr lang="en-US" dirty="0">
                <a:solidFill>
                  <a:srgbClr val="003300"/>
                </a:solidFill>
                <a:latin typeface="Times New Roman" panose="02020603050405020304" pitchFamily="18" charset="0"/>
                <a:cs typeface="Times New Roman" panose="02020603050405020304" pitchFamily="18" charset="0"/>
              </a:rPr>
              <a:t>The retrieval of images based on their content is known as content-based image retrieval (CBIR). CBIR aims to find images that are visually similar or relevant to a given query image, without relying on textual metadata or annotations. It relies on the visual features extracted from the images themselves to perform the search.</a:t>
            </a:r>
            <a:endParaRPr lang="en-IN" dirty="0">
              <a:solidFill>
                <a:srgbClr val="003300"/>
              </a:solidFill>
              <a:latin typeface="Times New Roman" panose="02020603050405020304" pitchFamily="18" charset="0"/>
              <a:cs typeface="Times New Roman" panose="02020603050405020304" pitchFamily="18" charset="0"/>
            </a:endParaRPr>
          </a:p>
        </p:txBody>
      </p:sp>
      <p:pic>
        <p:nvPicPr>
          <p:cNvPr id="6146" name="Picture 2" descr="How CBIR 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602" y="2423137"/>
            <a:ext cx="6760796" cy="202931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Text-Based Image Retrieval (TBI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4502834"/>
            <a:ext cx="7604125" cy="18605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597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Retrieval of Images Based on Their Contents</a:t>
            </a:r>
            <a:endParaRPr lang="en-IN" sz="2200" b="1" dirty="0">
              <a:latin typeface="Times New Roman" panose="02020603050405020304" pitchFamily="18" charset="0"/>
              <a:cs typeface="Times New Roman" panose="02020603050405020304" pitchFamily="18" charset="0"/>
            </a:endParaRPr>
          </a:p>
        </p:txBody>
      </p:sp>
      <p:sp>
        <p:nvSpPr>
          <p:cNvPr id="8" name="Rectangle 7"/>
          <p:cNvSpPr/>
          <p:nvPr/>
        </p:nvSpPr>
        <p:spPr>
          <a:xfrm>
            <a:off x="0" y="853970"/>
            <a:ext cx="9067800" cy="5355312"/>
          </a:xfrm>
          <a:prstGeom prst="rect">
            <a:avLst/>
          </a:prstGeom>
        </p:spPr>
        <p:txBody>
          <a:bodyPr wrap="square">
            <a:spAutoFit/>
          </a:bodyPr>
          <a:lstStyle/>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Feature Extraction: </a:t>
            </a:r>
            <a:r>
              <a:rPr lang="en-US" dirty="0">
                <a:solidFill>
                  <a:srgbClr val="003300"/>
                </a:solidFill>
                <a:latin typeface="Times New Roman" panose="02020603050405020304" pitchFamily="18" charset="0"/>
                <a:cs typeface="Times New Roman" panose="02020603050405020304" pitchFamily="18" charset="0"/>
              </a:rPr>
              <a:t>The first step is to extract meaningful features from the images. Various low-level and high-level visual features can be used, such as color histograms, texture descriptors, shape descriptors, deep learning features (e.g., features from convolutional neural networks), or a combination of these. The choice of features depends on the specific requirements and characteristics of the image dataset.</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Feature Representation: </a:t>
            </a:r>
            <a:r>
              <a:rPr lang="en-US" dirty="0">
                <a:solidFill>
                  <a:srgbClr val="003300"/>
                </a:solidFill>
                <a:latin typeface="Times New Roman" panose="02020603050405020304" pitchFamily="18" charset="0"/>
                <a:cs typeface="Times New Roman" panose="02020603050405020304" pitchFamily="18" charset="0"/>
              </a:rPr>
              <a:t>The extracted features are then typically transformed into a suitable representation for efficient indexing and retrieval. This can involve techniques like vector quantization, dimensionality reduction (e.g., using techniques like Principal Component Analysis or t-SNE), or feature aggregation.</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Indexing: </a:t>
            </a:r>
            <a:r>
              <a:rPr lang="en-US" dirty="0">
                <a:solidFill>
                  <a:srgbClr val="003300"/>
                </a:solidFill>
                <a:latin typeface="Times New Roman" panose="02020603050405020304" pitchFamily="18" charset="0"/>
                <a:cs typeface="Times New Roman" panose="02020603050405020304" pitchFamily="18" charset="0"/>
              </a:rPr>
              <a:t>The transformed feature representations are organized in a way that enables fast search and retrieval. Indexing structures like inverted files, k-d trees, or hash-based methods are commonly used to efficiently index the feature data.</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Similarity Measurement: </a:t>
            </a:r>
            <a:r>
              <a:rPr lang="en-US" dirty="0">
                <a:solidFill>
                  <a:srgbClr val="003300"/>
                </a:solidFill>
                <a:latin typeface="Times New Roman" panose="02020603050405020304" pitchFamily="18" charset="0"/>
                <a:cs typeface="Times New Roman" panose="02020603050405020304" pitchFamily="18" charset="0"/>
              </a:rPr>
              <a:t>When a query image is provided, its features are extracted and compared to the features in the indexed database. Various similarity or distance measures, such as Euclidean distance, cosine similarity, or the </a:t>
            </a:r>
            <a:r>
              <a:rPr lang="en-US" dirty="0" err="1">
                <a:solidFill>
                  <a:srgbClr val="003300"/>
                </a:solidFill>
                <a:latin typeface="Times New Roman" panose="02020603050405020304" pitchFamily="18" charset="0"/>
                <a:cs typeface="Times New Roman" panose="02020603050405020304" pitchFamily="18" charset="0"/>
              </a:rPr>
              <a:t>Jaccard</a:t>
            </a:r>
            <a:r>
              <a:rPr lang="en-US" dirty="0">
                <a:solidFill>
                  <a:srgbClr val="003300"/>
                </a:solidFill>
                <a:latin typeface="Times New Roman" panose="02020603050405020304" pitchFamily="18" charset="0"/>
                <a:cs typeface="Times New Roman" panose="02020603050405020304" pitchFamily="18" charset="0"/>
              </a:rPr>
              <a:t> index, can be used to quantify the similarity between the query features and the features of the indexed images.</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Ranking and Retrieval: </a:t>
            </a:r>
            <a:r>
              <a:rPr lang="en-US" dirty="0">
                <a:solidFill>
                  <a:srgbClr val="003300"/>
                </a:solidFill>
                <a:latin typeface="Times New Roman" panose="02020603050405020304" pitchFamily="18" charset="0"/>
                <a:cs typeface="Times New Roman" panose="02020603050405020304" pitchFamily="18" charset="0"/>
              </a:rPr>
              <a:t>Based on the similarity measurements, the indexed images are ranked in descending order of relevance to the query. The most similar images are returned as the retrieval results.</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1389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Retrieval of Images Based on Their Contents</a:t>
            </a:r>
            <a:endParaRPr lang="en-IN" sz="2200" b="1" dirty="0">
              <a:latin typeface="Times New Roman" panose="02020603050405020304" pitchFamily="18" charset="0"/>
              <a:cs typeface="Times New Roman" panose="02020603050405020304" pitchFamily="18" charset="0"/>
            </a:endParaRPr>
          </a:p>
        </p:txBody>
      </p:sp>
      <p:pic>
        <p:nvPicPr>
          <p:cNvPr id="7170" name="Picture 2" descr="CBIR using DCN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125487"/>
            <a:ext cx="8610600" cy="323086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0" y="817163"/>
            <a:ext cx="9144000" cy="2308324"/>
          </a:xfrm>
          <a:prstGeom prst="rect">
            <a:avLst/>
          </a:prstGeom>
        </p:spPr>
        <p:txBody>
          <a:bodyPr wrap="square">
            <a:spAutoFit/>
          </a:bodyPr>
          <a:lstStyle/>
          <a:p>
            <a:r>
              <a:rPr lang="en-US" dirty="0">
                <a:solidFill>
                  <a:srgbClr val="003300"/>
                </a:solidFill>
                <a:latin typeface="Times New Roman" panose="02020603050405020304" pitchFamily="18" charset="0"/>
                <a:cs typeface="Times New Roman" panose="02020603050405020304" pitchFamily="18" charset="0"/>
              </a:rPr>
              <a:t>Recently, state-of-the-art CBIR systems have started using machine-learning methods such as </a:t>
            </a:r>
            <a:r>
              <a:rPr lang="en-US" dirty="0">
                <a:solidFill>
                  <a:srgbClr val="003300"/>
                </a:solidFill>
                <a:latin typeface="Times New Roman" panose="02020603050405020304" pitchFamily="18" charset="0"/>
                <a:cs typeface="Times New Roman" panose="02020603050405020304" pitchFamily="18" charset="0"/>
                <a:hlinkClick r:id="rId3"/>
              </a:rPr>
              <a:t>deep-learning algorithms</a:t>
            </a:r>
            <a:r>
              <a:rPr lang="en-US" dirty="0">
                <a:solidFill>
                  <a:srgbClr val="003300"/>
                </a:solidFill>
                <a:latin typeface="Times New Roman" panose="02020603050405020304" pitchFamily="18" charset="0"/>
                <a:cs typeface="Times New Roman" panose="02020603050405020304" pitchFamily="18" charset="0"/>
              </a:rPr>
              <a:t>. They can perform feature extraction far better than traditional methods.</a:t>
            </a:r>
          </a:p>
          <a:p>
            <a:r>
              <a:rPr lang="en-US" dirty="0">
                <a:solidFill>
                  <a:srgbClr val="003300"/>
                </a:solidFill>
                <a:latin typeface="Times New Roman" panose="02020603050405020304" pitchFamily="18" charset="0"/>
                <a:cs typeface="Times New Roman" panose="02020603050405020304" pitchFamily="18" charset="0"/>
              </a:rPr>
              <a:t>Usually, a </a:t>
            </a:r>
            <a:r>
              <a:rPr lang="en-US" dirty="0">
                <a:solidFill>
                  <a:srgbClr val="003300"/>
                </a:solidFill>
                <a:latin typeface="Times New Roman" panose="02020603050405020304" pitchFamily="18" charset="0"/>
                <a:cs typeface="Times New Roman" panose="02020603050405020304" pitchFamily="18" charset="0"/>
                <a:hlinkClick r:id="rId4"/>
              </a:rPr>
              <a:t>Deep Convolutional Neural Network (DCNN)</a:t>
            </a:r>
            <a:r>
              <a:rPr lang="en-US" dirty="0">
                <a:solidFill>
                  <a:srgbClr val="003300"/>
                </a:solidFill>
                <a:latin typeface="Times New Roman" panose="02020603050405020304" pitchFamily="18" charset="0"/>
                <a:cs typeface="Times New Roman" panose="02020603050405020304" pitchFamily="18" charset="0"/>
              </a:rPr>
              <a:t> is trained using available data. Its job is to extract features from images. So, </a:t>
            </a:r>
            <a:r>
              <a:rPr lang="en-US" b="1" dirty="0">
                <a:solidFill>
                  <a:srgbClr val="003300"/>
                </a:solidFill>
                <a:latin typeface="Times New Roman" panose="02020603050405020304" pitchFamily="18" charset="0"/>
                <a:cs typeface="Times New Roman" panose="02020603050405020304" pitchFamily="18" charset="0"/>
              </a:rPr>
              <a:t>when a user sends the query image to the database system, DCNN extracts its features.</a:t>
            </a:r>
            <a:r>
              <a:rPr lang="en-US" dirty="0">
                <a:solidFill>
                  <a:srgbClr val="003300"/>
                </a:solidFill>
                <a:latin typeface="Times New Roman" panose="02020603050405020304" pitchFamily="18" charset="0"/>
                <a:cs typeface="Times New Roman" panose="02020603050405020304" pitchFamily="18" charset="0"/>
              </a:rPr>
              <a:t> Then, the query-image features are compared to those of the database images. In that step, the database system finds the most similar images using similarity measures and returns them to the user:</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0410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Instance segmentation</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76200" y="990601"/>
            <a:ext cx="9067800" cy="2862322"/>
          </a:xfrm>
          <a:prstGeom prst="rect">
            <a:avLst/>
          </a:prstGeom>
        </p:spPr>
        <p:txBody>
          <a:bodyPr wrap="square">
            <a:spAutoFit/>
          </a:bodyPr>
          <a:lstStyle/>
          <a:p>
            <a:pPr algn="just"/>
            <a:r>
              <a:rPr lang="en-US" dirty="0">
                <a:solidFill>
                  <a:srgbClr val="003300"/>
                </a:solidFill>
                <a:latin typeface="Times New Roman" panose="02020603050405020304" pitchFamily="18" charset="0"/>
                <a:cs typeface="Times New Roman" panose="02020603050405020304" pitchFamily="18" charset="0"/>
              </a:rPr>
              <a:t>Instance Segmentation is a special </a:t>
            </a:r>
            <a:r>
              <a:rPr lang="en-US" dirty="0">
                <a:solidFill>
                  <a:srgbClr val="003300"/>
                </a:solidFill>
                <a:latin typeface="Times New Roman" panose="02020603050405020304" pitchFamily="18" charset="0"/>
                <a:cs typeface="Times New Roman" panose="02020603050405020304" pitchFamily="18" charset="0"/>
                <a:hlinkClick r:id="rId2"/>
              </a:rPr>
              <a:t>form of image segmentation</a:t>
            </a:r>
            <a:r>
              <a:rPr lang="en-US" dirty="0">
                <a:solidFill>
                  <a:srgbClr val="003300"/>
                </a:solidFill>
                <a:latin typeface="Times New Roman" panose="02020603050405020304" pitchFamily="18" charset="0"/>
                <a:cs typeface="Times New Roman" panose="02020603050405020304" pitchFamily="18" charset="0"/>
              </a:rPr>
              <a:t> that deals with detecting instances of objects and demarcating their boundaries. It finds large-scale applicability in real-world scenarios like self-driving cars, </a:t>
            </a:r>
            <a:r>
              <a:rPr lang="en-US" dirty="0">
                <a:solidFill>
                  <a:srgbClr val="003300"/>
                </a:solidFill>
                <a:latin typeface="Times New Roman" panose="02020603050405020304" pitchFamily="18" charset="0"/>
                <a:cs typeface="Times New Roman" panose="02020603050405020304" pitchFamily="18" charset="0"/>
                <a:hlinkClick r:id="rId3"/>
              </a:rPr>
              <a:t>medical imagining</a:t>
            </a:r>
            <a:r>
              <a:rPr lang="en-US" dirty="0">
                <a:solidFill>
                  <a:srgbClr val="003300"/>
                </a:solidFill>
                <a:latin typeface="Times New Roman" panose="02020603050405020304" pitchFamily="18" charset="0"/>
                <a:cs typeface="Times New Roman" panose="02020603050405020304" pitchFamily="18" charset="0"/>
              </a:rPr>
              <a:t>, aerial crop monitoring, and more.</a:t>
            </a:r>
          </a:p>
          <a:p>
            <a:pPr algn="just"/>
            <a:endParaRPr lang="en-US" dirty="0">
              <a:solidFill>
                <a:srgbClr val="003300"/>
              </a:solidFill>
              <a:latin typeface="Times New Roman" panose="02020603050405020304" pitchFamily="18" charset="0"/>
              <a:cs typeface="Times New Roman" panose="02020603050405020304" pitchFamily="18" charset="0"/>
            </a:endParaRPr>
          </a:p>
          <a:p>
            <a:r>
              <a:rPr lang="en-US" dirty="0"/>
              <a:t>What is Instance Segmentation?</a:t>
            </a:r>
          </a:p>
          <a:p>
            <a:r>
              <a:rPr lang="en-US" dirty="0"/>
              <a:t>Instance Segmentation is the technique of detecting, segmenting, and classifying every individual object in an image.</a:t>
            </a:r>
          </a:p>
          <a:p>
            <a:endParaRPr lang="en-US" dirty="0"/>
          </a:p>
          <a:p>
            <a:endParaRPr lang="en-US" dirty="0"/>
          </a:p>
          <a:p>
            <a:pPr algn="just"/>
            <a:endParaRPr lang="en-IN" dirty="0">
              <a:solidFill>
                <a:srgbClr val="003300"/>
              </a:solidFill>
              <a:latin typeface="Times New Roman" panose="02020603050405020304" pitchFamily="18" charset="0"/>
              <a:cs typeface="Times New Roman" panose="02020603050405020304" pitchFamily="18" charset="0"/>
            </a:endParaRPr>
          </a:p>
        </p:txBody>
      </p:sp>
      <p:pic>
        <p:nvPicPr>
          <p:cNvPr id="10242" name="Picture 2" descr="Softmax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1874" y="2923382"/>
            <a:ext cx="1749426" cy="131207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Semantic segmentation and Instance segmentation on cats and a do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937" y="3320590"/>
            <a:ext cx="6934200" cy="277540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984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
        <p:nvSpPr>
          <p:cNvPr id="6" name="Title 1"/>
          <p:cNvSpPr txBox="1">
            <a:spLocks/>
          </p:cNvSpPr>
          <p:nvPr/>
        </p:nvSpPr>
        <p:spPr>
          <a:xfrm>
            <a:off x="1371600" y="0"/>
            <a:ext cx="7772400" cy="685799"/>
          </a:xfrm>
          <a:prstGeom prst="rect">
            <a:avLst/>
          </a:prstGeom>
          <a:solidFill>
            <a:srgbClr val="F9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Instance segmentation</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76200" y="990601"/>
            <a:ext cx="9067800" cy="4801314"/>
          </a:xfrm>
          <a:prstGeom prst="rect">
            <a:avLst/>
          </a:prstGeom>
        </p:spPr>
        <p:txBody>
          <a:bodyPr wrap="square">
            <a:spAutoFit/>
          </a:bodyPr>
          <a:lstStyle/>
          <a:p>
            <a:r>
              <a:rPr lang="en-US" dirty="0">
                <a:solidFill>
                  <a:srgbClr val="003300"/>
                </a:solidFill>
                <a:latin typeface="Times New Roman" panose="02020603050405020304" pitchFamily="18" charset="0"/>
                <a:cs typeface="Times New Roman" panose="02020603050405020304" pitchFamily="18" charset="0"/>
              </a:rPr>
              <a:t>How does Instance Segmentation work?</a:t>
            </a: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r>
              <a:rPr lang="en-US" dirty="0">
                <a:solidFill>
                  <a:srgbClr val="003300"/>
                </a:solidFill>
                <a:latin typeface="Times New Roman" panose="02020603050405020304" pitchFamily="18" charset="0"/>
                <a:cs typeface="Times New Roman" panose="02020603050405020304" pitchFamily="18" charset="0"/>
              </a:rPr>
              <a:t>Instance Segmentation is a challenging task and requires the detection of multiple instances of different objects present in an image along with their per-pixel segmentation mask. </a:t>
            </a:r>
            <a:br>
              <a:rPr lang="en-US" dirty="0">
                <a:solidFill>
                  <a:srgbClr val="003300"/>
                </a:solidFill>
                <a:latin typeface="Times New Roman" panose="02020603050405020304" pitchFamily="18" charset="0"/>
                <a:cs typeface="Times New Roman" panose="02020603050405020304" pitchFamily="18" charset="0"/>
                <a:hlinkClick r:id="rId2"/>
              </a:rPr>
            </a:br>
            <a:endParaRPr lang="en-US" dirty="0">
              <a:solidFill>
                <a:srgbClr val="003300"/>
              </a:solidFill>
              <a:latin typeface="Times New Roman" panose="02020603050405020304" pitchFamily="18" charset="0"/>
              <a:cs typeface="Times New Roman" panose="02020603050405020304" pitchFamily="18" charset="0"/>
            </a:endParaRPr>
          </a:p>
          <a:p>
            <a:r>
              <a:rPr lang="en-US" dirty="0">
                <a:solidFill>
                  <a:srgbClr val="003300"/>
                </a:solidFill>
                <a:latin typeface="Times New Roman" panose="02020603050405020304" pitchFamily="18" charset="0"/>
                <a:cs typeface="Times New Roman" panose="02020603050405020304" pitchFamily="18" charset="0"/>
              </a:rPr>
              <a:t>Instance Segmentation methods can be both R-CNN driven or FCN driven</a:t>
            </a:r>
          </a:p>
        </p:txBody>
      </p:sp>
      <p:pic>
        <p:nvPicPr>
          <p:cNvPr id="11266" name="Picture 2" descr="Instance segmentation metho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167" y="1295400"/>
            <a:ext cx="6987833" cy="28194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4280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Instance segmentation</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76200" y="990601"/>
            <a:ext cx="9067800" cy="4801314"/>
          </a:xfrm>
          <a:prstGeom prst="rect">
            <a:avLst/>
          </a:prstGeom>
        </p:spPr>
        <p:txBody>
          <a:bodyPr wrap="square">
            <a:spAutoFit/>
          </a:bodyPr>
          <a:lstStyle/>
          <a:p>
            <a:r>
              <a:rPr lang="en-US" dirty="0">
                <a:solidFill>
                  <a:srgbClr val="003300"/>
                </a:solidFill>
                <a:latin typeface="Times New Roman" panose="02020603050405020304" pitchFamily="18" charset="0"/>
                <a:cs typeface="Times New Roman" panose="02020603050405020304" pitchFamily="18" charset="0"/>
              </a:rPr>
              <a:t>Instance Segmentation applications</a:t>
            </a:r>
          </a:p>
          <a:p>
            <a:endParaRPr lang="en-US" dirty="0">
              <a:solidFill>
                <a:srgbClr val="0033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solidFill>
                  <a:srgbClr val="003300"/>
                </a:solidFill>
                <a:latin typeface="Times New Roman" panose="02020603050405020304" pitchFamily="18" charset="0"/>
                <a:cs typeface="Times New Roman" panose="02020603050405020304" pitchFamily="18" charset="0"/>
              </a:rPr>
              <a:t>Self-driving cars</a:t>
            </a:r>
            <a:endParaRPr lang="en-IN" dirty="0">
              <a:solidFill>
                <a:srgbClr val="0033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solidFill>
                  <a:srgbClr val="003300"/>
                </a:solidFill>
                <a:latin typeface="Times New Roman" panose="02020603050405020304" pitchFamily="18" charset="0"/>
                <a:cs typeface="Times New Roman" panose="02020603050405020304" pitchFamily="18" charset="0"/>
              </a:rPr>
              <a:t>Medical scans</a:t>
            </a:r>
            <a:endParaRPr lang="en-US" dirty="0">
              <a:solidFill>
                <a:srgbClr val="0033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solidFill>
                  <a:srgbClr val="003300"/>
                </a:solidFill>
                <a:latin typeface="Times New Roman" panose="02020603050405020304" pitchFamily="18" charset="0"/>
                <a:cs typeface="Times New Roman" panose="02020603050405020304" pitchFamily="18" charset="0"/>
              </a:rPr>
              <a:t>Satellite imagery</a:t>
            </a:r>
            <a:endParaRPr lang="en-IN"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r>
              <a:rPr lang="en-US" dirty="0">
                <a:solidFill>
                  <a:srgbClr val="003300"/>
                </a:solidFill>
                <a:latin typeface="Times New Roman" panose="02020603050405020304" pitchFamily="18" charset="0"/>
                <a:cs typeface="Times New Roman" panose="02020603050405020304" pitchFamily="18" charset="0"/>
              </a:rPr>
              <a:t>How to train an Instance Segmentation model on V7</a:t>
            </a:r>
          </a:p>
          <a:p>
            <a:r>
              <a:rPr lang="en-IN" b="1" dirty="0">
                <a:solidFill>
                  <a:srgbClr val="003300"/>
                </a:solidFill>
                <a:latin typeface="Times New Roman" panose="02020603050405020304" pitchFamily="18" charset="0"/>
                <a:cs typeface="Times New Roman" panose="02020603050405020304" pitchFamily="18" charset="0"/>
              </a:rPr>
              <a:t>1. Upload data</a:t>
            </a:r>
            <a:endParaRPr lang="en-IN" dirty="0">
              <a:solidFill>
                <a:srgbClr val="003300"/>
              </a:solidFill>
              <a:latin typeface="Times New Roman" panose="02020603050405020304" pitchFamily="18" charset="0"/>
              <a:cs typeface="Times New Roman" panose="02020603050405020304" pitchFamily="18" charset="0"/>
            </a:endParaRPr>
          </a:p>
          <a:p>
            <a:r>
              <a:rPr lang="en-US" b="1" dirty="0">
                <a:solidFill>
                  <a:srgbClr val="003300"/>
                </a:solidFill>
                <a:latin typeface="Times New Roman" panose="02020603050405020304" pitchFamily="18" charset="0"/>
                <a:cs typeface="Times New Roman" panose="02020603050405020304" pitchFamily="18" charset="0"/>
              </a:rPr>
              <a:t>2. Create new annotation classes</a:t>
            </a:r>
            <a:endParaRPr lang="en-US" dirty="0">
              <a:solidFill>
                <a:srgbClr val="003300"/>
              </a:solidFill>
              <a:latin typeface="Times New Roman" panose="02020603050405020304" pitchFamily="18" charset="0"/>
              <a:cs typeface="Times New Roman" panose="02020603050405020304" pitchFamily="18" charset="0"/>
            </a:endParaRPr>
          </a:p>
          <a:p>
            <a:r>
              <a:rPr lang="en-US" b="1" dirty="0">
                <a:solidFill>
                  <a:srgbClr val="003300"/>
                </a:solidFill>
                <a:latin typeface="Times New Roman" panose="02020603050405020304" pitchFamily="18" charset="0"/>
                <a:cs typeface="Times New Roman" panose="02020603050405020304" pitchFamily="18" charset="0"/>
              </a:rPr>
              <a:t>3. Auto-annotate your images or videos</a:t>
            </a:r>
            <a:endParaRPr lang="en-US" dirty="0">
              <a:solidFill>
                <a:srgbClr val="003300"/>
              </a:solidFill>
              <a:latin typeface="Times New Roman" panose="02020603050405020304" pitchFamily="18" charset="0"/>
              <a:cs typeface="Times New Roman" panose="02020603050405020304" pitchFamily="18" charset="0"/>
            </a:endParaRPr>
          </a:p>
          <a:p>
            <a:r>
              <a:rPr lang="en-US" b="1" dirty="0">
                <a:solidFill>
                  <a:srgbClr val="003300"/>
                </a:solidFill>
                <a:latin typeface="Times New Roman" panose="02020603050405020304" pitchFamily="18" charset="0"/>
                <a:cs typeface="Times New Roman" panose="02020603050405020304" pitchFamily="18" charset="0"/>
              </a:rPr>
              <a:t>4. Check for class balance</a:t>
            </a:r>
            <a:endParaRPr lang="en-US" dirty="0">
              <a:solidFill>
                <a:srgbClr val="003300"/>
              </a:solidFill>
              <a:latin typeface="Times New Roman" panose="02020603050405020304" pitchFamily="18" charset="0"/>
              <a:cs typeface="Times New Roman" panose="02020603050405020304" pitchFamily="18" charset="0"/>
            </a:endParaRPr>
          </a:p>
          <a:p>
            <a:r>
              <a:rPr lang="en-IN" b="1" dirty="0">
                <a:solidFill>
                  <a:srgbClr val="003300"/>
                </a:solidFill>
                <a:latin typeface="Times New Roman" panose="02020603050405020304" pitchFamily="18" charset="0"/>
                <a:cs typeface="Times New Roman" panose="02020603050405020304" pitchFamily="18" charset="0"/>
              </a:rPr>
              <a:t>5. Train your model</a:t>
            </a:r>
            <a:endParaRPr lang="en-IN" dirty="0">
              <a:solidFill>
                <a:srgbClr val="003300"/>
              </a:solidFill>
              <a:latin typeface="Times New Roman" panose="02020603050405020304" pitchFamily="18" charset="0"/>
              <a:cs typeface="Times New Roman" panose="02020603050405020304" pitchFamily="18" charset="0"/>
            </a:endParaRPr>
          </a:p>
          <a:p>
            <a:endParaRPr lang="en-US" dirty="0">
              <a:solidFill>
                <a:srgbClr val="003300"/>
              </a:solidFill>
              <a:latin typeface="Times New Roman" panose="02020603050405020304" pitchFamily="18" charset="0"/>
              <a:cs typeface="Times New Roman" panose="02020603050405020304" pitchFamily="18" charset="0"/>
            </a:endParaRPr>
          </a:p>
          <a:p>
            <a:r>
              <a:rPr lang="en-US" dirty="0">
                <a:solidFill>
                  <a:srgbClr val="003300"/>
                </a:solidFill>
                <a:latin typeface="Times New Roman" panose="02020603050405020304" pitchFamily="18" charset="0"/>
                <a:cs typeface="Times New Roman" panose="02020603050405020304" pitchFamily="18" charset="0"/>
              </a:rPr>
              <a:t>Instance Segmentation: Key Takeaways</a:t>
            </a:r>
          </a:p>
          <a:p>
            <a:r>
              <a:rPr lang="en-US" dirty="0">
                <a:solidFill>
                  <a:srgbClr val="003300"/>
                </a:solidFill>
                <a:latin typeface="Times New Roman" panose="02020603050405020304" pitchFamily="18" charset="0"/>
                <a:cs typeface="Times New Roman" panose="02020603050405020304" pitchFamily="18" charset="0"/>
              </a:rPr>
              <a:t>Instance segmentation is an important </a:t>
            </a:r>
            <a:r>
              <a:rPr lang="en-US" dirty="0">
                <a:solidFill>
                  <a:srgbClr val="003300"/>
                </a:solidFill>
                <a:latin typeface="Times New Roman" panose="02020603050405020304" pitchFamily="18" charset="0"/>
                <a:cs typeface="Times New Roman" panose="02020603050405020304" pitchFamily="18" charset="0"/>
                <a:hlinkClick r:id="rId2"/>
              </a:rPr>
              <a:t>domain of Computer Vision</a:t>
            </a:r>
            <a:r>
              <a:rPr lang="en-US" dirty="0">
                <a:solidFill>
                  <a:srgbClr val="003300"/>
                </a:solidFill>
                <a:latin typeface="Times New Roman" panose="02020603050405020304" pitchFamily="18" charset="0"/>
                <a:cs typeface="Times New Roman" panose="02020603050405020304" pitchFamily="18" charset="0"/>
              </a:rPr>
              <a:t>, offering a combination of object detection and semantic segmentation tasks. </a:t>
            </a:r>
          </a:p>
          <a:p>
            <a:pPr algn="just"/>
            <a:endParaRPr lang="en-IN" dirty="0">
              <a:solidFill>
                <a:srgbClr val="003300"/>
              </a:solidFill>
              <a:latin typeface="Times New Roman" panose="02020603050405020304" pitchFamily="18" charset="0"/>
              <a:cs typeface="Times New Roman" panose="02020603050405020304" pitchFamily="18" charset="0"/>
            </a:endParaRPr>
          </a:p>
        </p:txBody>
      </p:sp>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5084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Convolutional Neural Networks</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253523" y="1066800"/>
            <a:ext cx="4735784" cy="400110"/>
          </a:xfrm>
          <a:prstGeom prst="rect">
            <a:avLst/>
          </a:prstGeom>
        </p:spPr>
        <p:txBody>
          <a:bodyPr wrap="none">
            <a:spAutoFit/>
          </a:bodyPr>
          <a:lstStyle/>
          <a:p>
            <a:r>
              <a:rPr lang="en-US" sz="2000" b="1" dirty="0">
                <a:solidFill>
                  <a:srgbClr val="003300"/>
                </a:solidFill>
                <a:latin typeface="Times New Roman" panose="02020603050405020304" pitchFamily="18" charset="0"/>
                <a:cs typeface="Times New Roman" panose="02020603050405020304" pitchFamily="18" charset="0"/>
              </a:rPr>
              <a:t>What are convolutional neural networks?</a:t>
            </a:r>
            <a:endParaRPr lang="en-IN" sz="2000" b="1" dirty="0">
              <a:solidFill>
                <a:srgbClr val="0033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381000" y="1489749"/>
            <a:ext cx="8686800" cy="3631763"/>
          </a:xfrm>
          <a:prstGeom prst="rect">
            <a:avLst/>
          </a:prstGeom>
        </p:spPr>
        <p:txBody>
          <a:bodyPr wrap="square">
            <a:spAutoFit/>
          </a:bodyPr>
          <a:lstStyle/>
          <a:p>
            <a:pPr algn="just" fontAlgn="base"/>
            <a:r>
              <a:rPr lang="en-US" sz="2000" b="1" dirty="0">
                <a:solidFill>
                  <a:srgbClr val="003300"/>
                </a:solidFill>
                <a:latin typeface="Times New Roman" panose="02020603050405020304" pitchFamily="18" charset="0"/>
                <a:cs typeface="Times New Roman" panose="02020603050405020304" pitchFamily="18" charset="0"/>
              </a:rPr>
              <a:t>Convolutional neural networks are distinguished from other neural networks by their superior performance with image, speech, or audio signal inputs. They have three main types of layers, which are:</a:t>
            </a:r>
          </a:p>
          <a:p>
            <a:pPr fontAlgn="base"/>
            <a:endParaRPr lang="en-US" sz="2000" b="1" dirty="0">
              <a:solidFill>
                <a:srgbClr val="003300"/>
              </a:solidFill>
              <a:latin typeface="Times New Roman" panose="02020603050405020304" pitchFamily="18" charset="0"/>
              <a:cs typeface="Times New Roman" panose="02020603050405020304" pitchFamily="18" charset="0"/>
            </a:endParaRPr>
          </a:p>
          <a:p>
            <a:pPr marL="285750" indent="-285750" fontAlgn="base">
              <a:lnSpc>
                <a:spcPct val="250000"/>
              </a:lnSpc>
              <a:buFont typeface="Wingdings" panose="05000000000000000000" pitchFamily="2" charset="2"/>
              <a:buChar char="q"/>
            </a:pPr>
            <a:r>
              <a:rPr lang="en-US" sz="2000" b="1" dirty="0">
                <a:solidFill>
                  <a:srgbClr val="003300"/>
                </a:solidFill>
                <a:latin typeface="Times New Roman" panose="02020603050405020304" pitchFamily="18" charset="0"/>
                <a:cs typeface="Times New Roman" panose="02020603050405020304" pitchFamily="18" charset="0"/>
              </a:rPr>
              <a:t>Convolutional layer</a:t>
            </a:r>
          </a:p>
          <a:p>
            <a:pPr marL="285750" indent="-285750" fontAlgn="base">
              <a:lnSpc>
                <a:spcPct val="250000"/>
              </a:lnSpc>
              <a:buFont typeface="Wingdings" panose="05000000000000000000" pitchFamily="2" charset="2"/>
              <a:buChar char="q"/>
            </a:pPr>
            <a:r>
              <a:rPr lang="en-US" sz="2000" b="1" dirty="0">
                <a:solidFill>
                  <a:srgbClr val="003300"/>
                </a:solidFill>
                <a:latin typeface="Times New Roman" panose="02020603050405020304" pitchFamily="18" charset="0"/>
                <a:cs typeface="Times New Roman" panose="02020603050405020304" pitchFamily="18" charset="0"/>
              </a:rPr>
              <a:t>Pooling layer</a:t>
            </a:r>
          </a:p>
          <a:p>
            <a:pPr marL="285750" indent="-285750" fontAlgn="base">
              <a:lnSpc>
                <a:spcPct val="250000"/>
              </a:lnSpc>
              <a:buFont typeface="Wingdings" panose="05000000000000000000" pitchFamily="2" charset="2"/>
              <a:buChar char="q"/>
            </a:pPr>
            <a:r>
              <a:rPr lang="en-US" sz="2000" b="1" dirty="0">
                <a:solidFill>
                  <a:srgbClr val="003300"/>
                </a:solidFill>
                <a:latin typeface="Times New Roman" panose="02020603050405020304" pitchFamily="18" charset="0"/>
                <a:cs typeface="Times New Roman" panose="02020603050405020304" pitchFamily="18" charset="0"/>
              </a:rPr>
              <a:t>Fully-connected (FC) layer</a:t>
            </a:r>
            <a:endParaRPr lang="en-US" sz="2000" b="1" i="0" dirty="0">
              <a:solidFill>
                <a:srgbClr val="003300"/>
              </a:solidFill>
              <a:effectLst/>
              <a:latin typeface="Times New Roman" panose="02020603050405020304" pitchFamily="18" charset="0"/>
              <a:cs typeface="Times New Roman" panose="02020603050405020304" pitchFamily="18" charset="0"/>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652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Convolutional Neural Networks</a:t>
            </a:r>
            <a:endParaRPr lang="en-IN" sz="2200" b="1" dirty="0">
              <a:latin typeface="Times New Roman" panose="02020603050405020304" pitchFamily="18" charset="0"/>
              <a:cs typeface="Times New Roman" panose="02020603050405020304" pitchFamily="18" charset="0"/>
            </a:endParaRPr>
          </a:p>
        </p:txBody>
      </p:sp>
      <p:pic>
        <p:nvPicPr>
          <p:cNvPr id="1026" name="Picture 2" descr="Convolutional Neural Network: An Overvi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402248"/>
            <a:ext cx="8839200" cy="440711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3843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Convolutional Neural Networks</a:t>
            </a:r>
            <a:endParaRPr lang="en-IN" sz="22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2825" y="798406"/>
            <a:ext cx="8991600" cy="5909310"/>
          </a:xfrm>
          <a:prstGeom prst="rect">
            <a:avLst/>
          </a:prstGeom>
        </p:spPr>
        <p:txBody>
          <a:bodyPr wrap="square">
            <a:spAutoFit/>
          </a:bodyPr>
          <a:lstStyle/>
          <a:p>
            <a:pPr algn="just" fontAlgn="base"/>
            <a:r>
              <a:rPr lang="en-US" b="1" dirty="0">
                <a:solidFill>
                  <a:srgbClr val="003300"/>
                </a:solidFill>
                <a:latin typeface="Times New Roman" panose="02020603050405020304" pitchFamily="18" charset="0"/>
                <a:cs typeface="Times New Roman" panose="02020603050405020304" pitchFamily="18" charset="0"/>
              </a:rPr>
              <a:t>1.Convolutional Layer:-</a:t>
            </a:r>
            <a:r>
              <a:rPr lang="en-US" dirty="0">
                <a:solidFill>
                  <a:srgbClr val="003300"/>
                </a:solidFill>
                <a:latin typeface="Times New Roman" panose="02020603050405020304" pitchFamily="18" charset="0"/>
                <a:cs typeface="Times New Roman" panose="02020603050405020304" pitchFamily="18" charset="0"/>
              </a:rPr>
              <a:t>The convolutional layer is the core building block of a CNN, and it is where the majority of computation occurs. It requires a few components, which are input data, a filter, and a feature map. Let’s assume that the input will be a color image, which is made up of a matrix of pixels in 3D. This means that the input will have three dimensions—a height, width, and depth—which correspond to RGB in an image. We also have a feature detector, also known as a kernel or a filter, which will move across the receptive fields of the image, checking if the feature is present. This process is known as a convolution.</a:t>
            </a:r>
          </a:p>
          <a:p>
            <a:pPr algn="just" fontAlgn="base"/>
            <a:r>
              <a:rPr lang="en-US" b="1" dirty="0">
                <a:solidFill>
                  <a:srgbClr val="003300"/>
                </a:solidFill>
                <a:latin typeface="Times New Roman" panose="02020603050405020304" pitchFamily="18" charset="0"/>
                <a:cs typeface="Times New Roman" panose="02020603050405020304" pitchFamily="18" charset="0"/>
              </a:rPr>
              <a:t>2.Pooling Layer:-</a:t>
            </a:r>
            <a:r>
              <a:rPr lang="en-US" dirty="0">
                <a:solidFill>
                  <a:srgbClr val="003300"/>
                </a:solidFill>
                <a:latin typeface="Times New Roman" panose="02020603050405020304" pitchFamily="18" charset="0"/>
                <a:cs typeface="Times New Roman" panose="02020603050405020304" pitchFamily="18" charset="0"/>
              </a:rPr>
              <a:t>Pooling layers, also known as down sampling, conducts dimensionality reduction, reducing the number of parameters in the input. Similar to the convolutional layer, the pooling operation sweeps a filter across the entire input, but the difference is that this filter does not have any weights. Instead, the kernel applies an aggregation function to the values within the receptive field, populating the output array. There are two main types of pooling:</a:t>
            </a:r>
          </a:p>
          <a:p>
            <a:pPr algn="just" fontAlgn="base"/>
            <a:r>
              <a:rPr lang="en-US" b="1" dirty="0">
                <a:solidFill>
                  <a:srgbClr val="003300"/>
                </a:solidFill>
                <a:latin typeface="Times New Roman" panose="02020603050405020304" pitchFamily="18" charset="0"/>
                <a:cs typeface="Times New Roman" panose="02020603050405020304" pitchFamily="18" charset="0"/>
              </a:rPr>
              <a:t>Max pooling:</a:t>
            </a:r>
            <a:r>
              <a:rPr lang="en-US" dirty="0">
                <a:solidFill>
                  <a:srgbClr val="003300"/>
                </a:solidFill>
                <a:latin typeface="Times New Roman" panose="02020603050405020304" pitchFamily="18" charset="0"/>
                <a:cs typeface="Times New Roman" panose="02020603050405020304" pitchFamily="18" charset="0"/>
              </a:rPr>
              <a:t> As the filter moves across the input, it selects the pixel with the maximum value to send to the output array. As an aside, this approach tends to be used more often compared to average pooling.</a:t>
            </a:r>
          </a:p>
          <a:p>
            <a:pPr algn="just" fontAlgn="base"/>
            <a:r>
              <a:rPr lang="en-US" b="1" dirty="0">
                <a:solidFill>
                  <a:srgbClr val="003300"/>
                </a:solidFill>
                <a:latin typeface="Times New Roman" panose="02020603050405020304" pitchFamily="18" charset="0"/>
                <a:cs typeface="Times New Roman" panose="02020603050405020304" pitchFamily="18" charset="0"/>
              </a:rPr>
              <a:t>Average pooling:</a:t>
            </a:r>
            <a:r>
              <a:rPr lang="en-US" dirty="0">
                <a:solidFill>
                  <a:srgbClr val="003300"/>
                </a:solidFill>
                <a:latin typeface="Times New Roman" panose="02020603050405020304" pitchFamily="18" charset="0"/>
                <a:cs typeface="Times New Roman" panose="02020603050405020304" pitchFamily="18" charset="0"/>
              </a:rPr>
              <a:t> As the filter moves across the input, it calculates the average value within the receptive field to send to the output array.</a:t>
            </a:r>
          </a:p>
          <a:p>
            <a:pPr algn="just" fontAlgn="base"/>
            <a:r>
              <a:rPr lang="en-US" b="1" dirty="0">
                <a:solidFill>
                  <a:srgbClr val="003300"/>
                </a:solidFill>
                <a:latin typeface="Times New Roman" panose="02020603050405020304" pitchFamily="18" charset="0"/>
                <a:cs typeface="Times New Roman" panose="02020603050405020304" pitchFamily="18" charset="0"/>
              </a:rPr>
              <a:t>3.Fully-Connected Layer</a:t>
            </a:r>
            <a:r>
              <a:rPr lang="en-US" dirty="0">
                <a:solidFill>
                  <a:srgbClr val="003300"/>
                </a:solidFill>
                <a:latin typeface="Times New Roman" panose="02020603050405020304" pitchFamily="18" charset="0"/>
                <a:cs typeface="Times New Roman" panose="02020603050405020304" pitchFamily="18" charset="0"/>
              </a:rPr>
              <a:t>:-The name of the full-connected layer aptly describes itself. As mentioned earlier, the pixel values of the input image are not directly connected to the output layer in partially connected layers. However, in the fully-connected layer, each node in the output layer connects directly to a node in the previous layer.</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51273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Convolutional Neural Networks</a:t>
            </a:r>
            <a:endParaRPr lang="en-IN" sz="2200" b="1" dirty="0">
              <a:latin typeface="Times New Roman" panose="02020603050405020304" pitchFamily="18" charset="0"/>
              <a:cs typeface="Times New Roman" panose="02020603050405020304" pitchFamily="18" charset="0"/>
            </a:endParaRPr>
          </a:p>
        </p:txBody>
      </p:sp>
      <p:pic>
        <p:nvPicPr>
          <p:cNvPr id="1028" name="Picture 4" descr="Convolutional Neural Network | Deep Learning | Developers Brea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0707"/>
            <a:ext cx="8858250" cy="53721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6731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dirty="0"/>
              <a:t>Evolution of CNN Architectures for Image</a:t>
            </a:r>
            <a:endParaRPr lang="en-IN" sz="2200" b="1" dirty="0">
              <a:latin typeface="Times New Roman" panose="02020603050405020304" pitchFamily="18" charset="0"/>
              <a:cs typeface="Times New Roman" panose="02020603050405020304" pitchFamily="18" charset="0"/>
            </a:endParaRPr>
          </a:p>
        </p:txBody>
      </p:sp>
      <p:pic>
        <p:nvPicPr>
          <p:cNvPr id="2050" name="Picture 2" descr="https://miro.medium.com/v2/resize:fit:700/1*GEqmrCFhgpgyUQRDlZ9uZ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914400"/>
            <a:ext cx="8839200" cy="224790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81000" y="3879849"/>
            <a:ext cx="8610600" cy="1477328"/>
          </a:xfrm>
          <a:prstGeom prst="rect">
            <a:avLst/>
          </a:prstGeom>
        </p:spPr>
        <p:txBody>
          <a:bodyPr wrap="square">
            <a:spAutoFit/>
          </a:bodyPr>
          <a:lstStyle/>
          <a:p>
            <a:pPr algn="just"/>
            <a:r>
              <a:rPr lang="en-US" dirty="0">
                <a:solidFill>
                  <a:srgbClr val="003300"/>
                </a:solidFill>
                <a:latin typeface="Times New Roman" panose="02020603050405020304" pitchFamily="18" charset="0"/>
                <a:cs typeface="Times New Roman" panose="02020603050405020304" pitchFamily="18" charset="0"/>
              </a:rPr>
              <a:t>It all started with </a:t>
            </a:r>
            <a:r>
              <a:rPr lang="en-US" dirty="0" err="1">
                <a:solidFill>
                  <a:srgbClr val="003300"/>
                </a:solidFill>
                <a:latin typeface="Times New Roman" panose="02020603050405020304" pitchFamily="18" charset="0"/>
                <a:cs typeface="Times New Roman" panose="02020603050405020304" pitchFamily="18" charset="0"/>
              </a:rPr>
              <a:t>LeNet</a:t>
            </a:r>
            <a:r>
              <a:rPr lang="en-US" dirty="0">
                <a:solidFill>
                  <a:srgbClr val="003300"/>
                </a:solidFill>
                <a:latin typeface="Times New Roman" panose="02020603050405020304" pitchFamily="18" charset="0"/>
                <a:cs typeface="Times New Roman" panose="02020603050405020304" pitchFamily="18" charset="0"/>
              </a:rPr>
              <a:t> in 1998 and eventually, after nearly 15 years, lead to ground breaking models winning the </a:t>
            </a:r>
            <a:r>
              <a:rPr lang="en-US" b="1" dirty="0">
                <a:solidFill>
                  <a:srgbClr val="003300"/>
                </a:solidFill>
                <a:latin typeface="Times New Roman" panose="02020603050405020304" pitchFamily="18" charset="0"/>
                <a:cs typeface="Times New Roman" panose="02020603050405020304" pitchFamily="18" charset="0"/>
              </a:rPr>
              <a:t>ImageNet Large Scale Visual Recognition Challenge</a:t>
            </a:r>
            <a:r>
              <a:rPr lang="en-US" dirty="0">
                <a:solidFill>
                  <a:srgbClr val="003300"/>
                </a:solidFill>
                <a:latin typeface="Times New Roman" panose="02020603050405020304" pitchFamily="18" charset="0"/>
                <a:cs typeface="Times New Roman" panose="02020603050405020304" pitchFamily="18" charset="0"/>
              </a:rPr>
              <a:t> which includes </a:t>
            </a:r>
            <a:r>
              <a:rPr lang="en-US" dirty="0" err="1">
                <a:solidFill>
                  <a:srgbClr val="003300"/>
                </a:solidFill>
                <a:latin typeface="Times New Roman" panose="02020603050405020304" pitchFamily="18" charset="0"/>
                <a:cs typeface="Times New Roman" panose="02020603050405020304" pitchFamily="18" charset="0"/>
              </a:rPr>
              <a:t>AlexNet</a:t>
            </a:r>
            <a:r>
              <a:rPr lang="en-US" dirty="0">
                <a:solidFill>
                  <a:srgbClr val="003300"/>
                </a:solidFill>
                <a:latin typeface="Times New Roman" panose="02020603050405020304" pitchFamily="18" charset="0"/>
                <a:cs typeface="Times New Roman" panose="02020603050405020304" pitchFamily="18" charset="0"/>
              </a:rPr>
              <a:t> in 2012 to </a:t>
            </a:r>
            <a:r>
              <a:rPr lang="en-US" dirty="0" err="1">
                <a:solidFill>
                  <a:srgbClr val="003300"/>
                </a:solidFill>
                <a:latin typeface="Times New Roman" panose="02020603050405020304" pitchFamily="18" charset="0"/>
                <a:cs typeface="Times New Roman" panose="02020603050405020304" pitchFamily="18" charset="0"/>
              </a:rPr>
              <a:t>GoogleNet</a:t>
            </a:r>
            <a:r>
              <a:rPr lang="en-US" dirty="0">
                <a:solidFill>
                  <a:srgbClr val="003300"/>
                </a:solidFill>
                <a:latin typeface="Times New Roman" panose="02020603050405020304" pitchFamily="18" charset="0"/>
                <a:cs typeface="Times New Roman" panose="02020603050405020304" pitchFamily="18" charset="0"/>
              </a:rPr>
              <a:t> in 2014 to </a:t>
            </a:r>
            <a:r>
              <a:rPr lang="en-US" dirty="0" err="1">
                <a:solidFill>
                  <a:srgbClr val="003300"/>
                </a:solidFill>
                <a:latin typeface="Times New Roman" panose="02020603050405020304" pitchFamily="18" charset="0"/>
                <a:cs typeface="Times New Roman" panose="02020603050405020304" pitchFamily="18" charset="0"/>
              </a:rPr>
              <a:t>ResNet</a:t>
            </a:r>
            <a:r>
              <a:rPr lang="en-US" dirty="0">
                <a:solidFill>
                  <a:srgbClr val="003300"/>
                </a:solidFill>
                <a:latin typeface="Times New Roman" panose="02020603050405020304" pitchFamily="18" charset="0"/>
                <a:cs typeface="Times New Roman" panose="02020603050405020304" pitchFamily="18" charset="0"/>
              </a:rPr>
              <a:t> in 2015 to ensemble of previous models in 2016. In the last 2 years, no significant progress has been made and the new models are an ensemble of previous ground breaking models.</a:t>
            </a:r>
            <a:endParaRPr lang="en-IN" dirty="0">
              <a:solidFill>
                <a:srgbClr val="003300"/>
              </a:solidFill>
              <a:latin typeface="Times New Roman" panose="02020603050405020304" pitchFamily="18" charset="0"/>
              <a:cs typeface="Times New Roman" panose="02020603050405020304" pitchFamily="18" charset="0"/>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0406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dirty="0"/>
              <a:t>Evolution of CNN Architectures for Image</a:t>
            </a:r>
            <a:endParaRPr lang="en-IN" sz="2200" b="1" dirty="0">
              <a:latin typeface="Times New Roman" panose="02020603050405020304" pitchFamily="18" charset="0"/>
              <a:cs typeface="Times New Roman" panose="02020603050405020304" pitchFamily="18" charset="0"/>
            </a:endParaRPr>
          </a:p>
        </p:txBody>
      </p:sp>
      <p:sp>
        <p:nvSpPr>
          <p:cNvPr id="8" name="Rectangle 7"/>
          <p:cNvSpPr/>
          <p:nvPr/>
        </p:nvSpPr>
        <p:spPr>
          <a:xfrm>
            <a:off x="228600" y="817163"/>
            <a:ext cx="8763000" cy="1200329"/>
          </a:xfrm>
          <a:prstGeom prst="rect">
            <a:avLst/>
          </a:prstGeom>
        </p:spPr>
        <p:txBody>
          <a:bodyPr wrap="square">
            <a:spAutoFit/>
          </a:bodyPr>
          <a:lstStyle/>
          <a:p>
            <a:pPr algn="just"/>
            <a:r>
              <a:rPr lang="en-US" dirty="0">
                <a:solidFill>
                  <a:srgbClr val="003300"/>
                </a:solidFill>
                <a:latin typeface="Times New Roman" panose="02020603050405020304" pitchFamily="18" charset="0"/>
                <a:cs typeface="Times New Roman" panose="02020603050405020304" pitchFamily="18" charset="0"/>
              </a:rPr>
              <a:t>A Convolutional Neural Network (CNN, or </a:t>
            </a:r>
            <a:r>
              <a:rPr lang="en-US" dirty="0" err="1">
                <a:solidFill>
                  <a:srgbClr val="003300"/>
                </a:solidFill>
                <a:latin typeface="Times New Roman" panose="02020603050405020304" pitchFamily="18" charset="0"/>
                <a:cs typeface="Times New Roman" panose="02020603050405020304" pitchFamily="18" charset="0"/>
              </a:rPr>
              <a:t>ConvNet</a:t>
            </a:r>
            <a:r>
              <a:rPr lang="en-US" dirty="0">
                <a:solidFill>
                  <a:srgbClr val="003300"/>
                </a:solidFill>
                <a:latin typeface="Times New Roman" panose="02020603050405020304" pitchFamily="18" charset="0"/>
                <a:cs typeface="Times New Roman" panose="02020603050405020304" pitchFamily="18" charset="0"/>
              </a:rPr>
              <a:t>) are a special kind of multi-layer neural networks, designed to recognize visual patterns directly from pixel images with minimal preprocessing. The ImageNet project is a large visual database designed for use in visual object recognition software research</a:t>
            </a:r>
            <a:endParaRPr lang="en-IN" dirty="0">
              <a:solidFill>
                <a:srgbClr val="003300"/>
              </a:solidFill>
              <a:latin typeface="Times New Roman" panose="02020603050405020304" pitchFamily="18" charset="0"/>
              <a:cs typeface="Times New Roman" panose="02020603050405020304" pitchFamily="18" charset="0"/>
            </a:endParaRPr>
          </a:p>
        </p:txBody>
      </p:sp>
      <p:sp>
        <p:nvSpPr>
          <p:cNvPr id="9" name="Rectangle 8"/>
          <p:cNvSpPr/>
          <p:nvPr/>
        </p:nvSpPr>
        <p:spPr>
          <a:xfrm>
            <a:off x="38100" y="4147495"/>
            <a:ext cx="8953500" cy="1754326"/>
          </a:xfrm>
          <a:prstGeom prst="rect">
            <a:avLst/>
          </a:prstGeom>
        </p:spPr>
        <p:txBody>
          <a:bodyPr wrap="square">
            <a:spAutoFit/>
          </a:bodyPr>
          <a:lstStyle/>
          <a:p>
            <a:pPr algn="just" fontAlgn="base"/>
            <a:r>
              <a:rPr lang="en-US" b="1" dirty="0">
                <a:solidFill>
                  <a:srgbClr val="003300"/>
                </a:solidFill>
                <a:latin typeface="Times New Roman" panose="02020603050405020304" pitchFamily="18" charset="0"/>
                <a:cs typeface="Times New Roman" panose="02020603050405020304" pitchFamily="18" charset="0"/>
              </a:rPr>
              <a:t>LeNet in 1998</a:t>
            </a:r>
          </a:p>
          <a:p>
            <a:pPr algn="just" fontAlgn="base"/>
            <a:r>
              <a:rPr lang="en-US" dirty="0">
                <a:solidFill>
                  <a:srgbClr val="003300"/>
                </a:solidFill>
                <a:latin typeface="Times New Roman" panose="02020603050405020304" pitchFamily="18" charset="0"/>
                <a:cs typeface="Times New Roman" panose="02020603050405020304" pitchFamily="18" charset="0"/>
              </a:rPr>
              <a:t>LeNet is a 7-level convolutional network by LeCun in 1998 that classifies digits and used by several banks to recognize hand-written numbers on cheques digitized in 32x32 pixel greyscale input images. The ability to process higher resolution images requires larger and more convolutional layers, so this technique is constrained by the availability of computing resources.</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4098" name="Picture 2" descr="le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44951"/>
            <a:ext cx="5886450" cy="2015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4506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dirty="0"/>
              <a:t>Evolution of CNN Architectures for Image</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76200" y="967968"/>
            <a:ext cx="8991600" cy="1754326"/>
          </a:xfrm>
          <a:prstGeom prst="rect">
            <a:avLst/>
          </a:prstGeom>
        </p:spPr>
        <p:txBody>
          <a:bodyPr wrap="square">
            <a:spAutoFit/>
          </a:bodyPr>
          <a:lstStyle/>
          <a:p>
            <a:pPr algn="just" fontAlgn="base"/>
            <a:r>
              <a:rPr lang="en-US" b="1" dirty="0" err="1">
                <a:solidFill>
                  <a:srgbClr val="003300"/>
                </a:solidFill>
                <a:latin typeface="Times New Roman" panose="02020603050405020304" pitchFamily="18" charset="0"/>
                <a:cs typeface="Times New Roman" panose="02020603050405020304" pitchFamily="18" charset="0"/>
              </a:rPr>
              <a:t>AlexNet</a:t>
            </a:r>
            <a:r>
              <a:rPr lang="en-US" b="1" dirty="0">
                <a:solidFill>
                  <a:srgbClr val="003300"/>
                </a:solidFill>
                <a:latin typeface="Times New Roman" panose="02020603050405020304" pitchFamily="18" charset="0"/>
                <a:cs typeface="Times New Roman" panose="02020603050405020304" pitchFamily="18" charset="0"/>
              </a:rPr>
              <a:t> in 2012</a:t>
            </a:r>
          </a:p>
          <a:p>
            <a:pPr algn="just" fontAlgn="base"/>
            <a:r>
              <a:rPr lang="en-US" dirty="0" err="1">
                <a:solidFill>
                  <a:srgbClr val="003300"/>
                </a:solidFill>
                <a:latin typeface="Times New Roman" panose="02020603050405020304" pitchFamily="18" charset="0"/>
                <a:cs typeface="Times New Roman" panose="02020603050405020304" pitchFamily="18" charset="0"/>
              </a:rPr>
              <a:t>AlexNet</a:t>
            </a:r>
            <a:r>
              <a:rPr lang="en-US" dirty="0">
                <a:solidFill>
                  <a:srgbClr val="003300"/>
                </a:solidFill>
                <a:latin typeface="Times New Roman" panose="02020603050405020304" pitchFamily="18" charset="0"/>
                <a:cs typeface="Times New Roman" panose="02020603050405020304" pitchFamily="18" charset="0"/>
              </a:rPr>
              <a:t> is considered to be the first paper/ model which rose the interest in CNNs when it won the ImageNet challenge in 2012. </a:t>
            </a:r>
            <a:r>
              <a:rPr lang="en-US" dirty="0" err="1">
                <a:solidFill>
                  <a:srgbClr val="003300"/>
                </a:solidFill>
                <a:latin typeface="Times New Roman" panose="02020603050405020304" pitchFamily="18" charset="0"/>
                <a:cs typeface="Times New Roman" panose="02020603050405020304" pitchFamily="18" charset="0"/>
              </a:rPr>
              <a:t>AlexNet</a:t>
            </a:r>
            <a:r>
              <a:rPr lang="en-US" dirty="0">
                <a:solidFill>
                  <a:srgbClr val="003300"/>
                </a:solidFill>
                <a:latin typeface="Times New Roman" panose="02020603050405020304" pitchFamily="18" charset="0"/>
                <a:cs typeface="Times New Roman" panose="02020603050405020304" pitchFamily="18" charset="0"/>
              </a:rPr>
              <a:t> is a deep CNN trained on ImageNet and outperformed all the entries that year. It was a </a:t>
            </a:r>
            <a:r>
              <a:rPr lang="en-US" b="1" dirty="0">
                <a:solidFill>
                  <a:srgbClr val="003300"/>
                </a:solidFill>
                <a:latin typeface="Times New Roman" panose="02020603050405020304" pitchFamily="18" charset="0"/>
                <a:cs typeface="Times New Roman" panose="02020603050405020304" pitchFamily="18" charset="0"/>
              </a:rPr>
              <a:t>major improvement</a:t>
            </a:r>
            <a:r>
              <a:rPr lang="en-US" dirty="0">
                <a:solidFill>
                  <a:srgbClr val="003300"/>
                </a:solidFill>
                <a:latin typeface="Times New Roman" panose="02020603050405020304" pitchFamily="18" charset="0"/>
                <a:cs typeface="Times New Roman" panose="02020603050405020304" pitchFamily="18" charset="0"/>
              </a:rPr>
              <a:t> with the next best entry getting only 26.2% top 5 test error rate. Compared to modern architectures, a relatively simple layout was used in this paper.</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5122" name="Picture 2" descr="alexne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300" y="3004462"/>
            <a:ext cx="6718300" cy="21643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8963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dirty="0"/>
              <a:t>Evolution of CNN Architectures for Image</a:t>
            </a:r>
            <a:endParaRPr lang="en-IN" sz="2200" b="1" dirty="0">
              <a:latin typeface="Times New Roman" panose="02020603050405020304" pitchFamily="18" charset="0"/>
              <a:cs typeface="Times New Roman" panose="02020603050405020304" pitchFamily="18" charset="0"/>
            </a:endParaRPr>
          </a:p>
        </p:txBody>
      </p:sp>
      <p:sp>
        <p:nvSpPr>
          <p:cNvPr id="8" name="Rectangle 7"/>
          <p:cNvSpPr/>
          <p:nvPr/>
        </p:nvSpPr>
        <p:spPr>
          <a:xfrm>
            <a:off x="190500" y="914400"/>
            <a:ext cx="8763000" cy="2031325"/>
          </a:xfrm>
          <a:prstGeom prst="rect">
            <a:avLst/>
          </a:prstGeom>
        </p:spPr>
        <p:txBody>
          <a:bodyPr wrap="square">
            <a:spAutoFit/>
          </a:bodyPr>
          <a:lstStyle/>
          <a:p>
            <a:pPr algn="just" fontAlgn="base"/>
            <a:r>
              <a:rPr lang="en-US" b="1" dirty="0" err="1">
                <a:solidFill>
                  <a:srgbClr val="003300"/>
                </a:solidFill>
                <a:latin typeface="Times New Roman" panose="02020603050405020304" pitchFamily="18" charset="0"/>
                <a:cs typeface="Times New Roman" panose="02020603050405020304" pitchFamily="18" charset="0"/>
              </a:rPr>
              <a:t>ZFNet</a:t>
            </a:r>
            <a:r>
              <a:rPr lang="en-US" b="1" dirty="0">
                <a:solidFill>
                  <a:srgbClr val="003300"/>
                </a:solidFill>
                <a:latin typeface="Times New Roman" panose="02020603050405020304" pitchFamily="18" charset="0"/>
                <a:cs typeface="Times New Roman" panose="02020603050405020304" pitchFamily="18" charset="0"/>
              </a:rPr>
              <a:t> in 2013</a:t>
            </a:r>
          </a:p>
          <a:p>
            <a:pPr algn="just" fontAlgn="base"/>
            <a:r>
              <a:rPr lang="en-US" dirty="0" err="1">
                <a:solidFill>
                  <a:srgbClr val="003300"/>
                </a:solidFill>
                <a:latin typeface="Times New Roman" panose="02020603050405020304" pitchFamily="18" charset="0"/>
                <a:cs typeface="Times New Roman" panose="02020603050405020304" pitchFamily="18" charset="0"/>
              </a:rPr>
              <a:t>ZFNet</a:t>
            </a:r>
            <a:r>
              <a:rPr lang="en-US" dirty="0">
                <a:solidFill>
                  <a:srgbClr val="003300"/>
                </a:solidFill>
                <a:latin typeface="Times New Roman" panose="02020603050405020304" pitchFamily="18" charset="0"/>
                <a:cs typeface="Times New Roman" panose="02020603050405020304" pitchFamily="18" charset="0"/>
              </a:rPr>
              <a:t> is a modified version of </a:t>
            </a:r>
            <a:r>
              <a:rPr lang="en-US" dirty="0" err="1">
                <a:solidFill>
                  <a:srgbClr val="003300"/>
                </a:solidFill>
                <a:latin typeface="Times New Roman" panose="02020603050405020304" pitchFamily="18" charset="0"/>
                <a:cs typeface="Times New Roman" panose="02020603050405020304" pitchFamily="18" charset="0"/>
              </a:rPr>
              <a:t>AlexNet</a:t>
            </a:r>
            <a:r>
              <a:rPr lang="en-US" dirty="0">
                <a:solidFill>
                  <a:srgbClr val="003300"/>
                </a:solidFill>
                <a:latin typeface="Times New Roman" panose="02020603050405020304" pitchFamily="18" charset="0"/>
                <a:cs typeface="Times New Roman" panose="02020603050405020304" pitchFamily="18" charset="0"/>
              </a:rPr>
              <a:t> which gives a better accuracy.</a:t>
            </a:r>
          </a:p>
          <a:p>
            <a:pPr algn="just" fontAlgn="base"/>
            <a:r>
              <a:rPr lang="en-US" dirty="0">
                <a:solidFill>
                  <a:srgbClr val="003300"/>
                </a:solidFill>
                <a:latin typeface="Times New Roman" panose="02020603050405020304" pitchFamily="18" charset="0"/>
                <a:cs typeface="Times New Roman" panose="02020603050405020304" pitchFamily="18" charset="0"/>
              </a:rPr>
              <a:t>One major difference in the approaches was that ZF Net used 7x7 sized filters whereas </a:t>
            </a:r>
            <a:r>
              <a:rPr lang="en-US" dirty="0" err="1">
                <a:solidFill>
                  <a:srgbClr val="003300"/>
                </a:solidFill>
                <a:latin typeface="Times New Roman" panose="02020603050405020304" pitchFamily="18" charset="0"/>
                <a:cs typeface="Times New Roman" panose="02020603050405020304" pitchFamily="18" charset="0"/>
              </a:rPr>
              <a:t>AlexNet</a:t>
            </a:r>
            <a:r>
              <a:rPr lang="en-US" dirty="0">
                <a:solidFill>
                  <a:srgbClr val="003300"/>
                </a:solidFill>
                <a:latin typeface="Times New Roman" panose="02020603050405020304" pitchFamily="18" charset="0"/>
                <a:cs typeface="Times New Roman" panose="02020603050405020304" pitchFamily="18" charset="0"/>
              </a:rPr>
              <a:t> used 11x11 filters. The intuition behind this is that by using bigger filters we were losing a lot of pixel information, which we can retain by having smaller filter sizes in the earlier conv layers. The number of filters increase as we go deeper. This network also used </a:t>
            </a:r>
            <a:r>
              <a:rPr lang="en-US" dirty="0" err="1">
                <a:solidFill>
                  <a:srgbClr val="003300"/>
                </a:solidFill>
                <a:latin typeface="Times New Roman" panose="02020603050405020304" pitchFamily="18" charset="0"/>
                <a:cs typeface="Times New Roman" panose="02020603050405020304" pitchFamily="18" charset="0"/>
              </a:rPr>
              <a:t>ReLUs</a:t>
            </a:r>
            <a:r>
              <a:rPr lang="en-US" dirty="0">
                <a:solidFill>
                  <a:srgbClr val="003300"/>
                </a:solidFill>
                <a:latin typeface="Times New Roman" panose="02020603050405020304" pitchFamily="18" charset="0"/>
                <a:cs typeface="Times New Roman" panose="02020603050405020304" pitchFamily="18" charset="0"/>
              </a:rPr>
              <a:t> for their activation and trained using batch stochastic gradient descent.</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6146" name="Picture 2" descr="zf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3174326"/>
            <a:ext cx="8792028" cy="22955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6903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dirty="0"/>
              <a:t>Evolution of CNN Architectures for Image</a:t>
            </a:r>
            <a:endParaRPr lang="en-IN" sz="2200" b="1" dirty="0">
              <a:latin typeface="Times New Roman" panose="02020603050405020304" pitchFamily="18" charset="0"/>
              <a:cs typeface="Times New Roman" panose="02020603050405020304" pitchFamily="18" charset="0"/>
            </a:endParaRPr>
          </a:p>
        </p:txBody>
      </p:sp>
      <p:sp>
        <p:nvSpPr>
          <p:cNvPr id="9" name="Rectangle 8"/>
          <p:cNvSpPr/>
          <p:nvPr/>
        </p:nvSpPr>
        <p:spPr>
          <a:xfrm>
            <a:off x="0" y="685799"/>
            <a:ext cx="9144000" cy="1477328"/>
          </a:xfrm>
          <a:prstGeom prst="rect">
            <a:avLst/>
          </a:prstGeom>
        </p:spPr>
        <p:txBody>
          <a:bodyPr wrap="square">
            <a:spAutoFit/>
          </a:bodyPr>
          <a:lstStyle/>
          <a:p>
            <a:pPr algn="just" fontAlgn="base"/>
            <a:r>
              <a:rPr lang="en-US" b="1" dirty="0" err="1">
                <a:solidFill>
                  <a:srgbClr val="003300"/>
                </a:solidFill>
                <a:latin typeface="Times New Roman" panose="02020603050405020304" pitchFamily="18" charset="0"/>
                <a:cs typeface="Times New Roman" panose="02020603050405020304" pitchFamily="18" charset="0"/>
              </a:rPr>
              <a:t>GoogleNet</a:t>
            </a:r>
            <a:r>
              <a:rPr lang="en-US" b="1" dirty="0">
                <a:solidFill>
                  <a:srgbClr val="003300"/>
                </a:solidFill>
                <a:latin typeface="Times New Roman" panose="02020603050405020304" pitchFamily="18" charset="0"/>
                <a:cs typeface="Times New Roman" panose="02020603050405020304" pitchFamily="18" charset="0"/>
              </a:rPr>
              <a:t> in 2014</a:t>
            </a:r>
          </a:p>
          <a:p>
            <a:pPr algn="just" fontAlgn="base"/>
            <a:r>
              <a:rPr lang="en-US" dirty="0">
                <a:solidFill>
                  <a:srgbClr val="003300"/>
                </a:solidFill>
                <a:latin typeface="Times New Roman" panose="02020603050405020304" pitchFamily="18" charset="0"/>
                <a:cs typeface="Times New Roman" panose="02020603050405020304" pitchFamily="18" charset="0"/>
              </a:rPr>
              <a:t>In 2014, several great models were developed like VGG but the winner of the ImageNet contest was </a:t>
            </a:r>
            <a:r>
              <a:rPr lang="en-US" dirty="0" err="1">
                <a:solidFill>
                  <a:srgbClr val="003300"/>
                </a:solidFill>
                <a:latin typeface="Times New Roman" panose="02020603050405020304" pitchFamily="18" charset="0"/>
                <a:cs typeface="Times New Roman" panose="02020603050405020304" pitchFamily="18" charset="0"/>
              </a:rPr>
              <a:t>GoogleNet</a:t>
            </a:r>
            <a:r>
              <a:rPr lang="en-US" dirty="0">
                <a:solidFill>
                  <a:srgbClr val="003300"/>
                </a:solidFill>
                <a:latin typeface="Times New Roman" panose="02020603050405020304" pitchFamily="18" charset="0"/>
                <a:cs typeface="Times New Roman" panose="02020603050405020304" pitchFamily="18" charset="0"/>
              </a:rPr>
              <a:t>.</a:t>
            </a:r>
          </a:p>
          <a:p>
            <a:pPr algn="just" fontAlgn="base"/>
            <a:r>
              <a:rPr lang="en-US" dirty="0" err="1">
                <a:solidFill>
                  <a:srgbClr val="003300"/>
                </a:solidFill>
                <a:latin typeface="Times New Roman" panose="02020603050405020304" pitchFamily="18" charset="0"/>
                <a:cs typeface="Times New Roman" panose="02020603050405020304" pitchFamily="18" charset="0"/>
              </a:rPr>
              <a:t>GoogLeNet</a:t>
            </a:r>
            <a:r>
              <a:rPr lang="en-US" dirty="0">
                <a:solidFill>
                  <a:srgbClr val="003300"/>
                </a:solidFill>
                <a:latin typeface="Times New Roman" panose="02020603050405020304" pitchFamily="18" charset="0"/>
                <a:cs typeface="Times New Roman" panose="02020603050405020304" pitchFamily="18" charset="0"/>
              </a:rPr>
              <a:t> proposed a module called the inception modules which includes skip connections in the network forming a mini module and this module is repeated throughout the network.</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7172" name="Picture 4" descr="googlene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174013"/>
            <a:ext cx="8382000" cy="307632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68212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dirty="0"/>
              <a:t>Evolution of CNN Architectures for Image</a:t>
            </a:r>
            <a:endParaRPr lang="en-IN" sz="2200" b="1" dirty="0">
              <a:latin typeface="Times New Roman" panose="02020603050405020304" pitchFamily="18" charset="0"/>
              <a:cs typeface="Times New Roman" panose="02020603050405020304" pitchFamily="18" charset="0"/>
            </a:endParaRPr>
          </a:p>
        </p:txBody>
      </p:sp>
      <p:sp>
        <p:nvSpPr>
          <p:cNvPr id="5" name="Rectangle 4"/>
          <p:cNvSpPr/>
          <p:nvPr/>
        </p:nvSpPr>
        <p:spPr>
          <a:xfrm>
            <a:off x="114300" y="870069"/>
            <a:ext cx="8915400" cy="2031325"/>
          </a:xfrm>
          <a:prstGeom prst="rect">
            <a:avLst/>
          </a:prstGeom>
        </p:spPr>
        <p:txBody>
          <a:bodyPr wrap="square">
            <a:spAutoFit/>
          </a:bodyPr>
          <a:lstStyle/>
          <a:p>
            <a:pPr algn="just" fontAlgn="base"/>
            <a:r>
              <a:rPr lang="en-US" b="1" dirty="0">
                <a:solidFill>
                  <a:srgbClr val="003300"/>
                </a:solidFill>
                <a:latin typeface="Times New Roman" panose="02020603050405020304" pitchFamily="18" charset="0"/>
                <a:cs typeface="Times New Roman" panose="02020603050405020304" pitchFamily="18" charset="0"/>
              </a:rPr>
              <a:t>VGG in 2014</a:t>
            </a:r>
          </a:p>
          <a:p>
            <a:pPr algn="just" fontAlgn="base"/>
            <a:r>
              <a:rPr lang="en-US" dirty="0">
                <a:solidFill>
                  <a:srgbClr val="003300"/>
                </a:solidFill>
                <a:latin typeface="Times New Roman" panose="02020603050405020304" pitchFamily="18" charset="0"/>
                <a:cs typeface="Times New Roman" panose="02020603050405020304" pitchFamily="18" charset="0"/>
              </a:rPr>
              <a:t>The idea of VGG was submitted in 2013 and it became a runner up in the ImageNet contest in 2014. It is widely used as a simple architecture compared to </a:t>
            </a:r>
            <a:r>
              <a:rPr lang="en-US" dirty="0" err="1">
                <a:solidFill>
                  <a:srgbClr val="003300"/>
                </a:solidFill>
                <a:latin typeface="Times New Roman" panose="02020603050405020304" pitchFamily="18" charset="0"/>
                <a:cs typeface="Times New Roman" panose="02020603050405020304" pitchFamily="18" charset="0"/>
              </a:rPr>
              <a:t>AlexNet</a:t>
            </a:r>
            <a:r>
              <a:rPr lang="en-US" dirty="0">
                <a:solidFill>
                  <a:srgbClr val="003300"/>
                </a:solidFill>
                <a:latin typeface="Times New Roman" panose="02020603050405020304" pitchFamily="18" charset="0"/>
                <a:cs typeface="Times New Roman" panose="02020603050405020304" pitchFamily="18" charset="0"/>
              </a:rPr>
              <a:t> and </a:t>
            </a:r>
            <a:r>
              <a:rPr lang="en-US" dirty="0" err="1">
                <a:solidFill>
                  <a:srgbClr val="003300"/>
                </a:solidFill>
                <a:latin typeface="Times New Roman" panose="02020603050405020304" pitchFamily="18" charset="0"/>
                <a:cs typeface="Times New Roman" panose="02020603050405020304" pitchFamily="18" charset="0"/>
              </a:rPr>
              <a:t>ZFNet</a:t>
            </a:r>
            <a:r>
              <a:rPr lang="en-US" dirty="0">
                <a:solidFill>
                  <a:srgbClr val="003300"/>
                </a:solidFill>
                <a:latin typeface="Times New Roman" panose="02020603050405020304" pitchFamily="18" charset="0"/>
                <a:cs typeface="Times New Roman" panose="02020603050405020304" pitchFamily="18" charset="0"/>
              </a:rPr>
              <a:t>.</a:t>
            </a:r>
          </a:p>
          <a:p>
            <a:pPr algn="just" fontAlgn="base"/>
            <a:r>
              <a:rPr lang="en-US" dirty="0">
                <a:solidFill>
                  <a:srgbClr val="003300"/>
                </a:solidFill>
                <a:latin typeface="Times New Roman" panose="02020603050405020304" pitchFamily="18" charset="0"/>
                <a:cs typeface="Times New Roman" panose="02020603050405020304" pitchFamily="18" charset="0"/>
              </a:rPr>
              <a:t>VGG Net used 3x3 filters compared to 11x11 filters in </a:t>
            </a:r>
            <a:r>
              <a:rPr lang="en-US" dirty="0" err="1">
                <a:solidFill>
                  <a:srgbClr val="003300"/>
                </a:solidFill>
                <a:latin typeface="Times New Roman" panose="02020603050405020304" pitchFamily="18" charset="0"/>
                <a:cs typeface="Times New Roman" panose="02020603050405020304" pitchFamily="18" charset="0"/>
              </a:rPr>
              <a:t>AlexNet</a:t>
            </a:r>
            <a:r>
              <a:rPr lang="en-US" dirty="0">
                <a:solidFill>
                  <a:srgbClr val="003300"/>
                </a:solidFill>
                <a:latin typeface="Times New Roman" panose="02020603050405020304" pitchFamily="18" charset="0"/>
                <a:cs typeface="Times New Roman" panose="02020603050405020304" pitchFamily="18" charset="0"/>
              </a:rPr>
              <a:t> and 7x7 in </a:t>
            </a:r>
            <a:r>
              <a:rPr lang="en-US" dirty="0" err="1">
                <a:solidFill>
                  <a:srgbClr val="003300"/>
                </a:solidFill>
                <a:latin typeface="Times New Roman" panose="02020603050405020304" pitchFamily="18" charset="0"/>
                <a:cs typeface="Times New Roman" panose="02020603050405020304" pitchFamily="18" charset="0"/>
              </a:rPr>
              <a:t>ZFNet</a:t>
            </a:r>
            <a:r>
              <a:rPr lang="en-US" dirty="0">
                <a:solidFill>
                  <a:srgbClr val="003300"/>
                </a:solidFill>
                <a:latin typeface="Times New Roman" panose="02020603050405020304" pitchFamily="18" charset="0"/>
                <a:cs typeface="Times New Roman" panose="02020603050405020304" pitchFamily="18" charset="0"/>
              </a:rPr>
              <a:t>. The authors give the intuition behind this that having two consecutive 2 consecutive 3x3 filters gives an effective receptive field of 5x5, and 3 – 3x3 filters give a receptive field of 7x7 filters, but using this we can use a far less number of hyper-parameters to be trained in the network.</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7170" name="Picture 2" descr="vg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3512752"/>
            <a:ext cx="8915400" cy="21145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3409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sp>
        <p:nvSpPr>
          <p:cNvPr id="6"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dirty="0"/>
              <a:t>Evolution of CNN Architectures for Image</a:t>
            </a:r>
            <a:endParaRPr lang="en-IN" sz="2200" b="1" dirty="0">
              <a:latin typeface="Times New Roman" panose="02020603050405020304" pitchFamily="18" charset="0"/>
              <a:cs typeface="Times New Roman" panose="02020603050405020304" pitchFamily="18" charset="0"/>
            </a:endParaRPr>
          </a:p>
        </p:txBody>
      </p:sp>
      <p:sp>
        <p:nvSpPr>
          <p:cNvPr id="8" name="Rectangle 7"/>
          <p:cNvSpPr/>
          <p:nvPr/>
        </p:nvSpPr>
        <p:spPr>
          <a:xfrm>
            <a:off x="0" y="1166843"/>
            <a:ext cx="9144000" cy="2585323"/>
          </a:xfrm>
          <a:prstGeom prst="rect">
            <a:avLst/>
          </a:prstGeom>
        </p:spPr>
        <p:txBody>
          <a:bodyPr wrap="square">
            <a:spAutoFit/>
          </a:bodyPr>
          <a:lstStyle/>
          <a:p>
            <a:pPr fontAlgn="base"/>
            <a:r>
              <a:rPr lang="en-US" b="1" dirty="0" err="1">
                <a:solidFill>
                  <a:srgbClr val="003300"/>
                </a:solidFill>
                <a:latin typeface="Times New Roman" panose="02020603050405020304" pitchFamily="18" charset="0"/>
                <a:cs typeface="Times New Roman" panose="02020603050405020304" pitchFamily="18" charset="0"/>
              </a:rPr>
              <a:t>ResNet</a:t>
            </a:r>
            <a:r>
              <a:rPr lang="en-US" b="1" dirty="0">
                <a:solidFill>
                  <a:srgbClr val="003300"/>
                </a:solidFill>
                <a:latin typeface="Times New Roman" panose="02020603050405020304" pitchFamily="18" charset="0"/>
                <a:cs typeface="Times New Roman" panose="02020603050405020304" pitchFamily="18" charset="0"/>
              </a:rPr>
              <a:t> in 2015</a:t>
            </a:r>
          </a:p>
          <a:p>
            <a:pPr algn="just" fontAlgn="base"/>
            <a:r>
              <a:rPr lang="en-US" dirty="0">
                <a:solidFill>
                  <a:srgbClr val="003300"/>
                </a:solidFill>
                <a:latin typeface="Times New Roman" panose="02020603050405020304" pitchFamily="18" charset="0"/>
                <a:cs typeface="Times New Roman" panose="02020603050405020304" pitchFamily="18" charset="0"/>
              </a:rPr>
              <a:t>There are 152 layers in the Microsoft </a:t>
            </a:r>
            <a:r>
              <a:rPr lang="en-US" dirty="0" err="1">
                <a:solidFill>
                  <a:srgbClr val="003300"/>
                </a:solidFill>
                <a:latin typeface="Times New Roman" panose="02020603050405020304" pitchFamily="18" charset="0"/>
                <a:cs typeface="Times New Roman" panose="02020603050405020304" pitchFamily="18" charset="0"/>
              </a:rPr>
              <a:t>ResNet</a:t>
            </a:r>
            <a:r>
              <a:rPr lang="en-US" dirty="0">
                <a:solidFill>
                  <a:srgbClr val="003300"/>
                </a:solidFill>
                <a:latin typeface="Times New Roman" panose="02020603050405020304" pitchFamily="18" charset="0"/>
                <a:cs typeface="Times New Roman" panose="02020603050405020304" pitchFamily="18" charset="0"/>
              </a:rPr>
              <a:t>. The authors showed empirically that if you keep on adding layers the error rate should keep on decreasing in contrast to “plain nets” where adding a few layers resulted in higher training and test errors. It took two to three weeks to train it on an 8 GPU machine. One intuitive reason why residual blocks improve classification is the direct step from one layer to the next and intuitively using all these skip steps form a gradient highway where the gradients computed can directly affect the weights in the first layer making updates have more effect.</a:t>
            </a:r>
          </a:p>
          <a:p>
            <a:pPr algn="just" fontAlgn="base"/>
            <a:r>
              <a:rPr lang="en-US" dirty="0">
                <a:solidFill>
                  <a:srgbClr val="003300"/>
                </a:solidFill>
                <a:latin typeface="Times New Roman" panose="02020603050405020304" pitchFamily="18" charset="0"/>
                <a:cs typeface="Times New Roman" panose="02020603050405020304" pitchFamily="18" charset="0"/>
                <a:hlinkClick r:id="rId2"/>
              </a:rPr>
              <a:t>https://iq.opengenus.org/evolution-of-cnn-architectures/</a:t>
            </a:r>
            <a:r>
              <a:rPr lang="en-US" dirty="0">
                <a:solidFill>
                  <a:srgbClr val="003300"/>
                </a:solidFill>
                <a:latin typeface="Times New Roman" panose="02020603050405020304" pitchFamily="18" charset="0"/>
                <a:cs typeface="Times New Roman" panose="02020603050405020304" pitchFamily="18" charset="0"/>
              </a:rPr>
              <a:t> </a:t>
            </a:r>
            <a:endParaRPr lang="en-US" b="0" i="0" dirty="0">
              <a:solidFill>
                <a:srgbClr val="003300"/>
              </a:solidFill>
              <a:effectLst/>
              <a:latin typeface="Times New Roman" panose="02020603050405020304" pitchFamily="18" charset="0"/>
              <a:cs typeface="Times New Roman" panose="02020603050405020304" pitchFamily="18" charset="0"/>
            </a:endParaRPr>
          </a:p>
        </p:txBody>
      </p:sp>
      <p:pic>
        <p:nvPicPr>
          <p:cNvPr id="9218" name="Picture 2" descr="resn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35" y="3752166"/>
            <a:ext cx="7963515" cy="234383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064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752600"/>
            <a:ext cx="8229600" cy="3916363"/>
          </a:xfrm>
        </p:spPr>
        <p:txBody>
          <a:bodyPr>
            <a:normAutofit/>
          </a:bodyPr>
          <a:lstStyle/>
          <a:p>
            <a:pPr>
              <a:buNone/>
            </a:pPr>
            <a:endParaRPr lang="en-US" sz="1800" dirty="0"/>
          </a:p>
          <a:p>
            <a:r>
              <a:rPr lang="en-US" sz="1800" b="1" u="sng" dirty="0" err="1">
                <a:solidFill>
                  <a:srgbClr val="002060"/>
                </a:solidFill>
              </a:rPr>
              <a:t>Youtube</a:t>
            </a:r>
            <a:r>
              <a:rPr lang="en-US" sz="1800" b="1" u="sng" dirty="0">
                <a:solidFill>
                  <a:srgbClr val="002060"/>
                </a:solidFill>
              </a:rPr>
              <a:t>/other  Video Links</a:t>
            </a:r>
          </a:p>
          <a:p>
            <a:pPr>
              <a:buNone/>
            </a:pPr>
            <a:endParaRPr lang="en-US" sz="1800" dirty="0">
              <a:solidFill>
                <a:srgbClr val="002060"/>
              </a:solidFill>
            </a:endParaRPr>
          </a:p>
          <a:p>
            <a:pPr>
              <a:buFont typeface="Wingdings" pitchFamily="2" charset="2"/>
              <a:buChar char="Ø"/>
            </a:pPr>
            <a:r>
              <a:rPr lang="en-US" sz="1800" dirty="0">
                <a:solidFill>
                  <a:srgbClr val="002060"/>
                </a:solidFill>
                <a:hlinkClick r:id="rId2"/>
              </a:rPr>
              <a:t>https://nptel.ac.in/courses/106106093/</a:t>
            </a:r>
            <a:endParaRPr lang="en-US" sz="1800" dirty="0">
              <a:solidFill>
                <a:srgbClr val="002060"/>
              </a:solidFill>
            </a:endParaRPr>
          </a:p>
          <a:p>
            <a:pPr>
              <a:buNone/>
            </a:pPr>
            <a:endParaRPr lang="en-US" sz="1800" dirty="0">
              <a:solidFill>
                <a:srgbClr val="002060"/>
              </a:solidFill>
            </a:endParaRPr>
          </a:p>
          <a:p>
            <a:pPr>
              <a:buFont typeface="Wingdings" pitchFamily="2" charset="2"/>
              <a:buChar char="Ø"/>
            </a:pPr>
            <a:r>
              <a:rPr lang="en-US" sz="1800" dirty="0">
                <a:solidFill>
                  <a:srgbClr val="002060"/>
                </a:solidFill>
                <a:hlinkClick r:id="rId3"/>
              </a:rPr>
              <a:t>https://www.youtube.com/watch?v=m-aKj5ovDfg</a:t>
            </a:r>
            <a:endParaRPr lang="en-US" sz="1800" dirty="0">
              <a:solidFill>
                <a:srgbClr val="002060"/>
              </a:solidFill>
            </a:endParaRPr>
          </a:p>
          <a:p>
            <a:pPr>
              <a:buNone/>
            </a:pPr>
            <a:endParaRPr lang="en-US" sz="1800" dirty="0">
              <a:solidFill>
                <a:srgbClr val="002060"/>
              </a:solidFill>
            </a:endParaRPr>
          </a:p>
          <a:p>
            <a:pPr>
              <a:buFont typeface="Wingdings" pitchFamily="2" charset="2"/>
              <a:buChar char="Ø"/>
            </a:pPr>
            <a:r>
              <a:rPr lang="en-US" sz="1800" dirty="0">
                <a:solidFill>
                  <a:srgbClr val="002060"/>
                </a:solidFill>
                <a:hlinkClick r:id="rId4"/>
              </a:rPr>
              <a:t>https://www.youtube.com/watch?v=G4NYQox4n2g</a:t>
            </a:r>
            <a:endParaRPr lang="en-US" sz="1800" dirty="0">
              <a:solidFill>
                <a:srgbClr val="002060"/>
              </a:solidFill>
            </a:endParaRPr>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371600" y="0"/>
            <a:ext cx="7772400" cy="1066800"/>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1" i="0" u="none" strike="noStrike" kern="1200" cap="none" spc="0" normalizeH="0" noProof="0" dirty="0">
                <a:ln>
                  <a:noFill/>
                </a:ln>
                <a:solidFill>
                  <a:schemeClr val="dk1"/>
                </a:solidFill>
                <a:effectLst/>
                <a:uLnTx/>
                <a:uFillTx/>
                <a:latin typeface="+mn-lt"/>
                <a:ea typeface="+mn-ea"/>
                <a:cs typeface="+mn-cs"/>
              </a:rPr>
              <a:t> Links, </a:t>
            </a:r>
            <a:r>
              <a:rPr kumimoji="0" lang="en-US" sz="2400" b="1" i="0" u="none" strike="noStrike" kern="1200" cap="none" spc="0" normalizeH="0" noProof="0" dirty="0" err="1">
                <a:ln>
                  <a:noFill/>
                </a:ln>
                <a:solidFill>
                  <a:schemeClr val="dk1"/>
                </a:solidFill>
                <a:effectLst/>
                <a:uLnTx/>
                <a:uFillTx/>
                <a:latin typeface="+mn-lt"/>
                <a:ea typeface="+mn-ea"/>
                <a:cs typeface="+mn-cs"/>
              </a:rPr>
              <a:t>Youtube</a:t>
            </a:r>
            <a:r>
              <a:rPr kumimoji="0" lang="en-US" sz="2400" b="1"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334000"/>
          </a:xfrm>
        </p:spPr>
        <p:txBody>
          <a:bodyPr>
            <a:noAutofit/>
          </a:bodyPr>
          <a:lstStyle/>
          <a:p>
            <a:pPr marL="457200" indent="-457200">
              <a:lnSpc>
                <a:spcPct val="150000"/>
              </a:lnSpc>
              <a:buFont typeface="+mj-lt"/>
              <a:buAutoNum type="arabicPeriod"/>
            </a:pPr>
            <a:r>
              <a:rPr lang="en-US" dirty="0"/>
              <a:t>What is computer vision?</a:t>
            </a:r>
          </a:p>
          <a:p>
            <a:pPr marL="457200" indent="-457200">
              <a:lnSpc>
                <a:spcPct val="150000"/>
              </a:lnSpc>
              <a:buFont typeface="+mj-lt"/>
              <a:buAutoNum type="arabicPeriod"/>
            </a:pPr>
            <a:r>
              <a:rPr lang="en-US" dirty="0"/>
              <a:t>Name three common applications of computer vision.</a:t>
            </a:r>
          </a:p>
          <a:p>
            <a:pPr marL="457200" indent="-457200">
              <a:lnSpc>
                <a:spcPct val="150000"/>
              </a:lnSpc>
              <a:buFont typeface="+mj-lt"/>
              <a:buAutoNum type="arabicPeriod"/>
            </a:pPr>
            <a:r>
              <a:rPr lang="en-US" dirty="0"/>
              <a:t>What is the purpose of image segmentation in computer vision?</a:t>
            </a:r>
          </a:p>
          <a:p>
            <a:pPr marL="457200" indent="-457200">
              <a:lnSpc>
                <a:spcPct val="150000"/>
              </a:lnSpc>
              <a:buFont typeface="+mj-lt"/>
              <a:buAutoNum type="arabicPeriod"/>
            </a:pPr>
            <a:r>
              <a:rPr lang="en-US" dirty="0"/>
              <a:t>What is the difference between object detection and object recognition?</a:t>
            </a:r>
          </a:p>
          <a:p>
            <a:pPr marL="457200" indent="-457200">
              <a:lnSpc>
                <a:spcPct val="150000"/>
              </a:lnSpc>
              <a:buFont typeface="+mj-lt"/>
              <a:buAutoNum type="arabicPeriod"/>
            </a:pPr>
            <a:r>
              <a:rPr lang="en-US" dirty="0"/>
              <a:t>Explain the concept of convolution in convolutional neural networks (CNNs).</a:t>
            </a:r>
          </a:p>
          <a:p>
            <a:pPr>
              <a:lnSpc>
                <a:spcPct val="150000"/>
              </a:lnSpc>
            </a:pPr>
            <a:endParaRPr lang="en-US" sz="1800" dirty="0"/>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u="sng" dirty="0">
                <a:effectLst>
                  <a:outerShdw blurRad="38100" dist="38100" dir="2700000" algn="tl">
                    <a:srgbClr val="000000">
                      <a:alpha val="43137"/>
                    </a:srgbClr>
                  </a:outerShdw>
                </a:effectLst>
              </a:rPr>
              <a:t>DAILY QUIZ</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8229600" cy="5029200"/>
          </a:xfrm>
        </p:spPr>
        <p:txBody>
          <a:bodyPr>
            <a:normAutofit/>
          </a:bodyPr>
          <a:lstStyle/>
          <a:p>
            <a:pPr marL="457200" indent="-457200">
              <a:lnSpc>
                <a:spcPct val="150000"/>
              </a:lnSpc>
              <a:buFont typeface="+mj-lt"/>
              <a:buAutoNum type="arabicPeriod"/>
            </a:pPr>
            <a:r>
              <a:rPr lang="en-US" sz="1800" dirty="0"/>
              <a:t>What is optical character recognition (OCR) used for in computer vision?</a:t>
            </a:r>
          </a:p>
          <a:p>
            <a:pPr marL="457200" indent="-457200">
              <a:lnSpc>
                <a:spcPct val="150000"/>
              </a:lnSpc>
              <a:buFont typeface="+mj-lt"/>
              <a:buAutoNum type="arabicPeriod"/>
            </a:pPr>
            <a:r>
              <a:rPr lang="en-US" sz="1800" dirty="0"/>
              <a:t>What is the purpose of non-maximum suppression in object detection algorithms?</a:t>
            </a:r>
          </a:p>
          <a:p>
            <a:pPr marL="457200" indent="-457200">
              <a:lnSpc>
                <a:spcPct val="150000"/>
              </a:lnSpc>
              <a:buFont typeface="+mj-lt"/>
              <a:buAutoNum type="arabicPeriod"/>
            </a:pPr>
            <a:r>
              <a:rPr lang="en-US" sz="1800" dirty="0"/>
              <a:t>What are some common challenges faced in computer vision tasks?</a:t>
            </a:r>
          </a:p>
          <a:p>
            <a:pPr marL="457200" indent="-457200">
              <a:lnSpc>
                <a:spcPct val="150000"/>
              </a:lnSpc>
              <a:buFont typeface="+mj-lt"/>
              <a:buAutoNum type="arabicPeriod"/>
            </a:pPr>
            <a:r>
              <a:rPr lang="en-US" sz="1800" dirty="0"/>
              <a:t>What is the difference between supervised and unsupervised learning in computer vision?</a:t>
            </a:r>
          </a:p>
          <a:p>
            <a:pPr marL="457200" indent="-457200">
              <a:lnSpc>
                <a:spcPct val="150000"/>
              </a:lnSpc>
              <a:buFont typeface="+mj-lt"/>
              <a:buAutoNum type="arabicPeriod"/>
            </a:pPr>
            <a:r>
              <a:rPr lang="en-US" sz="1800" dirty="0"/>
              <a:t>Name three popular deep learning architectures used in computer vision.</a:t>
            </a:r>
          </a:p>
          <a:p>
            <a:pPr marL="0" indent="0">
              <a:buNone/>
            </a:pPr>
            <a:endParaRPr lang="en-US" sz="1800" dirty="0"/>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u="sng" dirty="0">
                <a:effectLst>
                  <a:outerShdw blurRad="38100" dist="38100" dir="2700000" algn="tl">
                    <a:srgbClr val="000000">
                      <a:alpha val="43137"/>
                    </a:srgbClr>
                  </a:outerShdw>
                </a:effectLst>
              </a:rPr>
              <a:t>DAILY QUIZ</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382000" cy="5334000"/>
          </a:xfrm>
        </p:spPr>
        <p:txBody>
          <a:bodyPr>
            <a:normAutofit/>
          </a:bodyPr>
          <a:lstStyle/>
          <a:p>
            <a:pPr marL="457200" indent="-457200">
              <a:buFont typeface="+mj-lt"/>
              <a:buAutoNum type="arabicPeriod"/>
            </a:pPr>
            <a:r>
              <a:rPr lang="en-US" dirty="0"/>
              <a:t>Explain the concept of image filtering and provide examples of commonly used filters in computer vision.</a:t>
            </a:r>
          </a:p>
          <a:p>
            <a:pPr marL="457200" indent="-457200">
              <a:buFont typeface="+mj-lt"/>
              <a:buAutoNum type="arabicPeriod"/>
            </a:pPr>
            <a:r>
              <a:rPr lang="en-US" dirty="0"/>
              <a:t>Discuss the differences between image classification and object detection in computer vision. Provide examples of each.</a:t>
            </a:r>
          </a:p>
          <a:p>
            <a:pPr marL="457200" indent="-457200">
              <a:buFont typeface="+mj-lt"/>
              <a:buAutoNum type="arabicPeriod"/>
            </a:pPr>
            <a:r>
              <a:rPr lang="en-US" dirty="0"/>
              <a:t>Explain the process of feature extraction in computer vision. How are features used in tasks like object recognition or image matching?</a:t>
            </a:r>
          </a:p>
          <a:p>
            <a:pPr marL="457200" indent="-457200">
              <a:buFont typeface="+mj-lt"/>
              <a:buAutoNum type="arabicPeriod"/>
            </a:pPr>
            <a:r>
              <a:rPr lang="en-US" dirty="0"/>
              <a:t>Describe the steps involved in building a convolutional neural network (CNN) for image classification. Discuss the purpose of each step.</a:t>
            </a:r>
          </a:p>
          <a:p>
            <a:pPr marL="457200" indent="-457200">
              <a:buFont typeface="+mj-lt"/>
              <a:buAutoNum type="arabicPeriod"/>
            </a:pPr>
            <a:endParaRPr lang="en-US" dirty="0"/>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WEEKLY</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ASSIGNMENT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382000" cy="5334000"/>
          </a:xfrm>
        </p:spPr>
        <p:txBody>
          <a:bodyPr>
            <a:normAutofit/>
          </a:bodyPr>
          <a:lstStyle/>
          <a:p>
            <a:pPr marL="457200" indent="-457200">
              <a:buFont typeface="+mj-lt"/>
              <a:buAutoNum type="arabicPeriod"/>
            </a:pPr>
            <a:r>
              <a:rPr lang="en-US" dirty="0"/>
              <a:t>Discuss the challenges and potential solutions for handling occlusion in object detection algorithms.</a:t>
            </a:r>
          </a:p>
          <a:p>
            <a:pPr marL="457200" indent="-457200">
              <a:buFont typeface="+mj-lt"/>
              <a:buAutoNum type="arabicPeriod"/>
            </a:pPr>
            <a:r>
              <a:rPr lang="en-US" dirty="0"/>
              <a:t>Compare and contrast traditional computer vision techniques with deep learning-based approaches. What are the advantages and limitations of each?</a:t>
            </a:r>
          </a:p>
          <a:p>
            <a:pPr marL="457200" indent="-457200">
              <a:buFont typeface="+mj-lt"/>
              <a:buAutoNum type="arabicPeriod"/>
            </a:pPr>
            <a:r>
              <a:rPr lang="en-US" dirty="0"/>
              <a:t>Explain the concept of image segmentation and its applications in computer vision. Discuss different segmentation methods.</a:t>
            </a:r>
          </a:p>
          <a:p>
            <a:pPr marL="457200" indent="-457200">
              <a:buFont typeface="+mj-lt"/>
              <a:buAutoNum type="arabicPeriod"/>
            </a:pPr>
            <a:r>
              <a:rPr lang="en-US" dirty="0"/>
              <a:t>Discuss the concept of optical flow in computer vision. How is it used to analyze motion in videos or sequences of images?</a:t>
            </a:r>
          </a:p>
          <a:p>
            <a:pPr marL="457200" indent="-457200">
              <a:buFont typeface="+mj-lt"/>
              <a:buAutoNum type="arabicPeriod"/>
            </a:pPr>
            <a:r>
              <a:rPr lang="en-US" dirty="0"/>
              <a:t>Explain the concept of image registration and its applications in computer vision. Provide examples of scenarios where image registration is useful.</a:t>
            </a:r>
          </a:p>
          <a:p>
            <a:pPr marL="457200" indent="-457200">
              <a:buFont typeface="+mj-lt"/>
              <a:buAutoNum type="arabicPeriod"/>
            </a:pPr>
            <a:r>
              <a:rPr lang="en-US" dirty="0"/>
              <a:t>Discuss the role of data augmentation techniques in computer vision tasks. How can data augmentation improve the performance of deep learning models?</a:t>
            </a:r>
          </a:p>
          <a:p>
            <a:pPr>
              <a:buNone/>
            </a:pPr>
            <a:endParaRPr lang="en-US" sz="1800" dirty="0"/>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dirty="0"/>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WEEKLY</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ASSIGNMENT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9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382000" cy="5334000"/>
          </a:xfrm>
        </p:spPr>
        <p:txBody>
          <a:bodyPr>
            <a:normAutofit fontScale="92500" lnSpcReduction="20000"/>
          </a:bodyPr>
          <a:lstStyle/>
          <a:p>
            <a:pPr marL="457200" indent="-457200">
              <a:buFont typeface="+mj-lt"/>
              <a:buAutoNum type="arabicPeriod"/>
            </a:pPr>
            <a:r>
              <a:rPr lang="en-US" dirty="0"/>
              <a:t>Explain the concept of object tracking in computer vision. Discuss different algorithms or techniques used for object tracking.</a:t>
            </a:r>
          </a:p>
          <a:p>
            <a:pPr marL="457200" indent="-457200">
              <a:buFont typeface="+mj-lt"/>
              <a:buAutoNum type="arabicPeriod"/>
            </a:pPr>
            <a:r>
              <a:rPr lang="en-US" dirty="0"/>
              <a:t>Describe the process of image recognition using convolutional neural networks (CNNs). What are the key components and steps involved?</a:t>
            </a:r>
          </a:p>
          <a:p>
            <a:pPr marL="457200" indent="-457200">
              <a:buFont typeface="+mj-lt"/>
              <a:buAutoNum type="arabicPeriod"/>
            </a:pPr>
            <a:r>
              <a:rPr lang="en-US" dirty="0"/>
              <a:t>Discuss the concept of depth estimation in computer vision. Explain how depth information can be extracted from 2D images.</a:t>
            </a:r>
          </a:p>
          <a:p>
            <a:pPr marL="457200" indent="-457200">
              <a:buFont typeface="+mj-lt"/>
              <a:buAutoNum type="arabicPeriod"/>
            </a:pPr>
            <a:r>
              <a:rPr lang="en-US" dirty="0"/>
              <a:t>Explain the concept of image stitching and its applications. How are multiple images combined to create a panoramic image?</a:t>
            </a:r>
          </a:p>
          <a:p>
            <a:pPr marL="457200" indent="-457200">
              <a:buFont typeface="+mj-lt"/>
              <a:buAutoNum type="arabicPeriod"/>
            </a:pPr>
            <a:r>
              <a:rPr lang="en-US" dirty="0"/>
              <a:t>Discuss the challenges and approaches for handling scale invariance in object detection algorithms.</a:t>
            </a:r>
          </a:p>
          <a:p>
            <a:pPr marL="457200" indent="-457200">
              <a:buFont typeface="+mj-lt"/>
              <a:buAutoNum type="arabicPeriod"/>
            </a:pPr>
            <a:r>
              <a:rPr lang="en-US" dirty="0"/>
              <a:t>Describe the concept of facial recognition in computer vision. Discuss its applications, advantages, and potential privacy concerns.</a:t>
            </a:r>
          </a:p>
          <a:p>
            <a:pPr marL="457200" indent="-457200">
              <a:buFont typeface="+mj-lt"/>
              <a:buAutoNum type="arabicPeriod"/>
            </a:pPr>
            <a:r>
              <a:rPr lang="en-US" dirty="0"/>
              <a:t>Explain the concept of semantic segmentation and its applications in computer vision. Provide examples of scenarios where semantic segmentation is useful.</a:t>
            </a:r>
          </a:p>
          <a:p>
            <a:pPr marL="457200" indent="-457200">
              <a:buFont typeface="+mj-lt"/>
              <a:buAutoNum type="arabicPeriod"/>
            </a:pPr>
            <a:r>
              <a:rPr lang="en-US" dirty="0"/>
              <a:t>Discuss the concept of object recognition using feature descriptors. Explain popular feature descriptor algorithms such as SIFT or SURF.</a:t>
            </a:r>
          </a:p>
          <a:p>
            <a:pPr marL="457200" indent="-457200">
              <a:buFont typeface="+mj-lt"/>
              <a:buAutoNum type="arabicPeriod"/>
            </a:pPr>
            <a:r>
              <a:rPr lang="en-US" dirty="0"/>
              <a:t>Explain the concept of image super-resolution and its applications. How can low-resolution images be enhanced to improve their quality?</a:t>
            </a:r>
          </a:p>
          <a:p>
            <a:pPr marL="457200" indent="-457200">
              <a:buFont typeface="+mj-lt"/>
              <a:buAutoNum type="arabicPeriod"/>
            </a:pPr>
            <a:r>
              <a:rPr lang="en-US" dirty="0"/>
              <a:t>Discuss the role of transfer learning in computer vision. How can pre-trained models be utilized for new tasks or datasets?</a:t>
            </a:r>
          </a:p>
          <a:p>
            <a:pPr>
              <a:buNone/>
            </a:pPr>
            <a:endParaRPr lang="en-US" sz="1800" dirty="0"/>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7" name="Title 1"/>
          <p:cNvSpPr txBox="1">
            <a:spLocks/>
          </p:cNvSpPr>
          <p:nvPr/>
        </p:nvSpPr>
        <p:spPr>
          <a:xfrm>
            <a:off x="1371600" y="0"/>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WEEKLY</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ASSIGNMENT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789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ppt_w</p:attrName>
                                        </p:attrNameLst>
                                      </p:cBhvr>
                                      <p:tavLst>
                                        <p:tav tm="0">
                                          <p:val>
                                            <p:strVal val="#ppt_w*0.70"/>
                                          </p:val>
                                        </p:tav>
                                        <p:tav tm="100000">
                                          <p:val>
                                            <p:strVal val="#ppt_w"/>
                                          </p:val>
                                        </p:tav>
                                      </p:tavLst>
                                    </p:anim>
                                    <p:anim calcmode="lin" valueType="num">
                                      <p:cBhvr>
                                        <p:cTn id="50" dur="1000" fill="hold"/>
                                        <p:tgtEl>
                                          <p:spTgt spid="3">
                                            <p:txEl>
                                              <p:pRg st="6" end="6"/>
                                            </p:txEl>
                                          </p:spTgt>
                                        </p:tgtEl>
                                        <p:attrNameLst>
                                          <p:attrName>ppt_h</p:attrName>
                                        </p:attrNameLst>
                                      </p:cBhvr>
                                      <p:tavLst>
                                        <p:tav tm="0">
                                          <p:val>
                                            <p:strVal val="#ppt_h"/>
                                          </p:val>
                                        </p:tav>
                                        <p:tav tm="100000">
                                          <p:val>
                                            <p:strVal val="#ppt_h"/>
                                          </p:val>
                                        </p:tav>
                                      </p:tavLst>
                                    </p:anim>
                                    <p:animEffect transition="in" filter="fade">
                                      <p:cBhvr>
                                        <p:cTn id="51" dur="10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1000" fill="hold"/>
                                        <p:tgtEl>
                                          <p:spTgt spid="3">
                                            <p:txEl>
                                              <p:pRg st="7" end="7"/>
                                            </p:txEl>
                                          </p:spTgt>
                                        </p:tgtEl>
                                        <p:attrNameLst>
                                          <p:attrName>ppt_w</p:attrName>
                                        </p:attrNameLst>
                                      </p:cBhvr>
                                      <p:tavLst>
                                        <p:tav tm="0">
                                          <p:val>
                                            <p:strVal val="#ppt_w*0.70"/>
                                          </p:val>
                                        </p:tav>
                                        <p:tav tm="100000">
                                          <p:val>
                                            <p:strVal val="#ppt_w"/>
                                          </p:val>
                                        </p:tav>
                                      </p:tavLst>
                                    </p:anim>
                                    <p:anim calcmode="lin" valueType="num">
                                      <p:cBhvr>
                                        <p:cTn id="57" dur="1000" fill="hold"/>
                                        <p:tgtEl>
                                          <p:spTgt spid="3">
                                            <p:txEl>
                                              <p:pRg st="7" end="7"/>
                                            </p:txEl>
                                          </p:spTgt>
                                        </p:tgtEl>
                                        <p:attrNameLst>
                                          <p:attrName>ppt_h</p:attrName>
                                        </p:attrNameLst>
                                      </p:cBhvr>
                                      <p:tavLst>
                                        <p:tav tm="0">
                                          <p:val>
                                            <p:strVal val="#ppt_h"/>
                                          </p:val>
                                        </p:tav>
                                        <p:tav tm="100000">
                                          <p:val>
                                            <p:strVal val="#ppt_h"/>
                                          </p:val>
                                        </p:tav>
                                      </p:tavLst>
                                    </p:anim>
                                    <p:animEffect transition="in" filter="fade">
                                      <p:cBhvr>
                                        <p:cTn id="58" dur="10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5"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1000" fill="hold"/>
                                        <p:tgtEl>
                                          <p:spTgt spid="3">
                                            <p:txEl>
                                              <p:pRg st="8" end="8"/>
                                            </p:txEl>
                                          </p:spTgt>
                                        </p:tgtEl>
                                        <p:attrNameLst>
                                          <p:attrName>ppt_w</p:attrName>
                                        </p:attrNameLst>
                                      </p:cBhvr>
                                      <p:tavLst>
                                        <p:tav tm="0">
                                          <p:val>
                                            <p:strVal val="#ppt_w*0.70"/>
                                          </p:val>
                                        </p:tav>
                                        <p:tav tm="100000">
                                          <p:val>
                                            <p:strVal val="#ppt_w"/>
                                          </p:val>
                                        </p:tav>
                                      </p:tavLst>
                                    </p:anim>
                                    <p:anim calcmode="lin" valueType="num">
                                      <p:cBhvr>
                                        <p:cTn id="64" dur="1000" fill="hold"/>
                                        <p:tgtEl>
                                          <p:spTgt spid="3">
                                            <p:txEl>
                                              <p:pRg st="8" end="8"/>
                                            </p:txEl>
                                          </p:spTgt>
                                        </p:tgtEl>
                                        <p:attrNameLst>
                                          <p:attrName>ppt_h</p:attrName>
                                        </p:attrNameLst>
                                      </p:cBhvr>
                                      <p:tavLst>
                                        <p:tav tm="0">
                                          <p:val>
                                            <p:strVal val="#ppt_h"/>
                                          </p:val>
                                        </p:tav>
                                        <p:tav tm="100000">
                                          <p:val>
                                            <p:strVal val="#ppt_h"/>
                                          </p:val>
                                        </p:tav>
                                      </p:tavLst>
                                    </p:anim>
                                    <p:animEffect transition="in" filter="fade">
                                      <p:cBhvr>
                                        <p:cTn id="65" dur="10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5"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1000" fill="hold"/>
                                        <p:tgtEl>
                                          <p:spTgt spid="3">
                                            <p:txEl>
                                              <p:pRg st="9" end="9"/>
                                            </p:txEl>
                                          </p:spTgt>
                                        </p:tgtEl>
                                        <p:attrNameLst>
                                          <p:attrName>ppt_w</p:attrName>
                                        </p:attrNameLst>
                                      </p:cBhvr>
                                      <p:tavLst>
                                        <p:tav tm="0">
                                          <p:val>
                                            <p:strVal val="#ppt_w*0.70"/>
                                          </p:val>
                                        </p:tav>
                                        <p:tav tm="100000">
                                          <p:val>
                                            <p:strVal val="#ppt_w"/>
                                          </p:val>
                                        </p:tav>
                                      </p:tavLst>
                                    </p:anim>
                                    <p:anim calcmode="lin" valueType="num">
                                      <p:cBhvr>
                                        <p:cTn id="71" dur="1000" fill="hold"/>
                                        <p:tgtEl>
                                          <p:spTgt spid="3">
                                            <p:txEl>
                                              <p:pRg st="9" end="9"/>
                                            </p:txEl>
                                          </p:spTgt>
                                        </p:tgtEl>
                                        <p:attrNameLst>
                                          <p:attrName>ppt_h</p:attrName>
                                        </p:attrNameLst>
                                      </p:cBhvr>
                                      <p:tavLst>
                                        <p:tav tm="0">
                                          <p:val>
                                            <p:strVal val="#ppt_h"/>
                                          </p:val>
                                        </p:tav>
                                        <p:tav tm="100000">
                                          <p:val>
                                            <p:strVal val="#ppt_h"/>
                                          </p:val>
                                        </p:tav>
                                      </p:tavLst>
                                    </p:anim>
                                    <p:animEffect transition="in" filter="fade">
                                      <p:cBhvr>
                                        <p:cTn id="72"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305800" cy="5334000"/>
          </a:xfrm>
        </p:spPr>
        <p:txBody>
          <a:bodyPr>
            <a:normAutofit lnSpcReduction="10000"/>
          </a:bodyPr>
          <a:lstStyle/>
          <a:p>
            <a:pPr marL="0" indent="0">
              <a:buNone/>
            </a:pPr>
            <a:r>
              <a:rPr lang="en-US" sz="1600" b="1" dirty="0">
                <a:latin typeface="Times New Roman" panose="02020603050405020304" pitchFamily="18" charset="0"/>
                <a:cs typeface="Times New Roman" panose="02020603050405020304" pitchFamily="18" charset="0"/>
              </a:rPr>
              <a:t>Question 1: What is computer vision?</a:t>
            </a:r>
          </a:p>
          <a:p>
            <a:pPr marL="0" indent="0">
              <a:buNone/>
            </a:pPr>
            <a:r>
              <a:rPr lang="en-US" sz="1600" dirty="0">
                <a:latin typeface="Times New Roman" panose="02020603050405020304" pitchFamily="18" charset="0"/>
                <a:cs typeface="Times New Roman" panose="02020603050405020304" pitchFamily="18" charset="0"/>
              </a:rPr>
              <a:t>A. The study of computers and their components </a:t>
            </a:r>
          </a:p>
          <a:p>
            <a:pPr marL="0" indent="0">
              <a:buNone/>
            </a:pPr>
            <a:r>
              <a:rPr lang="en-US" sz="1600" b="1" dirty="0">
                <a:latin typeface="Times New Roman" panose="02020603050405020304" pitchFamily="18" charset="0"/>
                <a:cs typeface="Times New Roman" panose="02020603050405020304" pitchFamily="18" charset="0"/>
              </a:rPr>
              <a:t>B. The field of processing and understanding visual data by computers</a:t>
            </a:r>
          </a:p>
          <a:p>
            <a:pPr marL="0" indent="0">
              <a:buNone/>
            </a:pPr>
            <a:r>
              <a:rPr lang="en-US" sz="1600" dirty="0">
                <a:latin typeface="Times New Roman" panose="02020603050405020304" pitchFamily="18" charset="0"/>
                <a:cs typeface="Times New Roman" panose="02020603050405020304" pitchFamily="18" charset="0"/>
              </a:rPr>
              <a:t> C. The development of computer software for image editing </a:t>
            </a:r>
          </a:p>
          <a:p>
            <a:pPr marL="0" indent="0">
              <a:buNone/>
            </a:pPr>
            <a:r>
              <a:rPr lang="en-US" sz="1600" dirty="0">
                <a:latin typeface="Times New Roman" panose="02020603050405020304" pitchFamily="18" charset="0"/>
                <a:cs typeface="Times New Roman" panose="02020603050405020304" pitchFamily="18" charset="0"/>
              </a:rPr>
              <a:t>D. The study of visual perception in humans</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Question 2: Which of the following is an application of computer vision?</a:t>
            </a:r>
          </a:p>
          <a:p>
            <a:pPr marL="0" indent="0">
              <a:buNone/>
            </a:pPr>
            <a:r>
              <a:rPr lang="en-US" sz="1600" dirty="0">
                <a:latin typeface="Times New Roman" panose="02020603050405020304" pitchFamily="18" charset="0"/>
                <a:cs typeface="Times New Roman" panose="02020603050405020304" pitchFamily="18" charset="0"/>
              </a:rPr>
              <a:t>A. Speech recognition </a:t>
            </a:r>
          </a:p>
          <a:p>
            <a:pPr marL="0" indent="0">
              <a:buNone/>
            </a:pPr>
            <a:r>
              <a:rPr lang="en-US" sz="1600" dirty="0">
                <a:latin typeface="Times New Roman" panose="02020603050405020304" pitchFamily="18" charset="0"/>
                <a:cs typeface="Times New Roman" panose="02020603050405020304" pitchFamily="18" charset="0"/>
              </a:rPr>
              <a:t>B. Natural language processing</a:t>
            </a:r>
          </a:p>
          <a:p>
            <a:pPr marL="0" indent="0">
              <a:buNone/>
            </a:pPr>
            <a:r>
              <a:rPr lang="en-US" sz="1600" b="1" dirty="0">
                <a:latin typeface="Times New Roman" panose="02020603050405020304" pitchFamily="18" charset="0"/>
                <a:cs typeface="Times New Roman" panose="02020603050405020304" pitchFamily="18" charset="0"/>
              </a:rPr>
              <a:t>C. Object detection </a:t>
            </a:r>
          </a:p>
          <a:p>
            <a:pPr marL="0" indent="0">
              <a:buNone/>
            </a:pPr>
            <a:r>
              <a:rPr lang="en-US" sz="1600" dirty="0">
                <a:latin typeface="Times New Roman" panose="02020603050405020304" pitchFamily="18" charset="0"/>
                <a:cs typeface="Times New Roman" panose="02020603050405020304" pitchFamily="18" charset="0"/>
              </a:rPr>
              <a:t>D. Network security</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Question 3: Which technique is commonly used for feature extraction in computer vision?</a:t>
            </a:r>
          </a:p>
          <a:p>
            <a:pPr marL="0" indent="0">
              <a:buNone/>
            </a:pPr>
            <a:r>
              <a:rPr lang="en-US" sz="1600" b="1" dirty="0">
                <a:latin typeface="Times New Roman" panose="02020603050405020304" pitchFamily="18" charset="0"/>
                <a:cs typeface="Times New Roman" panose="02020603050405020304" pitchFamily="18" charset="0"/>
              </a:rPr>
              <a:t>A. Convolutional Neural Networks (CNN) </a:t>
            </a:r>
          </a:p>
          <a:p>
            <a:pPr marL="0" indent="0">
              <a:buNone/>
            </a:pPr>
            <a:r>
              <a:rPr lang="en-US" sz="1600" dirty="0">
                <a:latin typeface="Times New Roman" panose="02020603050405020304" pitchFamily="18" charset="0"/>
                <a:cs typeface="Times New Roman" panose="02020603050405020304" pitchFamily="18" charset="0"/>
              </a:rPr>
              <a:t>B. Decision Trees </a:t>
            </a:r>
          </a:p>
          <a:p>
            <a:pPr marL="0" indent="0">
              <a:buNone/>
            </a:pPr>
            <a:r>
              <a:rPr lang="en-US" sz="1600" dirty="0">
                <a:latin typeface="Times New Roman" panose="02020603050405020304" pitchFamily="18" charset="0"/>
                <a:cs typeface="Times New Roman" panose="02020603050405020304" pitchFamily="18" charset="0"/>
              </a:rPr>
              <a:t>C. Support Vector Machines (SVM) </a:t>
            </a:r>
          </a:p>
          <a:p>
            <a:pPr marL="0" indent="0">
              <a:buNone/>
            </a:pPr>
            <a:r>
              <a:rPr lang="en-US" sz="1600" dirty="0">
                <a:latin typeface="Times New Roman" panose="02020603050405020304" pitchFamily="18" charset="0"/>
                <a:cs typeface="Times New Roman" panose="02020603050405020304" pitchFamily="18" charset="0"/>
              </a:rPr>
              <a:t>D. K-means clustering</a:t>
            </a:r>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229600" cy="5158188"/>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Question 4: What is the purpose of image segmentation in computer vision?</a:t>
            </a:r>
          </a:p>
          <a:p>
            <a:pPr marL="0" indent="0">
              <a:buNone/>
            </a:pPr>
            <a:r>
              <a:rPr lang="en-US" dirty="0">
                <a:latin typeface="Times New Roman" panose="02020603050405020304" pitchFamily="18" charset="0"/>
                <a:cs typeface="Times New Roman" panose="02020603050405020304" pitchFamily="18" charset="0"/>
              </a:rPr>
              <a:t>A. Classifying images into different categories </a:t>
            </a:r>
          </a:p>
          <a:p>
            <a:pPr marL="0" indent="0">
              <a:buNone/>
            </a:pPr>
            <a:r>
              <a:rPr lang="en-US" dirty="0">
                <a:latin typeface="Times New Roman" panose="02020603050405020304" pitchFamily="18" charset="0"/>
                <a:cs typeface="Times New Roman" panose="02020603050405020304" pitchFamily="18" charset="0"/>
              </a:rPr>
              <a:t>B. Detecting and recognizing objects in images </a:t>
            </a:r>
          </a:p>
          <a:p>
            <a:pPr marL="0" indent="0">
              <a:buNone/>
            </a:pPr>
            <a:r>
              <a:rPr lang="en-US" dirty="0">
                <a:latin typeface="Times New Roman" panose="02020603050405020304" pitchFamily="18" charset="0"/>
                <a:cs typeface="Times New Roman" panose="02020603050405020304" pitchFamily="18" charset="0"/>
              </a:rPr>
              <a:t>C. Enhancing and manipulating image quality </a:t>
            </a:r>
          </a:p>
          <a:p>
            <a:pPr marL="0" indent="0">
              <a:buNone/>
            </a:pPr>
            <a:r>
              <a:rPr lang="en-US" dirty="0">
                <a:latin typeface="Times New Roman" panose="02020603050405020304" pitchFamily="18" charset="0"/>
                <a:cs typeface="Times New Roman" panose="02020603050405020304" pitchFamily="18" charset="0"/>
              </a:rPr>
              <a:t>D. </a:t>
            </a:r>
            <a:r>
              <a:rPr lang="en-US" b="1" dirty="0">
                <a:latin typeface="Times New Roman" panose="02020603050405020304" pitchFamily="18" charset="0"/>
                <a:cs typeface="Times New Roman" panose="02020603050405020304" pitchFamily="18" charset="0"/>
              </a:rPr>
              <a:t>Dividing an image into meaningful regions or segments</a:t>
            </a:r>
          </a:p>
          <a:p>
            <a:pPr marL="0" indent="0">
              <a:buNone/>
            </a:pPr>
            <a:r>
              <a:rPr lang="en-US" b="1" dirty="0">
                <a:latin typeface="Times New Roman" panose="02020603050405020304" pitchFamily="18" charset="0"/>
                <a:cs typeface="Times New Roman" panose="02020603050405020304" pitchFamily="18" charset="0"/>
              </a:rPr>
              <a:t>Question 5: Which of the following is an example of an object recognition task in computer vision?</a:t>
            </a:r>
          </a:p>
          <a:p>
            <a:pPr marL="0" indent="0">
              <a:buNone/>
            </a:pPr>
            <a:r>
              <a:rPr lang="en-US" dirty="0">
                <a:latin typeface="Times New Roman" panose="02020603050405020304" pitchFamily="18" charset="0"/>
                <a:cs typeface="Times New Roman" panose="02020603050405020304" pitchFamily="18" charset="0"/>
              </a:rPr>
              <a:t>A. Determining the sentiment of an image</a:t>
            </a:r>
          </a:p>
          <a:p>
            <a:pPr marL="0" indent="0">
              <a:buNone/>
            </a:pPr>
            <a:r>
              <a:rPr lang="en-US" dirty="0">
                <a:latin typeface="Times New Roman" panose="02020603050405020304" pitchFamily="18" charset="0"/>
                <a:cs typeface="Times New Roman" panose="02020603050405020304" pitchFamily="18" charset="0"/>
              </a:rPr>
              <a:t> B. Identifying the boundaries of objects in an image</a:t>
            </a:r>
          </a:p>
          <a:p>
            <a:pPr marL="0" indent="0">
              <a:buNone/>
            </a:pPr>
            <a:r>
              <a:rPr lang="en-US" dirty="0">
                <a:latin typeface="Times New Roman" panose="02020603050405020304" pitchFamily="18" charset="0"/>
                <a:cs typeface="Times New Roman" panose="02020603050405020304" pitchFamily="18" charset="0"/>
              </a:rPr>
              <a:t> C</a:t>
            </a:r>
            <a:r>
              <a:rPr lang="en-US" b="1" dirty="0">
                <a:latin typeface="Times New Roman" panose="02020603050405020304" pitchFamily="18" charset="0"/>
                <a:cs typeface="Times New Roman" panose="02020603050405020304" pitchFamily="18" charset="0"/>
              </a:rPr>
              <a:t>. Recognizing specific objects in an image, such as cars or faces</a:t>
            </a:r>
          </a:p>
          <a:p>
            <a:pPr marL="0" indent="0">
              <a:buNone/>
            </a:pPr>
            <a:r>
              <a:rPr lang="en-US" dirty="0">
                <a:latin typeface="Times New Roman" panose="02020603050405020304" pitchFamily="18" charset="0"/>
                <a:cs typeface="Times New Roman" panose="02020603050405020304" pitchFamily="18" charset="0"/>
              </a:rPr>
              <a:t> D. Analyzing the texture or color distribution of an image</a:t>
            </a:r>
          </a:p>
          <a:p>
            <a:pPr marL="0" indent="0">
              <a:buNone/>
            </a:pPr>
            <a:r>
              <a:rPr lang="en-IN" b="1" dirty="0">
                <a:latin typeface="Times New Roman" panose="02020603050405020304" pitchFamily="18" charset="0"/>
                <a:cs typeface="Times New Roman" panose="02020603050405020304" pitchFamily="18" charset="0"/>
              </a:rPr>
              <a:t>Question 6: Which technique is commonly used for image classification in computer vision?</a:t>
            </a:r>
          </a:p>
          <a:p>
            <a:pPr marL="0" indent="0">
              <a:buNone/>
            </a:pPr>
            <a:r>
              <a:rPr lang="en-IN" dirty="0">
                <a:latin typeface="Times New Roman" panose="02020603050405020304" pitchFamily="18" charset="0"/>
                <a:cs typeface="Times New Roman" panose="02020603050405020304" pitchFamily="18" charset="0"/>
              </a:rPr>
              <a:t>A. Principal Component Analysis (PCA) </a:t>
            </a:r>
          </a:p>
          <a:p>
            <a:pPr marL="0" indent="0">
              <a:buNone/>
            </a:pPr>
            <a:r>
              <a:rPr lang="en-IN" dirty="0">
                <a:latin typeface="Times New Roman" panose="02020603050405020304" pitchFamily="18" charset="0"/>
                <a:cs typeface="Times New Roman" panose="02020603050405020304" pitchFamily="18" charset="0"/>
              </a:rPr>
              <a:t>B. Naive Bayes classifier </a:t>
            </a:r>
          </a:p>
          <a:p>
            <a:pPr marL="0" indent="0">
              <a:buNone/>
            </a:pPr>
            <a:r>
              <a:rPr lang="en-IN" dirty="0">
                <a:latin typeface="Times New Roman" panose="02020603050405020304" pitchFamily="18" charset="0"/>
                <a:cs typeface="Times New Roman" panose="02020603050405020304" pitchFamily="18" charset="0"/>
              </a:rPr>
              <a:t>C. Latent Semantic Analysis (LSA) </a:t>
            </a:r>
          </a:p>
          <a:p>
            <a:pPr marL="0" indent="0">
              <a:buNone/>
            </a:pPr>
            <a:r>
              <a:rPr lang="en-IN" dirty="0">
                <a:latin typeface="Times New Roman" panose="02020603050405020304" pitchFamily="18" charset="0"/>
                <a:cs typeface="Times New Roman" panose="02020603050405020304" pitchFamily="18" charset="0"/>
              </a:rPr>
              <a:t>D. </a:t>
            </a:r>
            <a:r>
              <a:rPr lang="en-IN" b="1" dirty="0">
                <a:latin typeface="Times New Roman" panose="02020603050405020304" pitchFamily="18" charset="0"/>
                <a:cs typeface="Times New Roman" panose="02020603050405020304" pitchFamily="18" charset="0"/>
              </a:rPr>
              <a:t>Convolutional Neural Networks (CNN)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a:xfrm>
            <a:off x="1600200" y="6356350"/>
            <a:ext cx="6019800" cy="365125"/>
          </a:xfrm>
        </p:spPr>
        <p:txBody>
          <a:bodyPr/>
          <a:lstStyle/>
          <a:p>
            <a:r>
              <a:rPr lang="sv-SE" dirty="0"/>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p:sp>
        <p:nvSpPr>
          <p:cNvPr id="6"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r>
              <a:rPr kumimoji="0" lang="en-US" sz="2400" b="1" i="0" u="sng" strike="noStrike" kern="1200" cap="none" spc="0" normalizeH="0" noProof="0" dirty="0" err="1">
                <a:ln>
                  <a:noFill/>
                </a:ln>
                <a:solidFill>
                  <a:schemeClr val="dk1"/>
                </a:solidFill>
                <a:effectLst>
                  <a:outerShdw blurRad="38100" dist="38100" dir="2700000" algn="tl">
                    <a:srgbClr val="000000">
                      <a:alpha val="43137"/>
                    </a:srgbClr>
                  </a:outerShdw>
                </a:effectLst>
                <a:uLnTx/>
                <a:uFillTx/>
                <a:latin typeface="+mn-lt"/>
                <a:ea typeface="+mn-ea"/>
                <a:cs typeface="+mn-cs"/>
              </a:rPr>
              <a:t>CONT’d</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sp>
        <p:nvSpPr>
          <p:cNvPr id="7" name="TextBox 6"/>
          <p:cNvSpPr txBox="1"/>
          <p:nvPr/>
        </p:nvSpPr>
        <p:spPr>
          <a:xfrm>
            <a:off x="457200" y="838200"/>
            <a:ext cx="8458200" cy="369332"/>
          </a:xfrm>
          <a:prstGeom prst="rect">
            <a:avLst/>
          </a:prstGeom>
          <a:noFill/>
        </p:spPr>
        <p:txBody>
          <a:bodyPr wrap="square" rtlCol="0">
            <a:spAutoFit/>
          </a:bodyPr>
          <a:lstStyle/>
          <a:p>
            <a:endParaRPr lang="en-US" dirty="0"/>
          </a:p>
        </p:txBody>
      </p:sp>
      <p:sp>
        <p:nvSpPr>
          <p:cNvPr id="8" name="Rectangle 7"/>
          <p:cNvSpPr/>
          <p:nvPr/>
        </p:nvSpPr>
        <p:spPr>
          <a:xfrm>
            <a:off x="266700" y="838199"/>
            <a:ext cx="8839200" cy="5859553"/>
          </a:xfrm>
          <a:prstGeom prst="rect">
            <a:avLst/>
          </a:prstGeom>
        </p:spPr>
        <p:txBody>
          <a:bodyPr wrap="square">
            <a:spAutoFit/>
          </a:bodyPr>
          <a:lstStyle/>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computer vision? Answer: c. Computer vision is a field of artificial intelligence that focuses on enabling computers to interpret and understand visual information from images or videos.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Name three common applications of computer vision. Answer: a. Autonomous vehicles, b. Object recognition, c. Medical image analysis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purpose of image segmentation in computer vision? Answer: b. Image segmentation aims to partition an image into meaningful regions or segments to facilitate object detection, tracking, or analysis.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difference between object detection and object recognition? Answer: c. Object detection involves both localizing and classifying objects within an image, while object recognition focuses solely on identifying objects without localizing them.</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Explain the concept of convolution in convolutional neural networks (CNNs). Answer: a. Convolution involves applying a filter/kernel to an input image or feature map, computing element-wise multiplications, and summing the results to produce a feature map.</a:t>
            </a: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1/5/2020</a:t>
            </a:r>
          </a:p>
        </p:txBody>
      </p:sp>
      <p:sp>
        <p:nvSpPr>
          <p:cNvPr id="3" name="Footer Placeholder 2"/>
          <p:cNvSpPr>
            <a:spLocks noGrp="1"/>
          </p:cNvSpPr>
          <p:nvPr>
            <p:ph type="ftr" sz="quarter" idx="11"/>
          </p:nvPr>
        </p:nvSpPr>
        <p:spPr>
          <a:xfrm>
            <a:off x="1600200" y="6356350"/>
            <a:ext cx="6019800" cy="365125"/>
          </a:xfrm>
        </p:spPr>
        <p:txBody>
          <a:bodyPr/>
          <a:lstStyle/>
          <a:p>
            <a:r>
              <a:rPr lang="sv-SE"/>
              <a:t>Mr K PRABHANJAN KUMAR                COMPUTER VISION  UNIT- 1</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sp>
        <p:nvSpPr>
          <p:cNvPr id="6"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r>
              <a:rPr kumimoji="0" lang="en-US" sz="2400" b="1" i="0" u="sng" strike="noStrike" kern="1200" cap="none" spc="0" normalizeH="0" noProof="0" dirty="0" err="1">
                <a:ln>
                  <a:noFill/>
                </a:ln>
                <a:solidFill>
                  <a:schemeClr val="dk1"/>
                </a:solidFill>
                <a:effectLst>
                  <a:outerShdw blurRad="38100" dist="38100" dir="2700000" algn="tl">
                    <a:srgbClr val="000000">
                      <a:alpha val="43137"/>
                    </a:srgbClr>
                  </a:outerShdw>
                </a:effectLst>
                <a:uLnTx/>
                <a:uFillTx/>
                <a:latin typeface="+mn-lt"/>
                <a:ea typeface="+mn-ea"/>
                <a:cs typeface="+mn-cs"/>
              </a:rPr>
              <a:t>CONT’d</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sp>
        <p:nvSpPr>
          <p:cNvPr id="8" name="Rectangle 7"/>
          <p:cNvSpPr/>
          <p:nvPr/>
        </p:nvSpPr>
        <p:spPr>
          <a:xfrm>
            <a:off x="87923" y="715172"/>
            <a:ext cx="9067800" cy="5493812"/>
          </a:xfrm>
          <a:prstGeom prst="rect">
            <a:avLst/>
          </a:prstGeom>
        </p:spPr>
        <p:txBody>
          <a:bodyPr wrap="square">
            <a:spAutoFit/>
          </a:bodyPr>
          <a:lstStyle/>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optical character recognition (OCR) used for in computer vision? Answer: b. OCR is used to convert printed or handwritten text from images into machine-readable text, enabling automated text analysis or data extraction.</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purpose of non-maximum suppression in object detection algorithms? Answer: a. Non-maximum suppression is used to eliminate redundant bounding box detections by keeping only the most confident detection and suppressing overlapping or lower-confidence detections.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are some common challenges faced in computer vision tasks? Answer: c. Variations in lighting conditions, occlusion, viewpoint changes, and limited labeled data are common challenges in computer vision tasks.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difference between supervised and unsupervised learning in computer vision? Answer: b. Supervised learning requires labeled training data, where input images are associated with corresponding ground-truth labels. Unsupervised learning involves learning patterns or structures from unlabeled data without explicit labels.</a:t>
            </a:r>
          </a:p>
        </p:txBody>
      </p:sp>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1816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SUMMARY</a:t>
            </a:r>
          </a:p>
        </p:txBody>
      </p:sp>
      <p:sp>
        <p:nvSpPr>
          <p:cNvPr id="9" name="TextBox 8"/>
          <p:cNvSpPr txBox="1"/>
          <p:nvPr/>
        </p:nvSpPr>
        <p:spPr>
          <a:xfrm>
            <a:off x="533400" y="990600"/>
            <a:ext cx="8153400" cy="4801314"/>
          </a:xfrm>
          <a:prstGeom prst="rect">
            <a:avLst/>
          </a:prstGeom>
          <a:noFill/>
        </p:spPr>
        <p:txBody>
          <a:bodyPr wrap="square" rtlCol="0">
            <a:spAutoFit/>
          </a:bodyPr>
          <a:lstStyle/>
          <a:p>
            <a:pPr marL="2857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is a field of study that deals with the extraction of information from images or videos to understand and interpret visual data. It involves the development of algorithms and techniques to enable computers to perceive and understand the visual world in a way similar to humans.</a:t>
            </a:r>
          </a:p>
          <a:p>
            <a:pPr marL="285750" indent="-285750"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encompasses various tasks and applications, including image classification, object detection, image segmentation, facial recognition, scene understanding, and video analysis. These tasks involve processing and analyzing visual data to extract meaningful information and make decisions based on it.</a:t>
            </a:r>
          </a:p>
          <a:p>
            <a:pPr marL="285750" indent="-285750"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fundamental concepts in computer vision include image formation, image processing, feature extraction, and pattern recognition. Image formation deals with how images are captured and represented using pixels. Image processing techniques are used to enhance and manipulate images to improve their quality or extract specific information. Feature extraction involves identifying relevant visual characteristics or patterns from images that can be used for tasks like object recognition or tracking.</a:t>
            </a: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514600" y="6356350"/>
            <a:ext cx="51816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SUMMARY</a:t>
            </a:r>
          </a:p>
        </p:txBody>
      </p:sp>
      <p:sp>
        <p:nvSpPr>
          <p:cNvPr id="9" name="TextBox 8"/>
          <p:cNvSpPr txBox="1"/>
          <p:nvPr/>
        </p:nvSpPr>
        <p:spPr>
          <a:xfrm>
            <a:off x="533400" y="990600"/>
            <a:ext cx="8153400" cy="4801314"/>
          </a:xfrm>
          <a:prstGeom prst="rect">
            <a:avLst/>
          </a:prstGeom>
          <a:noFill/>
        </p:spPr>
        <p:txBody>
          <a:bodyPr wrap="square" rtlCol="0">
            <a:spAutoFit/>
          </a:bodyPr>
          <a:lstStyle/>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techniques employ both traditional computer vision algorithms and deep learning approaches. Traditional algorithms rely on handcrafted features and mathematical models to process and analyze visual data. Deep learning methods, particularly convolutional neural networks (CNNs), have gained popularity in recent years due to their ability to learn directly from raw pixel data and achieve state-of-the-art results in various computer vision tasks.</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finds applications in diverse fields such as autonomous vehicles, surveillance systems, medical imaging, robotics, augmented reality, and industrial automation. It plays a crucial role in enabling machines to understand and interact with the visual world, opening up possibilities for advanced applications and advancements in numerous domains.</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As computer vision continues to evolve, researchers and practitioners explore new techniques, algorithms, and applications to tackle more complex challenges and improve the accuracy and efficiency of visual understanding by machines.</a:t>
            </a: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3196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0" y="914400"/>
            <a:ext cx="9144000" cy="5121915"/>
          </a:xfrm>
          <a:prstGeom prst="rect">
            <a:avLst/>
          </a:prstGeom>
          <a:noFill/>
        </p:spPr>
        <p:txBody>
          <a:bodyPr wrap="square" lIns="91440" tIns="45720" rIns="91440" bIns="45720">
            <a:spAutoFit/>
          </a:bodyPr>
          <a:lstStyle/>
          <a:p>
            <a:r>
              <a:rPr lang="en-US" dirty="0"/>
              <a:t>"Computer Vision: Algorithms and Applications" by Richard </a:t>
            </a:r>
            <a:r>
              <a:rPr lang="en-US" dirty="0" err="1"/>
              <a:t>Szeliski</a:t>
            </a:r>
            <a:endParaRPr lang="en-US" dirty="0"/>
          </a:p>
          <a:p>
            <a:pPr lvl="1"/>
            <a:r>
              <a:rPr lang="en-US" dirty="0"/>
              <a:t>This comprehensive book covers the fundamental concepts and algorithms in computer vision, including image formation, image features, stereo vision, multiple view geometry, and object recognition. It also includes numerous examples and MATLAB code snippets.</a:t>
            </a:r>
          </a:p>
          <a:p>
            <a:r>
              <a:rPr lang="en-US" dirty="0"/>
              <a:t>"Deep Learning for Computer Vision with Python" by Adrian </a:t>
            </a:r>
            <a:r>
              <a:rPr lang="en-US" dirty="0" err="1"/>
              <a:t>Rosebrock</a:t>
            </a:r>
            <a:endParaRPr lang="en-US" dirty="0"/>
          </a:p>
          <a:p>
            <a:pPr lvl="1"/>
            <a:r>
              <a:rPr lang="en-US" dirty="0"/>
              <a:t>This book focuses on applying deep learning techniques to solve computer vision problems. It covers topics such as convolutional neural networks (CNNs), image classification, object detection, and image segmentation. The book provides practical examples and code implementations using Python and the </a:t>
            </a:r>
            <a:r>
              <a:rPr lang="en-US" dirty="0" err="1"/>
              <a:t>Keras</a:t>
            </a:r>
            <a:r>
              <a:rPr lang="en-US" dirty="0"/>
              <a:t> library.</a:t>
            </a:r>
          </a:p>
          <a:p>
            <a:r>
              <a:rPr lang="en-US" dirty="0"/>
              <a:t>"Computer Vision: Models, Learning, and Inference" by Simon J.D. Prince</a:t>
            </a:r>
          </a:p>
          <a:p>
            <a:pPr lvl="1"/>
            <a:r>
              <a:rPr lang="en-US" dirty="0"/>
              <a:t>This book provides a comprehensive introduction to computer vision, covering various topics such as image formation, filtering, feature detection and matching, object recognition, and 3D reconstruction. It also includes discussions on statistical and probabilistic models in computer vision.</a:t>
            </a:r>
            <a:endParaRPr lang="en-US" sz="1800" dirty="0">
              <a:solidFill>
                <a:srgbClr val="002060"/>
              </a:solidFill>
            </a:endParaRPr>
          </a:p>
          <a:p>
            <a:pPr>
              <a:buFont typeface="Wingdings" pitchFamily="2" charset="2"/>
              <a:buChar char="Ø"/>
            </a:pPr>
            <a:r>
              <a:rPr lang="en-US" sz="1800" dirty="0">
                <a:solidFill>
                  <a:srgbClr val="002060"/>
                </a:solidFill>
                <a:hlinkClick r:id="rId2"/>
              </a:rPr>
              <a:t>https://www.oreilly.com/library/view/datawarehousingarchitecture/0130809020/ch07.html</a:t>
            </a:r>
            <a:endParaRPr lang="en-US" sz="1800" dirty="0">
              <a:solidFill>
                <a:srgbClr val="002060"/>
              </a:solidFill>
            </a:endParaRPr>
          </a:p>
          <a:p>
            <a:pPr>
              <a:buFont typeface="Wingdings" pitchFamily="2" charset="2"/>
              <a:buChar char="Ø"/>
            </a:pPr>
            <a:r>
              <a:rPr lang="en-US" sz="1800" dirty="0">
                <a:solidFill>
                  <a:srgbClr val="002060"/>
                </a:solidFill>
                <a:hlinkClick r:id="rId3"/>
              </a:rPr>
              <a:t>https://www.slideshare.net/2cdude/data-warehousing-3292359</a:t>
            </a:r>
            <a:endParaRPr lang="en-US" sz="1800" dirty="0">
              <a:solidFill>
                <a:srgbClr val="002060"/>
              </a:solidFill>
            </a:endParaRPr>
          </a:p>
          <a:p>
            <a:pPr>
              <a:buFont typeface="Wingdings" pitchFamily="2" charset="2"/>
              <a:buChar char="Ø"/>
            </a:pPr>
            <a:endParaRPr lang="en-US" sz="1800" dirty="0">
              <a:ln w="10541" cmpd="sng">
                <a:solidFill>
                  <a:schemeClr val="accent1">
                    <a:shade val="88000"/>
                    <a:satMod val="110000"/>
                  </a:schemeClr>
                </a:solidFill>
                <a:prstDash val="solid"/>
              </a:ln>
              <a:solidFill>
                <a:srgbClr val="002060"/>
              </a:solidFill>
            </a:endParaRPr>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sv-SE"/>
              <a:t>Mr K PRABHANJAN KUMAR                COMPUTER VISION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endParaRPr kumimoji="0" lang="en-US" sz="2400" b="1" i="0" u="none" strike="noStrike" kern="1200" cap="none" spc="0" normalizeH="0" baseline="0" noProof="0" dirty="0">
              <a:ln>
                <a:noFill/>
              </a:ln>
              <a:solidFill>
                <a:schemeClr val="dk1"/>
              </a:solidFill>
              <a:effectLst/>
              <a:uLnTx/>
              <a:uFillTx/>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2202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chemeClr val="tx1"/>
                </a:solidFill>
              </a:rPr>
              <a:t>1/5/2020</a:t>
            </a:r>
            <a:endParaRPr lang="en-US" dirty="0">
              <a:solidFill>
                <a:schemeClr val="tx1"/>
              </a:solidFill>
            </a:endParaRPr>
          </a:p>
        </p:txBody>
      </p:sp>
      <p:sp>
        <p:nvSpPr>
          <p:cNvPr id="5" name="Footer Placeholder 4"/>
          <p:cNvSpPr>
            <a:spLocks noGrp="1"/>
          </p:cNvSpPr>
          <p:nvPr>
            <p:ph type="ftr" sz="quarter" idx="11"/>
          </p:nvPr>
        </p:nvSpPr>
        <p:spPr>
          <a:xfrm>
            <a:off x="2209800" y="6356350"/>
            <a:ext cx="5562600" cy="365125"/>
          </a:xfrm>
        </p:spPr>
        <p:txBody>
          <a:bodyPr/>
          <a:lstStyle/>
          <a:p>
            <a:r>
              <a:rPr lang="sv-SE">
                <a:solidFill>
                  <a:schemeClr val="tx1"/>
                </a:solidFill>
              </a:rPr>
              <a:t>Mr K PRABHANJAN KUMAR                COMPUTER VISION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chemeClr val="tx1"/>
                </a:solidFill>
              </a:rPr>
              <a:pPr/>
              <a:t>76</a:t>
            </a:fld>
            <a:endParaRPr lang="en-US">
              <a:solidFill>
                <a:schemeClr val="tx1"/>
              </a:solidFill>
            </a:endParaRPr>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r>
              <a:rPr lang="en-GB" dirty="0"/>
              <a:t>Any Certification/Courses  for this subject</a:t>
            </a: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3183563391"/>
              </p:ext>
            </p:extLst>
          </p:nvPr>
        </p:nvGraphicFramePr>
        <p:xfrm>
          <a:off x="533401" y="1219200"/>
          <a:ext cx="8305798" cy="4724401"/>
        </p:xfrm>
        <a:graphic>
          <a:graphicData uri="http://schemas.openxmlformats.org/drawingml/2006/table">
            <a:tbl>
              <a:tblPr firstRow="1" firstCol="1" bandRow="1">
                <a:tableStyleId>{5C22544A-7EE6-4342-B048-85BDC9FD1C3A}</a:tableStyleId>
              </a:tblPr>
              <a:tblGrid>
                <a:gridCol w="1350191">
                  <a:extLst>
                    <a:ext uri="{9D8B030D-6E8A-4147-A177-3AD203B41FA5}">
                      <a16:colId xmlns:a16="http://schemas.microsoft.com/office/drawing/2014/main" val="2548052676"/>
                    </a:ext>
                  </a:extLst>
                </a:gridCol>
                <a:gridCol w="1617681">
                  <a:extLst>
                    <a:ext uri="{9D8B030D-6E8A-4147-A177-3AD203B41FA5}">
                      <a16:colId xmlns:a16="http://schemas.microsoft.com/office/drawing/2014/main" val="119515832"/>
                    </a:ext>
                  </a:extLst>
                </a:gridCol>
                <a:gridCol w="942587">
                  <a:extLst>
                    <a:ext uri="{9D8B030D-6E8A-4147-A177-3AD203B41FA5}">
                      <a16:colId xmlns:a16="http://schemas.microsoft.com/office/drawing/2014/main" val="4045659361"/>
                    </a:ext>
                  </a:extLst>
                </a:gridCol>
                <a:gridCol w="1783272">
                  <a:extLst>
                    <a:ext uri="{9D8B030D-6E8A-4147-A177-3AD203B41FA5}">
                      <a16:colId xmlns:a16="http://schemas.microsoft.com/office/drawing/2014/main" val="882892349"/>
                    </a:ext>
                  </a:extLst>
                </a:gridCol>
                <a:gridCol w="2612067">
                  <a:extLst>
                    <a:ext uri="{9D8B030D-6E8A-4147-A177-3AD203B41FA5}">
                      <a16:colId xmlns:a16="http://schemas.microsoft.com/office/drawing/2014/main" val="2377126745"/>
                    </a:ext>
                  </a:extLst>
                </a:gridCol>
              </a:tblGrid>
              <a:tr h="936430">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Course Name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Offered By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Duration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dirty="0">
                          <a:effectLst/>
                          <a:latin typeface="Times New Roman" panose="02020603050405020304" pitchFamily="18" charset="0"/>
                          <a:cs typeface="Times New Roman" panose="02020603050405020304" pitchFamily="18" charset="0"/>
                        </a:rPr>
                        <a:t>Rating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Link</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extLst>
                  <a:ext uri="{0D108BD9-81ED-4DB2-BD59-A6C34878D82A}">
                    <a16:rowId xmlns:a16="http://schemas.microsoft.com/office/drawing/2014/main" val="113882771"/>
                  </a:ext>
                </a:extLst>
              </a:tr>
              <a:tr h="2372764">
                <a:tc>
                  <a:txBody>
                    <a:bodyPr/>
                    <a:lstStyle/>
                    <a:p>
                      <a:pPr fontAlgn="base">
                        <a:lnSpc>
                          <a:spcPct val="107000"/>
                        </a:lnSpc>
                        <a:spcAft>
                          <a:spcPts val="0"/>
                        </a:spcAft>
                      </a:pPr>
                      <a:r>
                        <a:rPr lang="en-IN" sz="1800" dirty="0">
                          <a:effectLst/>
                          <a:latin typeface="Times New Roman" panose="02020603050405020304" pitchFamily="18" charset="0"/>
                          <a:cs typeface="Times New Roman" panose="02020603050405020304" pitchFamily="18" charset="0"/>
                        </a:rPr>
                        <a:t>Introduction to Computer Vision and Image Processing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dirty="0">
                          <a:effectLst/>
                          <a:latin typeface="Times New Roman" panose="02020603050405020304" pitchFamily="18" charset="0"/>
                          <a:cs typeface="Times New Roman" panose="02020603050405020304" pitchFamily="18" charset="0"/>
                        </a:rPr>
                        <a:t>IBM</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1-4 weeks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4.4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https://www.coursera.org/learn/introduction-computer-vision-watson-opencv#about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solidFill>
                      <a:schemeClr val="accent2">
                        <a:lumMod val="75000"/>
                      </a:schemeClr>
                    </a:solidFill>
                  </a:tcPr>
                </a:tc>
                <a:extLst>
                  <a:ext uri="{0D108BD9-81ED-4DB2-BD59-A6C34878D82A}">
                    <a16:rowId xmlns:a16="http://schemas.microsoft.com/office/drawing/2014/main" val="2940350439"/>
                  </a:ext>
                </a:extLst>
              </a:tr>
              <a:tr h="1415207">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Computer Vision Basics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University at Buffalo</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1-4 weeks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4.2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dirty="0">
                          <a:effectLst/>
                          <a:latin typeface="Times New Roman" panose="02020603050405020304" pitchFamily="18" charset="0"/>
                          <a:cs typeface="Times New Roman" panose="02020603050405020304" pitchFamily="18" charset="0"/>
                        </a:rPr>
                        <a:t>https://www.coursera.org/learn/computer-vision-basics#syllabus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solidFill>
                      <a:schemeClr val="accent2">
                        <a:lumMod val="75000"/>
                      </a:schemeClr>
                    </a:solidFill>
                  </a:tcPr>
                </a:tc>
                <a:extLst>
                  <a:ext uri="{0D108BD9-81ED-4DB2-BD59-A6C34878D82A}">
                    <a16:rowId xmlns:a16="http://schemas.microsoft.com/office/drawing/2014/main" val="1377299049"/>
                  </a:ext>
                </a:extLst>
              </a:tr>
            </a:tbl>
          </a:graphicData>
        </a:graphic>
      </p:graphicFrame>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8261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chemeClr val="tx1"/>
                </a:solidFill>
              </a:rPr>
              <a:t>1/5/2020</a:t>
            </a:r>
            <a:endParaRPr lang="en-US" dirty="0">
              <a:solidFill>
                <a:schemeClr val="tx1"/>
              </a:solidFill>
            </a:endParaRPr>
          </a:p>
        </p:txBody>
      </p:sp>
      <p:sp>
        <p:nvSpPr>
          <p:cNvPr id="5" name="Footer Placeholder 4"/>
          <p:cNvSpPr>
            <a:spLocks noGrp="1"/>
          </p:cNvSpPr>
          <p:nvPr>
            <p:ph type="ftr" sz="quarter" idx="11"/>
          </p:nvPr>
        </p:nvSpPr>
        <p:spPr>
          <a:xfrm>
            <a:off x="2209800" y="6356350"/>
            <a:ext cx="5562600" cy="365125"/>
          </a:xfrm>
        </p:spPr>
        <p:txBody>
          <a:bodyPr/>
          <a:lstStyle/>
          <a:p>
            <a:r>
              <a:rPr lang="sv-SE">
                <a:solidFill>
                  <a:schemeClr val="tx1"/>
                </a:solidFill>
              </a:rPr>
              <a:t>Mr K PRABHANJAN KUMAR                COMPUTER VISION  UNIT- 1</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chemeClr val="tx1"/>
                </a:solidFill>
              </a:rPr>
              <a:pPr/>
              <a:t>77</a:t>
            </a:fld>
            <a:endParaRPr lang="en-US">
              <a:solidFill>
                <a:schemeClr val="tx1"/>
              </a:solidFill>
            </a:endParaRPr>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OPTIONAL  /  CASE STUDIES</a:t>
            </a:r>
            <a:endParaRPr kumimoji="0" lang="en-US" sz="2400" b="1" i="0" u="none" strike="noStrike" kern="1200" cap="none" spc="0" normalizeH="0" baseline="0" noProof="0" dirty="0">
              <a:ln>
                <a:noFill/>
              </a:ln>
              <a:solidFill>
                <a:schemeClr val="tx1"/>
              </a:solidFill>
              <a:effectLst/>
              <a:uLnTx/>
              <a:uFillTx/>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3" name="Table 2"/>
          <p:cNvGraphicFramePr>
            <a:graphicFrameLocks noGrp="1"/>
          </p:cNvGraphicFramePr>
          <p:nvPr>
            <p:extLst>
              <p:ext uri="{D42A27DB-BD31-4B8C-83A1-F6EECF244321}">
                <p14:modId xmlns:p14="http://schemas.microsoft.com/office/powerpoint/2010/main" val="1051871322"/>
              </p:ext>
            </p:extLst>
          </p:nvPr>
        </p:nvGraphicFramePr>
        <p:xfrm>
          <a:off x="914400" y="1600198"/>
          <a:ext cx="7924800" cy="4624790"/>
        </p:xfrm>
        <a:graphic>
          <a:graphicData uri="http://schemas.openxmlformats.org/drawingml/2006/table">
            <a:tbl>
              <a:tblPr firstRow="1" firstCol="1" bandRow="1">
                <a:tableStyleId>{5C22544A-7EE6-4342-B048-85BDC9FD1C3A}</a:tableStyleId>
              </a:tblPr>
              <a:tblGrid>
                <a:gridCol w="7924800">
                  <a:extLst>
                    <a:ext uri="{9D8B030D-6E8A-4147-A177-3AD203B41FA5}">
                      <a16:colId xmlns:a16="http://schemas.microsoft.com/office/drawing/2014/main" val="2934558324"/>
                    </a:ext>
                  </a:extLst>
                </a:gridCol>
              </a:tblGrid>
              <a:tr h="630610">
                <a:tc>
                  <a:txBody>
                    <a:bodyPr/>
                    <a:lstStyle/>
                    <a:p>
                      <a:pPr algn="ctr" fontAlgn="base">
                        <a:lnSpc>
                          <a:spcPct val="107000"/>
                        </a:lnSpc>
                        <a:spcAft>
                          <a:spcPts val="0"/>
                        </a:spcAft>
                      </a:pPr>
                      <a:r>
                        <a:rPr lang="en-IN" sz="1800" dirty="0">
                          <a:solidFill>
                            <a:schemeClr val="tx1"/>
                          </a:solidFill>
                          <a:effectLst/>
                          <a:latin typeface="Times New Roman" panose="02020603050405020304" pitchFamily="18" charset="0"/>
                          <a:cs typeface="Times New Roman" panose="02020603050405020304" pitchFamily="18" charset="0"/>
                        </a:rPr>
                        <a:t> OPTIONAL  /  CASE STUDIES</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1078949975"/>
                  </a:ext>
                </a:extLst>
              </a:tr>
              <a:tr h="913703">
                <a:tc>
                  <a:txBody>
                    <a:bodyPr/>
                    <a:lstStyle/>
                    <a:p>
                      <a:pPr>
                        <a:lnSpc>
                          <a:spcPct val="107000"/>
                        </a:lnSpc>
                        <a:spcAft>
                          <a:spcPts val="800"/>
                        </a:spcAft>
                      </a:pPr>
                      <a:r>
                        <a:rPr lang="en-IN" sz="1800" dirty="0">
                          <a:solidFill>
                            <a:schemeClr val="tx1"/>
                          </a:solidFill>
                          <a:effectLst/>
                          <a:latin typeface="Times New Roman" panose="02020603050405020304" pitchFamily="18" charset="0"/>
                          <a:cs typeface="Times New Roman" panose="02020603050405020304" pitchFamily="18" charset="0"/>
                        </a:rPr>
                        <a:t>Factors influencing the adoption of new mobility technologies and services:,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2715613295"/>
                  </a:ext>
                </a:extLst>
              </a:tr>
              <a:tr h="913703">
                <a:tc>
                  <a:txBody>
                    <a:bodyPr/>
                    <a:lstStyle/>
                    <a:p>
                      <a:pPr>
                        <a:lnSpc>
                          <a:spcPct val="107000"/>
                        </a:lnSpc>
                        <a:spcAft>
                          <a:spcPts val="800"/>
                        </a:spcAft>
                      </a:pPr>
                      <a:r>
                        <a:rPr lang="en-IN" sz="1800">
                          <a:solidFill>
                            <a:schemeClr val="tx1"/>
                          </a:solidFill>
                          <a:effectLst/>
                          <a:latin typeface="Times New Roman" panose="02020603050405020304" pitchFamily="18" charset="0"/>
                          <a:cs typeface="Times New Roman" panose="02020603050405020304" pitchFamily="18" charset="0"/>
                        </a:rPr>
                        <a:t> 1 Drone Systems and Applications ( Healthcare, Agriculture, Security)</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1493892882"/>
                  </a:ext>
                </a:extLst>
              </a:tr>
              <a:tr h="722258">
                <a:tc>
                  <a:txBody>
                    <a:bodyPr/>
                    <a:lstStyle/>
                    <a:p>
                      <a:pPr>
                        <a:lnSpc>
                          <a:spcPct val="107000"/>
                        </a:lnSpc>
                        <a:spcAft>
                          <a:spcPts val="800"/>
                        </a:spcAft>
                      </a:pPr>
                      <a:r>
                        <a:rPr lang="en-IN" sz="1800">
                          <a:solidFill>
                            <a:schemeClr val="tx1"/>
                          </a:solidFill>
                          <a:effectLst/>
                          <a:latin typeface="Times New Roman" panose="02020603050405020304" pitchFamily="18" charset="0"/>
                          <a:cs typeface="Times New Roman" panose="02020603050405020304" pitchFamily="18" charset="0"/>
                        </a:rPr>
                        <a:t>2 Autonomous Vehicular System</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2993119947"/>
                  </a:ext>
                </a:extLst>
              </a:tr>
              <a:tr h="722258">
                <a:tc>
                  <a:txBody>
                    <a:bodyPr/>
                    <a:lstStyle/>
                    <a:p>
                      <a:pPr>
                        <a:lnSpc>
                          <a:spcPct val="107000"/>
                        </a:lnSpc>
                        <a:spcAft>
                          <a:spcPts val="800"/>
                        </a:spcAft>
                      </a:pPr>
                      <a:r>
                        <a:rPr lang="en-IN" sz="1800">
                          <a:solidFill>
                            <a:schemeClr val="tx1"/>
                          </a:solidFill>
                          <a:effectLst/>
                          <a:latin typeface="Times New Roman" panose="02020603050405020304" pitchFamily="18" charset="0"/>
                          <a:cs typeface="Times New Roman" panose="02020603050405020304" pitchFamily="18" charset="0"/>
                        </a:rPr>
                        <a:t>3 Motion Prediction for Autonomous Vehicles</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3254247153"/>
                  </a:ext>
                </a:extLst>
              </a:tr>
              <a:tr h="722258">
                <a:tc>
                  <a:txBody>
                    <a:bodyPr/>
                    <a:lstStyle/>
                    <a:p>
                      <a:pPr>
                        <a:lnSpc>
                          <a:spcPct val="107000"/>
                        </a:lnSpc>
                        <a:spcAft>
                          <a:spcPts val="800"/>
                        </a:spcAft>
                      </a:pPr>
                      <a:r>
                        <a:rPr lang="en-IN" sz="1800" dirty="0">
                          <a:solidFill>
                            <a:schemeClr val="tx1"/>
                          </a:solidFill>
                          <a:effectLst/>
                          <a:latin typeface="Times New Roman" panose="02020603050405020304" pitchFamily="18" charset="0"/>
                          <a:cs typeface="Times New Roman" panose="02020603050405020304" pitchFamily="18" charset="0"/>
                        </a:rPr>
                        <a:t>4 Clinical applications Robotic surgery</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1338974042"/>
                  </a:ext>
                </a:extLst>
              </a:tr>
            </a:tbl>
          </a:graphicData>
        </a:graphic>
      </p:graphicFrame>
      <p:pic>
        <p:nvPicPr>
          <p:cNvPr id="9"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5891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2667000" y="2819400"/>
            <a:ext cx="3805016" cy="1107996"/>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solidFill>
                  <a:srgbClr val="002060"/>
                </a:solidFill>
              </a:rPr>
              <a:t>Thank You</a:t>
            </a:r>
          </a:p>
        </p:txBody>
      </p:sp>
      <p:sp>
        <p:nvSpPr>
          <p:cNvPr id="4" name="Date Placeholder 3"/>
          <p:cNvSpPr>
            <a:spLocks noGrp="1"/>
          </p:cNvSpPr>
          <p:nvPr>
            <p:ph type="dt" sz="half" idx="10"/>
          </p:nvPr>
        </p:nvSpPr>
        <p:spPr/>
        <p:txBody>
          <a:bodyPr/>
          <a:lstStyle/>
          <a:p>
            <a:r>
              <a:rPr lang="en-US"/>
              <a:t>1/5/2020</a:t>
            </a:r>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sv-SE" b="1">
                <a:solidFill>
                  <a:srgbClr val="002060"/>
                </a:solidFill>
              </a:rPr>
              <a:t>Mr Subhas Chandra                COMPUTER VISION  UNIT- 1</a:t>
            </a:r>
            <a:endParaRPr lang="en-US" b="1" dirty="0">
              <a:solidFill>
                <a:srgbClr val="00206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1371600" y="1"/>
            <a:ext cx="7772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10" name="Picture 2" descr="Unveiling a symbol of evolution and resilience - our new logo is not just a  mark, but a beacon of our journey, reflecting our growth, adaptability, and  unwavering commitment. Join us as we transcen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1"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220207"/>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546A"/>
      </a:dk2>
      <a:lt2>
        <a:srgbClr val="E7E6E6"/>
      </a:lt2>
      <a:accent1>
        <a:srgbClr val="00B0F0"/>
      </a:accent1>
      <a:accent2>
        <a:srgbClr val="00B0F0"/>
      </a:accent2>
      <a:accent3>
        <a:srgbClr val="00B0F0"/>
      </a:accent3>
      <a:accent4>
        <a:srgbClr val="00B0F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2588</TotalTime>
  <Words>7788</Words>
  <Application>Microsoft Office PowerPoint</Application>
  <PresentationFormat>On-screen Show (4:3)</PresentationFormat>
  <Paragraphs>902</Paragraphs>
  <Slides>78</Slides>
  <Notes>2</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78</vt:i4>
      </vt:variant>
    </vt:vector>
  </HeadingPairs>
  <TitlesOfParts>
    <vt:vector size="89" baseType="lpstr">
      <vt:lpstr>Adelle W01 Regular</vt:lpstr>
      <vt:lpstr>Arial</vt:lpstr>
      <vt:lpstr>Calibri</vt:lpstr>
      <vt:lpstr>Calibri Light</vt:lpstr>
      <vt:lpstr>Futura LT W01 Heavy</vt:lpstr>
      <vt:lpstr>MuseoSans</vt:lpstr>
      <vt:lpstr>Roboto</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Shweta</dc:creator>
  <cp:lastModifiedBy>Dev Goyal</cp:lastModifiedBy>
  <cp:revision>134</cp:revision>
  <dcterms:created xsi:type="dcterms:W3CDTF">2006-08-16T00:00:00Z</dcterms:created>
  <dcterms:modified xsi:type="dcterms:W3CDTF">2025-12-17T08:34:22Z</dcterms:modified>
</cp:coreProperties>
</file>