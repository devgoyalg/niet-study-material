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0" r:id="rId4"/>
    <p:sldId id="264" r:id="rId5"/>
    <p:sldId id="261" r:id="rId6"/>
    <p:sldId id="262" r:id="rId7"/>
    <p:sldId id="265" r:id="rId8"/>
    <p:sldId id="366" r:id="rId9"/>
    <p:sldId id="266" r:id="rId10"/>
    <p:sldId id="267" r:id="rId11"/>
    <p:sldId id="268" r:id="rId12"/>
    <p:sldId id="269" r:id="rId13"/>
    <p:sldId id="270" r:id="rId14"/>
    <p:sldId id="271" r:id="rId15"/>
    <p:sldId id="272" r:id="rId16"/>
    <p:sldId id="273" r:id="rId17"/>
    <p:sldId id="367"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2" r:id="rId36"/>
    <p:sldId id="293" r:id="rId37"/>
    <p:sldId id="294" r:id="rId38"/>
    <p:sldId id="295" r:id="rId39"/>
    <p:sldId id="297" r:id="rId40"/>
    <p:sldId id="298" r:id="rId41"/>
    <p:sldId id="299" r:id="rId42"/>
    <p:sldId id="300" r:id="rId43"/>
    <p:sldId id="301" r:id="rId44"/>
    <p:sldId id="302" r:id="rId45"/>
    <p:sldId id="303" r:id="rId46"/>
    <p:sldId id="377" r:id="rId47"/>
    <p:sldId id="304" r:id="rId48"/>
    <p:sldId id="305" r:id="rId49"/>
    <p:sldId id="306" r:id="rId50"/>
    <p:sldId id="307" r:id="rId51"/>
    <p:sldId id="308" r:id="rId52"/>
    <p:sldId id="309" r:id="rId53"/>
    <p:sldId id="378" r:id="rId54"/>
    <p:sldId id="310" r:id="rId55"/>
    <p:sldId id="311" r:id="rId56"/>
    <p:sldId id="313" r:id="rId57"/>
    <p:sldId id="314" r:id="rId58"/>
    <p:sldId id="315" r:id="rId59"/>
    <p:sldId id="316" r:id="rId60"/>
    <p:sldId id="317" r:id="rId61"/>
    <p:sldId id="319" r:id="rId62"/>
    <p:sldId id="320" r:id="rId63"/>
    <p:sldId id="321" r:id="rId64"/>
    <p:sldId id="322" r:id="rId65"/>
    <p:sldId id="323" r:id="rId66"/>
    <p:sldId id="326" r:id="rId67"/>
    <p:sldId id="379" r:id="rId68"/>
    <p:sldId id="327" r:id="rId69"/>
    <p:sldId id="328" r:id="rId70"/>
    <p:sldId id="329" r:id="rId71"/>
    <p:sldId id="380" r:id="rId72"/>
    <p:sldId id="358" r:id="rId73"/>
    <p:sldId id="370" r:id="rId74"/>
    <p:sldId id="371" r:id="rId75"/>
    <p:sldId id="359" r:id="rId76"/>
    <p:sldId id="360" r:id="rId77"/>
    <p:sldId id="361" r:id="rId78"/>
    <p:sldId id="368" r:id="rId79"/>
    <p:sldId id="369" r:id="rId80"/>
    <p:sldId id="362" r:id="rId81"/>
    <p:sldId id="363" r:id="rId82"/>
    <p:sldId id="372" r:id="rId83"/>
    <p:sldId id="373" r:id="rId84"/>
    <p:sldId id="374" r:id="rId85"/>
    <p:sldId id="376" r:id="rId86"/>
    <p:sldId id="364" r:id="rId87"/>
    <p:sldId id="365"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222A"/>
    <a:srgbClr val="383A3C"/>
    <a:srgbClr val="FAC6C7"/>
    <a:srgbClr val="FFFFFF"/>
    <a:srgbClr val="D31E26"/>
    <a:srgbClr val="D74349"/>
    <a:srgbClr val="D421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8" d="100"/>
          <a:sy n="98" d="100"/>
        </p:scale>
        <p:origin x="11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1" Type="http://schemas.openxmlformats.org/officeDocument/2006/relationships/tableStyles" Target="tableStyles.xml"/><Relationship Id="rId90" Type="http://schemas.openxmlformats.org/officeDocument/2006/relationships/viewProps" Target="viewProps.xml"/><Relationship Id="rId9" Type="http://schemas.openxmlformats.org/officeDocument/2006/relationships/slide" Target="slides/slide7.xml"/><Relationship Id="rId89" Type="http://schemas.openxmlformats.org/officeDocument/2006/relationships/presProps" Target="presProps.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CB602BB3-437C-4283-8748-9B2268F5E031}" type="doc">
      <dgm:prSet loTypeId="urn:microsoft.com/office/officeart/2005/8/layout/pyramid2" loCatId="pyramid" qsTypeId="urn:microsoft.com/office/officeart/2005/8/quickstyle/simple3" qsCatId="simple" csTypeId="urn:microsoft.com/office/officeart/2005/8/colors/accent1_2" csCatId="accent1" phldr="1"/>
      <dgm:spPr/>
      <dgm:t>
        <a:bodyPr/>
        <a:lstStyle/>
        <a:p>
          <a:endParaRPr lang="en-IN"/>
        </a:p>
      </dgm:t>
    </dgm:pt>
    <dgm:pt modelId="{7504FF11-0C71-41DD-B2C3-3D49F9F61419}">
      <dgm:prSet custT="1"/>
      <dgm:spPr/>
      <dgm:t>
        <a:bodyPr/>
        <a:lstStyle/>
        <a:p>
          <a:r>
            <a:rPr lang="en-US" sz="2400" dirty="0">
              <a:latin typeface="Times New Roman" panose="02020603050405020304" pitchFamily="18" charset="0"/>
              <a:cs typeface="Times New Roman" panose="02020603050405020304" pitchFamily="18" charset="0"/>
            </a:rPr>
            <a:t>Crashing is a schedule compression technique used to reduce or shorten the project schedule. Methods are:</a:t>
          </a:r>
          <a:endParaRPr lang="en-IN" sz="2400" dirty="0">
            <a:latin typeface="Times New Roman" panose="02020603050405020304" pitchFamily="18" charset="0"/>
            <a:cs typeface="Times New Roman" panose="02020603050405020304" pitchFamily="18" charset="0"/>
          </a:endParaRPr>
        </a:p>
      </dgm:t>
    </dgm:pt>
    <dgm:pt modelId="{21643530-2D3D-4456-A14E-154295FAE9F3}" cxnId="{2B3377E8-A974-4210-8272-3AFA374631B0}" type="parTrans">
      <dgm:prSet/>
      <dgm:spPr/>
      <dgm:t>
        <a:bodyPr/>
        <a:lstStyle/>
        <a:p>
          <a:endParaRPr lang="en-IN"/>
        </a:p>
      </dgm:t>
    </dgm:pt>
    <dgm:pt modelId="{C220A2C4-042E-4380-9A86-A6562E8C33C1}" cxnId="{2B3377E8-A974-4210-8272-3AFA374631B0}" type="sibTrans">
      <dgm:prSet/>
      <dgm:spPr/>
      <dgm:t>
        <a:bodyPr/>
        <a:lstStyle/>
        <a:p>
          <a:endParaRPr lang="en-IN"/>
        </a:p>
      </dgm:t>
    </dgm:pt>
    <dgm:pt modelId="{75353B8A-E17F-430C-A734-EFA0D3F7B0D2}">
      <dgm:prSet custT="1"/>
      <dgm:spPr/>
      <dgm:t>
        <a:bodyPr/>
        <a:lstStyle/>
        <a:p>
          <a:r>
            <a:rPr lang="en-US" sz="2400" b="1" dirty="0">
              <a:latin typeface="Times New Roman" panose="02020603050405020304" pitchFamily="18" charset="0"/>
              <a:cs typeface="Times New Roman" panose="02020603050405020304" pitchFamily="18" charset="0"/>
            </a:rPr>
            <a:t>Adding additional resources to the critical path tasks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This option has various constraints such as the securing of the budget to add the resources and the availability of the resources.</a:t>
          </a:r>
          <a:endParaRPr lang="en-IN" sz="2400" dirty="0">
            <a:latin typeface="Times New Roman" panose="02020603050405020304" pitchFamily="18" charset="0"/>
            <a:cs typeface="Times New Roman" panose="02020603050405020304" pitchFamily="18" charset="0"/>
          </a:endParaRPr>
        </a:p>
      </dgm:t>
    </dgm:pt>
    <dgm:pt modelId="{F203CE21-2B8D-4364-86B5-5E21CF448E17}" cxnId="{053536C2-5553-4AD9-9F9C-AEC2849DD25F}" type="parTrans">
      <dgm:prSet/>
      <dgm:spPr/>
      <dgm:t>
        <a:bodyPr/>
        <a:lstStyle/>
        <a:p>
          <a:endParaRPr lang="en-IN"/>
        </a:p>
      </dgm:t>
    </dgm:pt>
    <dgm:pt modelId="{65B0E512-3201-4D49-93A1-A899307C8F7E}" cxnId="{053536C2-5553-4AD9-9F9C-AEC2849DD25F}" type="sibTrans">
      <dgm:prSet/>
      <dgm:spPr/>
      <dgm:t>
        <a:bodyPr/>
        <a:lstStyle/>
        <a:p>
          <a:endParaRPr lang="en-IN"/>
        </a:p>
      </dgm:t>
    </dgm:pt>
    <dgm:pt modelId="{0FC0F927-9EE7-455E-AC5D-5F8626471356}">
      <dgm:prSet custT="1"/>
      <dgm:spPr/>
      <dgm:t>
        <a:bodyPr/>
        <a:lstStyle/>
        <a:p>
          <a:r>
            <a:rPr lang="en-US" sz="2400" b="1" dirty="0">
              <a:latin typeface="Times New Roman" panose="02020603050405020304" pitchFamily="18" charset="0"/>
              <a:cs typeface="Times New Roman" panose="02020603050405020304" pitchFamily="18" charset="0"/>
            </a:rPr>
            <a:t>Reduce the project requirements or scope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This can be done only if the sponsor and major stakeholders agree to reduce the scope</a:t>
          </a:r>
          <a:endParaRPr lang="en-IN" sz="2400" dirty="0">
            <a:latin typeface="Times New Roman" panose="02020603050405020304" pitchFamily="18" charset="0"/>
            <a:cs typeface="Times New Roman" panose="02020603050405020304" pitchFamily="18" charset="0"/>
          </a:endParaRPr>
        </a:p>
      </dgm:t>
    </dgm:pt>
    <dgm:pt modelId="{4275DFC3-068F-43F9-94D5-AC27C55DE822}" cxnId="{F3886B94-2E42-47C8-BFF2-6EF409EFF011}" type="parTrans">
      <dgm:prSet/>
      <dgm:spPr/>
      <dgm:t>
        <a:bodyPr/>
        <a:lstStyle/>
        <a:p>
          <a:endParaRPr lang="en-IN"/>
        </a:p>
      </dgm:t>
    </dgm:pt>
    <dgm:pt modelId="{21B746E4-D8F9-41DC-A236-E6F5F20B3DC3}" cxnId="{F3886B94-2E42-47C8-BFF2-6EF409EFF011}" type="sibTrans">
      <dgm:prSet/>
      <dgm:spPr/>
      <dgm:t>
        <a:bodyPr/>
        <a:lstStyle/>
        <a:p>
          <a:endParaRPr lang="en-IN"/>
        </a:p>
      </dgm:t>
    </dgm:pt>
    <dgm:pt modelId="{09346DA3-8E9D-46B9-97E4-F284A28F2168}" type="pres">
      <dgm:prSet presAssocID="{CB602BB3-437C-4283-8748-9B2268F5E031}" presName="compositeShape" presStyleCnt="0">
        <dgm:presLayoutVars>
          <dgm:dir/>
          <dgm:resizeHandles/>
        </dgm:presLayoutVars>
      </dgm:prSet>
      <dgm:spPr/>
    </dgm:pt>
    <dgm:pt modelId="{58AE8225-1C21-4F35-8392-DEED33853491}" type="pres">
      <dgm:prSet presAssocID="{CB602BB3-437C-4283-8748-9B2268F5E031}" presName="pyramid" presStyleLbl="node1" presStyleIdx="0" presStyleCnt="1" custLinFactNeighborX="22902" custLinFactNeighborY="-577"/>
      <dgm:spPr>
        <a:prstGeom prst="flowChartDecision">
          <a:avLst/>
        </a:prstGeom>
      </dgm:spPr>
    </dgm:pt>
    <dgm:pt modelId="{9E82B4D4-AD01-44C6-A743-A02B68F7123F}" type="pres">
      <dgm:prSet presAssocID="{CB602BB3-437C-4283-8748-9B2268F5E031}" presName="theList" presStyleCnt="0"/>
      <dgm:spPr/>
    </dgm:pt>
    <dgm:pt modelId="{75C5AC20-C5EA-42B9-8B01-9E3D862953D4}" type="pres">
      <dgm:prSet presAssocID="{7504FF11-0C71-41DD-B2C3-3D49F9F61419}" presName="aNode" presStyleLbl="fgAcc1" presStyleIdx="0" presStyleCnt="3" custScaleX="278595" custScaleY="426098" custLinFactY="-58086" custLinFactNeighborX="36418" custLinFactNeighborY="-100000">
        <dgm:presLayoutVars>
          <dgm:bulletEnabled val="1"/>
        </dgm:presLayoutVars>
      </dgm:prSet>
      <dgm:spPr/>
    </dgm:pt>
    <dgm:pt modelId="{57D92064-557A-45FA-B348-6B482A181794}" type="pres">
      <dgm:prSet presAssocID="{7504FF11-0C71-41DD-B2C3-3D49F9F61419}" presName="aSpace" presStyleCnt="0"/>
      <dgm:spPr/>
    </dgm:pt>
    <dgm:pt modelId="{667F2FBE-859A-4A14-937C-11B9D6E0C5B0}" type="pres">
      <dgm:prSet presAssocID="{75353B8A-E17F-430C-A734-EFA0D3F7B0D2}" presName="aNode" presStyleLbl="fgAcc1" presStyleIdx="1" presStyleCnt="3" custScaleX="207405" custScaleY="678355" custLinFactX="-13894" custLinFactY="52808" custLinFactNeighborX="-100000" custLinFactNeighborY="100000">
        <dgm:presLayoutVars>
          <dgm:bulletEnabled val="1"/>
        </dgm:presLayoutVars>
      </dgm:prSet>
      <dgm:spPr/>
    </dgm:pt>
    <dgm:pt modelId="{EF813DE8-B74B-441E-B073-42BCB854FE0F}" type="pres">
      <dgm:prSet presAssocID="{75353B8A-E17F-430C-A734-EFA0D3F7B0D2}" presName="aSpace" presStyleCnt="0"/>
      <dgm:spPr/>
    </dgm:pt>
    <dgm:pt modelId="{6B42734A-1647-4773-9AC0-035BE10D36FF}" type="pres">
      <dgm:prSet presAssocID="{0FC0F927-9EE7-455E-AC5D-5F8626471356}" presName="aNode" presStyleLbl="fgAcc1" presStyleIdx="2" presStyleCnt="3" custScaleX="178137" custScaleY="575161" custLinFactY="45336" custLinFactNeighborX="76686" custLinFactNeighborY="100000">
        <dgm:presLayoutVars>
          <dgm:bulletEnabled val="1"/>
        </dgm:presLayoutVars>
      </dgm:prSet>
      <dgm:spPr/>
    </dgm:pt>
    <dgm:pt modelId="{44F3A464-410B-4780-8898-4E2F6E18C3AB}" type="pres">
      <dgm:prSet presAssocID="{0FC0F927-9EE7-455E-AC5D-5F8626471356}" presName="aSpace" presStyleCnt="0"/>
      <dgm:spPr/>
    </dgm:pt>
  </dgm:ptLst>
  <dgm:cxnLst>
    <dgm:cxn modelId="{B15ABB63-87EF-4888-B5AE-FD75AF982A6D}" type="presOf" srcId="{75353B8A-E17F-430C-A734-EFA0D3F7B0D2}" destId="{667F2FBE-859A-4A14-937C-11B9D6E0C5B0}" srcOrd="0" destOrd="0" presId="urn:microsoft.com/office/officeart/2005/8/layout/pyramid2"/>
    <dgm:cxn modelId="{8866C56F-E863-4D6E-88F6-F65F8B3B46EF}" type="presOf" srcId="{7504FF11-0C71-41DD-B2C3-3D49F9F61419}" destId="{75C5AC20-C5EA-42B9-8B01-9E3D862953D4}" srcOrd="0" destOrd="0" presId="urn:microsoft.com/office/officeart/2005/8/layout/pyramid2"/>
    <dgm:cxn modelId="{F3886B94-2E42-47C8-BFF2-6EF409EFF011}" srcId="{CB602BB3-437C-4283-8748-9B2268F5E031}" destId="{0FC0F927-9EE7-455E-AC5D-5F8626471356}" srcOrd="2" destOrd="0" parTransId="{4275DFC3-068F-43F9-94D5-AC27C55DE822}" sibTransId="{21B746E4-D8F9-41DC-A236-E6F5F20B3DC3}"/>
    <dgm:cxn modelId="{053536C2-5553-4AD9-9F9C-AEC2849DD25F}" srcId="{CB602BB3-437C-4283-8748-9B2268F5E031}" destId="{75353B8A-E17F-430C-A734-EFA0D3F7B0D2}" srcOrd="1" destOrd="0" parTransId="{F203CE21-2B8D-4364-86B5-5E21CF448E17}" sibTransId="{65B0E512-3201-4D49-93A1-A899307C8F7E}"/>
    <dgm:cxn modelId="{0FE5A6C4-2413-4C55-A5F4-E68193045D49}" type="presOf" srcId="{CB602BB3-437C-4283-8748-9B2268F5E031}" destId="{09346DA3-8E9D-46B9-97E4-F284A28F2168}" srcOrd="0" destOrd="0" presId="urn:microsoft.com/office/officeart/2005/8/layout/pyramid2"/>
    <dgm:cxn modelId="{2B3377E8-A974-4210-8272-3AFA374631B0}" srcId="{CB602BB3-437C-4283-8748-9B2268F5E031}" destId="{7504FF11-0C71-41DD-B2C3-3D49F9F61419}" srcOrd="0" destOrd="0" parTransId="{21643530-2D3D-4456-A14E-154295FAE9F3}" sibTransId="{C220A2C4-042E-4380-9A86-A6562E8C33C1}"/>
    <dgm:cxn modelId="{CEC985E9-F17F-4342-BCA7-1F612F93E327}" type="presOf" srcId="{0FC0F927-9EE7-455E-AC5D-5F8626471356}" destId="{6B42734A-1647-4773-9AC0-035BE10D36FF}" srcOrd="0" destOrd="0" presId="urn:microsoft.com/office/officeart/2005/8/layout/pyramid2"/>
    <dgm:cxn modelId="{7FF1832D-63B9-439C-B331-818801DD8B96}" type="presParOf" srcId="{09346DA3-8E9D-46B9-97E4-F284A28F2168}" destId="{58AE8225-1C21-4F35-8392-DEED33853491}" srcOrd="0" destOrd="0" presId="urn:microsoft.com/office/officeart/2005/8/layout/pyramid2"/>
    <dgm:cxn modelId="{A6CFD612-690B-4D5B-93B5-3B4D8D966196}" type="presParOf" srcId="{09346DA3-8E9D-46B9-97E4-F284A28F2168}" destId="{9E82B4D4-AD01-44C6-A743-A02B68F7123F}" srcOrd="1" destOrd="0" presId="urn:microsoft.com/office/officeart/2005/8/layout/pyramid2"/>
    <dgm:cxn modelId="{D4D8E80D-2F93-4A10-9C44-3B08EE23A293}" type="presParOf" srcId="{9E82B4D4-AD01-44C6-A743-A02B68F7123F}" destId="{75C5AC20-C5EA-42B9-8B01-9E3D862953D4}" srcOrd="0" destOrd="0" presId="urn:microsoft.com/office/officeart/2005/8/layout/pyramid2"/>
    <dgm:cxn modelId="{921DFF32-2F91-42F4-854F-06406F7FC186}" type="presParOf" srcId="{9E82B4D4-AD01-44C6-A743-A02B68F7123F}" destId="{57D92064-557A-45FA-B348-6B482A181794}" srcOrd="1" destOrd="0" presId="urn:microsoft.com/office/officeart/2005/8/layout/pyramid2"/>
    <dgm:cxn modelId="{B216D759-7B9C-4EC2-B3AC-376B555B7156}" type="presParOf" srcId="{9E82B4D4-AD01-44C6-A743-A02B68F7123F}" destId="{667F2FBE-859A-4A14-937C-11B9D6E0C5B0}" srcOrd="2" destOrd="0" presId="urn:microsoft.com/office/officeart/2005/8/layout/pyramid2"/>
    <dgm:cxn modelId="{2705FA97-87BB-47B2-8C2B-398E1D78859E}" type="presParOf" srcId="{9E82B4D4-AD01-44C6-A743-A02B68F7123F}" destId="{EF813DE8-B74B-441E-B073-42BCB854FE0F}" srcOrd="3" destOrd="0" presId="urn:microsoft.com/office/officeart/2005/8/layout/pyramid2"/>
    <dgm:cxn modelId="{4D61705B-CF9E-4FA6-8C47-D64457C6954D}" type="presParOf" srcId="{9E82B4D4-AD01-44C6-A743-A02B68F7123F}" destId="{6B42734A-1647-4773-9AC0-035BE10D36FF}" srcOrd="4" destOrd="0" presId="urn:microsoft.com/office/officeart/2005/8/layout/pyramid2"/>
    <dgm:cxn modelId="{507DC5E2-FBDD-4930-96E5-529F1D5A62AA}" type="presParOf" srcId="{9E82B4D4-AD01-44C6-A743-A02B68F7123F}" destId="{44F3A464-410B-4780-8898-4E2F6E18C3AB}" srcOrd="5" destOrd="0" presId="urn:microsoft.com/office/officeart/2005/8/layout/pyramid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AE8225-1C21-4F35-8392-DEED33853491}">
      <dsp:nvSpPr>
        <dsp:cNvPr id="0" name=""/>
        <dsp:cNvSpPr/>
      </dsp:nvSpPr>
      <dsp:spPr>
        <a:xfrm>
          <a:off x="2883095" y="0"/>
          <a:ext cx="5001302" cy="5001302"/>
        </a:xfrm>
        <a:prstGeom prst="flowChartDecision">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75C5AC20-C5EA-42B9-8B01-9E3D862953D4}">
      <dsp:nvSpPr>
        <dsp:cNvPr id="0" name=""/>
        <dsp:cNvSpPr/>
      </dsp:nvSpPr>
      <dsp:spPr>
        <a:xfrm>
          <a:off x="2519316" y="336019"/>
          <a:ext cx="9056695" cy="992683"/>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Crashing is a schedule compression technique used to reduce or shorten the project schedule. Methods are:</a:t>
          </a:r>
          <a:endParaRPr lang="en-IN" sz="2400" kern="1200" dirty="0">
            <a:latin typeface="Times New Roman" panose="02020603050405020304" pitchFamily="18" charset="0"/>
            <a:cs typeface="Times New Roman" panose="02020603050405020304" pitchFamily="18" charset="0"/>
          </a:endParaRPr>
        </a:p>
      </dsp:txBody>
      <dsp:txXfrm>
        <a:off x="2567775" y="384478"/>
        <a:ext cx="8959777" cy="895765"/>
      </dsp:txXfrm>
    </dsp:sp>
    <dsp:sp modelId="{667F2FBE-859A-4A14-937C-11B9D6E0C5B0}">
      <dsp:nvSpPr>
        <dsp:cNvPr id="0" name=""/>
        <dsp:cNvSpPr/>
      </dsp:nvSpPr>
      <dsp:spPr>
        <a:xfrm>
          <a:off x="0" y="1674420"/>
          <a:ext cx="6742450" cy="1580369"/>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latin typeface="Times New Roman" panose="02020603050405020304" pitchFamily="18" charset="0"/>
              <a:cs typeface="Times New Roman" panose="02020603050405020304" pitchFamily="18" charset="0"/>
            </a:rPr>
            <a:t>Adding additional resources to the critical path tasks</a:t>
          </a:r>
          <a:br>
            <a:rPr lang="en-US" sz="2400" kern="1200" dirty="0">
              <a:latin typeface="Times New Roman" panose="02020603050405020304" pitchFamily="18" charset="0"/>
              <a:cs typeface="Times New Roman" panose="02020603050405020304" pitchFamily="18" charset="0"/>
            </a:rPr>
          </a:br>
          <a:r>
            <a:rPr lang="en-US" sz="2400" kern="1200" dirty="0">
              <a:latin typeface="Times New Roman" panose="02020603050405020304" pitchFamily="18" charset="0"/>
              <a:cs typeface="Times New Roman" panose="02020603050405020304" pitchFamily="18" charset="0"/>
            </a:rPr>
            <a:t>This option has various constraints such as the securing of the budget to add the resources and the availability of the resources.</a:t>
          </a:r>
          <a:endParaRPr lang="en-IN" sz="2400" kern="1200" dirty="0">
            <a:latin typeface="Times New Roman" panose="02020603050405020304" pitchFamily="18" charset="0"/>
            <a:cs typeface="Times New Roman" panose="02020603050405020304" pitchFamily="18" charset="0"/>
          </a:endParaRPr>
        </a:p>
      </dsp:txBody>
      <dsp:txXfrm>
        <a:off x="77147" y="1751567"/>
        <a:ext cx="6588156" cy="1426075"/>
      </dsp:txXfrm>
    </dsp:sp>
    <dsp:sp modelId="{6B42734A-1647-4773-9AC0-035BE10D36FF}">
      <dsp:nvSpPr>
        <dsp:cNvPr id="0" name=""/>
        <dsp:cNvSpPr/>
      </dsp:nvSpPr>
      <dsp:spPr>
        <a:xfrm>
          <a:off x="5461234" y="3266500"/>
          <a:ext cx="5790960" cy="1339957"/>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latin typeface="Times New Roman" panose="02020603050405020304" pitchFamily="18" charset="0"/>
              <a:cs typeface="Times New Roman" panose="02020603050405020304" pitchFamily="18" charset="0"/>
            </a:rPr>
            <a:t>Reduce the project requirements or scope</a:t>
          </a:r>
          <a:br>
            <a:rPr lang="en-US" sz="2400" kern="1200" dirty="0">
              <a:latin typeface="Times New Roman" panose="02020603050405020304" pitchFamily="18" charset="0"/>
              <a:cs typeface="Times New Roman" panose="02020603050405020304" pitchFamily="18" charset="0"/>
            </a:rPr>
          </a:br>
          <a:r>
            <a:rPr lang="en-US" sz="2400" kern="1200" dirty="0">
              <a:latin typeface="Times New Roman" panose="02020603050405020304" pitchFamily="18" charset="0"/>
              <a:cs typeface="Times New Roman" panose="02020603050405020304" pitchFamily="18" charset="0"/>
            </a:rPr>
            <a:t>This can be done only if the sponsor and major stakeholders agree to reduce the scope</a:t>
          </a:r>
          <a:endParaRPr lang="en-IN" sz="2400" kern="1200" dirty="0">
            <a:latin typeface="Times New Roman" panose="02020603050405020304" pitchFamily="18" charset="0"/>
            <a:cs typeface="Times New Roman" panose="02020603050405020304" pitchFamily="18" charset="0"/>
          </a:endParaRPr>
        </a:p>
      </dsp:txBody>
      <dsp:txXfrm>
        <a:off x="5526645" y="3331911"/>
        <a:ext cx="5660138" cy="1209135"/>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varLst>
      <dgm:dir/>
      <dgm:resizeHandles/>
    </dgm:varLst>
    <dgm:alg type="composite"/>
    <dgm:shape xmlns:r="http://schemas.openxmlformats.org/officeDocument/2006/relationships" r:blip="">
      <dgm:adjLst/>
    </dgm:shape>
    <dgm:presOf/>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5.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5448EA4-4DB1-4FEB-AECF-552EEDB1609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21E972-0DBC-4911-A10C-C7172303CA11}"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17715" y="1175661"/>
            <a:ext cx="11727542" cy="5001302"/>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IN" dirty="0"/>
          </a:p>
        </p:txBody>
      </p:sp>
      <p:pic>
        <p:nvPicPr>
          <p:cNvPr id="8" name="Picture 7" descr="A close-up of a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cxnSp>
        <p:nvCxnSpPr>
          <p:cNvPr id="9" name="Straight Connector 8"/>
          <p:cNvCxnSpPr/>
          <p:nvPr userDrawn="1"/>
        </p:nvCxnSpPr>
        <p:spPr>
          <a:xfrm>
            <a:off x="0" y="958646"/>
            <a:ext cx="12206980" cy="0"/>
          </a:xfrm>
          <a:prstGeom prst="line">
            <a:avLst/>
          </a:prstGeom>
          <a:ln w="38100">
            <a:solidFill>
              <a:srgbClr val="D4222A"/>
            </a:solidFill>
          </a:ln>
        </p:spPr>
        <p:style>
          <a:lnRef idx="2">
            <a:schemeClr val="accent1"/>
          </a:lnRef>
          <a:fillRef idx="0">
            <a:schemeClr val="accent1"/>
          </a:fillRef>
          <a:effectRef idx="1">
            <a:schemeClr val="accent1"/>
          </a:effectRef>
          <a:fontRef idx="minor">
            <a:schemeClr val="tx1"/>
          </a:fontRef>
        </p:style>
      </p:cxnSp>
      <p:sp>
        <p:nvSpPr>
          <p:cNvPr id="10" name="Title 1"/>
          <p:cNvSpPr>
            <a:spLocks noGrp="1"/>
          </p:cNvSpPr>
          <p:nvPr>
            <p:ph type="title"/>
          </p:nvPr>
        </p:nvSpPr>
        <p:spPr>
          <a:xfrm>
            <a:off x="1984828" y="92983"/>
            <a:ext cx="10160001" cy="764041"/>
          </a:xfrm>
        </p:spPr>
        <p:txBody>
          <a:bodyPr/>
          <a:lstStyle>
            <a:lvl1pPr>
              <a:defRPr>
                <a:solidFill>
                  <a:srgbClr val="D4222A"/>
                </a:solidFill>
              </a:defRPr>
            </a:lvl1pPr>
          </a:lstStyle>
          <a:p>
            <a:r>
              <a:rPr lang="en-US"/>
              <a:t>Click to edit Master title style</a:t>
            </a:r>
            <a:endParaRPr lang="en-IN"/>
          </a:p>
        </p:txBody>
      </p:sp>
      <p:sp>
        <p:nvSpPr>
          <p:cNvPr id="11" name="Footer Placeholder 4"/>
          <p:cNvSpPr txBox="1"/>
          <p:nvPr userDrawn="1"/>
        </p:nvSpPr>
        <p:spPr>
          <a:xfrm>
            <a:off x="0" y="6383439"/>
            <a:ext cx="12192000" cy="386069"/>
          </a:xfrm>
          <a:prstGeom prst="rect">
            <a:avLst/>
          </a:prstGeom>
          <a:gradFill flip="none" rotWithShape="1">
            <a:gsLst>
              <a:gs pos="0">
                <a:srgbClr val="D4222A">
                  <a:tint val="66000"/>
                  <a:satMod val="160000"/>
                </a:srgbClr>
              </a:gs>
              <a:gs pos="50000">
                <a:srgbClr val="D4222A">
                  <a:tint val="44500"/>
                  <a:satMod val="160000"/>
                </a:srgbClr>
              </a:gs>
              <a:gs pos="100000">
                <a:srgbClr val="D4222A">
                  <a:tint val="23500"/>
                  <a:satMod val="160000"/>
                </a:srgbClr>
              </a:gs>
            </a:gsLst>
            <a:lin ang="13500000" scaled="1"/>
            <a:tileRect/>
          </a:gradFill>
          <a:ln>
            <a:solidFill>
              <a:srgbClr val="D4222A"/>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AC6C7"/>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Subject: Project Management   by:  </a:t>
            </a:r>
            <a:r>
              <a:rPr lang="en-IN" altLang="en-US" dirty="0">
                <a:latin typeface="Times New Roman" panose="02020603050405020304" pitchFamily="18" charset="0"/>
                <a:cs typeface="Times New Roman" panose="02020603050405020304" pitchFamily="18" charset="0"/>
              </a:rPr>
              <a:t>Tarun Maheshwari</a:t>
            </a:r>
            <a:endParaRPr lang="en-IN" altLang="en-US" dirty="0">
              <a:latin typeface="Times New Roman" panose="02020603050405020304" pitchFamily="18" charset="0"/>
              <a:cs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5448EA4-4DB1-4FEB-AECF-552EEDB1609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21E972-0DBC-4911-A10C-C7172303CA11}" type="slidenum">
              <a:rPr lang="en-IN" smtClean="0"/>
            </a:fld>
            <a:endParaRPr lang="en-IN"/>
          </a:p>
        </p:txBody>
      </p:sp>
      <p:pic>
        <p:nvPicPr>
          <p:cNvPr id="7" name="Picture 6" descr="A close-up of a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75448EA4-4DB1-4FEB-AECF-552EEDB16093}"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21E972-0DBC-4911-A10C-C7172303CA11}" type="slidenum">
              <a:rPr lang="en-IN" smtClean="0"/>
            </a:fld>
            <a:endParaRPr lang="en-IN"/>
          </a:p>
        </p:txBody>
      </p:sp>
      <p:pic>
        <p:nvPicPr>
          <p:cNvPr id="8" name="Picture 7" descr="A close-up of a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75448EA4-4DB1-4FEB-AECF-552EEDB16093}"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721E972-0DBC-4911-A10C-C7172303CA11}" type="slidenum">
              <a:rPr lang="en-IN" smtClean="0"/>
            </a:fld>
            <a:endParaRPr lang="en-IN"/>
          </a:p>
        </p:txBody>
      </p:sp>
      <p:pic>
        <p:nvPicPr>
          <p:cNvPr id="10" name="Picture 9" descr="A close-up of a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5448EA4-4DB1-4FEB-AECF-552EEDB16093}"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721E972-0DBC-4911-A10C-C7172303CA11}" type="slidenum">
              <a:rPr lang="en-IN" smtClean="0"/>
            </a:fld>
            <a:endParaRPr lang="en-IN"/>
          </a:p>
        </p:txBody>
      </p:sp>
      <p:pic>
        <p:nvPicPr>
          <p:cNvPr id="6" name="Picture 5" descr="A close-up of a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448EA4-4DB1-4FEB-AECF-552EEDB16093}"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721E972-0DBC-4911-A10C-C7172303CA11}" type="slidenum">
              <a:rPr lang="en-IN" smtClean="0"/>
            </a:fld>
            <a:endParaRPr lang="en-IN"/>
          </a:p>
        </p:txBody>
      </p:sp>
      <p:pic>
        <p:nvPicPr>
          <p:cNvPr id="5" name="Picture 4" descr="A close-up of a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5448EA4-4DB1-4FEB-AECF-552EEDB16093}"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21E972-0DBC-4911-A10C-C7172303CA11}"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5448EA4-4DB1-4FEB-AECF-552EEDB16093}"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21E972-0DBC-4911-A10C-C7172303CA11}"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75448EA4-4DB1-4FEB-AECF-552EEDB1609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21E972-0DBC-4911-A10C-C7172303CA11}"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75448EA4-4DB1-4FEB-AECF-552EEDB16093}"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21E972-0DBC-4911-A10C-C7172303CA11}"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5448EA4-4DB1-4FEB-AECF-552EEDB16093}"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21E972-0DBC-4911-A10C-C7172303CA11}"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www.youtube.com/watch?v=BOU1YP5NZVA" TargetMode="External"/><Relationship Id="rId1" Type="http://schemas.openxmlformats.org/officeDocument/2006/relationships/hyperlink" Target="https://www.youtube.com/watch?v=EyPFi0YO32M"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5.emf"/><Relationship Id="rId1" Type="http://schemas.openxmlformats.org/officeDocument/2006/relationships/oleObject" Target="../embeddings/oleObject1.bin"/></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https://www.youtube.com/watch?v=Wc-n6dr9vrk" TargetMode="External"/><Relationship Id="rId3" Type="http://schemas.openxmlformats.org/officeDocument/2006/relationships/hyperlink" Target="https://www.youtube.com/watch?v=jh-3c6WBhBE" TargetMode="External"/><Relationship Id="rId2" Type="http://schemas.openxmlformats.org/officeDocument/2006/relationships/hyperlink" Target="https://www.youtube.com/watch?v=Rq19ga0U_jQ" TargetMode="External"/><Relationship Id="rId1" Type="http://schemas.openxmlformats.org/officeDocument/2006/relationships/hyperlink" Target="https://www.youtube.com/watch?v=SkQzQCAWf8M"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2952726" y="2911147"/>
            <a:ext cx="6286544" cy="95250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b="1" dirty="0">
                <a:solidFill>
                  <a:srgbClr val="383A3C"/>
                </a:solidFill>
                <a:latin typeface="Times New Roman" panose="02020603050405020304" pitchFamily="18" charset="0"/>
                <a:cs typeface="Times New Roman" panose="02020603050405020304" pitchFamily="18" charset="0"/>
              </a:rPr>
              <a:t>MBA </a:t>
            </a:r>
            <a:br>
              <a:rPr lang="en-IN" sz="3200" b="1" dirty="0">
                <a:solidFill>
                  <a:srgbClr val="383A3C"/>
                </a:solidFill>
                <a:latin typeface="Times New Roman" panose="02020603050405020304" pitchFamily="18" charset="0"/>
                <a:cs typeface="Times New Roman" panose="02020603050405020304" pitchFamily="18" charset="0"/>
              </a:rPr>
            </a:br>
            <a:r>
              <a:rPr lang="en-IN" sz="3200" b="1" dirty="0">
                <a:solidFill>
                  <a:srgbClr val="383A3C"/>
                </a:solidFill>
                <a:latin typeface="Times New Roman" panose="02020603050405020304" pitchFamily="18" charset="0"/>
                <a:cs typeface="Times New Roman" panose="02020603050405020304" pitchFamily="18" charset="0"/>
              </a:rPr>
              <a:t>Project Management and AMBA0401</a:t>
            </a:r>
            <a:endParaRPr lang="en-US" sz="4400" b="1" dirty="0">
              <a:solidFill>
                <a:srgbClr val="383A3C"/>
              </a:solidFill>
              <a:latin typeface="Times New Roman" panose="02020603050405020304" pitchFamily="18" charset="0"/>
              <a:cs typeface="Times New Roman" panose="02020603050405020304" pitchFamily="18" charset="0"/>
            </a:endParaRPr>
          </a:p>
        </p:txBody>
      </p:sp>
      <p:sp>
        <p:nvSpPr>
          <p:cNvPr id="6" name="Rectangle 5"/>
          <p:cNvSpPr/>
          <p:nvPr/>
        </p:nvSpPr>
        <p:spPr>
          <a:xfrm>
            <a:off x="206477" y="61390"/>
            <a:ext cx="11356258" cy="1107986"/>
          </a:xfrm>
          <a:prstGeom prst="rect">
            <a:avLst/>
          </a:prstGeom>
        </p:spPr>
        <p:txBody>
          <a:bodyPr wrap="square" lIns="121908" tIns="60955" rIns="121908" bIns="60955">
            <a:spAutoFit/>
          </a:bodyPr>
          <a:lstStyle/>
          <a:p>
            <a:pPr algn="ctr"/>
            <a:r>
              <a:rPr lang="en-IN" sz="3200" b="1" dirty="0">
                <a:solidFill>
                  <a:srgbClr val="D4222A"/>
                </a:solidFill>
                <a:latin typeface="Times New Roman" panose="02020603050405020304" pitchFamily="18" charset="0"/>
                <a:cs typeface="Times New Roman" panose="02020603050405020304" pitchFamily="18" charset="0"/>
              </a:rPr>
              <a:t>NOIDA INSTITUTE OF ENGINEERING &amp; TECHNOLOGY GREATER NOIDA</a:t>
            </a:r>
            <a:endParaRPr lang="en-US" sz="3200" dirty="0">
              <a:solidFill>
                <a:srgbClr val="D4222A"/>
              </a:solidFill>
              <a:latin typeface="Times New Roman" panose="02020603050405020304" pitchFamily="18" charset="0"/>
              <a:cs typeface="Times New Roman" panose="02020603050405020304" pitchFamily="18" charset="0"/>
            </a:endParaRPr>
          </a:p>
        </p:txBody>
      </p:sp>
      <p:sp>
        <p:nvSpPr>
          <p:cNvPr id="7" name="Rectangle 6"/>
          <p:cNvSpPr/>
          <p:nvPr/>
        </p:nvSpPr>
        <p:spPr>
          <a:xfrm>
            <a:off x="5810246" y="4882529"/>
            <a:ext cx="502064" cy="338554"/>
          </a:xfrm>
          <a:prstGeom prst="rect">
            <a:avLst/>
          </a:prstGeom>
        </p:spPr>
        <p:txBody>
          <a:bodyPr wrap="square">
            <a:spAutoFit/>
          </a:bodyPr>
          <a:lstStyle/>
          <a:p>
            <a:r>
              <a:rPr lang="en-IN" sz="1600" b="1" dirty="0">
                <a:latin typeface="Times New Roman" panose="02020603050405020304" pitchFamily="18" charset="0"/>
                <a:cs typeface="Times New Roman" panose="02020603050405020304" pitchFamily="18" charset="0"/>
              </a:rPr>
              <a:t>By</a:t>
            </a:r>
            <a:r>
              <a:rPr lang="en-IN" sz="1600" b="1" dirty="0">
                <a:solidFill>
                  <a:srgbClr val="A20000"/>
                </a:solidFill>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p:txBody>
      </p:sp>
      <p:sp>
        <p:nvSpPr>
          <p:cNvPr id="8" name="Rectangle 7"/>
          <p:cNvSpPr/>
          <p:nvPr/>
        </p:nvSpPr>
        <p:spPr>
          <a:xfrm>
            <a:off x="4335461" y="5221083"/>
            <a:ext cx="3521075" cy="1322070"/>
          </a:xfrm>
          <a:prstGeom prst="rect">
            <a:avLst/>
          </a:prstGeom>
        </p:spPr>
        <p:txBody>
          <a:bodyPr wrap="none">
            <a:spAutoFit/>
          </a:bodyPr>
          <a:lstStyle/>
          <a:p>
            <a:pPr algn="ctr"/>
            <a:r>
              <a:rPr lang="en-IN" sz="3200" b="1" dirty="0">
                <a:solidFill>
                  <a:srgbClr val="383A3C"/>
                </a:solidFill>
                <a:latin typeface="Times New Roman" panose="02020603050405020304" pitchFamily="18" charset="0"/>
                <a:cs typeface="Times New Roman" panose="02020603050405020304" pitchFamily="18" charset="0"/>
              </a:rPr>
              <a:t>Tarun Maheshwari</a:t>
            </a:r>
            <a:endParaRPr lang="en-IN" sz="3200" b="1" dirty="0">
              <a:solidFill>
                <a:srgbClr val="383A3C"/>
              </a:solidFill>
              <a:latin typeface="Times New Roman" panose="02020603050405020304" pitchFamily="18" charset="0"/>
              <a:cs typeface="Times New Roman" panose="02020603050405020304" pitchFamily="18" charset="0"/>
            </a:endParaRPr>
          </a:p>
          <a:p>
            <a:pPr algn="ctr"/>
            <a:r>
              <a:rPr lang="en-IN" sz="1600" b="1" dirty="0">
                <a:solidFill>
                  <a:srgbClr val="383A3C"/>
                </a:solidFill>
                <a:latin typeface="Times New Roman" panose="02020603050405020304" pitchFamily="18" charset="0"/>
                <a:cs typeface="Times New Roman" panose="02020603050405020304" pitchFamily="18" charset="0"/>
              </a:rPr>
              <a:t>Assistant Professor</a:t>
            </a:r>
            <a:endParaRPr lang="en-IN" sz="1600" b="1" dirty="0">
              <a:solidFill>
                <a:srgbClr val="383A3C"/>
              </a:solidFill>
              <a:latin typeface="Times New Roman" panose="02020603050405020304" pitchFamily="18" charset="0"/>
              <a:cs typeface="Times New Roman" panose="02020603050405020304" pitchFamily="18" charset="0"/>
            </a:endParaRPr>
          </a:p>
          <a:p>
            <a:pPr algn="ctr"/>
            <a:r>
              <a:rPr lang="en-IN" sz="1600" b="1" dirty="0">
                <a:solidFill>
                  <a:srgbClr val="383A3C"/>
                </a:solidFill>
                <a:latin typeface="Times New Roman" panose="02020603050405020304" pitchFamily="18" charset="0"/>
                <a:cs typeface="Times New Roman" panose="02020603050405020304" pitchFamily="18" charset="0"/>
              </a:rPr>
              <a:t>MBA</a:t>
            </a:r>
            <a:endParaRPr lang="en-IN" sz="1600" b="1" dirty="0">
              <a:solidFill>
                <a:srgbClr val="383A3C"/>
              </a:solidFill>
              <a:latin typeface="Times New Roman" panose="02020603050405020304" pitchFamily="18" charset="0"/>
              <a:cs typeface="Times New Roman" panose="02020603050405020304" pitchFamily="18" charset="0"/>
            </a:endParaRPr>
          </a:p>
          <a:p>
            <a:pPr algn="ctr"/>
            <a:r>
              <a:rPr lang="en-IN" sz="1600" b="1" dirty="0">
                <a:solidFill>
                  <a:srgbClr val="383A3C"/>
                </a:solidFill>
                <a:latin typeface="Times New Roman" panose="02020603050405020304" pitchFamily="18" charset="0"/>
                <a:cs typeface="Times New Roman" panose="02020603050405020304" pitchFamily="18" charset="0"/>
              </a:rPr>
              <a:t>NIET, GREATER NOIDA </a:t>
            </a:r>
            <a:endParaRPr lang="en-US" sz="1600" dirty="0">
              <a:solidFill>
                <a:srgbClr val="383A3C"/>
              </a:solidFill>
              <a:latin typeface="Times New Roman" panose="02020603050405020304" pitchFamily="18" charset="0"/>
              <a:cs typeface="Times New Roman" panose="02020603050405020304" pitchFamily="18" charset="0"/>
            </a:endParaRPr>
          </a:p>
        </p:txBody>
      </p:sp>
      <p:sp>
        <p:nvSpPr>
          <p:cNvPr id="9" name="Rectangle 8"/>
          <p:cNvSpPr/>
          <p:nvPr/>
        </p:nvSpPr>
        <p:spPr>
          <a:xfrm>
            <a:off x="1714467" y="3930556"/>
            <a:ext cx="8763061" cy="923330"/>
          </a:xfrm>
          <a:prstGeom prst="rect">
            <a:avLst/>
          </a:prstGeom>
        </p:spPr>
        <p:txBody>
          <a:bodyPr wrap="square">
            <a:spAutoFit/>
          </a:bodyPr>
          <a:lstStyle/>
          <a:p>
            <a:pPr algn="ctr"/>
            <a:r>
              <a:rPr lang="en-IN" b="1" dirty="0">
                <a:solidFill>
                  <a:srgbClr val="383A3C"/>
                </a:solidFill>
                <a:latin typeface="Times New Roman" panose="02020603050405020304" pitchFamily="18" charset="0"/>
                <a:cs typeface="Times New Roman" panose="02020603050405020304" pitchFamily="18" charset="0"/>
              </a:rPr>
              <a:t>Lecture – 1</a:t>
            </a:r>
            <a:br>
              <a:rPr lang="en-IN" b="1" dirty="0">
                <a:solidFill>
                  <a:srgbClr val="A20000"/>
                </a:solidFill>
                <a:latin typeface="Times New Roman" panose="02020603050405020304" pitchFamily="18" charset="0"/>
                <a:cs typeface="Times New Roman" panose="02020603050405020304" pitchFamily="18" charset="0"/>
              </a:rPr>
            </a:br>
            <a:r>
              <a:rPr lang="en-IN" sz="3600" b="1" dirty="0">
                <a:solidFill>
                  <a:srgbClr val="D4222A"/>
                </a:solidFill>
                <a:latin typeface="Times New Roman" panose="02020603050405020304" pitchFamily="18" charset="0"/>
                <a:cs typeface="Times New Roman" panose="02020603050405020304" pitchFamily="18" charset="0"/>
              </a:rPr>
              <a:t>Project Scheduling and Network Analysis</a:t>
            </a:r>
            <a:endParaRPr lang="en-US" sz="3600" dirty="0">
              <a:solidFill>
                <a:srgbClr val="D4222A"/>
              </a:solidFill>
              <a:latin typeface="Times New Roman" panose="02020603050405020304" pitchFamily="18" charset="0"/>
              <a:cs typeface="Times New Roman" panose="02020603050405020304" pitchFamily="18" charset="0"/>
            </a:endParaRPr>
          </a:p>
        </p:txBody>
      </p:sp>
      <p:pic>
        <p:nvPicPr>
          <p:cNvPr id="13" name="Picture 12" descr="A close-up of a logo&#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132313" y="1198019"/>
            <a:ext cx="3927373" cy="16814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733092" y="1060224"/>
          <a:ext cx="10725815" cy="5217160"/>
        </p:xfrm>
        <a:graphic>
          <a:graphicData uri="http://schemas.openxmlformats.org/drawingml/2006/table">
            <a:tbl>
              <a:tblPr firstRow="1" bandRow="1">
                <a:tableStyleId>{5C22544A-7EE6-4342-B048-85BDC9FD1C3A}</a:tableStyleId>
              </a:tblPr>
              <a:tblGrid>
                <a:gridCol w="1415022"/>
                <a:gridCol w="9310793"/>
              </a:tblGrid>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S No</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Content </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2000" b="0" i="0" u="none" strike="noStrike" dirty="0">
                          <a:solidFill>
                            <a:srgbClr val="000000"/>
                          </a:solidFill>
                          <a:latin typeface="Times New Roman" panose="02020603050405020304" pitchFamily="18" charset="0"/>
                          <a:cs typeface="Times New Roman" panose="02020603050405020304" pitchFamily="18" charset="0"/>
                        </a:rPr>
                        <a:t> Name of Subject with code, Course and Subject Teacher</a:t>
                      </a:r>
                      <a:endParaRPr lang="en-US" sz="2000" b="0" i="0" u="none" strike="noStrike" dirty="0">
                        <a:solidFill>
                          <a:srgbClr val="000000"/>
                        </a:solidFill>
                        <a:latin typeface="Times New Roman" panose="02020603050405020304" pitchFamily="18" charset="0"/>
                        <a:cs typeface="Times New Roman" panose="02020603050405020304" pitchFamily="18"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2000" b="0" i="0" u="none" strike="noStrike" dirty="0">
                          <a:solidFill>
                            <a:srgbClr val="000000"/>
                          </a:solidFill>
                          <a:latin typeface="Times New Roman" panose="02020603050405020304" pitchFamily="18" charset="0"/>
                          <a:cs typeface="Times New Roman" panose="02020603050405020304" pitchFamily="18" charset="0"/>
                        </a:rPr>
                        <a:t> Brief Introduction of Faculty member with Photograph</a:t>
                      </a:r>
                      <a:endParaRPr lang="en-US" sz="2000" b="0" i="0" u="none" strike="noStrike" dirty="0">
                        <a:solidFill>
                          <a:srgbClr val="000000"/>
                        </a:solidFill>
                        <a:latin typeface="Times New Roman" panose="02020603050405020304" pitchFamily="18" charset="0"/>
                        <a:cs typeface="Times New Roman" panose="02020603050405020304" pitchFamily="18"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2000" b="0" i="0" u="none" strike="noStrike" dirty="0">
                          <a:solidFill>
                            <a:srgbClr val="000000"/>
                          </a:solidFill>
                          <a:latin typeface="Times New Roman" panose="02020603050405020304" pitchFamily="18" charset="0"/>
                          <a:cs typeface="Times New Roman" panose="02020603050405020304" pitchFamily="18" charset="0"/>
                        </a:rPr>
                        <a:t> Evaluation Scheme</a:t>
                      </a:r>
                      <a:endParaRPr lang="en-US" sz="2000" b="0" i="0" u="none" strike="noStrike" dirty="0">
                        <a:solidFill>
                          <a:srgbClr val="000000"/>
                        </a:solidFill>
                        <a:latin typeface="Times New Roman" panose="02020603050405020304" pitchFamily="18" charset="0"/>
                        <a:cs typeface="Times New Roman" panose="02020603050405020304" pitchFamily="18" charset="0"/>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Syllabus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Times New Roman" panose="02020603050405020304" pitchFamily="18" charset="0"/>
                          <a:cs typeface="Times New Roman" panose="02020603050405020304" pitchFamily="18" charset="0"/>
                        </a:rPr>
                        <a:t>Branch wise Application</a:t>
                      </a:r>
                      <a:endParaRPr lang="en-US" sz="20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6</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Course Objective(s)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7</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Course Outcome(s)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8</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Program Outcomes (POs)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9</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Times New Roman" panose="02020603050405020304" pitchFamily="18" charset="0"/>
                          <a:cs typeface="Times New Roman" panose="02020603050405020304" pitchFamily="18" charset="0"/>
                        </a:rPr>
                        <a:t>COs and POs Mapping</a:t>
                      </a:r>
                      <a:endParaRPr lang="en-US" sz="200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10</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b="0" dirty="0">
                          <a:latin typeface="Times New Roman" panose="02020603050405020304" pitchFamily="18" charset="0"/>
                          <a:cs typeface="Times New Roman" panose="02020603050405020304" pitchFamily="18" charset="0"/>
                        </a:rPr>
                        <a:t>Program Educational Objectives (PEOs)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11</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Result Analysis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12</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End Semester Question paper Templates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13</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b="0" dirty="0">
                          <a:latin typeface="Times New Roman" panose="02020603050405020304" pitchFamily="18" charset="0"/>
                          <a:cs typeface="Times New Roman" panose="02020603050405020304" pitchFamily="18" charset="0"/>
                        </a:rPr>
                        <a:t>Prequisite/Recap</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3" name="Title 2"/>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Index</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733092" y="1060224"/>
          <a:ext cx="10725815" cy="5224780"/>
        </p:xfrm>
        <a:graphic>
          <a:graphicData uri="http://schemas.openxmlformats.org/drawingml/2006/table">
            <a:tbl>
              <a:tblPr firstRow="1" bandRow="1">
                <a:tableStyleId>{5C22544A-7EE6-4342-B048-85BDC9FD1C3A}</a:tableStyleId>
              </a:tblPr>
              <a:tblGrid>
                <a:gridCol w="1415022"/>
                <a:gridCol w="9310793"/>
              </a:tblGrid>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S No</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Content </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14</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Brief Indtroduction about the Subject with Videos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15</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Unit Content</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16</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Unit</a:t>
                      </a:r>
                      <a:r>
                        <a:rPr lang="en-US" sz="2000" b="0" baseline="0" dirty="0">
                          <a:latin typeface="Times New Roman" panose="02020603050405020304" pitchFamily="18" charset="0"/>
                          <a:cs typeface="Times New Roman" panose="02020603050405020304" pitchFamily="18" charset="0"/>
                        </a:rPr>
                        <a:t> Objectives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17</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Topic Objectives &amp; Topic Outcome</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18</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Lecture related to topic</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19</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Daily Quiz</a:t>
                      </a:r>
                      <a:endParaRPr kumimoji="0" lang="en-US" sz="2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20</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b="0" dirty="0">
                          <a:latin typeface="Times New Roman" panose="02020603050405020304" pitchFamily="18" charset="0"/>
                          <a:cs typeface="Times New Roman" panose="02020603050405020304" pitchFamily="18" charset="0"/>
                        </a:rPr>
                        <a:t>Weekly Assignment</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21</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Topic Links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22</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MCQs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23</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b="0" dirty="0">
                          <a:latin typeface="Times New Roman" panose="02020603050405020304" pitchFamily="18" charset="0"/>
                          <a:cs typeface="Times New Roman" panose="02020603050405020304" pitchFamily="18" charset="0"/>
                        </a:rPr>
                        <a:t>Glossary Questions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24</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Old question papers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Expected Questions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26</a:t>
                      </a:r>
                      <a:endParaRPr lang="en-IN" sz="18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Recap of unit</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3" name="Title 2"/>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Index</a:t>
            </a: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None/>
            </a:pPr>
            <a:r>
              <a:rPr lang="en-IN" dirty="0">
                <a:latin typeface="Times New Roman" panose="02020603050405020304" pitchFamily="18" charset="0"/>
                <a:cs typeface="Times New Roman" panose="02020603050405020304" pitchFamily="18" charset="0"/>
                <a:sym typeface="+mn-ea"/>
              </a:rPr>
              <a:t>Faculty Name: Tarun Maheshwari</a:t>
            </a: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sym typeface="+mn-ea"/>
              </a:rPr>
              <a:t>Designation: ASSISTANT PROFESSOR</a:t>
            </a: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sym typeface="+mn-ea"/>
              </a:rPr>
              <a:t>Department: PGDM</a:t>
            </a: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sym typeface="+mn-ea"/>
              </a:rPr>
              <a:t>Email ID: tarun.maheshwari@niet.co.in</a:t>
            </a:r>
            <a:endParaRPr lang="en-IN" dirty="0">
              <a:latin typeface="Times New Roman" panose="02020603050405020304" pitchFamily="18" charset="0"/>
              <a:cs typeface="Times New Roman" panose="02020603050405020304" pitchFamily="18" charset="0"/>
            </a:endParaRPr>
          </a:p>
          <a:p>
            <a:pPr>
              <a:buNone/>
            </a:pP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sym typeface="+mn-ea"/>
              </a:rPr>
              <a:t>Qualification: MBA  PG Diploma in Training &amp; Development</a:t>
            </a: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sym typeface="+mn-ea"/>
              </a:rPr>
              <a:t>Specialization: Finance &amp; Human Resource Management</a:t>
            </a: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sym typeface="+mn-ea"/>
              </a:rPr>
              <a:t>Teaching Area: Management (Finance &amp; Core subjects)</a:t>
            </a: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sym typeface="+mn-ea"/>
              </a:rPr>
              <a:t>Total Experience: 11 years</a:t>
            </a:r>
            <a:endParaRPr lang="en-IN" dirty="0">
              <a:latin typeface="Times New Roman" panose="02020603050405020304" pitchFamily="18" charset="0"/>
              <a:cs typeface="Times New Roman" panose="02020603050405020304" pitchFamily="18" charset="0"/>
            </a:endParaRPr>
          </a:p>
          <a:p>
            <a:endParaRPr lang="en-IN" dirty="0"/>
          </a:p>
        </p:txBody>
      </p:sp>
      <p:sp>
        <p:nvSpPr>
          <p:cNvPr id="3" name="Title 2"/>
          <p:cNvSpPr>
            <a:spLocks noGrp="1"/>
          </p:cNvSpPr>
          <p:nvPr>
            <p:ph type="title"/>
          </p:nvPr>
        </p:nvSpPr>
        <p:spPr/>
        <p:txBody>
          <a:bodyPr>
            <a:normAutofit/>
          </a:bodyPr>
          <a:lstStyle/>
          <a:p>
            <a:r>
              <a:rPr lang="en-US" sz="3600" dirty="0">
                <a:solidFill>
                  <a:srgbClr val="D31E26"/>
                </a:solidFill>
                <a:latin typeface="Times New Roman" panose="02020603050405020304" pitchFamily="18" charset="0"/>
                <a:cs typeface="Times New Roman" panose="02020603050405020304" pitchFamily="18" charset="0"/>
              </a:rPr>
              <a:t>Brief Introduction of the Faculty Member </a:t>
            </a:r>
            <a:endParaRPr lang="en-IN" sz="3600" dirty="0">
              <a:solidFill>
                <a:srgbClr val="D31E26"/>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Evaluation Scheme</a:t>
            </a:r>
            <a:endParaRPr lang="en-IN" sz="3600" dirty="0">
              <a:latin typeface="Times New Roman" panose="02020603050405020304" pitchFamily="18" charset="0"/>
              <a:cs typeface="Times New Roman" panose="02020603050405020304" pitchFamily="18" charset="0"/>
            </a:endParaRPr>
          </a:p>
        </p:txBody>
      </p:sp>
      <p:pic>
        <p:nvPicPr>
          <p:cNvPr id="4" name="Picture 4" descr="D:\PROJECT MANAGEMENT PPT\Evaluation Scheme.png"/>
          <p:cNvPicPr>
            <a:picLocks noGrp="1" noChangeAspect="1" noChangeArrowheads="1"/>
          </p:cNvPicPr>
          <p:nvPr>
            <p:ph idx="1"/>
          </p:nvPr>
        </p:nvPicPr>
        <p:blipFill>
          <a:blip r:embed="rId1"/>
          <a:srcRect/>
          <a:stretch>
            <a:fillRect/>
          </a:stretch>
        </p:blipFill>
        <p:spPr bwMode="auto">
          <a:xfrm>
            <a:off x="889000" y="1095374"/>
            <a:ext cx="10160000" cy="5181601"/>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Syllabus</a:t>
            </a:r>
            <a:endParaRPr lang="en-IN" sz="3600" dirty="0">
              <a:latin typeface="Times New Roman" panose="02020603050405020304" pitchFamily="18" charset="0"/>
              <a:cs typeface="Times New Roman" panose="02020603050405020304" pitchFamily="18" charset="0"/>
            </a:endParaRPr>
          </a:p>
        </p:txBody>
      </p:sp>
      <p:graphicFrame>
        <p:nvGraphicFramePr>
          <p:cNvPr id="11" name="Content Placeholder 10"/>
          <p:cNvGraphicFramePr>
            <a:graphicFrameLocks noGrp="1"/>
          </p:cNvGraphicFramePr>
          <p:nvPr>
            <p:ph idx="1"/>
          </p:nvPr>
        </p:nvGraphicFramePr>
        <p:xfrm>
          <a:off x="638175" y="1276350"/>
          <a:ext cx="10544175" cy="4995479"/>
        </p:xfrm>
        <a:graphic>
          <a:graphicData uri="http://schemas.openxmlformats.org/drawingml/2006/table">
            <a:tbl>
              <a:tblPr firstRow="1" firstCol="1" lastRow="1" lastCol="1" bandRow="1" bandCol="1"/>
              <a:tblGrid>
                <a:gridCol w="2437902"/>
                <a:gridCol w="6394806"/>
                <a:gridCol w="1711467"/>
              </a:tblGrid>
              <a:tr h="325535">
                <a:tc gridSpan="3">
                  <a:txBody>
                    <a:bodyPr/>
                    <a:lstStyle/>
                    <a:p>
                      <a:pPr marL="2503170" marR="2493010" algn="ctr">
                        <a:spcBef>
                          <a:spcPts val="65"/>
                        </a:spcBef>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Course</a:t>
                      </a:r>
                      <a:r>
                        <a:rPr lang="en-US" sz="1800" b="1" spc="-1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Contents</a:t>
                      </a:r>
                      <a:r>
                        <a:rPr lang="en-US" sz="18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 Syllabus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cPr/>
                </a:tc>
                <a:tc hMerge="1">
                  <a:tcPr/>
                </a:tc>
              </a:tr>
              <a:tr h="310557">
                <a:tc>
                  <a:txBody>
                    <a:bodyPr/>
                    <a:lstStyle/>
                    <a:p>
                      <a:pPr marL="67945">
                        <a:spcBef>
                          <a:spcPts val="30"/>
                        </a:spcBef>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UNIT-I</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9850">
                        <a:spcBef>
                          <a:spcPts val="145"/>
                        </a:spcBef>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Introduction</a:t>
                      </a:r>
                      <a:r>
                        <a:rPr lang="en-US" sz="18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800" b="1"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Project</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1120">
                        <a:spcBef>
                          <a:spcPts val="3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06</a:t>
                      </a:r>
                      <a:r>
                        <a:rPr lang="en-US" sz="12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Hours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1122396">
                <a:tc gridSpan="3">
                  <a:txBody>
                    <a:bodyPr/>
                    <a:lstStyle/>
                    <a:p>
                      <a:pPr marL="67945">
                        <a:lnSpc>
                          <a:spcPts val="1295"/>
                        </a:lnSpc>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lnSpc>
                          <a:spcPts val="1295"/>
                        </a:lnSpc>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Definition</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Objectives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Management</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Vs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General</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Management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Roles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and</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marR="111125"/>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Responsibilities of Project Manager – Selection of Project Manager – Selection of Projects – Understanding</a:t>
                      </a:r>
                      <a:r>
                        <a:rPr lang="en-US" sz="1800" spc="-2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 Life Cycle. Project Team and Scope of Project Management: Characteristics of a Project Team &amp;</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Leader,</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 Organization,</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Importance</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of Project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Management.</a:t>
                      </a:r>
                      <a:r>
                        <a:rPr lang="en-US" sz="18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Case</a:t>
                      </a:r>
                      <a:r>
                        <a:rPr lang="en-US" sz="1800" b="1"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Studies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cPr/>
                </a:tc>
                <a:tc hMerge="1">
                  <a:tcPr/>
                </a:tc>
              </a:tr>
              <a:tr h="325535">
                <a:tc>
                  <a:txBody>
                    <a:bodyPr/>
                    <a:lstStyle/>
                    <a:p>
                      <a:pPr marL="67945">
                        <a:spcBef>
                          <a:spcPts val="70"/>
                        </a:spcBef>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UNIT-II</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9850">
                        <a:spcBef>
                          <a:spcPts val="185"/>
                        </a:spcBef>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1800" b="1"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Identification</a:t>
                      </a:r>
                      <a:r>
                        <a:rPr lang="en-US" sz="1800" b="1" spc="-1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&amp;</a:t>
                      </a:r>
                      <a:r>
                        <a:rPr lang="en-US" sz="1800" b="1" spc="-1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Selection</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09220">
                        <a:spcBef>
                          <a:spcPts val="7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08</a:t>
                      </a:r>
                      <a:r>
                        <a:rPr lang="en-US" sz="12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Hours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1122396">
                <a:tc gridSpan="3">
                  <a:txBody>
                    <a:bodyPr/>
                    <a:lstStyle/>
                    <a:p>
                      <a:pPr marL="67945" algn="just">
                        <a:lnSpc>
                          <a:spcPts val="1295"/>
                        </a:lnSpc>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lgn="just">
                        <a:lnSpc>
                          <a:spcPts val="1295"/>
                        </a:lnSpc>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 Identification &amp;</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Selection: Identification, Generation</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8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ideas,</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Approaches</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Screening</a:t>
                      </a:r>
                      <a:r>
                        <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and</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marR="532765" algn="just"/>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Selection,</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Rating</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Index.</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Market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&amp;</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Demand</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Analysis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Techniques:</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Survey</a:t>
                      </a:r>
                      <a:r>
                        <a:rPr lang="en-US" sz="1800" spc="-3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&amp;</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Trend</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Projection</a:t>
                      </a:r>
                      <a:r>
                        <a:rPr lang="en-US" sz="1800" spc="-29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Methods. Project Risk Management: Concepts and Types of Project Risks, Risk Identification, Risks</a:t>
                      </a:r>
                      <a:r>
                        <a:rPr lang="en-US" sz="1800" spc="-2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Analysis,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Risks Mitigation Strategies.</a:t>
                      </a:r>
                      <a:r>
                        <a:rPr lang="en-US" sz="18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Case</a:t>
                      </a:r>
                      <a:r>
                        <a:rPr lang="en-US" sz="1800" b="1"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Studies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cPr/>
                </a:tc>
                <a:tc hMerge="1">
                  <a:tcPr/>
                </a:tc>
              </a:tr>
              <a:tr h="325535">
                <a:tc>
                  <a:txBody>
                    <a:bodyPr/>
                    <a:lstStyle/>
                    <a:p>
                      <a:pPr marL="67945">
                        <a:spcBef>
                          <a:spcPts val="65"/>
                        </a:spcBef>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UNIT-III</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9850">
                        <a:spcBef>
                          <a:spcPts val="195"/>
                        </a:spcBef>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Budgeting</a:t>
                      </a:r>
                      <a:r>
                        <a:rPr lang="en-US" sz="1800" b="1"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8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Project</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09220">
                        <a:spcBef>
                          <a:spcPts val="65"/>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08</a:t>
                      </a:r>
                      <a:r>
                        <a:rPr lang="en-US" sz="12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Hours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1401997">
                <a:tc gridSpan="3">
                  <a:txBody>
                    <a:bodyPr/>
                    <a:lstStyle/>
                    <a:p>
                      <a:pPr marL="67945">
                        <a:lnSpc>
                          <a:spcPts val="1305"/>
                        </a:lnSpc>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lnSpc>
                          <a:spcPts val="1305"/>
                        </a:lnSpc>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Fundamental components</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Cost,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Types of</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Costs:</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Direct, Indirect, Recurring,</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Non-Recurring,</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marR="113665"/>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Fixed, Variable, Normal, Expedite costs Methods of budgeting – Project cost estimation – Improving cost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estimates – Budget uncertainty and risk management – Scheduling the project – Gantt chart – Resource</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allocation</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loading</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Social</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Cost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Benefit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Analysis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(SCBA)</a:t>
                      </a:r>
                      <a:r>
                        <a:rPr lang="en-US" sz="18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Concept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&amp;</a:t>
                      </a:r>
                      <a:r>
                        <a:rPr lang="en-US" sz="18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significance</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SCBA,</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lnSpc>
                          <a:spcPts val="1355"/>
                        </a:lnSpc>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Approaches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to SCBA.</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Case</a:t>
                      </a:r>
                      <a:r>
                        <a:rPr lang="en-US" sz="1800" b="1"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Studies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cPr/>
                </a:tc>
                <a:tc hMerge="1">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Syllabus</a:t>
            </a:r>
            <a:endParaRPr lang="en-IN" sz="3600" dirty="0">
              <a:latin typeface="Times New Roman" panose="02020603050405020304" pitchFamily="18" charset="0"/>
              <a:cs typeface="Times New Roman" panose="02020603050405020304" pitchFamily="18" charset="0"/>
            </a:endParaRPr>
          </a:p>
        </p:txBody>
      </p:sp>
      <p:graphicFrame>
        <p:nvGraphicFramePr>
          <p:cNvPr id="6" name="Content Placeholder 5"/>
          <p:cNvGraphicFramePr>
            <a:graphicFrameLocks noGrp="1"/>
          </p:cNvGraphicFramePr>
          <p:nvPr>
            <p:ph idx="1"/>
          </p:nvPr>
        </p:nvGraphicFramePr>
        <p:xfrm>
          <a:off x="447675" y="1257301"/>
          <a:ext cx="10721976" cy="4392320"/>
        </p:xfrm>
        <a:graphic>
          <a:graphicData uri="http://schemas.openxmlformats.org/drawingml/2006/table">
            <a:tbl>
              <a:tblPr firstRow="1" firstCol="1" lastRow="1" lastCol="1" bandRow="1" bandCol="1"/>
              <a:tblGrid>
                <a:gridCol w="2479011"/>
                <a:gridCol w="6502638"/>
                <a:gridCol w="1740327"/>
              </a:tblGrid>
              <a:tr h="480951">
                <a:tc>
                  <a:txBody>
                    <a:bodyPr/>
                    <a:lstStyle/>
                    <a:p>
                      <a:pPr marL="67945">
                        <a:spcBef>
                          <a:spcPts val="30"/>
                        </a:spcBef>
                      </a:pPr>
                      <a:r>
                        <a:rPr lang="en-US" sz="2000" b="1">
                          <a:effectLst/>
                          <a:latin typeface="Times New Roman" panose="02020603050405020304" pitchFamily="18" charset="0"/>
                          <a:ea typeface="Times New Roman" panose="02020603050405020304" pitchFamily="18" charset="0"/>
                          <a:cs typeface="Times New Roman" panose="02020603050405020304" pitchFamily="18" charset="0"/>
                        </a:rPr>
                        <a:t>UNIT-IV</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9850">
                        <a:spcBef>
                          <a:spcPts val="160"/>
                        </a:spcBef>
                        <a:spcAft>
                          <a:spcPts val="0"/>
                        </a:spcAft>
                      </a:pPr>
                      <a:r>
                        <a:rPr lang="en-US" sz="2000" b="1">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2000" b="1"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a:effectLst/>
                          <a:latin typeface="Times New Roman" panose="02020603050405020304" pitchFamily="18" charset="0"/>
                          <a:ea typeface="Times New Roman" panose="02020603050405020304" pitchFamily="18" charset="0"/>
                          <a:cs typeface="Times New Roman" panose="02020603050405020304" pitchFamily="18" charset="0"/>
                        </a:rPr>
                        <a:t>Scheduling</a:t>
                      </a:r>
                      <a:r>
                        <a:rPr lang="en-US" sz="20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000" b="1" spc="-1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a:effectLst/>
                          <a:latin typeface="Times New Roman" panose="02020603050405020304" pitchFamily="18" charset="0"/>
                          <a:ea typeface="Times New Roman" panose="02020603050405020304" pitchFamily="18" charset="0"/>
                          <a:cs typeface="Times New Roman" panose="02020603050405020304" pitchFamily="18" charset="0"/>
                        </a:rPr>
                        <a:t>Network</a:t>
                      </a:r>
                      <a:r>
                        <a:rPr lang="en-US" sz="2000" b="1" spc="-2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a:effectLst/>
                          <a:latin typeface="Times New Roman" panose="02020603050405020304" pitchFamily="18" charset="0"/>
                          <a:ea typeface="Times New Roman" panose="02020603050405020304" pitchFamily="18" charset="0"/>
                          <a:cs typeface="Times New Roman" panose="02020603050405020304" pitchFamily="18" charset="0"/>
                        </a:rPr>
                        <a:t>Analysis</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09220">
                        <a:spcBef>
                          <a:spcPts val="3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08</a:t>
                      </a:r>
                      <a:r>
                        <a:rPr lang="en-US" sz="12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Hours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1376423">
                <a:tc gridSpan="3">
                  <a:txBody>
                    <a:bodyPr/>
                    <a:lstStyle/>
                    <a:p>
                      <a:pPr marL="67945">
                        <a:lnSpc>
                          <a:spcPts val="1295"/>
                        </a:lnSpc>
                      </a:pP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lnSpc>
                          <a:spcPts val="1295"/>
                        </a:lnSpc>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Steps</a:t>
                      </a:r>
                      <a:r>
                        <a:rPr lang="en-US" sz="20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Scheduling</a:t>
                      </a:r>
                      <a:r>
                        <a:rPr lang="en-US" sz="20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and Network</a:t>
                      </a:r>
                      <a:r>
                        <a:rPr lang="en-US" sz="20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design,</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Gantt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Chart,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Work</a:t>
                      </a:r>
                      <a:r>
                        <a:rPr lang="en-US" sz="20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Breakdown</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Structure</a:t>
                      </a:r>
                      <a:r>
                        <a:rPr lang="en-US" sz="20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(WBS) &amp;</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marR="173990"/>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Responsibility Assignment Matrix. Project Network Design: Identifying the Nodes and Activities, Activity</a:t>
                      </a:r>
                      <a:r>
                        <a:rPr lang="en-US" sz="2000" spc="-2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on Arrow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AoA</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and Activities on Node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AoN</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methods, Introduction to PERT and CPM, Crashing in</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Projects.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Case</a:t>
                      </a:r>
                      <a:r>
                        <a:rPr lang="en-US" sz="2000" b="1"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Studies</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cPr/>
                </a:tc>
                <a:tc hMerge="1">
                  <a:tcPr/>
                </a:tc>
              </a:tr>
              <a:tr h="421214">
                <a:tc>
                  <a:txBody>
                    <a:bodyPr/>
                    <a:lstStyle/>
                    <a:p>
                      <a:pPr marL="67945">
                        <a:lnSpc>
                          <a:spcPts val="1280"/>
                        </a:lnSpc>
                      </a:pP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lnSpc>
                          <a:spcPts val="1280"/>
                        </a:lnSpc>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UNIT-V</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9850">
                        <a:lnSpc>
                          <a:spcPts val="1280"/>
                        </a:lnSpc>
                      </a:pP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9850">
                        <a:lnSpc>
                          <a:spcPts val="1280"/>
                        </a:lnSpc>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Monitoring</a:t>
                      </a:r>
                      <a:r>
                        <a:rPr lang="en-US" sz="2000" b="1"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000" b="1"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controlling</a:t>
                      </a:r>
                      <a:r>
                        <a:rPr lang="en-US" sz="2000" b="1"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000" b="1"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project</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1120">
                        <a:lnSpc>
                          <a:spcPts val="1280"/>
                        </a:lnSpc>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6</a:t>
                      </a:r>
                      <a:r>
                        <a:rPr lang="en-US" sz="12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Hours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2113732">
                <a:tc gridSpan="3">
                  <a:txBody>
                    <a:bodyPr/>
                    <a:lstStyle/>
                    <a:p>
                      <a:pPr marL="67945">
                        <a:lnSpc>
                          <a:spcPts val="1295"/>
                        </a:lnSpc>
                      </a:pP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lnSpc>
                          <a:spcPts val="1295"/>
                        </a:lnSpc>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Monitoring</a:t>
                      </a:r>
                      <a:r>
                        <a:rPr lang="en-US" sz="20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Control cycle</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Project control</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Designing</a:t>
                      </a:r>
                      <a:r>
                        <a:rPr lang="en-US" sz="20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the control system</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Evaluation of</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marR="107315"/>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project: Milestone Analysis and Tracking Gantt chart. Earned Value Analysis (EVA): Planned Value (PV),</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Earned Value (EV), Cost Variance (CV), Schedule Variance (SV), Cost performance Index (CPI), Schedule</a:t>
                      </a:r>
                      <a:r>
                        <a:rPr lang="en-US" sz="2000" spc="-2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performance Index (SPI) – Project auditing – Project termination: Types of Terminations, Project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Termination</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Process.</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Case</a:t>
                      </a:r>
                      <a:r>
                        <a:rPr lang="en-US" sz="2000" b="1"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Studies</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cPr/>
                </a:tc>
                <a:tc hMerge="1">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kumimoji="0" lang="en-US" sz="3600" i="0" u="none" strike="noStrike" kern="1200" cap="none" spc="0" normalizeH="0" baseline="0" noProof="0" dirty="0">
                <a:ln>
                  <a:noFill/>
                </a:ln>
                <a:solidFill>
                  <a:srgbClr val="D31E26"/>
                </a:solidFill>
                <a:effectLst/>
                <a:uLnTx/>
                <a:uFillTx/>
                <a:latin typeface="Times New Roman" panose="02020603050405020304" pitchFamily="18" charset="0"/>
                <a:ea typeface="+mn-ea"/>
                <a:cs typeface="Times New Roman" panose="02020603050405020304" pitchFamily="18" charset="0"/>
              </a:rPr>
              <a:t>Branch Wise </a:t>
            </a:r>
            <a:r>
              <a:rPr kumimoji="0" lang="en-US" sz="3600" i="0" u="none" strike="noStrike" kern="1200" cap="none" spc="0" normalizeH="0" noProof="0" dirty="0">
                <a:ln>
                  <a:noFill/>
                </a:ln>
                <a:solidFill>
                  <a:srgbClr val="D31E26"/>
                </a:solidFill>
                <a:effectLst/>
                <a:uLnTx/>
                <a:uFillTx/>
                <a:latin typeface="Times New Roman" panose="02020603050405020304" pitchFamily="18" charset="0"/>
                <a:ea typeface="+mn-ea"/>
                <a:cs typeface="Times New Roman" panose="02020603050405020304" pitchFamily="18" charset="0"/>
              </a:rPr>
              <a:t>Application</a:t>
            </a:r>
            <a:endParaRPr lang="en-IN" sz="3600" dirty="0">
              <a:solidFill>
                <a:srgbClr val="D31E26"/>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217715" y="1175661"/>
            <a:ext cx="10983685" cy="4120239"/>
          </a:xfrm>
        </p:spPr>
        <p:txBody>
          <a:bodyPr/>
          <a:lstStyle/>
          <a:p>
            <a:pPr algn="just"/>
            <a:r>
              <a:rPr lang="en-US" sz="2400" dirty="0">
                <a:latin typeface="Times New Roman" panose="02020603050405020304" pitchFamily="18" charset="0"/>
                <a:cs typeface="Times New Roman" panose="02020603050405020304" pitchFamily="18" charset="0"/>
              </a:rPr>
              <a:t>Handling projects.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Evaluating &amp; Monitoring Project Process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Taking necessary and corrective action.</a:t>
            </a:r>
            <a:endParaRPr lang="en-US" sz="2400"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Course objective(s)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pPr algn="just"/>
            <a:r>
              <a:rPr lang="en-US" sz="2400" dirty="0">
                <a:latin typeface="Times New Roman" panose="02020603050405020304" pitchFamily="18" charset="0"/>
                <a:cs typeface="Times New Roman" panose="02020603050405020304" pitchFamily="18" charset="0"/>
              </a:rPr>
              <a:t>To empower the students to get insights of basic concepts on project management.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To create awareness on the roles and responsibilities of project manager.</a:t>
            </a:r>
            <a:endParaRPr lang="en-US" sz="2400" dirty="0">
              <a:latin typeface="Times New Roman" panose="02020603050405020304" pitchFamily="18" charset="0"/>
              <a:cs typeface="Times New Roman" panose="02020603050405020304" pitchFamily="18" charset="0"/>
            </a:endParaRPr>
          </a:p>
          <a:p>
            <a:pPr algn="just"/>
            <a:r>
              <a:rPr lang="x-none" sz="2400" dirty="0">
                <a:latin typeface="Times New Roman" panose="02020603050405020304" pitchFamily="18" charset="0"/>
                <a:cs typeface="Times New Roman" panose="02020603050405020304" pitchFamily="18" charset="0"/>
              </a:rPr>
              <a:t>To build the confident among the students to take up any kind of projects.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To sharpen the planning, scheduling and controlling skills of the students with respect to individual projects.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To understand the perspectives in which optimum decisions are to be taken in case of risks with planned activities in project.</a:t>
            </a:r>
            <a:endParaRPr lang="en-US" sz="2400"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Course outcome(s) </a:t>
            </a:r>
            <a:endParaRPr lang="en-IN" sz="3600"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nvPr>
        </p:nvGraphicFramePr>
        <p:xfrm>
          <a:off x="685800" y="1343025"/>
          <a:ext cx="10601325" cy="4556321"/>
        </p:xfrm>
        <a:graphic>
          <a:graphicData uri="http://schemas.openxmlformats.org/drawingml/2006/table">
            <a:tbl>
              <a:tblPr firstRow="1" firstCol="1" lastRow="1" lastCol="1" bandRow="1" bandCol="1"/>
              <a:tblGrid>
                <a:gridCol w="933369"/>
                <a:gridCol w="7142603"/>
                <a:gridCol w="2525353"/>
              </a:tblGrid>
              <a:tr h="789391">
                <a:tc>
                  <a:txBody>
                    <a:bodyPr/>
                    <a:lstStyle/>
                    <a:p>
                      <a:pPr marL="67945">
                        <a:spcBef>
                          <a:spcPts val="35"/>
                        </a:spcBef>
                        <a:spcAft>
                          <a:spcPts val="0"/>
                        </a:spcAft>
                      </a:pPr>
                      <a:r>
                        <a:rPr lang="en-US" sz="2400" b="1">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CO</a:t>
                      </a:r>
                      <a:r>
                        <a:rPr lang="en-US" sz="24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a:lnSpc>
                          <a:spcPts val="1150"/>
                        </a:lnSpc>
                        <a:spcBef>
                          <a:spcPts val="610"/>
                        </a:spcBef>
                        <a:spcAft>
                          <a:spcPts val="0"/>
                        </a:spcAft>
                      </a:pP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lnSpc>
                          <a:spcPts val="1150"/>
                        </a:lnSpc>
                        <a:spcBef>
                          <a:spcPts val="610"/>
                        </a:spcBef>
                        <a:spcAft>
                          <a:spcPts val="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Understand</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basic</a:t>
                      </a:r>
                      <a:r>
                        <a:rPr lang="en-US" sz="24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concepts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characteristics</a:t>
                      </a:r>
                      <a:r>
                        <a:rPr lang="en-US" sz="24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2400" spc="-2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spc="-2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lnSpc>
                          <a:spcPts val="1150"/>
                        </a:lnSpc>
                        <a:spcBef>
                          <a:spcPts val="610"/>
                        </a:spcBef>
                        <a:spcAft>
                          <a:spcPts val="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24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24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manager,</a:t>
                      </a:r>
                      <a:r>
                        <a:rPr lang="en-US" sz="2400" spc="-23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management</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a:spcBef>
                          <a:spcPts val="1135"/>
                        </a:spcBef>
                        <a:spcAft>
                          <a:spcPts val="0"/>
                        </a:spcAft>
                      </a:pP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Understanding</a:t>
                      </a:r>
                      <a:r>
                        <a:rPr lang="en-US" sz="2400" spc="-2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(K2)</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939996">
                <a:tc>
                  <a:txBody>
                    <a:bodyPr/>
                    <a:lstStyle/>
                    <a:p>
                      <a:pPr marL="67945">
                        <a:spcBef>
                          <a:spcPts val="1095"/>
                        </a:spcBef>
                      </a:pP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CO</a:t>
                      </a:r>
                      <a:r>
                        <a:rPr lang="en-US" sz="24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marR="827405">
                        <a:lnSpc>
                          <a:spcPts val="1450"/>
                        </a:lnSpc>
                        <a:spcBef>
                          <a:spcPts val="620"/>
                        </a:spcBef>
                        <a:spcAft>
                          <a:spcPts val="0"/>
                        </a:spcAft>
                      </a:pP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marR="827405" algn="just">
                        <a:lnSpc>
                          <a:spcPts val="1450"/>
                        </a:lnSpc>
                        <a:spcBef>
                          <a:spcPts val="620"/>
                        </a:spcBef>
                        <a:spcAft>
                          <a:spcPts val="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Understand the roles and responsibilities along    with tools &amp;</a:t>
                      </a:r>
                      <a:r>
                        <a:rPr lang="en-US" sz="2400" spc="-29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techniques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used in Project Management</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7945">
                        <a:spcBef>
                          <a:spcPts val="20"/>
                        </a:spcBef>
                        <a:spcAft>
                          <a:spcPts val="0"/>
                        </a:spcAft>
                      </a:pPr>
                      <a:r>
                        <a:rPr lang="en-US" sz="2400" b="1">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Evaluating</a:t>
                      </a:r>
                      <a:r>
                        <a:rPr lang="en-US" sz="24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(K5)</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564771">
                <a:tc>
                  <a:txBody>
                    <a:bodyPr/>
                    <a:lstStyle/>
                    <a:p>
                      <a:pPr marL="67945">
                        <a:spcBef>
                          <a:spcPts val="365"/>
                        </a:spcBef>
                      </a:pP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CO</a:t>
                      </a:r>
                      <a:r>
                        <a:rPr lang="en-US" sz="24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3</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a:spcBef>
                          <a:spcPts val="690"/>
                        </a:spcBef>
                        <a:spcAft>
                          <a:spcPts val="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Develop</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confident to take</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up</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any</a:t>
                      </a:r>
                      <a:r>
                        <a:rPr lang="en-US" sz="24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kind of projects</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a:spcBef>
                          <a:spcPts val="365"/>
                        </a:spcBef>
                        <a:spcAft>
                          <a:spcPts val="0"/>
                        </a:spcAft>
                      </a:pP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Evaluating</a:t>
                      </a:r>
                      <a:r>
                        <a:rPr lang="en-US" sz="24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(K5)</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1241400">
                <a:tc>
                  <a:txBody>
                    <a:bodyPr/>
                    <a:lstStyle/>
                    <a:p>
                      <a:pPr marL="67945">
                        <a:spcBef>
                          <a:spcPts val="35"/>
                        </a:spcBef>
                        <a:spcAft>
                          <a:spcPts val="0"/>
                        </a:spcAft>
                      </a:pPr>
                      <a:r>
                        <a:rPr lang="en-US" sz="2400" b="1">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CO</a:t>
                      </a:r>
                      <a:r>
                        <a:rPr lang="en-US" sz="24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4</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marR="437515" algn="just">
                        <a:lnSpc>
                          <a:spcPct val="105000"/>
                        </a:lnSpc>
                        <a:spcBef>
                          <a:spcPts val="675"/>
                        </a:spcBef>
                        <a:spcAft>
                          <a:spcPts val="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Students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will</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understand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scheduling</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monitoring</a:t>
                      </a:r>
                      <a:r>
                        <a:rPr lang="en-US" sz="24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process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z="2400" spc="-2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Project. They</a:t>
                      </a:r>
                      <a:r>
                        <a:rPr lang="en-US" sz="24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will be able</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to apply</a:t>
                      </a:r>
                      <a:r>
                        <a:rPr lang="en-US" sz="24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PERT</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and CPM method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for</a:t>
                      </a: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scheduling</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7945">
                        <a:spcBef>
                          <a:spcPts val="50"/>
                        </a:spcBef>
                        <a:spcAft>
                          <a:spcPts val="0"/>
                        </a:spcAft>
                      </a:pPr>
                      <a:r>
                        <a:rPr lang="en-US" sz="2400" b="1">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Applying</a:t>
                      </a:r>
                      <a:r>
                        <a:rPr lang="en-US" sz="2400" spc="-2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(K3)</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914121">
                <a:tc>
                  <a:txBody>
                    <a:bodyPr/>
                    <a:lstStyle/>
                    <a:p>
                      <a:pPr marL="67945">
                        <a:spcBef>
                          <a:spcPts val="655"/>
                        </a:spcBef>
                      </a:pP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CO</a:t>
                      </a:r>
                      <a:r>
                        <a:rPr lang="en-US" sz="24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5</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a:lnSpc>
                          <a:spcPts val="1340"/>
                        </a:lnSpc>
                      </a:pP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lnSpc>
                          <a:spcPts val="1340"/>
                        </a:lnSpc>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Students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will</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understand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perspectives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which</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lnSpc>
                          <a:spcPts val="1340"/>
                        </a:lnSpc>
                      </a:pPr>
                      <a:endPar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lnSpc>
                          <a:spcPts val="1340"/>
                        </a:lnSpc>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optimum</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decisions</a:t>
                      </a: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are</a:t>
                      </a:r>
                      <a:r>
                        <a:rPr lang="en-US" sz="24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be taken</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 case</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risks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with </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lnSpc>
                          <a:spcPts val="1340"/>
                        </a:lnSpc>
                      </a:pP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lnSpc>
                          <a:spcPts val="1340"/>
                        </a:lnSpc>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planned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activities in</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project</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a:spcBef>
                          <a:spcPts val="1015"/>
                        </a:spcBef>
                        <a:spcAft>
                          <a:spcPts val="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Creating</a:t>
                      </a:r>
                      <a:r>
                        <a:rPr lang="en-US" sz="24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(K6)</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Program outcome (POs)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r>
              <a:rPr lang="en-US" sz="2400" dirty="0">
                <a:solidFill>
                  <a:srgbClr val="000000"/>
                </a:solidFill>
                <a:effectLst/>
                <a:latin typeface="Times New Roman" panose="02020603050405020304" pitchFamily="18" charset="0"/>
                <a:ea typeface="Times New Roman" panose="02020603050405020304" pitchFamily="18" charset="0"/>
              </a:rPr>
              <a:t>PO1. Apply knowledge of management theories and practices to solve business problems.</a:t>
            </a:r>
            <a:endParaRPr lang="en-IN" sz="2400" dirty="0">
              <a:effectLst/>
              <a:latin typeface="Times New Roman" panose="02020603050405020304" pitchFamily="18" charset="0"/>
              <a:ea typeface="Times New Roman" panose="02020603050405020304" pitchFamily="18" charset="0"/>
            </a:endParaRPr>
          </a:p>
          <a:p>
            <a:r>
              <a:rPr lang="en-US" sz="2400" dirty="0">
                <a:solidFill>
                  <a:srgbClr val="000000"/>
                </a:solidFill>
                <a:effectLst/>
                <a:latin typeface="Times New Roman" panose="02020603050405020304" pitchFamily="18" charset="0"/>
                <a:ea typeface="Times New Roman" panose="02020603050405020304" pitchFamily="18" charset="0"/>
              </a:rPr>
              <a:t>PO2. Foster analytical and critical thinking abilities for data-based decision-making.</a:t>
            </a:r>
            <a:endParaRPr lang="en-IN" sz="2400" dirty="0">
              <a:effectLst/>
              <a:latin typeface="Times New Roman" panose="02020603050405020304" pitchFamily="18" charset="0"/>
              <a:ea typeface="Times New Roman" panose="02020603050405020304" pitchFamily="18" charset="0"/>
            </a:endParaRPr>
          </a:p>
          <a:p>
            <a:r>
              <a:rPr lang="en-US" sz="2400" dirty="0">
                <a:solidFill>
                  <a:srgbClr val="000000"/>
                </a:solidFill>
                <a:effectLst/>
                <a:latin typeface="Times New Roman" panose="02020603050405020304" pitchFamily="18" charset="0"/>
                <a:ea typeface="Times New Roman" panose="02020603050405020304" pitchFamily="18" charset="0"/>
              </a:rPr>
              <a:t>PO3. Ability to develop value-based leadership ability.</a:t>
            </a:r>
            <a:endParaRPr lang="en-IN" sz="2400" dirty="0">
              <a:effectLst/>
              <a:latin typeface="Times New Roman" panose="02020603050405020304" pitchFamily="18" charset="0"/>
              <a:ea typeface="Times New Roman" panose="02020603050405020304" pitchFamily="18" charset="0"/>
            </a:endParaRPr>
          </a:p>
          <a:p>
            <a:r>
              <a:rPr lang="en-US" sz="2400" dirty="0">
                <a:solidFill>
                  <a:srgbClr val="000000"/>
                </a:solidFill>
                <a:effectLst/>
                <a:latin typeface="Times New Roman" panose="02020603050405020304" pitchFamily="18" charset="0"/>
                <a:ea typeface="Times New Roman" panose="02020603050405020304" pitchFamily="18" charset="0"/>
              </a:rPr>
              <a:t>PO4. Ability to understand, analyze, and communicate global, economic, legal, and ethical aspects of business.</a:t>
            </a:r>
            <a:endParaRPr lang="en-IN" sz="2400" dirty="0">
              <a:effectLst/>
              <a:latin typeface="Times New Roman" panose="02020603050405020304" pitchFamily="18" charset="0"/>
              <a:ea typeface="Times New Roman" panose="02020603050405020304" pitchFamily="18" charset="0"/>
            </a:endParaRPr>
          </a:p>
          <a:p>
            <a:r>
              <a:rPr lang="en-US" sz="2400" dirty="0">
                <a:solidFill>
                  <a:srgbClr val="000000"/>
                </a:solidFill>
                <a:effectLst/>
                <a:latin typeface="Times New Roman" panose="02020603050405020304" pitchFamily="18" charset="0"/>
                <a:ea typeface="Times New Roman" panose="02020603050405020304" pitchFamily="18" charset="0"/>
              </a:rPr>
              <a:t>PO5. Ability to lead themselves and others in the achievement of organizational goals, contributing effectively to a team environment.</a:t>
            </a:r>
            <a:endParaRPr lang="en-IN" sz="2400" dirty="0">
              <a:effectLst/>
              <a:latin typeface="Times New Roman" panose="02020603050405020304" pitchFamily="18" charset="0"/>
              <a:ea typeface="Times New Roman" panose="02020603050405020304" pitchFamily="18" charset="0"/>
            </a:endParaRPr>
          </a:p>
          <a:p>
            <a:pPr marL="0" indent="0">
              <a:buNone/>
            </a:pP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COs and POs Mapping</a:t>
            </a:r>
            <a:endParaRPr lang="en-IN" sz="3600" dirty="0">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idx="1"/>
          </p:nvPr>
        </p:nvPicPr>
        <p:blipFill rotWithShape="1">
          <a:blip r:embed="rId1"/>
          <a:srcRect r="14532"/>
          <a:stretch>
            <a:fillRect/>
          </a:stretch>
        </p:blipFill>
        <p:spPr>
          <a:xfrm>
            <a:off x="2171700" y="1666875"/>
            <a:ext cx="7048499" cy="3809999"/>
          </a:xfrm>
          <a:prstGeom prst="rect">
            <a:avLst/>
          </a:prstGeom>
        </p:spPr>
      </p:pic>
      <p:sp>
        <p:nvSpPr>
          <p:cNvPr id="8" name="TextBox 7"/>
          <p:cNvSpPr txBox="1"/>
          <p:nvPr/>
        </p:nvSpPr>
        <p:spPr>
          <a:xfrm>
            <a:off x="2840831" y="5592246"/>
            <a:ext cx="6138862" cy="584775"/>
          </a:xfrm>
          <a:prstGeom prst="rect">
            <a:avLst/>
          </a:prstGeom>
          <a:noFill/>
        </p:spPr>
        <p:txBody>
          <a:bodyPr wrap="square">
            <a:spAutoFit/>
          </a:bodyPr>
          <a:lstStyle/>
          <a:p>
            <a:pPr algn="ctr">
              <a:buNone/>
            </a:pPr>
            <a:r>
              <a:rPr lang="en-US" sz="3200" dirty="0">
                <a:latin typeface="Times New Roman" panose="02020603050405020304" pitchFamily="18" charset="0"/>
                <a:cs typeface="Times New Roman" panose="02020603050405020304" pitchFamily="18" charset="0"/>
              </a:rPr>
              <a:t>*1=High, *2=Medium, *3=Low</a:t>
            </a:r>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Program Educational Objectives (PEOs)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fontAlgn="base">
              <a:lnSpc>
                <a:spcPct val="115000"/>
              </a:lnSpc>
              <a:spcAft>
                <a:spcPts val="750"/>
              </a:spcAft>
            </a:pPr>
            <a:r>
              <a:rPr lang="en-IN" sz="24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PEO 1: Graduates of the management program will have conceptual knowledge, to adapt to the rapidly changing environment, learn new skills and demonstrate application of management principles in a professional work setting.</a:t>
            </a:r>
            <a:endParaRPr lang="en-IN" sz="2400" dirty="0">
              <a:effectLst/>
              <a:latin typeface="Times New Roman" panose="02020603050405020304" pitchFamily="18" charset="0"/>
              <a:ea typeface="Calibri" panose="020F0502020204030204" charset="0"/>
              <a:cs typeface="Times New Roman" panose="02020603050405020304" pitchFamily="18" charset="0"/>
            </a:endParaRPr>
          </a:p>
          <a:p>
            <a:pPr fontAlgn="base">
              <a:lnSpc>
                <a:spcPct val="115000"/>
              </a:lnSpc>
              <a:spcAft>
                <a:spcPts val="750"/>
              </a:spcAft>
            </a:pPr>
            <a:r>
              <a:rPr lang="en-IN" sz="24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PEO 2: Graduates will apply appropriate tools for decision making required for solving complex managerial problems in the local or global context.</a:t>
            </a:r>
            <a:endParaRPr lang="en-IN" sz="2400" dirty="0">
              <a:effectLst/>
              <a:latin typeface="Times New Roman" panose="02020603050405020304" pitchFamily="18" charset="0"/>
              <a:ea typeface="Calibri" panose="020F0502020204030204" charset="0"/>
              <a:cs typeface="Times New Roman" panose="02020603050405020304" pitchFamily="18" charset="0"/>
            </a:endParaRPr>
          </a:p>
          <a:p>
            <a:pPr fontAlgn="base">
              <a:lnSpc>
                <a:spcPct val="115000"/>
              </a:lnSpc>
              <a:spcAft>
                <a:spcPts val="750"/>
              </a:spcAft>
            </a:pPr>
            <a:r>
              <a:rPr lang="en-IN" sz="24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PEO 3: Graduates of the management program will exhibit integrity, social responsibility, and teamwork.</a:t>
            </a:r>
            <a:endParaRPr lang="en-IN" sz="2400" dirty="0">
              <a:effectLst/>
              <a:latin typeface="Times New Roman" panose="02020603050405020304" pitchFamily="18" charset="0"/>
              <a:ea typeface="Calibri" panose="020F0502020204030204" charset="0"/>
              <a:cs typeface="Times New Roman" panose="02020603050405020304" pitchFamily="18" charset="0"/>
            </a:endParaRPr>
          </a:p>
          <a:p>
            <a:pPr fontAlgn="base">
              <a:lnSpc>
                <a:spcPct val="115000"/>
              </a:lnSpc>
              <a:spcAft>
                <a:spcPts val="750"/>
              </a:spcAft>
            </a:pPr>
            <a:r>
              <a:rPr lang="en-IN" sz="24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PEO 4: Graduates will exhibit ethics, communication skills, leadership qualities and entrepreneurial mindset using creativity and innovation.</a:t>
            </a:r>
            <a:endParaRPr lang="en-IN" sz="2400" dirty="0">
              <a:effectLst/>
              <a:latin typeface="Times New Roman" panose="02020603050405020304" pitchFamily="18" charset="0"/>
              <a:ea typeface="Calibri" panose="020F0502020204030204"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Result Analysis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End Semester Question paper Templates</a:t>
            </a:r>
            <a:endParaRPr lang="en-IN" sz="3600" dirty="0">
              <a:latin typeface="Times New Roman" panose="02020603050405020304" pitchFamily="18" charset="0"/>
              <a:cs typeface="Times New Roman" panose="02020603050405020304" pitchFamily="18" charset="0"/>
            </a:endParaRPr>
          </a:p>
        </p:txBody>
      </p:sp>
      <p:pic>
        <p:nvPicPr>
          <p:cNvPr id="2" name="Content Placeholder 9" descr="temp1.png"/>
          <p:cNvPicPr>
            <a:picLocks noGrp="1" noChangeAspect="1"/>
          </p:cNvPicPr>
          <p:nvPr>
            <p:ph idx="1"/>
          </p:nvPr>
        </p:nvPicPr>
        <p:blipFill>
          <a:blip r:embed="rId1"/>
          <a:stretch>
            <a:fillRect/>
          </a:stretch>
        </p:blipFill>
        <p:spPr>
          <a:xfrm>
            <a:off x="1343025" y="1222971"/>
            <a:ext cx="9544050" cy="4907359"/>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End Semester Question paper Templates</a:t>
            </a:r>
            <a:endParaRPr lang="en-IN" sz="3600" dirty="0">
              <a:latin typeface="Times New Roman" panose="02020603050405020304" pitchFamily="18" charset="0"/>
              <a:cs typeface="Times New Roman" panose="02020603050405020304" pitchFamily="18" charset="0"/>
            </a:endParaRPr>
          </a:p>
        </p:txBody>
      </p:sp>
      <p:pic>
        <p:nvPicPr>
          <p:cNvPr id="6" name="Content Placeholder 7" descr="temp3.png"/>
          <p:cNvPicPr>
            <a:picLocks noGrp="1" noChangeAspect="1"/>
          </p:cNvPicPr>
          <p:nvPr>
            <p:ph idx="1"/>
          </p:nvPr>
        </p:nvPicPr>
        <p:blipFill>
          <a:blip r:embed="rId1"/>
          <a:stretch>
            <a:fillRect/>
          </a:stretch>
        </p:blipFill>
        <p:spPr>
          <a:xfrm>
            <a:off x="1209676" y="1028700"/>
            <a:ext cx="9305924" cy="5295900"/>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 </a:t>
            </a:r>
            <a:r>
              <a:rPr lang="en-US" sz="3600" b="0" dirty="0">
                <a:latin typeface="Times New Roman" panose="02020603050405020304" pitchFamily="18" charset="0"/>
                <a:cs typeface="Times New Roman" panose="02020603050405020304" pitchFamily="18" charset="0"/>
              </a:rPr>
              <a:t>Prerequisite /Recap</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Autofit/>
          </a:bodyPr>
          <a:lstStyle/>
          <a:p>
            <a:pPr algn="just">
              <a:buNone/>
            </a:pPr>
            <a:r>
              <a:rPr lang="en-US" sz="2400" dirty="0">
                <a:latin typeface="Times New Roman" panose="02020603050405020304" pitchFamily="18" charset="0"/>
                <a:cs typeface="Times New Roman" panose="02020603050405020304" pitchFamily="18" charset="0"/>
              </a:rPr>
              <a:t>Prerequisites for this session are:</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General understanding of project management.</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Moderate analytical skills.</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Recap: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Project techniques.</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Brief Introduction about the Subject with Videos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r>
              <a:rPr lang="en-US" sz="2400" b="0" i="0" dirty="0">
                <a:solidFill>
                  <a:srgbClr val="0D0D0D"/>
                </a:solidFill>
                <a:effectLst/>
                <a:latin typeface="Times New Roman" panose="02020603050405020304" pitchFamily="18" charset="0"/>
                <a:cs typeface="Times New Roman" panose="02020603050405020304" pitchFamily="18" charset="0"/>
              </a:rPr>
              <a:t>Project management is the discipline of initiating, planning, executing, controlling, and closing the work of a team to achieve specific goals and meet specific success criteria. </a:t>
            </a:r>
            <a:endParaRPr lang="en-US" sz="2400" b="0" i="0" dirty="0">
              <a:solidFill>
                <a:srgbClr val="0D0D0D"/>
              </a:solidFill>
              <a:effectLst/>
              <a:latin typeface="Times New Roman" panose="02020603050405020304" pitchFamily="18" charset="0"/>
              <a:cs typeface="Times New Roman" panose="02020603050405020304" pitchFamily="18" charset="0"/>
            </a:endParaRPr>
          </a:p>
          <a:p>
            <a:r>
              <a:rPr lang="en-US" sz="2400" b="0" i="0" dirty="0">
                <a:solidFill>
                  <a:srgbClr val="0D0D0D"/>
                </a:solidFill>
                <a:effectLst/>
                <a:latin typeface="Times New Roman" panose="02020603050405020304" pitchFamily="18" charset="0"/>
                <a:cs typeface="Times New Roman" panose="02020603050405020304" pitchFamily="18" charset="0"/>
              </a:rPr>
              <a:t>It involves the application of knowledge, skills, tools, and techniques to project activities to meet project requirements. </a:t>
            </a:r>
            <a:endParaRPr lang="en-US" sz="2400" b="0" i="0" dirty="0">
              <a:solidFill>
                <a:srgbClr val="0D0D0D"/>
              </a:solidFill>
              <a:effectLst/>
              <a:latin typeface="Times New Roman" panose="02020603050405020304" pitchFamily="18" charset="0"/>
              <a:cs typeface="Times New Roman" panose="02020603050405020304" pitchFamily="18" charset="0"/>
            </a:endParaRPr>
          </a:p>
          <a:p>
            <a:r>
              <a:rPr lang="en-US" sz="2400" b="0" i="0" dirty="0">
                <a:solidFill>
                  <a:srgbClr val="0D0D0D"/>
                </a:solidFill>
                <a:effectLst/>
                <a:latin typeface="Times New Roman" panose="02020603050405020304" pitchFamily="18" charset="0"/>
                <a:cs typeface="Times New Roman" panose="02020603050405020304" pitchFamily="18" charset="0"/>
              </a:rPr>
              <a:t>Effective project management ensures that projects are completed within scope, on time, and within budget, while delivering the desired outcomes.</a:t>
            </a:r>
            <a:endParaRPr lang="en-US" sz="2400" b="0" i="0" dirty="0">
              <a:solidFill>
                <a:srgbClr val="0D0D0D"/>
              </a:solidFill>
              <a:effectLst/>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hlinkClick r:id="rId1"/>
              </a:rPr>
              <a:t>https://www.youtube.com/watch?v=EyPFi0YO32M</a:t>
            </a:r>
            <a:endParaRPr lang="en-US" sz="2400" dirty="0">
              <a:solidFill>
                <a:srgbClr val="0D0D0D"/>
              </a:solidFill>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hlinkClick r:id="rId2"/>
              </a:rPr>
              <a:t>https://www.youtube.com/watch?v=BOU1YP5NZVA</a:t>
            </a:r>
            <a:endParaRPr lang="en-US" sz="2400" dirty="0">
              <a:solidFill>
                <a:srgbClr val="0D0D0D"/>
              </a:solidFill>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Unit Content</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99345" y="1794786"/>
            <a:ext cx="11793310" cy="4053564"/>
          </a:xfrm>
        </p:spPr>
        <p:txBody>
          <a:bodyPr>
            <a:normAutofit/>
          </a:bodyPr>
          <a:lstStyle/>
          <a:p>
            <a:pPr marL="457200" indent="-457200" algn="just">
              <a:buNone/>
            </a:pPr>
            <a:r>
              <a:rPr lang="en-US" sz="2400" b="1" dirty="0">
                <a:latin typeface="Times New Roman" panose="02020603050405020304" pitchFamily="18" charset="0"/>
                <a:cs typeface="Times New Roman" panose="02020603050405020304" pitchFamily="18" charset="0"/>
              </a:rPr>
              <a:t>Unit-4: </a:t>
            </a: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marL="457200" indent="-457200" algn="just">
              <a:buNone/>
            </a:pPr>
            <a:r>
              <a:rPr lang="en-US" sz="2400" b="1" dirty="0"/>
              <a:t>Steps in Project Scheduling and Network design </a:t>
            </a:r>
            <a:endParaRPr lang="en-US" sz="2400" b="1" dirty="0"/>
          </a:p>
          <a:p>
            <a:pPr marL="457200" indent="-457200" algn="just">
              <a:buNone/>
            </a:pPr>
            <a:r>
              <a:rPr lang="en-US" sz="2400" dirty="0"/>
              <a:t>Gantt Chart, Work Breakdown Structure (WBS) &amp; Responsibility Assignment Matrix. </a:t>
            </a:r>
            <a:endParaRPr lang="en-US" sz="2400" dirty="0"/>
          </a:p>
          <a:p>
            <a:pPr marL="457200" indent="-457200" algn="just">
              <a:buNone/>
            </a:pPr>
            <a:r>
              <a:rPr lang="en-US" sz="2400" b="1" dirty="0"/>
              <a:t>Project Network Design: </a:t>
            </a:r>
            <a:r>
              <a:rPr lang="en-US" sz="2400" dirty="0"/>
              <a:t>Identifying the Nodes and Activities, Activity on Arrow (</a:t>
            </a:r>
            <a:r>
              <a:rPr lang="en-US" sz="2400" dirty="0" err="1"/>
              <a:t>AoA</a:t>
            </a:r>
            <a:r>
              <a:rPr lang="en-US" sz="2400" dirty="0"/>
              <a:t>) and Activities on Node (</a:t>
            </a:r>
            <a:r>
              <a:rPr lang="en-US" sz="2400" dirty="0" err="1"/>
              <a:t>AoN</a:t>
            </a:r>
            <a:r>
              <a:rPr lang="en-US" sz="2400" dirty="0"/>
              <a:t>) methods, Introduction to PERT and CPM, Crashing in Projects. </a:t>
            </a:r>
            <a:endParaRPr lang="en-US" sz="2400" dirty="0"/>
          </a:p>
          <a:p>
            <a:pPr marL="0" indent="0">
              <a:lnSpc>
                <a:spcPts val="1305"/>
              </a:lnSpc>
              <a:buNone/>
            </a:pPr>
            <a:endParaRPr lang="en-US" sz="24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Unit objective</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pPr marL="457200" indent="-457200" algn="just">
              <a:buNone/>
            </a:pPr>
            <a:r>
              <a:rPr lang="en-US" sz="2400" dirty="0"/>
              <a:t>Objectives of this unit are:</a:t>
            </a:r>
            <a:endParaRPr lang="en-US" sz="2400" dirty="0"/>
          </a:p>
          <a:p>
            <a:pPr marL="457200" indent="-457200" algn="just">
              <a:buNone/>
            </a:pPr>
            <a:endParaRPr lang="en-US" sz="2400" dirty="0"/>
          </a:p>
          <a:p>
            <a:pPr marL="457200" indent="-457200" algn="just"/>
            <a:r>
              <a:rPr lang="en-US" sz="2400" dirty="0"/>
              <a:t>To make the students learn about scheduling the project.</a:t>
            </a:r>
            <a:endParaRPr lang="en-US" sz="2400" dirty="0"/>
          </a:p>
          <a:p>
            <a:pPr marL="457200" indent="-457200" algn="just"/>
            <a:endParaRPr lang="en-US" sz="2400" dirty="0"/>
          </a:p>
          <a:p>
            <a:pPr marL="457200" indent="-457200" algn="just"/>
            <a:r>
              <a:rPr lang="en-US" sz="2400" dirty="0"/>
              <a:t>To make to students understand and apply various project scheduling and network analysis techniques. </a:t>
            </a:r>
            <a:endParaRPr lang="en-US" sz="2400"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Topic Objectives &amp; Topic Outcome</a:t>
            </a:r>
            <a:endParaRPr lang="en-IN" sz="3600" dirty="0">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nvGraphicFramePr>
        <p:xfrm>
          <a:off x="1404696" y="1965960"/>
          <a:ext cx="9382608" cy="1097280"/>
        </p:xfrm>
        <a:graphic>
          <a:graphicData uri="http://schemas.openxmlformats.org/drawingml/2006/table">
            <a:tbl>
              <a:tblPr firstRow="1" bandRow="1">
                <a:tableStyleId>{21E4AEA4-8DFA-4A89-87EB-49C32662AFE0}</a:tableStyleId>
              </a:tblPr>
              <a:tblGrid>
                <a:gridCol w="958755"/>
                <a:gridCol w="6376288"/>
                <a:gridCol w="2047565"/>
              </a:tblGrid>
              <a:tr h="276715">
                <a:tc>
                  <a:txBody>
                    <a:bodyPr/>
                    <a:lstStyle/>
                    <a:p>
                      <a:r>
                        <a:rPr lang="en-IN" dirty="0"/>
                        <a:t>s. no.</a:t>
                      </a:r>
                      <a:endParaRPr lang="en-IN" dirty="0"/>
                    </a:p>
                  </a:txBody>
                  <a:tcPr/>
                </a:tc>
                <a:tc>
                  <a:txBody>
                    <a:bodyPr/>
                    <a:lstStyle/>
                    <a:p>
                      <a:r>
                        <a:rPr lang="en-IN" dirty="0"/>
                        <a:t>topic</a:t>
                      </a:r>
                      <a:endParaRPr lang="en-IN" dirty="0"/>
                    </a:p>
                  </a:txBody>
                  <a:tcPr/>
                </a:tc>
                <a:tc>
                  <a:txBody>
                    <a:bodyPr/>
                    <a:lstStyle/>
                    <a:p>
                      <a:r>
                        <a:rPr lang="en-IN" dirty="0"/>
                        <a:t>outcome</a:t>
                      </a:r>
                      <a:endParaRPr lang="en-IN" dirty="0"/>
                    </a:p>
                  </a:txBody>
                  <a:tcPr/>
                </a:tc>
              </a:tr>
              <a:tr h="276715">
                <a:tc>
                  <a:txBody>
                    <a:bodyPr/>
                    <a:lstStyle/>
                    <a:p>
                      <a:r>
                        <a:rPr lang="en-IN" dirty="0"/>
                        <a:t>1</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b="0" dirty="0">
                          <a:cs typeface="Times New Roman" panose="02020603050405020304" pitchFamily="18" charset="0"/>
                        </a:rPr>
                        <a:t>Project Scheduling and Network Analysis</a:t>
                      </a:r>
                      <a:endParaRPr lang="en-US" sz="1800" b="0" dirty="0">
                        <a:cs typeface="Times New Roman" panose="02020603050405020304" pitchFamily="18" charset="0"/>
                      </a:endParaRPr>
                    </a:p>
                  </a:txBody>
                  <a:tcPr/>
                </a:tc>
                <a:tc>
                  <a:txBody>
                    <a:bodyPr/>
                    <a:lstStyle/>
                    <a:p>
                      <a:r>
                        <a:rPr lang="en-IN" dirty="0"/>
                        <a:t>CO3</a:t>
                      </a:r>
                      <a:endParaRPr lang="en-IN" dirty="0"/>
                    </a:p>
                  </a:txBody>
                  <a:tcPr/>
                </a:tc>
              </a:tr>
              <a:tr h="276715">
                <a:tc>
                  <a:txBody>
                    <a:bodyPr/>
                    <a:lstStyle/>
                    <a:p>
                      <a:r>
                        <a:rPr lang="en-IN" dirty="0"/>
                        <a:t>2</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b="0" dirty="0">
                          <a:cs typeface="Times New Roman" panose="02020603050405020304" pitchFamily="18" charset="0"/>
                        </a:rPr>
                        <a:t>Project Scheduling and Network design </a:t>
                      </a:r>
                      <a:endParaRPr lang="en-US" sz="1800" b="0" dirty="0">
                        <a:cs typeface="Times New Roman" panose="02020603050405020304" pitchFamily="18" charset="0"/>
                      </a:endParaRPr>
                    </a:p>
                  </a:txBody>
                  <a:tcPr/>
                </a:tc>
                <a:tc>
                  <a:txBody>
                    <a:bodyPr/>
                    <a:lstStyle/>
                    <a:p>
                      <a:r>
                        <a:rPr lang="en-IN" dirty="0"/>
                        <a:t>CO3</a:t>
                      </a:r>
                      <a:endParaRPr lang="en-IN" dirty="0"/>
                    </a:p>
                  </a:txBody>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Project scheduling </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pPr algn="just">
              <a:buNone/>
            </a:pPr>
            <a:r>
              <a:rPr lang="en-US" sz="2800" dirty="0"/>
              <a:t>	</a:t>
            </a:r>
            <a:r>
              <a:rPr lang="en-US" sz="2400" dirty="0"/>
              <a:t>Project scheduling is a mechanism to communicate what tasks need to get done and which organizational resources will be allocated to complete those tasks in what timeframe. </a:t>
            </a:r>
            <a:endParaRPr lang="en-US" sz="2400" dirty="0"/>
          </a:p>
          <a:p>
            <a:pPr algn="just">
              <a:buNone/>
            </a:pPr>
            <a:endParaRPr lang="en-US" sz="2400" dirty="0"/>
          </a:p>
          <a:p>
            <a:pPr algn="just">
              <a:buNone/>
            </a:pPr>
            <a:r>
              <a:rPr lang="en-US" sz="2400" dirty="0"/>
              <a:t>	A project schedule is a document collecting all the work needed to deliver the project on time.</a:t>
            </a:r>
            <a:endParaRPr lang="en-US" sz="2400" dirty="0"/>
          </a:p>
          <a:p>
            <a:pPr algn="just">
              <a:buNone/>
            </a:pPr>
            <a:endParaRPr lang="en-US" sz="24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Project Planning vs Project Scheduling</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644893" y="1822270"/>
            <a:ext cx="11175236" cy="3213459"/>
          </a:xfrm>
        </p:spPr>
        <p:txBody>
          <a:bodyPr/>
          <a:lstStyle/>
          <a:p>
            <a:pPr algn="just">
              <a:buNone/>
            </a:pPr>
            <a:r>
              <a:rPr lang="en-US" sz="2400" b="1" dirty="0">
                <a:latin typeface="Times New Roman" panose="02020603050405020304" pitchFamily="18" charset="0"/>
                <a:cs typeface="Times New Roman" panose="02020603050405020304" pitchFamily="18" charset="0"/>
              </a:rPr>
              <a:t>   Project Planning</a:t>
            </a:r>
            <a:r>
              <a:rPr lang="en-US" sz="2400" dirty="0">
                <a:latin typeface="Times New Roman" panose="02020603050405020304" pitchFamily="18" charset="0"/>
                <a:cs typeface="Times New Roman" panose="02020603050405020304" pitchFamily="18" charset="0"/>
              </a:rPr>
              <a:t> primarily involves selecting the appropriate policies, methodologies, and procedures required to deliver the project on time.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buNone/>
            </a:pPr>
            <a:r>
              <a:rPr lang="en-US" sz="2400" b="1" dirty="0">
                <a:latin typeface="Times New Roman" panose="02020603050405020304" pitchFamily="18" charset="0"/>
                <a:cs typeface="Times New Roman" panose="02020603050405020304" pitchFamily="18" charset="0"/>
              </a:rPr>
              <a:t>	Project Scheduling</a:t>
            </a:r>
            <a:r>
              <a:rPr lang="en-US" sz="2400" dirty="0">
                <a:latin typeface="Times New Roman" panose="02020603050405020304" pitchFamily="18" charset="0"/>
                <a:cs typeface="Times New Roman" panose="02020603050405020304" pitchFamily="18" charset="0"/>
              </a:rPr>
              <a:t>, on the other hand, converts the plans, scope, and cost into an operational timeline.</a:t>
            </a:r>
            <a:endParaRPr lang="en-US" sz="24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Steps in Project Scheduling</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732065" y="1194711"/>
            <a:ext cx="10583635" cy="5001302"/>
          </a:xfrm>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Step 1: Plan Schedule Management</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Step 2: Define Activities</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Step 3: Sequence Activities</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Step 4: Estimate Activity Resources</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Step 5:  Estimate Activity Durations</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Step 6:  Develop Schedule</a:t>
            </a:r>
            <a:endParaRPr lang="en-US" sz="2400" dirty="0">
              <a:latin typeface="Times New Roman" panose="02020603050405020304" pitchFamily="18" charset="0"/>
              <a:cs typeface="Times New Roman" panose="02020603050405020304" pitchFamily="18" charset="0"/>
            </a:endParaRPr>
          </a:p>
          <a:p>
            <a:pPr algn="just">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 1: Plan Schedule Management</a:t>
            </a:r>
            <a:endParaRPr lang="en-IN" sz="36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770021" y="1752600"/>
            <a:ext cx="10612354" cy="2677656"/>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Plan Schedule Management is the process of establishing the policies, procedures, and documentation for planning, developing, managing, executing, and controlling the project schedule.  </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key benefit of this process is that it provides guidance and direction on how the project schedule will be managed throughout the project.</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 2: Define Activities</a:t>
            </a:r>
            <a:endParaRPr lang="en-IN" sz="3600" dirty="0">
              <a:latin typeface="Times New Roman" panose="02020603050405020304" pitchFamily="18" charset="0"/>
              <a:cs typeface="Times New Roman" panose="02020603050405020304" pitchFamily="18" charset="0"/>
            </a:endParaRPr>
          </a:p>
        </p:txBody>
      </p:sp>
      <p:pic>
        <p:nvPicPr>
          <p:cNvPr id="9" name="Picture 2"/>
          <p:cNvPicPr>
            <a:picLocks noGrp="1" noChangeAspect="1" noChangeArrowheads="1"/>
          </p:cNvPicPr>
          <p:nvPr>
            <p:ph idx="1"/>
          </p:nvPr>
        </p:nvPicPr>
        <p:blipFill>
          <a:blip r:embed="rId1"/>
          <a:srcRect/>
          <a:stretch>
            <a:fillRect/>
          </a:stretch>
        </p:blipFill>
        <p:spPr bwMode="auto">
          <a:xfrm>
            <a:off x="3445844" y="1357162"/>
            <a:ext cx="4552750" cy="4466122"/>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 3: Sequence Activities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961345" y="1632861"/>
            <a:ext cx="10269310" cy="4171173"/>
          </a:xfrm>
        </p:spPr>
        <p:txBody>
          <a:bodyPr/>
          <a:lstStyle/>
          <a:p>
            <a:pPr algn="just"/>
            <a:r>
              <a:rPr lang="en-US" sz="2400" dirty="0">
                <a:latin typeface="Times New Roman" panose="02020603050405020304" pitchFamily="18" charset="0"/>
                <a:cs typeface="Times New Roman" panose="02020603050405020304" pitchFamily="18" charset="0"/>
              </a:rPr>
              <a:t>Sequence Activities is the process of identifying and documenting relationships among the project activities.  </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key benefit of this process is that it defines the logical sequence of work to obtain the greatest efficiency given all project constraints.</a:t>
            </a:r>
            <a:endParaRPr lang="en-US" sz="2400" dirty="0">
              <a:latin typeface="Times New Roman" panose="02020603050405020304" pitchFamily="18" charset="0"/>
              <a:cs typeface="Times New Roman" panose="02020603050405020304" pitchFamily="18" charset="0"/>
            </a:endParaRPr>
          </a:p>
          <a:p>
            <a:pPr algn="just"/>
            <a:endParaRPr lang="en-I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Task Dependencies (Four Types)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956582" y="1243951"/>
            <a:ext cx="10278835" cy="5001302"/>
          </a:xfrm>
        </p:spPr>
        <p:txBody>
          <a:bodyPr>
            <a:normAutofit/>
          </a:bodyPr>
          <a:lstStyle/>
          <a:p>
            <a:pPr algn="just"/>
            <a:r>
              <a:rPr lang="en-US" sz="2400" b="1" dirty="0">
                <a:latin typeface="Times New Roman" panose="02020603050405020304" pitchFamily="18" charset="0"/>
                <a:cs typeface="Times New Roman" panose="02020603050405020304" pitchFamily="18" charset="0"/>
              </a:rPr>
              <a:t>Finish to Start (FS): </a:t>
            </a:r>
            <a:r>
              <a:rPr lang="en-US" sz="2400" dirty="0">
                <a:latin typeface="Times New Roman" panose="02020603050405020304" pitchFamily="18" charset="0"/>
                <a:cs typeface="Times New Roman" panose="02020603050405020304" pitchFamily="18" charset="0"/>
              </a:rPr>
              <a:t> This is the most common dependency.  When tasks A and B have an “FS relationship,” task B cannot start until task A finishes.</a:t>
            </a:r>
            <a:endParaRPr lang="en-US" sz="2400"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Finish to Finish (FF):</a:t>
            </a:r>
            <a:r>
              <a:rPr lang="en-US" sz="2400" dirty="0">
                <a:latin typeface="Times New Roman" panose="02020603050405020304" pitchFamily="18" charset="0"/>
                <a:cs typeface="Times New Roman" panose="02020603050405020304" pitchFamily="18" charset="0"/>
              </a:rPr>
              <a:t>  When tasks A and B have an FF relationship, task B cannot finish until task A finishes.</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Start to Start (SS): </a:t>
            </a:r>
            <a:r>
              <a:rPr lang="en-US" sz="2400" dirty="0">
                <a:latin typeface="Times New Roman" panose="02020603050405020304" pitchFamily="18" charset="0"/>
                <a:cs typeface="Times New Roman" panose="02020603050405020304" pitchFamily="18" charset="0"/>
              </a:rPr>
              <a:t> When tasks A and B have an SS relationship, task B cannot start until task A starts.</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Start to Finish (SF): </a:t>
            </a:r>
            <a:r>
              <a:rPr lang="en-US" sz="2400" dirty="0">
                <a:latin typeface="Times New Roman" panose="02020603050405020304" pitchFamily="18" charset="0"/>
                <a:cs typeface="Times New Roman" panose="02020603050405020304" pitchFamily="18" charset="0"/>
              </a:rPr>
              <a:t> When tasks A and B have an SF relationship, task B cannot finish until task A starts.</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Leads &amp; Lags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85825" y="1175661"/>
            <a:ext cx="11059432" cy="5001302"/>
          </a:xfrm>
        </p:spPr>
        <p:txBody>
          <a:bodyPr>
            <a:normAutofit/>
          </a:bodyPr>
          <a:lstStyle/>
          <a:p>
            <a:pPr marL="0" indent="0">
              <a:buNone/>
            </a:pPr>
            <a:endParaRPr lang="en-US" alt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Lead-</a:t>
            </a:r>
            <a:r>
              <a:rPr lang="en-US" sz="2400" dirty="0">
                <a:latin typeface="Times New Roman" panose="02020603050405020304" pitchFamily="18" charset="0"/>
                <a:cs typeface="Times New Roman" panose="02020603050405020304" pitchFamily="18" charset="0"/>
              </a:rPr>
              <a:t> The amount of time whereby a successor activity can be advanced concerning a predecessor activity.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For example, if tasks A and B have an FS relationship with a lead of 5 days, task B cannot start until 5 days after task A has finished.</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Lag: </a:t>
            </a:r>
            <a:r>
              <a:rPr lang="en-US" sz="2400" dirty="0">
                <a:latin typeface="Times New Roman" panose="02020603050405020304" pitchFamily="18" charset="0"/>
                <a:cs typeface="Times New Roman" panose="02020603050405020304" pitchFamily="18" charset="0"/>
              </a:rPr>
              <a:t> The amount of time whereby a successor activity will be delayed concerning a predecessor activity.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For example, if tasks A and B have an FS relationship with a lag of 5 days, task B cannot start until 5 days before task A has finished.</a:t>
            </a:r>
            <a:endParaRPr 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 4: Estimate Activity Resources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pPr algn="just">
              <a:buNone/>
              <a:defRPr/>
            </a:pPr>
            <a:r>
              <a:rPr lang="en-US" sz="2800" dirty="0"/>
              <a:t>	</a:t>
            </a:r>
            <a:endParaRPr lang="en-IN" dirty="0"/>
          </a:p>
        </p:txBody>
      </p:sp>
      <p:pic>
        <p:nvPicPr>
          <p:cNvPr id="2" name="Picture 2"/>
          <p:cNvPicPr>
            <a:picLocks noChangeAspect="1" noChangeArrowheads="1"/>
          </p:cNvPicPr>
          <p:nvPr/>
        </p:nvPicPr>
        <p:blipFill>
          <a:blip r:embed="rId1"/>
          <a:srcRect/>
          <a:stretch>
            <a:fillRect/>
          </a:stretch>
        </p:blipFill>
        <p:spPr bwMode="auto">
          <a:xfrm>
            <a:off x="1761423" y="2371164"/>
            <a:ext cx="9144000" cy="2115671"/>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 5:  Estimate Activity Durations</a:t>
            </a:r>
            <a:endParaRPr lang="en-IN" sz="3600" dirty="0">
              <a:latin typeface="Times New Roman" panose="02020603050405020304" pitchFamily="18" charset="0"/>
              <a:cs typeface="Times New Roman" panose="02020603050405020304" pitchFamily="18" charset="0"/>
            </a:endParaRPr>
          </a:p>
        </p:txBody>
      </p:sp>
      <p:pic>
        <p:nvPicPr>
          <p:cNvPr id="2" name="Picture 2"/>
          <p:cNvPicPr>
            <a:picLocks noGrp="1" noChangeAspect="1" noChangeArrowheads="1"/>
          </p:cNvPicPr>
          <p:nvPr>
            <p:ph idx="1"/>
          </p:nvPr>
        </p:nvPicPr>
        <p:blipFill>
          <a:blip r:embed="rId1"/>
          <a:srcRect/>
          <a:stretch>
            <a:fillRect/>
          </a:stretch>
        </p:blipFill>
        <p:spPr bwMode="auto">
          <a:xfrm>
            <a:off x="2502568" y="1597794"/>
            <a:ext cx="6795436" cy="4215865"/>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Methods of Estimation</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buNone/>
            </a:pPr>
            <a:r>
              <a:rPr lang="en-US" sz="2400" b="1" dirty="0">
                <a:latin typeface="Times New Roman" panose="02020603050405020304" pitchFamily="18" charset="0"/>
                <a:cs typeface="Times New Roman" panose="02020603050405020304" pitchFamily="18" charset="0"/>
              </a:rPr>
              <a:t>1. Analogous Estimating: </a:t>
            </a:r>
            <a:r>
              <a:rPr lang="en-US" sz="2400" dirty="0">
                <a:latin typeface="Times New Roman" panose="02020603050405020304" pitchFamily="18" charset="0"/>
                <a:cs typeface="Times New Roman" panose="02020603050405020304" pitchFamily="18" charset="0"/>
              </a:rPr>
              <a:t> In this method, you consult the actual data from a previous or related project.  Even if it has some differences from the current project, you can analyze those differences and apply a correction factor.</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buNone/>
            </a:pPr>
            <a:r>
              <a:rPr lang="en-US" sz="2400" b="1" dirty="0">
                <a:latin typeface="Times New Roman" panose="02020603050405020304" pitchFamily="18" charset="0"/>
                <a:cs typeface="Times New Roman" panose="02020603050405020304" pitchFamily="18" charset="0"/>
              </a:rPr>
              <a:t>2. Parametric Estimating: </a:t>
            </a:r>
            <a:r>
              <a:rPr lang="en-US" sz="2400" dirty="0">
                <a:latin typeface="Times New Roman" panose="02020603050405020304" pitchFamily="18" charset="0"/>
                <a:cs typeface="Times New Roman" panose="02020603050405020304" pitchFamily="18" charset="0"/>
              </a:rPr>
              <a:t> In this method, you break down the project into its fundamental units that have well-known and understood unit rates.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For example, the square footage of a house.</a:t>
            </a:r>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Methods of Estimation </a:t>
            </a:r>
            <a:r>
              <a:rPr lang="en-US" sz="3600" dirty="0" err="1">
                <a:latin typeface="Times New Roman" panose="02020603050405020304" pitchFamily="18" charset="0"/>
                <a:cs typeface="Times New Roman" panose="02020603050405020304" pitchFamily="18" charset="0"/>
              </a:rPr>
              <a:t>contd</a:t>
            </a:r>
            <a:r>
              <a:rPr lang="en-US" sz="3600" dirty="0">
                <a:latin typeface="Times New Roman" panose="02020603050405020304" pitchFamily="18" charset="0"/>
                <a:cs typeface="Times New Roman" panose="02020603050405020304" pitchFamily="18" charset="0"/>
              </a:rPr>
              <a:t>…</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r>
              <a:rPr lang="en-US" sz="2400" b="1" dirty="0">
                <a:latin typeface="Times New Roman" panose="02020603050405020304" pitchFamily="18" charset="0"/>
                <a:cs typeface="Times New Roman" panose="02020603050405020304" pitchFamily="18" charset="0"/>
              </a:rPr>
              <a:t>Three Point Estimating: </a:t>
            </a:r>
            <a:r>
              <a:rPr lang="en-US" sz="2400" dirty="0">
                <a:latin typeface="Times New Roman" panose="02020603050405020304" pitchFamily="18" charset="0"/>
                <a:cs typeface="Times New Roman" panose="02020603050405020304" pitchFamily="18" charset="0"/>
              </a:rPr>
              <a:t> When you have no real good data to go from, you can estimate the highest possible number (optimistic), and the lowest (pessimistic) as well as the most likely.  Then you can use a triangular distribution (average them), or use a beta distribution.</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b="1" i="1" dirty="0">
                <a:latin typeface="Times New Roman" panose="02020603050405020304" pitchFamily="18" charset="0"/>
                <a:cs typeface="Times New Roman" panose="02020603050405020304" pitchFamily="18" charset="0"/>
              </a:rPr>
              <a:t>Normal Distribution:</a:t>
            </a:r>
            <a:r>
              <a:rPr lang="en-US" sz="2400" i="1" dirty="0">
                <a:latin typeface="Times New Roman" panose="02020603050405020304" pitchFamily="18" charset="0"/>
                <a:cs typeface="Times New Roman" panose="02020603050405020304" pitchFamily="18" charset="0"/>
              </a:rPr>
              <a:t>  Estimate = (Optimistic + Most Likely + Pessimistic) / 3</a:t>
            </a:r>
            <a:endParaRPr lang="en-US" sz="2400" dirty="0">
              <a:latin typeface="Times New Roman" panose="02020603050405020304" pitchFamily="18" charset="0"/>
              <a:cs typeface="Times New Roman" panose="02020603050405020304" pitchFamily="18" charset="0"/>
            </a:endParaRPr>
          </a:p>
          <a:p>
            <a:pPr algn="just"/>
            <a:r>
              <a:rPr lang="en-US" sz="2400" b="1" i="1" dirty="0">
                <a:latin typeface="Times New Roman" panose="02020603050405020304" pitchFamily="18" charset="0"/>
                <a:cs typeface="Times New Roman" panose="02020603050405020304" pitchFamily="18" charset="0"/>
              </a:rPr>
              <a:t>Beta Distribution:</a:t>
            </a:r>
            <a:r>
              <a:rPr lang="en-US" sz="2400" i="1" dirty="0">
                <a:latin typeface="Times New Roman" panose="02020603050405020304" pitchFamily="18" charset="0"/>
                <a:cs typeface="Times New Roman" panose="02020603050405020304" pitchFamily="18" charset="0"/>
              </a:rPr>
              <a:t>  Estimate = (Optimistic + 4 x Most Likely + Pessimistic) / 6</a:t>
            </a:r>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 6:  Develop a Schedule</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587141" y="2051560"/>
            <a:ext cx="11232988" cy="3078705"/>
          </a:xfrm>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Developing a Schedule is the process of analyzing activity sequences, durations, resource requirements, and schedule constraints to create the project schedule model.  </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The key benefit of this process is that by entering scheduled activities, durations, resources, resource availabilities, and logical relationships into the scheduling tool, it generates a schedule model with planned dates for completing project activities.</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Gantt Chart</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242332" y="1166136"/>
            <a:ext cx="9707335" cy="5001302"/>
          </a:xfrm>
        </p:spPr>
        <p:txBody>
          <a:bodyPr>
            <a:normAutofit/>
          </a:bodyPr>
          <a:lstStyle/>
          <a:p>
            <a:pPr marL="514350" indent="-514350">
              <a:buFont typeface="Arial" panose="020B0604020202020204" pitchFamily="34" charset="0"/>
              <a:buAutoNum type="arabicPeriod"/>
            </a:pPr>
            <a:endParaRPr lang="en-US" altLang="en-US" sz="2400" b="1"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Henry Gantt, American Engineer, 1917</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Gantt charts are used to show calendar time task assignments in days, weeks, or months. The tool uses graphic representations to show the start, elapsed, and completion times of each task within a project. 		</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Gantt charts are ideal for tracking progress. These charts serve as a valuable budgeting tool and can show funds allocated versus funds spent</a:t>
            </a:r>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Gantt Chart</a:t>
            </a:r>
            <a:endParaRPr lang="en-IN" sz="3600" dirty="0">
              <a:latin typeface="Times New Roman" panose="02020603050405020304" pitchFamily="18" charset="0"/>
              <a:cs typeface="Times New Roman" panose="02020603050405020304" pitchFamily="18" charset="0"/>
            </a:endParaRPr>
          </a:p>
        </p:txBody>
      </p:sp>
      <p:pic>
        <p:nvPicPr>
          <p:cNvPr id="7" name="Content Placeholder 6"/>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587487" y="1176338"/>
            <a:ext cx="7384286" cy="5000625"/>
          </a:xfr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Benefits of using a Gantt chart</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08265" y="1594761"/>
            <a:ext cx="10431235" cy="3520164"/>
          </a:xfrm>
        </p:spPr>
        <p:txBody>
          <a:bodyPr>
            <a:normAutofit fontScale="92500" lnSpcReduction="10000"/>
          </a:bodyPr>
          <a:lstStyle/>
          <a:p>
            <a:pPr lvl="0" algn="just"/>
            <a:r>
              <a:rPr lang="en-US" sz="2800" dirty="0"/>
              <a:t>Enables better project control by promoting clearer communication.</a:t>
            </a:r>
            <a:endParaRPr lang="en-US" sz="2800" dirty="0"/>
          </a:p>
          <a:p>
            <a:pPr lvl="0" algn="just"/>
            <a:r>
              <a:rPr lang="en-US" sz="2800" dirty="0"/>
              <a:t>Becomes a tool for negotiations.</a:t>
            </a:r>
            <a:endParaRPr lang="en-US" sz="2800" dirty="0"/>
          </a:p>
          <a:p>
            <a:pPr lvl="0" algn="just"/>
            <a:r>
              <a:rPr lang="en-US" sz="2800" dirty="0"/>
              <a:t>Shows the actual progress against the planned schedule.</a:t>
            </a:r>
            <a:endParaRPr lang="en-US" sz="2800" dirty="0"/>
          </a:p>
          <a:p>
            <a:pPr lvl="0" algn="just"/>
            <a:r>
              <a:rPr lang="en-US" sz="2800" dirty="0"/>
              <a:t>Can report results at appropriate levels.</a:t>
            </a:r>
            <a:endParaRPr lang="en-US" sz="2800" dirty="0"/>
          </a:p>
          <a:p>
            <a:pPr lvl="0" algn="just"/>
            <a:r>
              <a:rPr lang="en-US" sz="2800" dirty="0"/>
              <a:t>Allows comparison of multiple projects to determine risk or resource allocation.</a:t>
            </a:r>
            <a:endParaRPr lang="en-US" sz="2800" dirty="0"/>
          </a:p>
          <a:p>
            <a:pPr algn="just"/>
            <a:r>
              <a:rPr lang="en-US" sz="2800" dirty="0"/>
              <a:t>Rewards the project manager with more visibility and control over the project.</a:t>
            </a:r>
            <a:endParaRPr lang="en-US" sz="2800" dirty="0"/>
          </a:p>
          <a:p>
            <a:pPr marL="0" indent="0">
              <a:buNone/>
            </a:pPr>
            <a:endParaRPr lang="en-I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Topic objective and topic outcome</a:t>
            </a:r>
            <a:endParaRPr lang="en-IN" sz="3600" dirty="0">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p:cNvGraphicFramePr>
          <p:nvPr>
            <p:ph idx="1"/>
          </p:nvPr>
        </p:nvGraphicFramePr>
        <p:xfrm>
          <a:off x="231775" y="1985963"/>
          <a:ext cx="11728449" cy="1280160"/>
        </p:xfrm>
        <a:graphic>
          <a:graphicData uri="http://schemas.openxmlformats.org/drawingml/2006/table">
            <a:tbl>
              <a:tblPr firstRow="1" bandRow="1">
                <a:tableStyleId>{21E4AEA4-8DFA-4A89-87EB-49C32662AFE0}</a:tableStyleId>
              </a:tblPr>
              <a:tblGrid>
                <a:gridCol w="1420812"/>
                <a:gridCol w="6398154"/>
                <a:gridCol w="3909483"/>
              </a:tblGrid>
              <a:tr h="370840">
                <a:tc>
                  <a:txBody>
                    <a:bodyPr/>
                    <a:lstStyle/>
                    <a:p>
                      <a:r>
                        <a:rPr lang="en-IN" sz="2400" dirty="0">
                          <a:latin typeface="Times New Roman" panose="02020603050405020304" pitchFamily="18" charset="0"/>
                          <a:cs typeface="Times New Roman" panose="02020603050405020304" pitchFamily="18" charset="0"/>
                        </a:rPr>
                        <a:t>s.no.</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latin typeface="Times New Roman" panose="02020603050405020304" pitchFamily="18" charset="0"/>
                          <a:cs typeface="Times New Roman" panose="02020603050405020304" pitchFamily="18" charset="0"/>
                        </a:rPr>
                        <a:t>topic</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latin typeface="Times New Roman" panose="02020603050405020304" pitchFamily="18" charset="0"/>
                          <a:cs typeface="Times New Roman" panose="02020603050405020304" pitchFamily="18" charset="0"/>
                        </a:rPr>
                        <a:t>CO</a:t>
                      </a:r>
                      <a:endParaRPr lang="en-IN" sz="2400" dirty="0">
                        <a:latin typeface="Times New Roman" panose="02020603050405020304" pitchFamily="18" charset="0"/>
                        <a:cs typeface="Times New Roman" panose="02020603050405020304" pitchFamily="18" charset="0"/>
                      </a:endParaRPr>
                    </a:p>
                  </a:txBody>
                  <a:tcPr/>
                </a:tc>
              </a:tr>
              <a:tr h="510222">
                <a:tc>
                  <a:txBody>
                    <a:bodyPr/>
                    <a:lstStyle/>
                    <a:p>
                      <a:r>
                        <a:rPr lang="en-IN" sz="2400" dirty="0">
                          <a:latin typeface="Times New Roman" panose="02020603050405020304" pitchFamily="18" charset="0"/>
                          <a:cs typeface="Times New Roman" panose="02020603050405020304" pitchFamily="18" charset="0"/>
                        </a:rPr>
                        <a:t>1</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sz="2400" dirty="0">
                          <a:latin typeface="Times New Roman" panose="02020603050405020304" pitchFamily="18" charset="0"/>
                          <a:cs typeface="Times New Roman" panose="02020603050405020304" pitchFamily="18" charset="0"/>
                        </a:rPr>
                        <a:t>To understand and apply the WBS in planning and managing the projects.</a:t>
                      </a:r>
                      <a:endParaRPr lang="en-US" sz="2400" dirty="0">
                        <a:latin typeface="Times New Roman" panose="02020603050405020304" pitchFamily="18" charset="0"/>
                        <a:cs typeface="Times New Roman" panose="02020603050405020304" pitchFamily="18" charset="0"/>
                      </a:endParaRPr>
                    </a:p>
                  </a:txBody>
                  <a:tcPr/>
                </a:tc>
                <a:tc>
                  <a:txBody>
                    <a:bodyPr/>
                    <a:lstStyle/>
                    <a:p>
                      <a:r>
                        <a:rPr lang="en-IN" sz="2400" dirty="0">
                          <a:latin typeface="Times New Roman" panose="02020603050405020304" pitchFamily="18" charset="0"/>
                          <a:cs typeface="Times New Roman" panose="02020603050405020304" pitchFamily="18" charset="0"/>
                        </a:rPr>
                        <a:t>CO2</a:t>
                      </a:r>
                      <a:endParaRPr lang="en-IN" sz="2400"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Work Breakdown Structure</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17740" y="1690011"/>
            <a:ext cx="11107510" cy="3243939"/>
          </a:xfrm>
        </p:spPr>
        <p:txBody>
          <a:bodyPr>
            <a:normAutofit/>
          </a:bodyPr>
          <a:lstStyle/>
          <a:p>
            <a:pPr marL="0" marR="0" algn="just">
              <a:lnSpc>
                <a:spcPct val="115000"/>
              </a:lnSpc>
              <a:spcBef>
                <a:spcPts val="0"/>
              </a:spcBef>
              <a:spcAft>
                <a:spcPts val="1000"/>
              </a:spcAft>
              <a:buNone/>
            </a:pPr>
            <a:r>
              <a:rPr lang="en-US" sz="2400" dirty="0">
                <a:latin typeface="Times New Roman" panose="02020603050405020304" pitchFamily="18" charset="0"/>
                <a:ea typeface="Calibri" panose="020F0502020204030204"/>
                <a:cs typeface="Times New Roman" panose="02020603050405020304" pitchFamily="18" charset="0"/>
              </a:rPr>
              <a:t>WBS produces a detailed list of tasks to be performed for a project, helping to deliver a better costing, scheduling and resource planning for a project.</a:t>
            </a:r>
            <a:endParaRPr lang="en-US" sz="2400" dirty="0">
              <a:latin typeface="Times New Roman" panose="02020603050405020304" pitchFamily="18" charset="0"/>
              <a:ea typeface="Calibri" panose="020F0502020204030204"/>
              <a:cs typeface="Times New Roman" panose="02020603050405020304" pitchFamily="18" charset="0"/>
            </a:endParaRPr>
          </a:p>
          <a:p>
            <a:pPr marL="0" marR="0" algn="just">
              <a:lnSpc>
                <a:spcPct val="115000"/>
              </a:lnSpc>
              <a:spcBef>
                <a:spcPts val="0"/>
              </a:spcBef>
              <a:spcAft>
                <a:spcPts val="1000"/>
              </a:spcAft>
              <a:buNone/>
            </a:pPr>
            <a:endParaRPr lang="en-US" sz="2400" dirty="0">
              <a:latin typeface="Times New Roman" panose="02020603050405020304" pitchFamily="18" charset="0"/>
              <a:ea typeface="Calibri" panose="020F0502020204030204"/>
              <a:cs typeface="Times New Roman" panose="02020603050405020304" pitchFamily="18" charset="0"/>
            </a:endParaRPr>
          </a:p>
          <a:p>
            <a:pPr marL="0" marR="0" algn="just">
              <a:lnSpc>
                <a:spcPct val="115000"/>
              </a:lnSpc>
              <a:spcBef>
                <a:spcPts val="0"/>
              </a:spcBef>
              <a:spcAft>
                <a:spcPts val="1000"/>
              </a:spcAft>
              <a:buNone/>
            </a:pPr>
            <a:r>
              <a:rPr lang="en-US" sz="2400" dirty="0">
                <a:latin typeface="Times New Roman" panose="02020603050405020304" pitchFamily="18" charset="0"/>
                <a:ea typeface="Calibri" panose="020F0502020204030204"/>
                <a:cs typeface="Times New Roman" panose="02020603050405020304" pitchFamily="18" charset="0"/>
              </a:rPr>
              <a:t>Purpose of WBS is to help plan effectively for a project by breaking key tasks &amp; activities down into more manageable &amp; smaller units of works.</a:t>
            </a:r>
            <a:endParaRPr lang="en-US" sz="2400" dirty="0">
              <a:latin typeface="Times New Roman" panose="02020603050405020304" pitchFamily="18" charset="0"/>
              <a:ea typeface="Calibri" panose="020F0502020204030204"/>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Benefits of using Work Breakdown Structure</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To allocate &amp; delegate responsibility to help accomplish different tasks or activities.</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Sequencing &amp; scheduling the time of different events to improve the effectiveness of how time is allocated.</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Improves resource planning &amp; efficiency of how resources are consumed.</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Used as a basis for financial exception reporting</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Responsibility Assignment Matrix (RAM) </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035861" y="1685798"/>
            <a:ext cx="10160001" cy="4012357"/>
          </a:xfrm>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A Responsibility Assignment Matrix (RAM) describes the participation of various organizations, people, and roles in completing tasks or deliverables for a project.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It’s used by the Program Manager (PM) to clarify roles and responsibilities in cross-functional teams, projects, and processes. </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 Request for Proposal (RFP) might request a RAM from a contractor.</a:t>
            </a:r>
            <a:endParaRPr lang="en-US" sz="2400"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RACI</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069780" y="2051560"/>
            <a:ext cx="10052440" cy="2924701"/>
          </a:xfrm>
        </p:spPr>
        <p:txBody>
          <a:bodyPr>
            <a:normAutofit fontScale="85000" lnSpcReduction="20000"/>
          </a:bodyPr>
          <a:lstStyle/>
          <a:p>
            <a:pPr algn="just"/>
            <a:r>
              <a:rPr lang="en-US" sz="2800" b="1" dirty="0">
                <a:latin typeface="Times New Roman" panose="02020603050405020304" pitchFamily="18" charset="0"/>
                <a:cs typeface="Times New Roman" panose="02020603050405020304" pitchFamily="18" charset="0"/>
              </a:rPr>
              <a:t>Responsible:</a:t>
            </a:r>
            <a:r>
              <a:rPr lang="en-US" sz="2800" dirty="0">
                <a:latin typeface="Times New Roman" panose="02020603050405020304" pitchFamily="18" charset="0"/>
                <a:cs typeface="Times New Roman" panose="02020603050405020304" pitchFamily="18" charset="0"/>
              </a:rPr>
              <a:t> Those who do the work to achieve the task. There is typically one role with a participation type of Responsible, although others can be delegated to assist in the work required.</a:t>
            </a:r>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Accountable:</a:t>
            </a:r>
            <a:r>
              <a:rPr lang="en-US" sz="2800" dirty="0">
                <a:latin typeface="Times New Roman" panose="02020603050405020304" pitchFamily="18" charset="0"/>
                <a:cs typeface="Times New Roman" panose="02020603050405020304" pitchFamily="18" charset="0"/>
              </a:rPr>
              <a:t> The one ultimately accountable for the correct and thorough completion of the deliverable or task, and the one to whom Responsible is accountable. In other words, an Accountable must sign off (Approve) on work that Responsible provides. There must be only one Accountable specified for each task or deliverable</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RACI</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546001" y="1522170"/>
            <a:ext cx="8223641" cy="3136457"/>
          </a:xfrm>
        </p:spPr>
        <p:txBody>
          <a:bodyPr/>
          <a:lstStyle/>
          <a:p>
            <a:pPr algn="just"/>
            <a:r>
              <a:rPr lang="en-US" sz="2400" b="1" dirty="0">
                <a:latin typeface="Times New Roman" panose="02020603050405020304" pitchFamily="18" charset="0"/>
                <a:cs typeface="Times New Roman" panose="02020603050405020304" pitchFamily="18" charset="0"/>
              </a:rPr>
              <a:t>Consulted:</a:t>
            </a:r>
            <a:r>
              <a:rPr lang="en-US" sz="2400" dirty="0">
                <a:latin typeface="Times New Roman" panose="02020603050405020304" pitchFamily="18" charset="0"/>
                <a:cs typeface="Times New Roman" panose="02020603050405020304" pitchFamily="18" charset="0"/>
              </a:rPr>
              <a:t> Those whose opinions are sought; and with whom there is two-way communication.</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Informed:</a:t>
            </a:r>
            <a:r>
              <a:rPr lang="en-US" sz="2400" dirty="0">
                <a:latin typeface="Times New Roman" panose="02020603050405020304" pitchFamily="18" charset="0"/>
                <a:cs typeface="Times New Roman" panose="02020603050405020304" pitchFamily="18" charset="0"/>
              </a:rPr>
              <a:t> Those who are kept up-to-date on progress, often only on completion of the task or deliverable; and with whom there is just one-way communication.</a:t>
            </a:r>
            <a:endParaRPr lang="en-US" sz="2400"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Responsibility Assignment Matrix (RAM) </a:t>
            </a:r>
            <a:endParaRPr lang="en-IN" sz="3600"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1"/>
          <a:stretch>
            <a:fillRect/>
          </a:stretch>
        </p:blipFill>
        <p:spPr>
          <a:xfrm>
            <a:off x="1984829" y="1347536"/>
            <a:ext cx="7890692" cy="2618071"/>
          </a:xfrm>
        </p:spPr>
      </p:pic>
      <p:sp>
        <p:nvSpPr>
          <p:cNvPr id="6" name="Title 1"/>
          <p:cNvSpPr txBox="1"/>
          <p:nvPr/>
        </p:nvSpPr>
        <p:spPr>
          <a:xfrm>
            <a:off x="1984828" y="4052236"/>
            <a:ext cx="7890693" cy="1926657"/>
          </a:xfrm>
          <a:prstGeom prst="rect">
            <a:avLst/>
          </a:prstGeom>
          <a:solidFill>
            <a:schemeClr val="bg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400" dirty="0">
                <a:cs typeface="Times New Roman" panose="02020603050405020304" pitchFamily="18" charset="0"/>
              </a:rPr>
              <a:t>P= Participant</a:t>
            </a:r>
            <a:endParaRPr lang="en-US" sz="2400" dirty="0">
              <a:cs typeface="Times New Roman" panose="02020603050405020304" pitchFamily="18" charset="0"/>
            </a:endParaRPr>
          </a:p>
          <a:p>
            <a:r>
              <a:rPr lang="en-US" sz="2400" dirty="0">
                <a:cs typeface="Times New Roman" panose="02020603050405020304" pitchFamily="18" charset="0"/>
              </a:rPr>
              <a:t>A= Accountable</a:t>
            </a:r>
            <a:endParaRPr lang="en-US" sz="2400" dirty="0">
              <a:cs typeface="Times New Roman" panose="02020603050405020304" pitchFamily="18" charset="0"/>
            </a:endParaRPr>
          </a:p>
          <a:p>
            <a:r>
              <a:rPr lang="en-US" sz="2400" dirty="0"/>
              <a:t>R = Review Required</a:t>
            </a:r>
            <a:endParaRPr lang="en-US" sz="2400" dirty="0"/>
          </a:p>
          <a:p>
            <a:r>
              <a:rPr lang="en-US" sz="2400" dirty="0"/>
              <a:t>I = Input Required</a:t>
            </a:r>
            <a:endParaRPr lang="en-US" sz="2400" dirty="0"/>
          </a:p>
          <a:p>
            <a:r>
              <a:rPr lang="en-US" sz="2400" dirty="0"/>
              <a:t>S = Sign-off Required</a:t>
            </a:r>
            <a:endParaRPr lang="en-US" sz="2400" dirty="0">
              <a:cs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Topic objective and topic outcome</a:t>
            </a:r>
            <a:endParaRPr lang="en-IN" sz="3600" dirty="0">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p:cNvGraphicFramePr>
          <p:nvPr>
            <p:ph idx="1"/>
          </p:nvPr>
        </p:nvGraphicFramePr>
        <p:xfrm>
          <a:off x="231775" y="1985963"/>
          <a:ext cx="11728449" cy="967422"/>
        </p:xfrm>
        <a:graphic>
          <a:graphicData uri="http://schemas.openxmlformats.org/drawingml/2006/table">
            <a:tbl>
              <a:tblPr firstRow="1" bandRow="1">
                <a:tableStyleId>{21E4AEA4-8DFA-4A89-87EB-49C32662AFE0}</a:tableStyleId>
              </a:tblPr>
              <a:tblGrid>
                <a:gridCol w="1420812"/>
                <a:gridCol w="6398154"/>
                <a:gridCol w="3909483"/>
              </a:tblGrid>
              <a:tr h="370840">
                <a:tc>
                  <a:txBody>
                    <a:bodyPr/>
                    <a:lstStyle/>
                    <a:p>
                      <a:r>
                        <a:rPr lang="en-IN" sz="2400" dirty="0">
                          <a:latin typeface="Times New Roman" panose="02020603050405020304" pitchFamily="18" charset="0"/>
                          <a:cs typeface="Times New Roman" panose="02020603050405020304" pitchFamily="18" charset="0"/>
                        </a:rPr>
                        <a:t>s.no.</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latin typeface="Times New Roman" panose="02020603050405020304" pitchFamily="18" charset="0"/>
                          <a:cs typeface="Times New Roman" panose="02020603050405020304" pitchFamily="18" charset="0"/>
                        </a:rPr>
                        <a:t>topic</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latin typeface="Times New Roman" panose="02020603050405020304" pitchFamily="18" charset="0"/>
                          <a:cs typeface="Times New Roman" panose="02020603050405020304" pitchFamily="18" charset="0"/>
                        </a:rPr>
                        <a:t>CO</a:t>
                      </a:r>
                      <a:endParaRPr lang="en-IN" sz="2400" dirty="0">
                        <a:latin typeface="Times New Roman" panose="02020603050405020304" pitchFamily="18" charset="0"/>
                        <a:cs typeface="Times New Roman" panose="02020603050405020304" pitchFamily="18" charset="0"/>
                      </a:endParaRPr>
                    </a:p>
                  </a:txBody>
                  <a:tcPr/>
                </a:tc>
              </a:tr>
              <a:tr h="510222">
                <a:tc>
                  <a:txBody>
                    <a:bodyPr/>
                    <a:lstStyle/>
                    <a:p>
                      <a:r>
                        <a:rPr lang="en-IN" sz="2400" dirty="0">
                          <a:latin typeface="Times New Roman" panose="02020603050405020304" pitchFamily="18" charset="0"/>
                          <a:cs typeface="Times New Roman" panose="02020603050405020304" pitchFamily="18" charset="0"/>
                        </a:rPr>
                        <a:t>1</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sz="2400" dirty="0">
                          <a:latin typeface="Times New Roman" panose="02020603050405020304" pitchFamily="18" charset="0"/>
                          <a:cs typeface="Times New Roman" panose="02020603050405020304" pitchFamily="18" charset="0"/>
                        </a:rPr>
                        <a:t>To identify the nodes and activities in a project. </a:t>
                      </a:r>
                      <a:endParaRPr lang="en-US" sz="2400" dirty="0">
                        <a:latin typeface="Times New Roman" panose="02020603050405020304" pitchFamily="18" charset="0"/>
                        <a:cs typeface="Times New Roman" panose="02020603050405020304" pitchFamily="18" charset="0"/>
                      </a:endParaRPr>
                    </a:p>
                  </a:txBody>
                  <a:tcPr/>
                </a:tc>
                <a:tc>
                  <a:txBody>
                    <a:bodyPr/>
                    <a:lstStyle/>
                    <a:p>
                      <a:r>
                        <a:rPr lang="en-IN" sz="2400" dirty="0">
                          <a:latin typeface="Times New Roman" panose="02020603050405020304" pitchFamily="18" charset="0"/>
                          <a:cs typeface="Times New Roman" panose="02020603050405020304" pitchFamily="18" charset="0"/>
                        </a:rPr>
                        <a:t>CO4</a:t>
                      </a:r>
                      <a:endParaRPr lang="en-IN" sz="2400"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Identifying Nodes &amp; Activities </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81858" y="1791677"/>
            <a:ext cx="9956188" cy="3011328"/>
          </a:xfrm>
        </p:spPr>
        <p:txBody>
          <a:bodyPr>
            <a:normAutofit lnSpcReduction="10000"/>
          </a:bodyPr>
          <a:lstStyle/>
          <a:p>
            <a:pPr algn="just">
              <a:buNone/>
            </a:pPr>
            <a:r>
              <a:rPr lang="en-US" sz="2400" dirty="0">
                <a:latin typeface="Times New Roman" panose="02020603050405020304" pitchFamily="18" charset="0"/>
                <a:cs typeface="Times New Roman" panose="02020603050405020304" pitchFamily="18" charset="0"/>
              </a:rPr>
              <a:t>	In an activity-on-arrow network, activities are represented by a line between two circles.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The first circle represents the start of the activity and is known as the start event (sometimes called the </a:t>
            </a:r>
            <a:r>
              <a:rPr lang="en-US" sz="2400" i="1"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-node). </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The second circle represents the finish of the activity and is known as the finish event (sometimes called the </a:t>
            </a:r>
            <a:r>
              <a:rPr lang="en-US" sz="2400" i="1" dirty="0">
                <a:latin typeface="Times New Roman" panose="02020603050405020304" pitchFamily="18" charset="0"/>
                <a:cs typeface="Times New Roman" panose="02020603050405020304" pitchFamily="18" charset="0"/>
              </a:rPr>
              <a:t>j</a:t>
            </a:r>
            <a:r>
              <a:rPr lang="en-US" sz="2400" dirty="0">
                <a:latin typeface="Times New Roman" panose="02020603050405020304" pitchFamily="18" charset="0"/>
                <a:cs typeface="Times New Roman" panose="02020603050405020304" pitchFamily="18" charset="0"/>
              </a:rPr>
              <a:t>-node). </a:t>
            </a:r>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Identifying Nodes &amp; Activities </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016612" y="1397042"/>
            <a:ext cx="8406521" cy="4445493"/>
          </a:xfrm>
        </p:spPr>
        <p:txBody>
          <a:bodyPr>
            <a:normAutofit/>
          </a:bodyPr>
          <a:lstStyle/>
          <a:p>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pic>
        <p:nvPicPr>
          <p:cNvPr id="2" name="Picture 2" descr="A screenshot of a video game"/>
          <p:cNvPicPr>
            <a:picLocks noChangeAspect="1" noChangeArrowheads="1"/>
          </p:cNvPicPr>
          <p:nvPr/>
        </p:nvPicPr>
        <p:blipFill>
          <a:blip r:embed="rId1"/>
          <a:srcRect/>
          <a:stretch>
            <a:fillRect/>
          </a:stretch>
        </p:blipFill>
        <p:spPr bwMode="auto">
          <a:xfrm>
            <a:off x="1576939" y="2248188"/>
            <a:ext cx="8874175" cy="2743200"/>
          </a:xfrm>
          <a:prstGeom prst="rect">
            <a:avLst/>
          </a:prstGeom>
          <a:noFill/>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Activity on Arrow (AOA)</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In </a:t>
            </a:r>
            <a:r>
              <a:rPr lang="en-US" sz="2400" dirty="0" err="1">
                <a:latin typeface="Times New Roman" panose="02020603050405020304" pitchFamily="18" charset="0"/>
                <a:cs typeface="Times New Roman" panose="02020603050405020304" pitchFamily="18" charset="0"/>
              </a:rPr>
              <a:t>AoA</a:t>
            </a:r>
            <a:r>
              <a:rPr lang="en-US" sz="2400" dirty="0">
                <a:latin typeface="Times New Roman" panose="02020603050405020304" pitchFamily="18" charset="0"/>
                <a:cs typeface="Times New Roman" panose="02020603050405020304" pitchFamily="18" charset="0"/>
              </a:rPr>
              <a:t> diagrams, showing the finish-to-start relationships is a limited affair. What this means is that the arrow represents the period from the event at the start of the arrow to the event at the end. </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Activities that are represented as arrows have to be added to illustrate some of the more complicated relationships and dependencies that are present between the activities.</a:t>
            </a:r>
            <a:endParaRPr lang="en-US" sz="2400" dirty="0">
              <a:latin typeface="Times New Roman" panose="02020603050405020304" pitchFamily="18" charset="0"/>
              <a:cs typeface="Times New Roman" panose="02020603050405020304" pitchFamily="18" charset="0"/>
            </a:endParaRPr>
          </a:p>
          <a:p>
            <a:pPr algn="just" fontAlgn="base">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Activity on Arrow (AOA)</a:t>
            </a:r>
            <a:endParaRPr lang="en-IN" sz="3600" dirty="0">
              <a:latin typeface="Times New Roman" panose="02020603050405020304" pitchFamily="18" charset="0"/>
              <a:cs typeface="Times New Roman" panose="02020603050405020304" pitchFamily="18" charset="0"/>
            </a:endParaRPr>
          </a:p>
        </p:txBody>
      </p:sp>
      <p:pic>
        <p:nvPicPr>
          <p:cNvPr id="1026" name="Picture 2" descr="information in the table on the right"/>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875899" y="1491916"/>
            <a:ext cx="10356783" cy="46201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Activity on Node (AON)</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314196" y="1793394"/>
            <a:ext cx="11563607" cy="3271211"/>
          </a:xfrm>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In </a:t>
            </a:r>
            <a:r>
              <a:rPr lang="en-US" sz="2400" dirty="0" err="1">
                <a:latin typeface="Times New Roman" panose="02020603050405020304" pitchFamily="18" charset="0"/>
                <a:cs typeface="Times New Roman" panose="02020603050405020304" pitchFamily="18" charset="0"/>
              </a:rPr>
              <a:t>AoN</a:t>
            </a:r>
            <a:r>
              <a:rPr lang="en-US" sz="2400" dirty="0">
                <a:latin typeface="Times New Roman" panose="02020603050405020304" pitchFamily="18" charset="0"/>
                <a:cs typeface="Times New Roman" panose="02020603050405020304" pitchFamily="18" charset="0"/>
              </a:rPr>
              <a:t> diagrams, the activity is placed on the node. The interconnection arrows would illustrate the dependencies that are there between the activities. </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They’re more flexible and are capable of illustrating the main relationship types. Since the activity is on a node, the data usually can be placed on the activity. Click on the </a:t>
            </a:r>
            <a:r>
              <a:rPr lang="en-US" sz="2400" dirty="0" err="1">
                <a:latin typeface="Times New Roman" panose="02020603050405020304" pitchFamily="18" charset="0"/>
                <a:cs typeface="Times New Roman" panose="02020603050405020304" pitchFamily="18" charset="0"/>
              </a:rPr>
              <a:t>AoN</a:t>
            </a:r>
            <a:r>
              <a:rPr lang="en-US" sz="2400" dirty="0">
                <a:latin typeface="Times New Roman" panose="02020603050405020304" pitchFamily="18" charset="0"/>
                <a:cs typeface="Times New Roman" panose="02020603050405020304" pitchFamily="18" charset="0"/>
              </a:rPr>
              <a:t> template below to start editing it.</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Activity on Node (AON)</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buNone/>
            </a:pP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pic>
        <p:nvPicPr>
          <p:cNvPr id="2" name="Picture 2" descr="AON Diagram Template"/>
          <p:cNvPicPr>
            <a:picLocks noChangeAspect="1" noChangeArrowheads="1"/>
          </p:cNvPicPr>
          <p:nvPr/>
        </p:nvPicPr>
        <p:blipFill>
          <a:blip r:embed="rId1"/>
          <a:srcRect/>
          <a:stretch>
            <a:fillRect/>
          </a:stretch>
        </p:blipFill>
        <p:spPr bwMode="auto">
          <a:xfrm>
            <a:off x="1530417" y="1175661"/>
            <a:ext cx="8008219" cy="4840128"/>
          </a:xfrm>
          <a:prstGeom prst="rect">
            <a:avLst/>
          </a:prstGeom>
          <a:noFill/>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Topic objective and topic outcome</a:t>
            </a:r>
            <a:endParaRPr lang="en-IN" sz="3600" dirty="0">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p:cNvGraphicFramePr>
          <p:nvPr>
            <p:ph idx="1"/>
          </p:nvPr>
        </p:nvGraphicFramePr>
        <p:xfrm>
          <a:off x="231775" y="1985963"/>
          <a:ext cx="11728449" cy="1280160"/>
        </p:xfrm>
        <a:graphic>
          <a:graphicData uri="http://schemas.openxmlformats.org/drawingml/2006/table">
            <a:tbl>
              <a:tblPr firstRow="1" bandRow="1">
                <a:tableStyleId>{21E4AEA4-8DFA-4A89-87EB-49C32662AFE0}</a:tableStyleId>
              </a:tblPr>
              <a:tblGrid>
                <a:gridCol w="1420812"/>
                <a:gridCol w="6398154"/>
                <a:gridCol w="3909483"/>
              </a:tblGrid>
              <a:tr h="370840">
                <a:tc>
                  <a:txBody>
                    <a:bodyPr/>
                    <a:lstStyle/>
                    <a:p>
                      <a:r>
                        <a:rPr lang="en-IN" sz="2400" dirty="0">
                          <a:latin typeface="Times New Roman" panose="02020603050405020304" pitchFamily="18" charset="0"/>
                          <a:cs typeface="Times New Roman" panose="02020603050405020304" pitchFamily="18" charset="0"/>
                        </a:rPr>
                        <a:t>s.no.</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latin typeface="Times New Roman" panose="02020603050405020304" pitchFamily="18" charset="0"/>
                          <a:cs typeface="Times New Roman" panose="02020603050405020304" pitchFamily="18" charset="0"/>
                        </a:rPr>
                        <a:t>topic</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latin typeface="Times New Roman" panose="02020603050405020304" pitchFamily="18" charset="0"/>
                          <a:cs typeface="Times New Roman" panose="02020603050405020304" pitchFamily="18" charset="0"/>
                        </a:rPr>
                        <a:t>CO</a:t>
                      </a:r>
                      <a:endParaRPr lang="en-IN" sz="2400" dirty="0">
                        <a:latin typeface="Times New Roman" panose="02020603050405020304" pitchFamily="18" charset="0"/>
                        <a:cs typeface="Times New Roman" panose="02020603050405020304" pitchFamily="18" charset="0"/>
                      </a:endParaRPr>
                    </a:p>
                  </a:txBody>
                  <a:tcPr/>
                </a:tc>
              </a:tr>
              <a:tr h="510222">
                <a:tc>
                  <a:txBody>
                    <a:bodyPr/>
                    <a:lstStyle/>
                    <a:p>
                      <a:r>
                        <a:rPr lang="en-IN" sz="2400" dirty="0">
                          <a:latin typeface="Times New Roman" panose="02020603050405020304" pitchFamily="18" charset="0"/>
                          <a:cs typeface="Times New Roman" panose="02020603050405020304" pitchFamily="18" charset="0"/>
                        </a:rPr>
                        <a:t>1</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sz="2400" dirty="0">
                          <a:latin typeface="Times New Roman" panose="02020603050405020304" pitchFamily="18" charset="0"/>
                          <a:cs typeface="Times New Roman" panose="02020603050405020304" pitchFamily="18" charset="0"/>
                        </a:rPr>
                        <a:t>To understand and apply PERT &amp; CPM in managing projects</a:t>
                      </a:r>
                      <a:endParaRPr lang="en-US" sz="2400" dirty="0">
                        <a:latin typeface="Times New Roman" panose="02020603050405020304" pitchFamily="18" charset="0"/>
                        <a:cs typeface="Times New Roman" panose="02020603050405020304" pitchFamily="18" charset="0"/>
                      </a:endParaRPr>
                    </a:p>
                  </a:txBody>
                  <a:tcPr/>
                </a:tc>
                <a:tc>
                  <a:txBody>
                    <a:bodyPr/>
                    <a:lstStyle/>
                    <a:p>
                      <a:r>
                        <a:rPr lang="en-IN" sz="2400" dirty="0">
                          <a:latin typeface="Times New Roman" panose="02020603050405020304" pitchFamily="18" charset="0"/>
                          <a:cs typeface="Times New Roman" panose="02020603050405020304" pitchFamily="18" charset="0"/>
                        </a:rPr>
                        <a:t>CO4</a:t>
                      </a:r>
                      <a:endParaRPr lang="en-IN" sz="2400"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Program Evaluation Review Technique (PERT)</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120808" y="1945681"/>
            <a:ext cx="10160001" cy="3280837"/>
          </a:xfrm>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PERT is a planning and control tool used for defining and controlling the tasks necessary to complete a project.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PERT charts and Critical Path Method (CPM) charts are often used interchangeably; the only difference is how task times are computed. </a:t>
            </a:r>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Program Evaluation Review Technique (PERT)</a:t>
            </a:r>
            <a:endParaRPr lang="en-IN" sz="3600"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idx="1"/>
          </p:nvPr>
        </p:nvSpPr>
        <p:spPr>
          <a:xfrm>
            <a:off x="1115785" y="2568228"/>
            <a:ext cx="9960429" cy="1721543"/>
          </a:xfrm>
        </p:spPr>
        <p:txBody>
          <a:bodyPr>
            <a:normAutofit/>
          </a:bodyPr>
          <a:lstStyle/>
          <a:p>
            <a:pPr algn="just"/>
            <a:r>
              <a:rPr lang="en-US" sz="2400" dirty="0">
                <a:latin typeface="Times New Roman" panose="02020603050405020304" pitchFamily="18" charset="0"/>
                <a:cs typeface="Times New Roman" panose="02020603050405020304" pitchFamily="18" charset="0"/>
              </a:rPr>
              <a:t>A graphic representation called a "Project Network" or "CPM Diagram" is used to portray graphically the interrelationships of the elements of a project and to show the order in which the activities must be performed.</a:t>
            </a:r>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Steps in PERT planning</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48721" y="1512545"/>
            <a:ext cx="11014967" cy="4108608"/>
          </a:xfrm>
        </p:spPr>
        <p:txBody>
          <a:bodyPr>
            <a:normAutofit/>
          </a:bodyPr>
          <a:lstStyle/>
          <a:p>
            <a:pPr lvl="0" algn="just">
              <a:buNone/>
            </a:pPr>
            <a:r>
              <a:rPr lang="en-US" sz="2400" b="1" dirty="0">
                <a:latin typeface="Times New Roman" panose="02020603050405020304" pitchFamily="18" charset="0"/>
                <a:cs typeface="Times New Roman" panose="02020603050405020304" pitchFamily="18" charset="0"/>
              </a:rPr>
              <a:t>1.Identify the specific activities and milestones.</a:t>
            </a: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lvl="0" algn="just">
              <a:buNone/>
            </a:pPr>
            <a:r>
              <a:rPr lang="en-US" sz="2400" dirty="0">
                <a:latin typeface="Times New Roman" panose="02020603050405020304" pitchFamily="18" charset="0"/>
                <a:cs typeface="Times New Roman" panose="02020603050405020304" pitchFamily="18" charset="0"/>
              </a:rPr>
              <a:t>	The activities are the tasks of the project. The milestones are the events that mark the beginning and the end of one or more activities.</a:t>
            </a:r>
            <a:endParaRPr lang="en-US" sz="2400" dirty="0">
              <a:latin typeface="Times New Roman" panose="02020603050405020304" pitchFamily="18" charset="0"/>
              <a:cs typeface="Times New Roman" panose="02020603050405020304" pitchFamily="18" charset="0"/>
            </a:endParaRPr>
          </a:p>
          <a:p>
            <a:pPr lvl="0" algn="just">
              <a:buNone/>
            </a:pPr>
            <a:endParaRPr lang="en-US" sz="2400" dirty="0">
              <a:latin typeface="Times New Roman" panose="02020603050405020304" pitchFamily="18" charset="0"/>
              <a:cs typeface="Times New Roman" panose="02020603050405020304" pitchFamily="18" charset="0"/>
            </a:endParaRPr>
          </a:p>
          <a:p>
            <a:pPr lvl="0" algn="just">
              <a:buNone/>
            </a:pPr>
            <a:endParaRPr lang="en-US" sz="2400"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2. Determine the proper sequence of activities.</a:t>
            </a: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	This step may be combined with above step since the activity sequence is evident for some tasks. </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Steps in PERT planning</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14482" y="1570296"/>
            <a:ext cx="10610705" cy="4204861"/>
          </a:xfrm>
        </p:spPr>
        <p:txBody>
          <a:bodyPr>
            <a:normAutofit/>
          </a:bodyPr>
          <a:lstStyle/>
          <a:p>
            <a:pPr>
              <a:buNone/>
            </a:pPr>
            <a:r>
              <a:rPr lang="en-US" sz="2400" b="1" dirty="0">
                <a:latin typeface="Times New Roman" panose="02020603050405020304" pitchFamily="18" charset="0"/>
                <a:cs typeface="Times New Roman" panose="02020603050405020304" pitchFamily="18" charset="0"/>
              </a:rPr>
              <a:t>3. Construct a network diagram.</a:t>
            </a: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Using the activity sequence information, a network diagram can be drawn showing the sequence of the successive and parallel activities.</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b="1" dirty="0">
                <a:latin typeface="Times New Roman" panose="02020603050405020304" pitchFamily="18" charset="0"/>
                <a:cs typeface="Times New Roman" panose="02020603050405020304" pitchFamily="18" charset="0"/>
              </a:rPr>
              <a:t>4.</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Estimate the time required for each activity.</a:t>
            </a: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Weeks are a commonly used unit of time for activity completion, but any consistent unit of time can be used. </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Steps in PERT planning</a:t>
            </a:r>
            <a:endParaRPr lang="en-IN" sz="3600"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idx="1"/>
          </p:nvPr>
        </p:nvSpPr>
        <p:spPr/>
        <p:txBody>
          <a:bodyPr>
            <a:normAutofit/>
          </a:bodyPr>
          <a:lstStyle/>
          <a:p>
            <a:pPr lvl="0">
              <a:buNone/>
            </a:pPr>
            <a:r>
              <a:rPr lang="en-US" sz="2400" dirty="0">
                <a:latin typeface="Times New Roman" panose="02020603050405020304" pitchFamily="18" charset="0"/>
                <a:cs typeface="Times New Roman" panose="02020603050405020304" pitchFamily="18" charset="0"/>
              </a:rPr>
              <a:t>For each activity, the model usually includes three-time estimates:</a:t>
            </a:r>
            <a:endParaRPr lang="en-US" sz="2400" dirty="0">
              <a:latin typeface="Times New Roman" panose="02020603050405020304" pitchFamily="18" charset="0"/>
              <a:cs typeface="Times New Roman" panose="02020603050405020304" pitchFamily="18" charset="0"/>
            </a:endParaRPr>
          </a:p>
          <a:p>
            <a:pPr lvl="0">
              <a:buNone/>
            </a:pPr>
            <a:r>
              <a:rPr lang="en-US" sz="2400" b="1" dirty="0">
                <a:latin typeface="Times New Roman" panose="02020603050405020304" pitchFamily="18" charset="0"/>
                <a:cs typeface="Times New Roman" panose="02020603050405020304" pitchFamily="18" charset="0"/>
              </a:rPr>
              <a:t>1 . Optimistic time: </a:t>
            </a:r>
            <a:r>
              <a:rPr lang="en-US" sz="2400" dirty="0">
                <a:latin typeface="Times New Roman" panose="02020603050405020304" pitchFamily="18" charset="0"/>
                <a:cs typeface="Times New Roman" panose="02020603050405020304" pitchFamily="18" charset="0"/>
              </a:rPr>
              <a:t>The shortest time in which the activity can be completed.</a:t>
            </a:r>
            <a:endParaRPr lang="en-US" sz="2400" dirty="0">
              <a:latin typeface="Times New Roman" panose="02020603050405020304" pitchFamily="18" charset="0"/>
              <a:cs typeface="Times New Roman" panose="02020603050405020304" pitchFamily="18" charset="0"/>
            </a:endParaRPr>
          </a:p>
          <a:p>
            <a:pPr lvl="0">
              <a:buNone/>
            </a:pPr>
            <a:r>
              <a:rPr lang="en-US" sz="2400" b="1" dirty="0">
                <a:latin typeface="Times New Roman" panose="02020603050405020304" pitchFamily="18" charset="0"/>
                <a:cs typeface="Times New Roman" panose="02020603050405020304" pitchFamily="18" charset="0"/>
              </a:rPr>
              <a:t>2. Most likely time: </a:t>
            </a:r>
            <a:r>
              <a:rPr lang="en-US" sz="2400" dirty="0">
                <a:latin typeface="Times New Roman" panose="02020603050405020304" pitchFamily="18" charset="0"/>
                <a:cs typeface="Times New Roman" panose="02020603050405020304" pitchFamily="18" charset="0"/>
              </a:rPr>
              <a:t>The completion time has the highest probability.</a:t>
            </a:r>
            <a:endParaRPr lang="en-US" sz="2400"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3. Pessimistic time: </a:t>
            </a:r>
            <a:r>
              <a:rPr lang="en-US" sz="2400" dirty="0">
                <a:latin typeface="Times New Roman" panose="02020603050405020304" pitchFamily="18" charset="0"/>
                <a:cs typeface="Times New Roman" panose="02020603050405020304" pitchFamily="18" charset="0"/>
              </a:rPr>
              <a:t>The longest time that an activity may take.</a:t>
            </a:r>
            <a:endParaRPr lang="en-US" sz="2400" dirty="0">
              <a:latin typeface="Times New Roman" panose="02020603050405020304" pitchFamily="18" charset="0"/>
              <a:cs typeface="Times New Roman" panose="02020603050405020304" pitchFamily="18" charset="0"/>
            </a:endParaRPr>
          </a:p>
          <a:p>
            <a:pPr>
              <a:buNone/>
            </a:pPr>
            <a:endParaRPr lang="en-US" sz="2400"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Expected Time = (Optimistic + 4 x Most Likely + Pessimistic) / 6</a:t>
            </a:r>
            <a:endParaRPr lang="en-US" sz="2400" b="1"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Steps in PERT planning</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217715" y="1175661"/>
            <a:ext cx="11727542" cy="4301114"/>
          </a:xfrm>
        </p:spPr>
        <p:txBody>
          <a:bodyPr>
            <a:normAutofit/>
          </a:bodyPr>
          <a:lstStyle/>
          <a:p>
            <a:pPr>
              <a:buNone/>
            </a:pPr>
            <a:r>
              <a:rPr lang="en-US" sz="2400" b="1" dirty="0">
                <a:latin typeface="Times New Roman" panose="02020603050405020304" pitchFamily="18" charset="0"/>
                <a:cs typeface="Times New Roman" panose="02020603050405020304" pitchFamily="18" charset="0"/>
              </a:rPr>
              <a:t>5. Determine the critical path.</a:t>
            </a: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The critical path is determined by adding the times for the activities in each sequence and determining the longest path in the project.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If the critical path is not immediately obvious, it may be helpful to determine the following four times for each activity:</a:t>
            </a:r>
            <a:endParaRPr lang="en-US" sz="2400" dirty="0">
              <a:latin typeface="Times New Roman" panose="02020603050405020304" pitchFamily="18" charset="0"/>
              <a:cs typeface="Times New Roman" panose="02020603050405020304" pitchFamily="18" charset="0"/>
            </a:endParaRPr>
          </a:p>
          <a:p>
            <a:pPr lvl="1">
              <a:buNone/>
            </a:pPr>
            <a:r>
              <a:rPr lang="en-US" b="1" dirty="0">
                <a:latin typeface="Times New Roman" panose="02020603050405020304" pitchFamily="18" charset="0"/>
                <a:cs typeface="Times New Roman" panose="02020603050405020304" pitchFamily="18" charset="0"/>
              </a:rPr>
              <a:t>ES - Earliest Start time</a:t>
            </a:r>
            <a:endParaRPr lang="en-US" b="1" dirty="0">
              <a:latin typeface="Times New Roman" panose="02020603050405020304" pitchFamily="18" charset="0"/>
              <a:cs typeface="Times New Roman" panose="02020603050405020304" pitchFamily="18" charset="0"/>
            </a:endParaRPr>
          </a:p>
          <a:p>
            <a:pPr lvl="1">
              <a:buNone/>
            </a:pPr>
            <a:r>
              <a:rPr lang="en-US" b="1" dirty="0">
                <a:latin typeface="Times New Roman" panose="02020603050405020304" pitchFamily="18" charset="0"/>
                <a:cs typeface="Times New Roman" panose="02020603050405020304" pitchFamily="18" charset="0"/>
              </a:rPr>
              <a:t>EF - Earliest Finish time</a:t>
            </a:r>
            <a:endParaRPr lang="en-US" b="1" dirty="0">
              <a:latin typeface="Times New Roman" panose="02020603050405020304" pitchFamily="18" charset="0"/>
              <a:cs typeface="Times New Roman" panose="02020603050405020304" pitchFamily="18" charset="0"/>
            </a:endParaRPr>
          </a:p>
          <a:p>
            <a:pPr lvl="1">
              <a:buNone/>
            </a:pPr>
            <a:r>
              <a:rPr lang="en-US" b="1" dirty="0">
                <a:latin typeface="Times New Roman" panose="02020603050405020304" pitchFamily="18" charset="0"/>
                <a:cs typeface="Times New Roman" panose="02020603050405020304" pitchFamily="18" charset="0"/>
              </a:rPr>
              <a:t>LS - Latest Start time</a:t>
            </a:r>
            <a:endParaRPr lang="en-US" b="1" dirty="0">
              <a:latin typeface="Times New Roman" panose="02020603050405020304" pitchFamily="18" charset="0"/>
              <a:cs typeface="Times New Roman" panose="02020603050405020304" pitchFamily="18" charset="0"/>
            </a:endParaRPr>
          </a:p>
          <a:p>
            <a:pPr lvl="1">
              <a:buNone/>
            </a:pPr>
            <a:r>
              <a:rPr lang="en-US" b="1" dirty="0">
                <a:latin typeface="Times New Roman" panose="02020603050405020304" pitchFamily="18" charset="0"/>
                <a:cs typeface="Times New Roman" panose="02020603050405020304" pitchFamily="18" charset="0"/>
              </a:rPr>
              <a:t>LF - Latest Finish time</a:t>
            </a:r>
            <a:endParaRPr lang="en-US" b="1"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Steps in PERT planning</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516098" y="1528700"/>
            <a:ext cx="11313350" cy="3800600"/>
          </a:xfrm>
        </p:spPr>
        <p:txBody>
          <a:bodyPr>
            <a:normAutofit/>
          </a:bodyPr>
          <a:lstStyle/>
          <a:p>
            <a:pPr algn="just">
              <a:buNone/>
            </a:pPr>
            <a:r>
              <a:rPr lang="en-US" sz="2400" b="1" dirty="0">
                <a:latin typeface="Times New Roman" panose="02020603050405020304" pitchFamily="18" charset="0"/>
                <a:cs typeface="Times New Roman" panose="02020603050405020304" pitchFamily="18" charset="0"/>
              </a:rPr>
              <a:t>6. Update the PERT chart as the project progresses.</a:t>
            </a: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	As the project unfolds, the estimated times can be replaced with actual times.</a:t>
            </a:r>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Benefits Of PERT</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lvl="0" algn="just"/>
            <a:r>
              <a:rPr lang="en-US" sz="2400" dirty="0">
                <a:latin typeface="Times New Roman" panose="02020603050405020304" pitchFamily="18" charset="0"/>
                <a:cs typeface="Times New Roman" panose="02020603050405020304" pitchFamily="18" charset="0"/>
              </a:rPr>
              <a:t>Improved planning and scheduling of activities.</a:t>
            </a:r>
            <a:endParaRPr lang="en-US"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Improved forecasting of resource requirements.</a:t>
            </a:r>
            <a:endParaRPr lang="en-US"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Identification of repetitive planning patterns which can be followed in other projects, thus simplifying the planning process.</a:t>
            </a:r>
            <a:endParaRPr lang="en-US"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Ability to see and thus reschedule activities to reflect interproject dependencies and resource limitations following know priority rules.</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Critical Path Method (CPM)</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020278" y="1973178"/>
            <a:ext cx="10751419" cy="2242687"/>
          </a:xfrm>
        </p:spPr>
        <p:txBody>
          <a:bodyPr>
            <a:noAutofit/>
          </a:bodyPr>
          <a:lstStyle/>
          <a:p>
            <a:pPr algn="just"/>
            <a:r>
              <a:rPr lang="en-US" sz="2400" dirty="0">
                <a:latin typeface="Times New Roman" panose="02020603050405020304" pitchFamily="18" charset="0"/>
                <a:cs typeface="Times New Roman" panose="02020603050405020304" pitchFamily="18" charset="0"/>
              </a:rPr>
              <a:t>Critical path is the sequential activities from start to the end of a project. Although many projects have only one critical path, some projects may have more than one critical paths depending on the flow logic used in the project.</a:t>
            </a:r>
            <a:endParaRPr lang="en-US"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solidFill>
                  <a:srgbClr val="C00000"/>
                </a:solidFill>
                <a:latin typeface="Times New Roman" panose="02020603050405020304" pitchFamily="18" charset="0"/>
                <a:ea typeface="+mn-ea"/>
                <a:cs typeface="Times New Roman" panose="02020603050405020304" pitchFamily="18" charset="0"/>
              </a:rPr>
              <a:t>Steps in CPM</a:t>
            </a:r>
            <a:endParaRPr lang="en-IN" sz="3600" dirty="0">
              <a:solidFill>
                <a:srgbClr val="C0000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buNone/>
            </a:pPr>
            <a:r>
              <a:rPr lang="en-US" sz="2400" b="1" dirty="0">
                <a:latin typeface="Times New Roman" panose="02020603050405020304" pitchFamily="18" charset="0"/>
                <a:cs typeface="Times New Roman" panose="02020603050405020304" pitchFamily="18" charset="0"/>
              </a:rPr>
              <a:t>Step 1: Activity specification</a:t>
            </a:r>
            <a:endParaRPr lang="en-US" sz="2400" b="1"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You can use the Work Breakdown Structure (WBS) to identify the activities involved in the project. This is the main input for the critical path method.</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activity specification, only the higher-level activities are selected for critical path method.</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When detailed activities are used, the critical path method may become too complex to manage and maintain.</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solidFill>
                  <a:srgbClr val="C00000"/>
                </a:solidFill>
                <a:latin typeface="Times New Roman" panose="02020603050405020304" pitchFamily="18" charset="0"/>
                <a:ea typeface="+mn-ea"/>
                <a:cs typeface="Times New Roman" panose="02020603050405020304" pitchFamily="18" charset="0"/>
              </a:rPr>
              <a:t>Steps in CPM</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buNone/>
            </a:pPr>
            <a:r>
              <a:rPr lang="en-US" sz="2400" b="1" dirty="0">
                <a:latin typeface="Times New Roman" panose="02020603050405020304" pitchFamily="18" charset="0"/>
                <a:cs typeface="Times New Roman" panose="02020603050405020304" pitchFamily="18" charset="0"/>
              </a:rPr>
              <a:t>Step 2: Activity sequence establishment</a:t>
            </a:r>
            <a:endParaRPr lang="en-US" sz="2400" b="1"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this step, the correct activity sequence is established. For that, you need to ask three questions for each task of your list.</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Which tasks should take place before this task happens.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Which tasks should be completed at the same time as this task.</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Which tasks should happen immediately after this task.</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solidFill>
                  <a:srgbClr val="C00000"/>
                </a:solidFill>
                <a:latin typeface="Times New Roman" panose="02020603050405020304" pitchFamily="18" charset="0"/>
                <a:ea typeface="+mn-ea"/>
                <a:cs typeface="Times New Roman" panose="02020603050405020304" pitchFamily="18" charset="0"/>
              </a:rPr>
              <a:t>Steps in CPM</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buNone/>
            </a:pPr>
            <a:r>
              <a:rPr lang="en-US" sz="2400" b="1" dirty="0">
                <a:latin typeface="Times New Roman" panose="02020603050405020304" pitchFamily="18" charset="0"/>
                <a:cs typeface="Times New Roman" panose="02020603050405020304" pitchFamily="18" charset="0"/>
              </a:rPr>
              <a:t>Step 3: Network diagram</a:t>
            </a:r>
            <a:endParaRPr lang="en-US" sz="2400" b="1"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Once the activity sequence is correctly identified, the network diagram can be drawn.</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Although the early diagrams were drawn on paper, there are several computer software, such as Primavera, for this purpose nowadays.</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PERT vs CPM</a:t>
            </a:r>
            <a:endParaRPr lang="en-IN" sz="3600"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135781" y="1638351"/>
            <a:ext cx="9788893" cy="3722922"/>
          </a:xfr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Topic objective and topic outcome</a:t>
            </a:r>
            <a:endParaRPr lang="en-IN" sz="3600" dirty="0">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p:cNvGraphicFramePr>
          <p:nvPr>
            <p:ph idx="1"/>
          </p:nvPr>
        </p:nvGraphicFramePr>
        <p:xfrm>
          <a:off x="231775" y="1985963"/>
          <a:ext cx="11728449" cy="967422"/>
        </p:xfrm>
        <a:graphic>
          <a:graphicData uri="http://schemas.openxmlformats.org/drawingml/2006/table">
            <a:tbl>
              <a:tblPr firstRow="1" bandRow="1">
                <a:tableStyleId>{21E4AEA4-8DFA-4A89-87EB-49C32662AFE0}</a:tableStyleId>
              </a:tblPr>
              <a:tblGrid>
                <a:gridCol w="1420812"/>
                <a:gridCol w="6398154"/>
                <a:gridCol w="3909483"/>
              </a:tblGrid>
              <a:tr h="370840">
                <a:tc>
                  <a:txBody>
                    <a:bodyPr/>
                    <a:lstStyle/>
                    <a:p>
                      <a:r>
                        <a:rPr lang="en-IN" sz="2400" dirty="0">
                          <a:latin typeface="Times New Roman" panose="02020603050405020304" pitchFamily="18" charset="0"/>
                          <a:cs typeface="Times New Roman" panose="02020603050405020304" pitchFamily="18" charset="0"/>
                        </a:rPr>
                        <a:t>s.no.</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latin typeface="Times New Roman" panose="02020603050405020304" pitchFamily="18" charset="0"/>
                          <a:cs typeface="Times New Roman" panose="02020603050405020304" pitchFamily="18" charset="0"/>
                        </a:rPr>
                        <a:t>topic</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latin typeface="Times New Roman" panose="02020603050405020304" pitchFamily="18" charset="0"/>
                          <a:cs typeface="Times New Roman" panose="02020603050405020304" pitchFamily="18" charset="0"/>
                        </a:rPr>
                        <a:t>CO</a:t>
                      </a:r>
                      <a:endParaRPr lang="en-IN" sz="2400" dirty="0">
                        <a:latin typeface="Times New Roman" panose="02020603050405020304" pitchFamily="18" charset="0"/>
                        <a:cs typeface="Times New Roman" panose="02020603050405020304" pitchFamily="18" charset="0"/>
                      </a:endParaRPr>
                    </a:p>
                  </a:txBody>
                  <a:tcPr/>
                </a:tc>
              </a:tr>
              <a:tr h="510222">
                <a:tc>
                  <a:txBody>
                    <a:bodyPr/>
                    <a:lstStyle/>
                    <a:p>
                      <a:r>
                        <a:rPr lang="en-IN" sz="2400" dirty="0">
                          <a:latin typeface="Times New Roman" panose="02020603050405020304" pitchFamily="18" charset="0"/>
                          <a:cs typeface="Times New Roman" panose="02020603050405020304" pitchFamily="18" charset="0"/>
                        </a:rPr>
                        <a:t>1</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sz="2400" dirty="0">
                          <a:latin typeface="Times New Roman" panose="02020603050405020304" pitchFamily="18" charset="0"/>
                          <a:cs typeface="Times New Roman" panose="02020603050405020304" pitchFamily="18" charset="0"/>
                        </a:rPr>
                        <a:t>To learn how and when to crash the projects.</a:t>
                      </a:r>
                      <a:endParaRPr lang="en-US" sz="2400" dirty="0">
                        <a:latin typeface="Times New Roman" panose="02020603050405020304" pitchFamily="18" charset="0"/>
                        <a:cs typeface="Times New Roman" panose="02020603050405020304" pitchFamily="18" charset="0"/>
                      </a:endParaRPr>
                    </a:p>
                  </a:txBody>
                  <a:tcPr/>
                </a:tc>
                <a:tc>
                  <a:txBody>
                    <a:bodyPr/>
                    <a:lstStyle/>
                    <a:p>
                      <a:r>
                        <a:rPr lang="en-IN" sz="2400" dirty="0">
                          <a:latin typeface="Times New Roman" panose="02020603050405020304" pitchFamily="18" charset="0"/>
                          <a:cs typeface="Times New Roman" panose="02020603050405020304" pitchFamily="18" charset="0"/>
                        </a:rPr>
                        <a:t>CO3</a:t>
                      </a:r>
                      <a:endParaRPr lang="en-IN" sz="2400"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solidFill>
                  <a:srgbClr val="C00000"/>
                </a:solidFill>
                <a:latin typeface="Times New Roman" panose="02020603050405020304" pitchFamily="18" charset="0"/>
                <a:ea typeface="+mn-ea"/>
                <a:cs typeface="Times New Roman" panose="02020603050405020304" pitchFamily="18" charset="0"/>
              </a:rPr>
              <a:t>Crashing in Project</a:t>
            </a:r>
            <a:endParaRPr lang="en-IN" sz="3600" dirty="0">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p:cNvGraphicFramePr>
          <p:nvPr>
            <p:ph idx="1"/>
          </p:nvPr>
        </p:nvGraphicFramePr>
        <p:xfrm>
          <a:off x="217715" y="1175661"/>
          <a:ext cx="11727542" cy="500130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Situations when to crash a project</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The project is delayed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Avoiding a delay in an upcoming phase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Project team will be moved to another project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Availability of free resources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Resources for training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There are time bonuses</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Steps in Project Crashing</a:t>
            </a:r>
            <a:endParaRPr lang="en-IN" sz="3600" dirty="0">
              <a:latin typeface="Times New Roman" panose="02020603050405020304" pitchFamily="18" charset="0"/>
              <a:cs typeface="Times New Roman" panose="02020603050405020304" pitchFamily="18" charset="0"/>
            </a:endParaRPr>
          </a:p>
        </p:txBody>
      </p:sp>
      <p:sp>
        <p:nvSpPr>
          <p:cNvPr id="2" name="Content Placeholder 8"/>
          <p:cNvSpPr>
            <a:spLocks noGrp="1"/>
          </p:cNvSpPr>
          <p:nvPr>
            <p:ph idx="1"/>
          </p:nvPr>
        </p:nvSpPr>
        <p:spPr>
          <a:xfrm>
            <a:off x="217488" y="1176338"/>
            <a:ext cx="11728450" cy="5000625"/>
          </a:xfrm>
        </p:spPr>
        <p:txBody>
          <a:bodyPr>
            <a:normAutofit/>
          </a:bodyPr>
          <a:lstStyle/>
          <a:p>
            <a:pPr algn="just">
              <a:buNone/>
            </a:pPr>
            <a:r>
              <a:rPr lang="en-US" sz="2400" b="1" dirty="0">
                <a:latin typeface="Times New Roman" panose="02020603050405020304" pitchFamily="18" charset="0"/>
                <a:cs typeface="Times New Roman" panose="02020603050405020304" pitchFamily="18" charset="0"/>
              </a:rPr>
              <a:t>Step 1: </a:t>
            </a:r>
            <a:r>
              <a:rPr lang="en-US" sz="2400" dirty="0">
                <a:latin typeface="Times New Roman" panose="02020603050405020304" pitchFamily="18" charset="0"/>
                <a:cs typeface="Times New Roman" panose="02020603050405020304" pitchFamily="18" charset="0"/>
              </a:rPr>
              <a:t> Analyze the critical path.</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b="1" dirty="0">
                <a:latin typeface="Times New Roman" panose="02020603050405020304" pitchFamily="18" charset="0"/>
                <a:cs typeface="Times New Roman" panose="02020603050405020304" pitchFamily="18" charset="0"/>
              </a:rPr>
              <a:t>Step 2:</a:t>
            </a:r>
            <a:r>
              <a:rPr lang="en-US" sz="2400" dirty="0">
                <a:latin typeface="Times New Roman" panose="02020603050405020304" pitchFamily="18" charset="0"/>
                <a:cs typeface="Times New Roman" panose="02020603050405020304" pitchFamily="18" charset="0"/>
              </a:rPr>
              <a:t> Identify all tasks that can be shortened with additional resources.</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b="1" dirty="0">
                <a:latin typeface="Times New Roman" panose="02020603050405020304" pitchFamily="18" charset="0"/>
                <a:cs typeface="Times New Roman" panose="02020603050405020304" pitchFamily="18" charset="0"/>
              </a:rPr>
              <a:t>Step3:</a:t>
            </a:r>
            <a:r>
              <a:rPr lang="en-US" sz="2400" dirty="0">
                <a:latin typeface="Times New Roman" panose="02020603050405020304" pitchFamily="18" charset="0"/>
                <a:cs typeface="Times New Roman" panose="02020603050405020304" pitchFamily="18" charset="0"/>
              </a:rPr>
              <a:t> Calculate for each task: trade-off, gain, time reduction</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nSpc>
                <a:spcPct val="100000"/>
              </a:lnSpc>
              <a:buNone/>
            </a:pPr>
            <a:r>
              <a:rPr lang="en-US" sz="2400" b="1" dirty="0">
                <a:latin typeface="Times New Roman" panose="02020603050405020304" pitchFamily="18" charset="0"/>
                <a:cs typeface="Times New Roman" panose="02020603050405020304" pitchFamily="18" charset="0"/>
              </a:rPr>
              <a:t>Step 4: </a:t>
            </a:r>
            <a:r>
              <a:rPr lang="en-US" sz="2400" dirty="0">
                <a:latin typeface="Times New Roman" panose="02020603050405020304" pitchFamily="18" charset="0"/>
                <a:cs typeface="Times New Roman" panose="02020603050405020304" pitchFamily="18" charset="0"/>
              </a:rPr>
              <a:t>Choose the least costly approach.</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algn="just">
              <a:buNone/>
            </a:pPr>
            <a:r>
              <a:rPr lang="en-US" sz="2400" b="1" dirty="0">
                <a:latin typeface="Times New Roman" panose="02020603050405020304" pitchFamily="18" charset="0"/>
                <a:cs typeface="Times New Roman" panose="02020603050405020304" pitchFamily="18" charset="0"/>
              </a:rPr>
              <a:t>Step 5:</a:t>
            </a:r>
            <a:r>
              <a:rPr lang="en-US" sz="2400" dirty="0">
                <a:latin typeface="Times New Roman" panose="02020603050405020304" pitchFamily="18" charset="0"/>
                <a:cs typeface="Times New Roman" panose="02020603050405020304" pitchFamily="18" charset="0"/>
              </a:rPr>
              <a:t> Provide a crashing budget and updated baseline to the sponsor.</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Case Study</a:t>
            </a:r>
            <a:endParaRPr lang="en-IN" sz="3600" dirty="0">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noChangeAspect="1"/>
          </p:cNvGraphicFramePr>
          <p:nvPr>
            <p:ph idx="1"/>
          </p:nvPr>
        </p:nvGraphicFramePr>
        <p:xfrm>
          <a:off x="4095262" y="1954955"/>
          <a:ext cx="2443651" cy="2116984"/>
        </p:xfrm>
        <a:graphic>
          <a:graphicData uri="http://schemas.openxmlformats.org/presentationml/2006/ole">
            <mc:AlternateContent xmlns:mc="http://schemas.openxmlformats.org/markup-compatibility/2006">
              <mc:Choice xmlns:v="urn:schemas-microsoft-com:vml" Requires="v">
                <p:oleObj spid="_x0000_s4" name="Acrobat Document" showAsIcon="1" r:id="rId1" imgW="666750" imgH="578485" progId="Acrobat.Document.DC">
                  <p:embed/>
                </p:oleObj>
              </mc:Choice>
              <mc:Fallback>
                <p:oleObj name="Acrobat Document" showAsIcon="1" r:id="rId1" imgW="666750" imgH="578485" progId="Acrobat.Document.DC">
                  <p:embed/>
                  <p:pic>
                    <p:nvPicPr>
                      <p:cNvPr id="0" name="Picture 3"/>
                      <p:cNvPicPr/>
                      <p:nvPr/>
                    </p:nvPicPr>
                    <p:blipFill>
                      <a:blip r:embed="rId2"/>
                      <a:stretch>
                        <a:fillRect/>
                      </a:stretch>
                    </p:blipFill>
                    <p:spPr>
                      <a:xfrm>
                        <a:off x="4095262" y="1954955"/>
                        <a:ext cx="2443651" cy="2116984"/>
                      </a:xfrm>
                      <a:prstGeom prst="rect">
                        <a:avLst/>
                      </a:prstGeom>
                    </p:spPr>
                  </p:pic>
                </p:oleObj>
              </mc:Fallback>
            </mc:AlternateContent>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Daily quiz</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pPr marL="514350" indent="-514350" algn="just">
              <a:buNone/>
            </a:pPr>
            <a:r>
              <a:rPr lang="en-US" sz="2400" dirty="0">
                <a:latin typeface="Times New Roman" panose="02020603050405020304" pitchFamily="18" charset="0"/>
                <a:cs typeface="Times New Roman" panose="02020603050405020304" pitchFamily="18" charset="0"/>
              </a:rPr>
              <a:t>Q1. Discuss the fixed cost. </a:t>
            </a:r>
            <a:endParaRPr lang="en-US" sz="2400" dirty="0">
              <a:latin typeface="Times New Roman" panose="02020603050405020304" pitchFamily="18" charset="0"/>
              <a:cs typeface="Times New Roman" panose="02020603050405020304" pitchFamily="18" charset="0"/>
            </a:endParaRPr>
          </a:p>
          <a:p>
            <a:pPr marL="514350" indent="-514350" algn="just">
              <a:buNone/>
            </a:pPr>
            <a:r>
              <a:rPr lang="en-US" sz="2400" dirty="0">
                <a:latin typeface="Times New Roman" panose="02020603050405020304" pitchFamily="18" charset="0"/>
                <a:cs typeface="Times New Roman" panose="02020603050405020304" pitchFamily="18" charset="0"/>
              </a:rPr>
              <a:t>Q2. Describe the variable cost. </a:t>
            </a:r>
            <a:endParaRPr lang="en-US" sz="2400" dirty="0">
              <a:latin typeface="Times New Roman" panose="02020603050405020304" pitchFamily="18" charset="0"/>
              <a:cs typeface="Times New Roman" panose="02020603050405020304" pitchFamily="18" charset="0"/>
            </a:endParaRPr>
          </a:p>
          <a:p>
            <a:pPr marL="514350" indent="-514350" algn="just">
              <a:buNone/>
            </a:pPr>
            <a:r>
              <a:rPr lang="en-US" sz="2400" dirty="0">
                <a:latin typeface="Times New Roman" panose="02020603050405020304" pitchFamily="18" charset="0"/>
                <a:cs typeface="Times New Roman" panose="02020603050405020304" pitchFamily="18" charset="0"/>
              </a:rPr>
              <a:t>Q3. Explain the normal and expedite cost. </a:t>
            </a:r>
            <a:endParaRPr lang="en-US" sz="2400" dirty="0">
              <a:latin typeface="Times New Roman" panose="02020603050405020304" pitchFamily="18" charset="0"/>
              <a:cs typeface="Times New Roman" panose="02020603050405020304" pitchFamily="18" charset="0"/>
            </a:endParaRPr>
          </a:p>
          <a:p>
            <a:pPr marL="514350" indent="-514350" algn="just">
              <a:buNone/>
            </a:pPr>
            <a:r>
              <a:rPr lang="en-US" sz="2400" dirty="0">
                <a:latin typeface="Times New Roman" panose="02020603050405020304" pitchFamily="18" charset="0"/>
                <a:cs typeface="Times New Roman" panose="02020603050405020304" pitchFamily="18" charset="0"/>
              </a:rPr>
              <a:t>Q4. Explain the top down budgeting. </a:t>
            </a:r>
            <a:endParaRPr lang="en-US" sz="2400" dirty="0">
              <a:latin typeface="Times New Roman" panose="02020603050405020304" pitchFamily="18" charset="0"/>
              <a:cs typeface="Times New Roman" panose="02020603050405020304" pitchFamily="18" charset="0"/>
            </a:endParaRPr>
          </a:p>
          <a:p>
            <a:pPr marL="514350" indent="-514350" algn="just">
              <a:buNone/>
            </a:pPr>
            <a:r>
              <a:rPr lang="en-US" sz="2400" dirty="0">
                <a:latin typeface="Times New Roman" panose="02020603050405020304" pitchFamily="18" charset="0"/>
                <a:cs typeface="Times New Roman" panose="02020603050405020304" pitchFamily="18" charset="0"/>
              </a:rPr>
              <a:t>Q5. Discuss the bottom of budgeting. </a:t>
            </a:r>
            <a:endParaRPr lang="en-US" sz="24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Daily quiz</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fontScale="92500"/>
          </a:bodyPr>
          <a:lstStyle/>
          <a:p>
            <a:pPr marL="0" marR="0" algn="just">
              <a:lnSpc>
                <a:spcPct val="110000"/>
              </a:lnSpc>
              <a:spcBef>
                <a:spcPts val="0"/>
              </a:spcBef>
              <a:buNone/>
            </a:pPr>
            <a:r>
              <a:rPr lang="en-US" sz="2600" b="1" dirty="0">
                <a:latin typeface="Times New Roman" panose="02020603050405020304" pitchFamily="18" charset="0"/>
                <a:cs typeface="Times New Roman" panose="02020603050405020304" pitchFamily="18" charset="0"/>
              </a:rPr>
              <a:t>Q6.</a:t>
            </a:r>
            <a:r>
              <a:rPr lang="en-US"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ea typeface="Times New Roman" panose="02020603050405020304"/>
                <a:cs typeface="Times New Roman" panose="02020603050405020304" pitchFamily="18" charset="0"/>
              </a:rPr>
              <a:t>Following primarily involves selecting the appropriate policies, methodologies, and procedures required to deliver the project on time.</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0000"/>
              </a:lnSpc>
              <a:spcBef>
                <a:spcPts val="0"/>
              </a:spcBef>
              <a:buFont typeface="+mj-lt"/>
              <a:buAutoNum type="alphaUcPeriod"/>
            </a:pPr>
            <a:r>
              <a:rPr lang="en-US" sz="2600" b="1" dirty="0">
                <a:latin typeface="Times New Roman" panose="02020603050405020304" pitchFamily="18" charset="0"/>
                <a:ea typeface="Times New Roman" panose="02020603050405020304"/>
                <a:cs typeface="Times New Roman" panose="02020603050405020304" pitchFamily="18" charset="0"/>
              </a:rPr>
              <a:t>Project Planning</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0000"/>
              </a:lnSpc>
              <a:spcBef>
                <a:spcPts val="0"/>
              </a:spcBef>
              <a:buFont typeface="+mj-lt"/>
              <a:buAutoNum type="alphaUcPeriod"/>
            </a:pPr>
            <a:r>
              <a:rPr lang="en-US" sz="2600" dirty="0">
                <a:latin typeface="Times New Roman" panose="02020603050405020304" pitchFamily="18" charset="0"/>
                <a:ea typeface="Times New Roman" panose="02020603050405020304"/>
                <a:cs typeface="Times New Roman" panose="02020603050405020304" pitchFamily="18" charset="0"/>
              </a:rPr>
              <a:t>Project Scheduling</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0000"/>
              </a:lnSpc>
              <a:spcBef>
                <a:spcPts val="0"/>
              </a:spcBef>
              <a:buFont typeface="+mj-lt"/>
              <a:buAutoNum type="alphaUcPeriod"/>
            </a:pPr>
            <a:r>
              <a:rPr lang="en-US" sz="2600" dirty="0">
                <a:latin typeface="Times New Roman" panose="02020603050405020304" pitchFamily="18" charset="0"/>
                <a:ea typeface="Times New Roman" panose="02020603050405020304"/>
                <a:cs typeface="Times New Roman" panose="02020603050405020304" pitchFamily="18" charset="0"/>
              </a:rPr>
              <a:t>Project termination</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0000"/>
              </a:lnSpc>
              <a:spcBef>
                <a:spcPts val="0"/>
              </a:spcBef>
              <a:buFont typeface="+mj-lt"/>
              <a:buAutoNum type="alphaUcPeriod"/>
            </a:pPr>
            <a:r>
              <a:rPr lang="en-US" sz="2600" dirty="0">
                <a:latin typeface="Times New Roman" panose="02020603050405020304" pitchFamily="18" charset="0"/>
                <a:ea typeface="Times New Roman" panose="02020603050405020304"/>
                <a:cs typeface="Times New Roman" panose="02020603050405020304" pitchFamily="18" charset="0"/>
              </a:rPr>
              <a:t>None of the above</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0000"/>
              </a:lnSpc>
              <a:spcBef>
                <a:spcPts val="0"/>
              </a:spcBef>
              <a:buFont typeface="+mj-lt"/>
              <a:buAutoNum type="alphaUcPeriod"/>
            </a:pPr>
            <a:endParaRPr lang="en-US" sz="2600" dirty="0">
              <a:latin typeface="Times New Roman" panose="02020603050405020304" pitchFamily="18" charset="0"/>
              <a:ea typeface="Times New Roman" panose="02020603050405020304"/>
              <a:cs typeface="Times New Roman" panose="02020603050405020304" pitchFamily="18" charset="0"/>
            </a:endParaRPr>
          </a:p>
          <a:p>
            <a:pPr marL="0" marR="0" algn="just">
              <a:lnSpc>
                <a:spcPct val="110000"/>
              </a:lnSpc>
              <a:spcBef>
                <a:spcPts val="0"/>
              </a:spcBef>
              <a:buNone/>
            </a:pPr>
            <a:r>
              <a:rPr lang="en-US" sz="2600" dirty="0">
                <a:latin typeface="Times New Roman" panose="02020603050405020304" pitchFamily="18" charset="0"/>
                <a:ea typeface="Times New Roman" panose="02020603050405020304"/>
                <a:cs typeface="Times New Roman" panose="02020603050405020304" pitchFamily="18" charset="0"/>
              </a:rPr>
              <a:t>Q7. The following process converts the plans, scope, and cost into an operational timeline.</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0000"/>
              </a:lnSpc>
              <a:spcBef>
                <a:spcPts val="0"/>
              </a:spcBef>
              <a:buFont typeface="+mj-lt"/>
              <a:buAutoNum type="alphaUcPeriod"/>
            </a:pPr>
            <a:r>
              <a:rPr lang="en-US" sz="2600" dirty="0">
                <a:latin typeface="Times New Roman" panose="02020603050405020304" pitchFamily="18" charset="0"/>
                <a:ea typeface="Times New Roman" panose="02020603050405020304"/>
                <a:cs typeface="Times New Roman" panose="02020603050405020304" pitchFamily="18" charset="0"/>
              </a:rPr>
              <a:t>Project Planning</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0000"/>
              </a:lnSpc>
              <a:spcBef>
                <a:spcPts val="0"/>
              </a:spcBef>
              <a:buFont typeface="+mj-lt"/>
              <a:buAutoNum type="alphaUcPeriod"/>
            </a:pPr>
            <a:r>
              <a:rPr lang="en-US" sz="2600" b="1" dirty="0">
                <a:latin typeface="Times New Roman" panose="02020603050405020304" pitchFamily="18" charset="0"/>
                <a:ea typeface="Times New Roman" panose="02020603050405020304"/>
                <a:cs typeface="Times New Roman" panose="02020603050405020304" pitchFamily="18" charset="0"/>
              </a:rPr>
              <a:t>Project Scheduling</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0000"/>
              </a:lnSpc>
              <a:spcBef>
                <a:spcPts val="0"/>
              </a:spcBef>
              <a:buFont typeface="+mj-lt"/>
              <a:buAutoNum type="alphaUcPeriod"/>
            </a:pPr>
            <a:r>
              <a:rPr lang="en-US" sz="2600" dirty="0">
                <a:latin typeface="Times New Roman" panose="02020603050405020304" pitchFamily="18" charset="0"/>
                <a:ea typeface="Times New Roman" panose="02020603050405020304"/>
                <a:cs typeface="Times New Roman" panose="02020603050405020304" pitchFamily="18" charset="0"/>
              </a:rPr>
              <a:t>Project termination </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0000"/>
              </a:lnSpc>
              <a:spcBef>
                <a:spcPts val="0"/>
              </a:spcBef>
              <a:buFont typeface="+mj-lt"/>
              <a:buAutoNum type="alphaUcPeriod"/>
            </a:pPr>
            <a:r>
              <a:rPr lang="en-US" sz="2600" dirty="0">
                <a:latin typeface="Times New Roman" panose="02020603050405020304" pitchFamily="18" charset="0"/>
                <a:ea typeface="Times New Roman" panose="02020603050405020304"/>
                <a:cs typeface="Times New Roman" panose="02020603050405020304" pitchFamily="18" charset="0"/>
              </a:rPr>
              <a:t>None of the above</a:t>
            </a:r>
            <a:endParaRPr lang="en-US" sz="2600" dirty="0">
              <a:latin typeface="Times New Roman" panose="02020603050405020304" pitchFamily="18" charset="0"/>
              <a:ea typeface="Times New Roman" panose="02020603050405020304"/>
              <a:cs typeface="Times New Roman" panose="02020603050405020304" pitchFamily="18" charset="0"/>
            </a:endParaRPr>
          </a:p>
          <a:p>
            <a:pPr marL="514350" indent="-514350" algn="just">
              <a:lnSpc>
                <a:spcPct val="120000"/>
              </a:lnSpc>
              <a:spcBef>
                <a:spcPts val="0"/>
              </a:spcBef>
              <a:buNone/>
            </a:pPr>
            <a:endParaRPr lang="en-IN"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Daily quiz</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fontScale="92500" lnSpcReduction="20000"/>
          </a:bodyPr>
          <a:lstStyle/>
          <a:p>
            <a:pPr marL="0" marR="0" indent="0">
              <a:lnSpc>
                <a:spcPct val="115000"/>
              </a:lnSpc>
              <a:spcBef>
                <a:spcPts val="0"/>
              </a:spcBef>
              <a:spcAft>
                <a:spcPts val="1000"/>
              </a:spcAft>
              <a:buNone/>
            </a:pPr>
            <a:r>
              <a:rPr lang="en-US" sz="2800" dirty="0">
                <a:ea typeface="Times New Roman" panose="02020603050405020304"/>
                <a:cs typeface="Mangal"/>
              </a:rPr>
              <a:t>In task dependencies, FS stands for. </a:t>
            </a:r>
            <a:endParaRPr lang="en-US" sz="2800" dirty="0">
              <a:ea typeface="Times New Roman" panose="02020603050405020304"/>
              <a:cs typeface="Mangal"/>
            </a:endParaRPr>
          </a:p>
          <a:p>
            <a:pPr lvl="0">
              <a:lnSpc>
                <a:spcPct val="115000"/>
              </a:lnSpc>
              <a:spcBef>
                <a:spcPts val="0"/>
              </a:spcBef>
              <a:buFont typeface="+mj-lt"/>
              <a:buAutoNum type="alphaUcPeriod"/>
            </a:pPr>
            <a:r>
              <a:rPr lang="en-US" sz="2800" dirty="0">
                <a:ea typeface="Times New Roman" panose="02020603050405020304"/>
                <a:cs typeface="Mangal"/>
              </a:rPr>
              <a:t>First sight </a:t>
            </a:r>
            <a:endParaRPr lang="en-US" sz="2800" dirty="0">
              <a:ea typeface="Times New Roman" panose="02020603050405020304"/>
              <a:cs typeface="Mangal"/>
            </a:endParaRPr>
          </a:p>
          <a:p>
            <a:pPr lvl="0">
              <a:lnSpc>
                <a:spcPct val="115000"/>
              </a:lnSpc>
              <a:spcBef>
                <a:spcPts val="0"/>
              </a:spcBef>
              <a:buFont typeface="+mj-lt"/>
              <a:buAutoNum type="alphaUcPeriod"/>
            </a:pPr>
            <a:r>
              <a:rPr lang="en-US" sz="2800" b="1" dirty="0">
                <a:ea typeface="Times New Roman" panose="02020603050405020304"/>
                <a:cs typeface="Mangal"/>
              </a:rPr>
              <a:t>Finish to start </a:t>
            </a:r>
            <a:endParaRPr lang="en-US" sz="2800" dirty="0">
              <a:ea typeface="Times New Roman" panose="02020603050405020304"/>
              <a:cs typeface="Mangal"/>
            </a:endParaRPr>
          </a:p>
          <a:p>
            <a:pPr lvl="0">
              <a:lnSpc>
                <a:spcPct val="115000"/>
              </a:lnSpc>
              <a:spcBef>
                <a:spcPts val="0"/>
              </a:spcBef>
              <a:spcAft>
                <a:spcPts val="1000"/>
              </a:spcAft>
              <a:buFont typeface="+mj-lt"/>
              <a:buAutoNum type="alphaUcPeriod"/>
            </a:pPr>
            <a:r>
              <a:rPr lang="en-US" sz="2800" dirty="0">
                <a:ea typeface="Times New Roman" panose="02020603050405020304"/>
                <a:cs typeface="Mangal"/>
              </a:rPr>
              <a:t>Final to start  </a:t>
            </a:r>
            <a:endParaRPr lang="en-US" sz="2800" dirty="0">
              <a:ea typeface="Times New Roman" panose="02020603050405020304"/>
              <a:cs typeface="Mangal"/>
            </a:endParaRPr>
          </a:p>
          <a:p>
            <a:pPr lvl="0">
              <a:lnSpc>
                <a:spcPct val="115000"/>
              </a:lnSpc>
              <a:spcBef>
                <a:spcPts val="0"/>
              </a:spcBef>
              <a:spcAft>
                <a:spcPts val="1000"/>
              </a:spcAft>
              <a:buFont typeface="+mj-lt"/>
              <a:buAutoNum type="alphaUcPeriod"/>
            </a:pPr>
            <a:r>
              <a:rPr lang="en-US" sz="2800" dirty="0">
                <a:ea typeface="Times New Roman" panose="02020603050405020304"/>
                <a:cs typeface="Mangal"/>
              </a:rPr>
              <a:t>None of the above</a:t>
            </a:r>
            <a:endParaRPr lang="en-US" sz="2800" dirty="0">
              <a:ea typeface="Times New Roman" panose="02020603050405020304"/>
              <a:cs typeface="Mangal"/>
            </a:endParaRPr>
          </a:p>
          <a:p>
            <a:pPr lvl="0">
              <a:lnSpc>
                <a:spcPct val="115000"/>
              </a:lnSpc>
              <a:spcBef>
                <a:spcPts val="0"/>
              </a:spcBef>
              <a:spcAft>
                <a:spcPts val="1000"/>
              </a:spcAft>
              <a:buFont typeface="+mj-lt"/>
              <a:buAutoNum type="alphaUcPeriod"/>
            </a:pPr>
            <a:endParaRPr lang="en-US" sz="2800" dirty="0">
              <a:cs typeface="Mangal"/>
            </a:endParaRPr>
          </a:p>
          <a:p>
            <a:pPr marL="0" indent="0">
              <a:buNone/>
            </a:pPr>
            <a:r>
              <a:rPr lang="en-US" sz="2800" dirty="0"/>
              <a:t>In task dependencies, FF stands for. </a:t>
            </a:r>
            <a:endParaRPr lang="en-US" sz="2800" dirty="0"/>
          </a:p>
          <a:p>
            <a:pPr marL="514350" lvl="0" indent="-514350">
              <a:buFont typeface="+mj-lt"/>
              <a:buAutoNum type="alphaUcPeriod"/>
            </a:pPr>
            <a:r>
              <a:rPr lang="en-US" sz="2800" dirty="0"/>
              <a:t>First Finish </a:t>
            </a:r>
            <a:endParaRPr lang="en-US" sz="2800" dirty="0"/>
          </a:p>
          <a:p>
            <a:pPr marL="514350" lvl="0" indent="-514350">
              <a:buFont typeface="+mj-lt"/>
              <a:buAutoNum type="alphaUcPeriod"/>
            </a:pPr>
            <a:r>
              <a:rPr lang="en-US" sz="2800" b="1" dirty="0"/>
              <a:t>Finish to Finish </a:t>
            </a:r>
            <a:endParaRPr lang="en-US" sz="2800" dirty="0"/>
          </a:p>
          <a:p>
            <a:pPr marL="514350" lvl="0" indent="-514350">
              <a:buFont typeface="+mj-lt"/>
              <a:buAutoNum type="alphaUcPeriod"/>
            </a:pPr>
            <a:r>
              <a:rPr lang="en-US" sz="2800" dirty="0"/>
              <a:t>Final to Final </a:t>
            </a:r>
            <a:endParaRPr lang="en-US" sz="2800" dirty="0"/>
          </a:p>
          <a:p>
            <a:pPr marL="514350" indent="-514350">
              <a:buFont typeface="+mj-lt"/>
              <a:buAutoNum type="alphaUcPeriod"/>
            </a:pPr>
            <a:r>
              <a:rPr lang="en-US" sz="2800" dirty="0"/>
              <a:t>None of the above</a:t>
            </a:r>
            <a:endParaRPr lang="en-US" sz="2800" dirty="0">
              <a:cs typeface="Times New Roman" panose="02020603050405020304" pitchFamily="18" charset="0"/>
            </a:endParaRPr>
          </a:p>
          <a:p>
            <a:pPr marL="0" marR="0" algn="just">
              <a:lnSpc>
                <a:spcPct val="120000"/>
              </a:lnSpc>
              <a:spcBef>
                <a:spcPts val="0"/>
              </a:spcBef>
              <a:buNone/>
            </a:pPr>
            <a:endParaRPr lang="en-IN"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Weekly assignment </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pPr marL="514350" lvl="0" indent="-514350" algn="just">
              <a:buNone/>
            </a:pPr>
            <a:r>
              <a:rPr lang="en-US" sz="2400" dirty="0">
                <a:latin typeface="Times New Roman" panose="02020603050405020304" pitchFamily="18" charset="0"/>
                <a:cs typeface="Times New Roman" panose="02020603050405020304" pitchFamily="18" charset="0"/>
              </a:rPr>
              <a:t>Q1. Discus the steps in project scheduling and network design.</a:t>
            </a:r>
            <a:endParaRPr lang="en-US" sz="2400" dirty="0">
              <a:latin typeface="Times New Roman" panose="02020603050405020304" pitchFamily="18" charset="0"/>
              <a:cs typeface="Times New Roman" panose="02020603050405020304" pitchFamily="18" charset="0"/>
            </a:endParaRPr>
          </a:p>
          <a:p>
            <a:pPr marL="514350" lvl="0" indent="-514350" algn="just">
              <a:buNone/>
            </a:pPr>
            <a:endParaRPr lang="en-US" sz="2400" dirty="0">
              <a:latin typeface="Times New Roman" panose="02020603050405020304" pitchFamily="18" charset="0"/>
              <a:cs typeface="Times New Roman" panose="02020603050405020304" pitchFamily="18" charset="0"/>
            </a:endParaRPr>
          </a:p>
          <a:p>
            <a:pPr marL="514350" lvl="0" indent="-514350" algn="just">
              <a:buNone/>
            </a:pPr>
            <a:r>
              <a:rPr lang="en-US" sz="2400" dirty="0">
                <a:latin typeface="Times New Roman" panose="02020603050405020304" pitchFamily="18" charset="0"/>
                <a:cs typeface="Times New Roman" panose="02020603050405020304" pitchFamily="18" charset="0"/>
              </a:rPr>
              <a:t>Q2. Discuss the Activity on Arrow (</a:t>
            </a:r>
            <a:r>
              <a:rPr lang="en-US" sz="2400" dirty="0" err="1">
                <a:latin typeface="Times New Roman" panose="02020603050405020304" pitchFamily="18" charset="0"/>
                <a:cs typeface="Times New Roman" panose="02020603050405020304" pitchFamily="18" charset="0"/>
              </a:rPr>
              <a:t>AoA</a:t>
            </a:r>
            <a:r>
              <a:rPr lang="en-US" sz="2400" dirty="0">
                <a:latin typeface="Times New Roman" panose="02020603050405020304" pitchFamily="18" charset="0"/>
                <a:cs typeface="Times New Roman" panose="02020603050405020304" pitchFamily="18" charset="0"/>
              </a:rPr>
              <a:t>) and Activity on Node (</a:t>
            </a:r>
            <a:r>
              <a:rPr lang="en-US" sz="2400" dirty="0" err="1">
                <a:latin typeface="Times New Roman" panose="02020603050405020304" pitchFamily="18" charset="0"/>
                <a:cs typeface="Times New Roman" panose="02020603050405020304" pitchFamily="18" charset="0"/>
              </a:rPr>
              <a:t>AoN</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514350" lvl="0" indent="-514350" algn="just">
              <a:buNone/>
            </a:pPr>
            <a:endParaRPr lang="en-US" sz="2400" dirty="0">
              <a:latin typeface="Times New Roman" panose="02020603050405020304" pitchFamily="18" charset="0"/>
              <a:cs typeface="Times New Roman" panose="02020603050405020304" pitchFamily="18" charset="0"/>
            </a:endParaRPr>
          </a:p>
          <a:p>
            <a:pPr marL="514350" lvl="0" indent="-514350" algn="just">
              <a:buNone/>
            </a:pPr>
            <a:r>
              <a:rPr lang="en-US" sz="2400" dirty="0">
                <a:latin typeface="Times New Roman" panose="02020603050405020304" pitchFamily="18" charset="0"/>
                <a:cs typeface="Times New Roman" panose="02020603050405020304" pitchFamily="18" charset="0"/>
              </a:rPr>
              <a:t>Q3. Describe the Work Breakdown Structure (WBS)</a:t>
            </a:r>
            <a:endParaRPr lang="en-US" sz="2400" dirty="0">
              <a:latin typeface="Times New Roman" panose="02020603050405020304" pitchFamily="18" charset="0"/>
              <a:cs typeface="Times New Roman" panose="02020603050405020304" pitchFamily="18" charset="0"/>
            </a:endParaRPr>
          </a:p>
          <a:p>
            <a:pPr marL="514350" lvl="0" indent="-514350" algn="just">
              <a:buNone/>
            </a:pPr>
            <a:endParaRPr lang="en-US" sz="2400" dirty="0">
              <a:latin typeface="Times New Roman" panose="02020603050405020304" pitchFamily="18" charset="0"/>
              <a:cs typeface="Times New Roman" panose="02020603050405020304" pitchFamily="18" charset="0"/>
            </a:endParaRPr>
          </a:p>
          <a:p>
            <a:pPr marL="514350" lvl="0" indent="-514350" algn="just">
              <a:buNone/>
            </a:pPr>
            <a:r>
              <a:rPr lang="en-US" sz="2400" dirty="0">
                <a:latin typeface="Times New Roman" panose="02020603050405020304" pitchFamily="18" charset="0"/>
                <a:cs typeface="Times New Roman" panose="02020603050405020304" pitchFamily="18" charset="0"/>
              </a:rPr>
              <a:t>Q4. Explain the PERT and CPM techniques of network design and analysis.</a:t>
            </a:r>
            <a:endParaRPr lang="en-US" sz="2400" dirty="0">
              <a:latin typeface="Times New Roman" panose="02020603050405020304" pitchFamily="18" charset="0"/>
              <a:cs typeface="Times New Roman" panose="02020603050405020304" pitchFamily="18" charset="0"/>
            </a:endParaRPr>
          </a:p>
          <a:p>
            <a:pPr marL="0" indent="0" algn="just">
              <a:buNone/>
            </a:pPr>
            <a:endParaRPr lang="en-US" sz="2800" dirty="0">
              <a:cs typeface="Arial" panose="020B0604020202020204" pitchFamily="3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Topic links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hlinkClick r:id="rId1"/>
              </a:rPr>
              <a:t>https://www.youtube.com/watch?v=SkQzQCAWf8M</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hlinkClick r:id="rId2"/>
              </a:rPr>
              <a:t>https://www.youtube.com/watch?v=Rq19ga0U_jQ</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hlinkClick r:id="rId3"/>
              </a:rPr>
              <a:t>https://www.youtube.com/watch?v=jh-3c6WBhBE</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hlinkClick r:id="rId4"/>
              </a:rPr>
              <a:t>https://www.youtube.com/watch?v=Wc-n6dr9vrk</a:t>
            </a:r>
            <a:endParaRPr lang="en-US" sz="2400"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MCQs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marL="0" marR="0" algn="just">
              <a:lnSpc>
                <a:spcPct val="115000"/>
              </a:lnSpc>
              <a:spcBef>
                <a:spcPts val="0"/>
              </a:spcBef>
              <a:spcAft>
                <a:spcPts val="0"/>
              </a:spcAft>
              <a:buNone/>
            </a:pPr>
            <a:r>
              <a:rPr lang="en-US" sz="2400" dirty="0">
                <a:latin typeface="Times New Roman" panose="02020603050405020304" pitchFamily="18" charset="0"/>
                <a:ea typeface="Times New Roman" panose="02020603050405020304"/>
                <a:cs typeface="Times New Roman" panose="02020603050405020304" pitchFamily="18" charset="0"/>
              </a:rPr>
              <a:t>Q1. In task dependencies, SS stands for. </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Start sight </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Start to Sight</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r>
              <a:rPr lang="en-US" sz="2400" b="1" dirty="0">
                <a:latin typeface="Times New Roman" panose="02020603050405020304" pitchFamily="18" charset="0"/>
                <a:ea typeface="Times New Roman" panose="02020603050405020304"/>
                <a:cs typeface="Times New Roman" panose="02020603050405020304" pitchFamily="18" charset="0"/>
              </a:rPr>
              <a:t>Start to start </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None of the above</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endParaRPr lang="en-US" sz="2400" dirty="0">
              <a:latin typeface="Times New Roman" panose="02020603050405020304" pitchFamily="18" charset="0"/>
              <a:ea typeface="Times New Roman" panose="02020603050405020304"/>
              <a:cs typeface="Times New Roman" panose="02020603050405020304" pitchFamily="18" charset="0"/>
            </a:endParaRPr>
          </a:p>
          <a:p>
            <a:pPr marL="0" marR="0" algn="just">
              <a:lnSpc>
                <a:spcPct val="115000"/>
              </a:lnSpc>
              <a:spcBef>
                <a:spcPts val="0"/>
              </a:spcBef>
              <a:spcAft>
                <a:spcPts val="0"/>
              </a:spcAft>
              <a:buNone/>
            </a:pPr>
            <a:r>
              <a:rPr lang="en-US" sz="2400" dirty="0">
                <a:latin typeface="Times New Roman" panose="02020603050405020304" pitchFamily="18" charset="0"/>
                <a:ea typeface="Times New Roman" panose="02020603050405020304"/>
                <a:cs typeface="Times New Roman" panose="02020603050405020304" pitchFamily="18" charset="0"/>
              </a:rPr>
              <a:t>Q2. In task dependencies, SF stands for. </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Start to Final</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Start to First</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r>
              <a:rPr lang="en-US" sz="2400" b="1" dirty="0">
                <a:latin typeface="Times New Roman" panose="02020603050405020304" pitchFamily="18" charset="0"/>
                <a:ea typeface="Times New Roman" panose="02020603050405020304"/>
                <a:cs typeface="Times New Roman" panose="02020603050405020304" pitchFamily="18" charset="0"/>
              </a:rPr>
              <a:t>Start to Finish </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None of the above </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MCQs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fontScale="85000" lnSpcReduction="20000"/>
          </a:bodyPr>
          <a:lstStyle/>
          <a:p>
            <a:pPr marL="0" marR="0" algn="just">
              <a:lnSpc>
                <a:spcPct val="115000"/>
              </a:lnSpc>
              <a:spcBef>
                <a:spcPts val="0"/>
              </a:spcBef>
              <a:spcAft>
                <a:spcPts val="0"/>
              </a:spcAft>
              <a:buNone/>
            </a:pPr>
            <a:r>
              <a:rPr lang="en-US" sz="2800" dirty="0">
                <a:latin typeface="Times New Roman" panose="02020603050405020304" pitchFamily="18" charset="0"/>
                <a:ea typeface="Times New Roman" panose="02020603050405020304"/>
                <a:cs typeface="Times New Roman" panose="02020603050405020304" pitchFamily="18" charset="0"/>
              </a:rPr>
              <a:t>Q3. The amount of time whereby a successor activity can be advanced with respect to a predecessor activity.</a:t>
            </a:r>
            <a:endParaRPr lang="en-US" sz="28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r>
              <a:rPr lang="en-US" sz="2800" b="1" dirty="0">
                <a:latin typeface="Times New Roman" panose="02020603050405020304" pitchFamily="18" charset="0"/>
                <a:ea typeface="Times New Roman" panose="02020603050405020304"/>
                <a:cs typeface="Times New Roman" panose="02020603050405020304" pitchFamily="18" charset="0"/>
              </a:rPr>
              <a:t>Lead</a:t>
            </a:r>
            <a:endParaRPr lang="en-US" sz="28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r>
              <a:rPr lang="en-US" sz="2800" dirty="0">
                <a:latin typeface="Times New Roman" panose="02020603050405020304" pitchFamily="18" charset="0"/>
                <a:ea typeface="Times New Roman" panose="02020603050405020304"/>
                <a:cs typeface="Times New Roman" panose="02020603050405020304" pitchFamily="18" charset="0"/>
              </a:rPr>
              <a:t>Lag</a:t>
            </a:r>
            <a:endParaRPr lang="en-US" sz="28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r>
              <a:rPr lang="en-US" sz="2800" dirty="0">
                <a:latin typeface="Times New Roman" panose="02020603050405020304" pitchFamily="18" charset="0"/>
                <a:ea typeface="Times New Roman" panose="02020603050405020304"/>
                <a:cs typeface="Times New Roman" panose="02020603050405020304" pitchFamily="18" charset="0"/>
              </a:rPr>
              <a:t>Leaf</a:t>
            </a:r>
            <a:endParaRPr lang="en-US" sz="28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r>
              <a:rPr lang="en-US" sz="2800" dirty="0">
                <a:latin typeface="Times New Roman" panose="02020603050405020304" pitchFamily="18" charset="0"/>
                <a:ea typeface="Times New Roman" panose="02020603050405020304"/>
                <a:cs typeface="Times New Roman" panose="02020603050405020304" pitchFamily="18" charset="0"/>
              </a:rPr>
              <a:t>None of the above</a:t>
            </a:r>
            <a:endParaRPr lang="en-US" sz="28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endParaRPr lang="en-US" sz="2800" dirty="0">
              <a:latin typeface="Times New Roman" panose="02020603050405020304" pitchFamily="18" charset="0"/>
              <a:ea typeface="Times New Roman" panose="02020603050405020304"/>
              <a:cs typeface="Times New Roman" panose="02020603050405020304" pitchFamily="18" charset="0"/>
            </a:endParaRPr>
          </a:p>
          <a:p>
            <a:pPr marL="0" marR="0" algn="just">
              <a:lnSpc>
                <a:spcPct val="115000"/>
              </a:lnSpc>
              <a:spcBef>
                <a:spcPts val="0"/>
              </a:spcBef>
              <a:spcAft>
                <a:spcPts val="0"/>
              </a:spcAft>
              <a:buNone/>
            </a:pPr>
            <a:r>
              <a:rPr lang="en-US" sz="2800" dirty="0">
                <a:latin typeface="Times New Roman" panose="02020603050405020304" pitchFamily="18" charset="0"/>
                <a:ea typeface="Times New Roman" panose="02020603050405020304"/>
                <a:cs typeface="Times New Roman" panose="02020603050405020304" pitchFamily="18" charset="0"/>
              </a:rPr>
              <a:t>Q4. The amount of time whereby a successor activity will be delayed with respect to a predecessor activity.</a:t>
            </a:r>
            <a:endParaRPr lang="en-US" sz="28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r>
              <a:rPr lang="en-US" sz="2800" dirty="0">
                <a:latin typeface="Times New Roman" panose="02020603050405020304" pitchFamily="18" charset="0"/>
                <a:ea typeface="Times New Roman" panose="02020603050405020304"/>
                <a:cs typeface="Times New Roman" panose="02020603050405020304" pitchFamily="18" charset="0"/>
              </a:rPr>
              <a:t>Lead</a:t>
            </a:r>
            <a:endParaRPr lang="en-US" sz="28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r>
              <a:rPr lang="en-US" sz="2800" b="1" dirty="0">
                <a:latin typeface="Times New Roman" panose="02020603050405020304" pitchFamily="18" charset="0"/>
                <a:ea typeface="Times New Roman" panose="02020603050405020304"/>
                <a:cs typeface="Times New Roman" panose="02020603050405020304" pitchFamily="18" charset="0"/>
              </a:rPr>
              <a:t>Lag</a:t>
            </a:r>
            <a:endParaRPr lang="en-US" sz="28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r>
              <a:rPr lang="en-US" sz="2800" dirty="0">
                <a:latin typeface="Times New Roman" panose="02020603050405020304" pitchFamily="18" charset="0"/>
                <a:ea typeface="Times New Roman" panose="02020603050405020304"/>
                <a:cs typeface="Times New Roman" panose="02020603050405020304" pitchFamily="18" charset="0"/>
              </a:rPr>
              <a:t>Leaf</a:t>
            </a:r>
            <a:endParaRPr lang="en-US" sz="28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r>
              <a:rPr lang="en-US" sz="2800" dirty="0">
                <a:latin typeface="Times New Roman" panose="02020603050405020304" pitchFamily="18" charset="0"/>
                <a:ea typeface="Times New Roman" panose="02020603050405020304"/>
                <a:cs typeface="Times New Roman" panose="02020603050405020304" pitchFamily="18" charset="0"/>
              </a:rPr>
              <a:t>None of the above</a:t>
            </a:r>
            <a:endParaRPr lang="en-US" sz="2800" dirty="0">
              <a:latin typeface="Times New Roman" panose="02020603050405020304" pitchFamily="18" charset="0"/>
              <a:ea typeface="Times New Roman" panose="02020603050405020304"/>
              <a:cs typeface="Times New Roman" panose="02020603050405020304" pitchFamily="18"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MCQs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fontScale="92500" lnSpcReduction="10000"/>
          </a:bodyPr>
          <a:lstStyle/>
          <a:p>
            <a:pPr marL="0" marR="0" algn="just">
              <a:lnSpc>
                <a:spcPct val="115000"/>
              </a:lnSpc>
              <a:spcBef>
                <a:spcPts val="0"/>
              </a:spcBef>
              <a:spcAft>
                <a:spcPts val="0"/>
              </a:spcAft>
              <a:buNone/>
            </a:pPr>
            <a:r>
              <a:rPr lang="en-US" sz="2600" dirty="0">
                <a:latin typeface="Times New Roman" panose="02020603050405020304" pitchFamily="18" charset="0"/>
                <a:ea typeface="Times New Roman" panose="02020603050405020304"/>
                <a:cs typeface="Times New Roman" panose="02020603050405020304" pitchFamily="18" charset="0"/>
              </a:rPr>
              <a:t>Q5. Normal Distribution is calculated as.</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r>
              <a:rPr lang="en-US" sz="2600" b="1" dirty="0">
                <a:latin typeface="Times New Roman" panose="02020603050405020304" pitchFamily="18" charset="0"/>
                <a:ea typeface="Times New Roman" panose="02020603050405020304"/>
                <a:cs typeface="Times New Roman" panose="02020603050405020304" pitchFamily="18" charset="0"/>
              </a:rPr>
              <a:t>Estimate = (Optimistic + Most Likely + Pessimistic) / 3 </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r>
              <a:rPr lang="en-US" sz="2600" dirty="0">
                <a:latin typeface="Times New Roman" panose="02020603050405020304" pitchFamily="18" charset="0"/>
                <a:ea typeface="Times New Roman" panose="02020603050405020304"/>
                <a:cs typeface="Times New Roman" panose="02020603050405020304" pitchFamily="18" charset="0"/>
              </a:rPr>
              <a:t>Estimate = (Optimistic + Most Likely + Pessimistic) / 2</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r>
              <a:rPr lang="en-US" sz="2600" dirty="0">
                <a:latin typeface="Times New Roman" panose="02020603050405020304" pitchFamily="18" charset="0"/>
                <a:ea typeface="Times New Roman" panose="02020603050405020304"/>
                <a:cs typeface="Times New Roman" panose="02020603050405020304" pitchFamily="18" charset="0"/>
              </a:rPr>
              <a:t>Estimate = (Optimistic + Most Likely + Pessimistic) / 4</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r>
              <a:rPr lang="en-US" sz="2600" dirty="0">
                <a:latin typeface="Times New Roman" panose="02020603050405020304" pitchFamily="18" charset="0"/>
                <a:ea typeface="Times New Roman" panose="02020603050405020304"/>
                <a:cs typeface="Times New Roman" panose="02020603050405020304" pitchFamily="18" charset="0"/>
              </a:rPr>
              <a:t>None of the above</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endParaRPr lang="en-US" sz="2600" dirty="0">
              <a:latin typeface="Times New Roman" panose="02020603050405020304" pitchFamily="18" charset="0"/>
              <a:ea typeface="Times New Roman" panose="02020603050405020304"/>
              <a:cs typeface="Times New Roman" panose="02020603050405020304" pitchFamily="18" charset="0"/>
            </a:endParaRPr>
          </a:p>
          <a:p>
            <a:pPr algn="just">
              <a:spcBef>
                <a:spcPts val="0"/>
              </a:spcBef>
            </a:pPr>
            <a:endParaRPr lang="en-US" sz="2600" dirty="0">
              <a:latin typeface="Times New Roman" panose="02020603050405020304" pitchFamily="18" charset="0"/>
              <a:cs typeface="Times New Roman" panose="02020603050405020304" pitchFamily="18" charset="0"/>
            </a:endParaRPr>
          </a:p>
          <a:p>
            <a:pPr marL="0" marR="0" algn="just">
              <a:lnSpc>
                <a:spcPct val="115000"/>
              </a:lnSpc>
              <a:spcBef>
                <a:spcPts val="0"/>
              </a:spcBef>
              <a:spcAft>
                <a:spcPts val="0"/>
              </a:spcAft>
              <a:buNone/>
            </a:pPr>
            <a:r>
              <a:rPr lang="en-US" sz="2600" dirty="0">
                <a:latin typeface="Times New Roman" panose="02020603050405020304" pitchFamily="18" charset="0"/>
                <a:ea typeface="Times New Roman" panose="02020603050405020304"/>
                <a:cs typeface="Times New Roman" panose="02020603050405020304" pitchFamily="18" charset="0"/>
              </a:rPr>
              <a:t>Q6. Beta Distribution is calculated as. </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r>
              <a:rPr lang="en-US" sz="2600" b="1" dirty="0">
                <a:latin typeface="Times New Roman" panose="02020603050405020304" pitchFamily="18" charset="0"/>
                <a:ea typeface="Times New Roman" panose="02020603050405020304"/>
                <a:cs typeface="Times New Roman" panose="02020603050405020304" pitchFamily="18" charset="0"/>
              </a:rPr>
              <a:t>Estimate = (Optimistic + 4 x Most Likely + Pessimistic) / 6 </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r>
              <a:rPr lang="en-US" sz="2600" dirty="0">
                <a:latin typeface="Times New Roman" panose="02020603050405020304" pitchFamily="18" charset="0"/>
                <a:ea typeface="Times New Roman" panose="02020603050405020304"/>
                <a:cs typeface="Times New Roman" panose="02020603050405020304" pitchFamily="18" charset="0"/>
              </a:rPr>
              <a:t>Estimate = (Optimistic + 4 x Most Likely + Pessimistic) / 4</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r>
              <a:rPr lang="en-US" sz="2600" dirty="0">
                <a:latin typeface="Times New Roman" panose="02020603050405020304" pitchFamily="18" charset="0"/>
                <a:ea typeface="Times New Roman" panose="02020603050405020304"/>
                <a:cs typeface="Times New Roman" panose="02020603050405020304" pitchFamily="18" charset="0"/>
              </a:rPr>
              <a:t>Estimate = (Optimistic + 4 x Most Likely + Pessimistic) / 8 </a:t>
            </a:r>
            <a:endParaRPr lang="en-US" sz="2600" dirty="0">
              <a:latin typeface="Times New Roman" panose="02020603050405020304" pitchFamily="18" charset="0"/>
              <a:ea typeface="Times New Roman" panose="02020603050405020304"/>
              <a:cs typeface="Times New Roman" panose="02020603050405020304" pitchFamily="18" charset="0"/>
            </a:endParaRPr>
          </a:p>
          <a:p>
            <a:pPr lvl="0" algn="just">
              <a:lnSpc>
                <a:spcPct val="115000"/>
              </a:lnSpc>
              <a:spcBef>
                <a:spcPts val="0"/>
              </a:spcBef>
              <a:buFont typeface="+mj-lt"/>
              <a:buAutoNum type="alphaUcPeriod"/>
            </a:pPr>
            <a:r>
              <a:rPr lang="en-US" sz="2600" dirty="0">
                <a:latin typeface="Times New Roman" panose="02020603050405020304" pitchFamily="18" charset="0"/>
                <a:ea typeface="Times New Roman" panose="02020603050405020304"/>
                <a:cs typeface="Times New Roman" panose="02020603050405020304" pitchFamily="18" charset="0"/>
              </a:rPr>
              <a:t>None of the above</a:t>
            </a:r>
            <a:endParaRPr lang="en-US" sz="2600" dirty="0">
              <a:latin typeface="Times New Roman" panose="02020603050405020304" pitchFamily="18" charset="0"/>
              <a:ea typeface="Times New Roman" panose="02020603050405020304"/>
              <a:cs typeface="Times New Roman" panose="02020603050405020304" pitchFamily="18" charset="0"/>
            </a:endParaRPr>
          </a:p>
          <a:p>
            <a:pPr marL="0" marR="0" algn="just">
              <a:spcBef>
                <a:spcPts val="0"/>
              </a:spcBef>
              <a:buNone/>
            </a:pPr>
            <a:endParaRPr lang="en-IN"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Old question paper</a:t>
            </a:r>
            <a:endParaRPr lang="en-IN" sz="3600" dirty="0">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1"/>
          <a:stretch>
            <a:fillRect/>
          </a:stretch>
        </p:blipFill>
        <p:spPr>
          <a:xfrm>
            <a:off x="673768" y="1282589"/>
            <a:ext cx="10289407" cy="4752451"/>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Old question paper</a:t>
            </a:r>
            <a:endParaRPr lang="en-IN" sz="3600" dirty="0">
              <a:latin typeface="Times New Roman" panose="02020603050405020304" pitchFamily="18" charset="0"/>
              <a:cs typeface="Times New Roman" panose="02020603050405020304" pitchFamily="18" charset="0"/>
            </a:endParaRPr>
          </a:p>
        </p:txBody>
      </p:sp>
      <p:pic>
        <p:nvPicPr>
          <p:cNvPr id="8" name="Content Placeholder 7"/>
          <p:cNvPicPr>
            <a:picLocks noGrp="1" noChangeAspect="1"/>
          </p:cNvPicPr>
          <p:nvPr>
            <p:ph idx="1"/>
          </p:nvPr>
        </p:nvPicPr>
        <p:blipFill>
          <a:blip r:embed="rId1"/>
          <a:stretch>
            <a:fillRect/>
          </a:stretch>
        </p:blipFill>
        <p:spPr>
          <a:xfrm>
            <a:off x="1029903" y="1176338"/>
            <a:ext cx="9490510" cy="5000625"/>
          </a:xfr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Old question paper</a:t>
            </a:r>
            <a:endParaRPr lang="en-IN" sz="3600" dirty="0">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idx="1"/>
          </p:nvPr>
        </p:nvPicPr>
        <p:blipFill>
          <a:blip r:embed="rId1"/>
          <a:stretch>
            <a:fillRect/>
          </a:stretch>
        </p:blipFill>
        <p:spPr>
          <a:xfrm>
            <a:off x="1386038" y="1177797"/>
            <a:ext cx="9509760" cy="4997707"/>
          </a:xfr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Old question paper</a:t>
            </a:r>
            <a:endParaRPr lang="en-IN" sz="3600"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1"/>
          <a:stretch>
            <a:fillRect/>
          </a:stretch>
        </p:blipFill>
        <p:spPr>
          <a:xfrm>
            <a:off x="1366787" y="1068404"/>
            <a:ext cx="8941869" cy="5059472"/>
          </a:xfr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Old question paper</a:t>
            </a:r>
            <a:endParaRPr lang="en-IN" sz="3600"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1"/>
          <a:stretch>
            <a:fillRect/>
          </a:stretch>
        </p:blipFill>
        <p:spPr>
          <a:xfrm>
            <a:off x="1135781" y="1180972"/>
            <a:ext cx="9827394" cy="4991357"/>
          </a:xfr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Old question paper</a:t>
            </a:r>
            <a:endParaRPr lang="en-IN" sz="3600"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1"/>
          <a:stretch>
            <a:fillRect/>
          </a:stretch>
        </p:blipFill>
        <p:spPr>
          <a:xfrm>
            <a:off x="895149" y="1195589"/>
            <a:ext cx="10160001" cy="5176336"/>
          </a:xfr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Expected Questions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pPr algn="just">
              <a:buNone/>
            </a:pPr>
            <a:r>
              <a:rPr lang="en-US" sz="2400" dirty="0">
                <a:latin typeface="Times New Roman" panose="02020603050405020304" pitchFamily="18" charset="0"/>
                <a:cs typeface="Times New Roman" panose="02020603050405020304" pitchFamily="18" charset="0"/>
              </a:rPr>
              <a:t>Q1. Discuss the project scheduling. </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Q2. Explain the term network analysis in project management. </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Q3. What are the various steps in project scheduling process. </a:t>
            </a: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Q4. Discuss the process of identifying nodes and activities in a project network design. </a:t>
            </a:r>
            <a:endParaRPr lang="en-US" sz="2400" dirty="0">
              <a:latin typeface="Times New Roman" panose="02020603050405020304" pitchFamily="18" charset="0"/>
              <a:cs typeface="Times New Roman" panose="02020603050405020304" pitchFamily="18" charset="0"/>
            </a:endParaRPr>
          </a:p>
          <a:p>
            <a:pPr algn="just">
              <a:buNone/>
            </a:pPr>
            <a:endParaRPr lang="en-US" sz="28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Recap of unit</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949235" y="1810928"/>
            <a:ext cx="10533704" cy="2741821"/>
          </a:xfrm>
        </p:spPr>
        <p:txBody>
          <a:bodyPr/>
          <a:lstStyle/>
          <a:p>
            <a:pPr algn="just"/>
            <a:r>
              <a:rPr lang="en-US" sz="2400" dirty="0">
                <a:latin typeface="Times New Roman" panose="02020603050405020304" pitchFamily="18" charset="0"/>
                <a:cs typeface="Times New Roman" panose="02020603050405020304" pitchFamily="18" charset="0"/>
              </a:rPr>
              <a:t>Project scheduling is a mechanism to communicate what tasks need to get done and which organizational resources will be allocated to complete those tasks in what timeframe.</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Gantt charts are used to show calendar time task assignments in days, weeks or months.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Crashing is a schedule compression technique used to reduce or shorten the project schedule.</a:t>
            </a:r>
            <a:endParaRPr lang="en-US" sz="2400" dirty="0">
              <a:latin typeface="Times New Roman" panose="02020603050405020304" pitchFamily="18" charset="0"/>
              <a:cs typeface="Times New Roman" panose="02020603050405020304" pitchFamily="18" charset="0"/>
            </a:endParaRPr>
          </a:p>
          <a:p>
            <a:pPr marL="0" indent="0">
              <a:buNone/>
            </a:pP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26833</Words>
  <Application>WPS Presentation</Application>
  <PresentationFormat>Widescreen</PresentationFormat>
  <Paragraphs>883</Paragraphs>
  <Slides>86</Slides>
  <Notes>0</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86</vt:i4>
      </vt:variant>
    </vt:vector>
  </HeadingPairs>
  <TitlesOfParts>
    <vt:vector size="101" baseType="lpstr">
      <vt:lpstr>Arial</vt:lpstr>
      <vt:lpstr>SimSun</vt:lpstr>
      <vt:lpstr>Wingdings</vt:lpstr>
      <vt:lpstr>Times New Roman</vt:lpstr>
      <vt:lpstr>Microsoft YaHei</vt:lpstr>
      <vt:lpstr>Arial Unicode MS</vt:lpstr>
      <vt:lpstr>Aptos Display</vt:lpstr>
      <vt:lpstr>Segoe Print</vt:lpstr>
      <vt:lpstr>Aptos</vt:lpstr>
      <vt:lpstr>Calibri</vt:lpstr>
      <vt:lpstr>Calibri</vt:lpstr>
      <vt:lpstr>Times New Roman</vt:lpstr>
      <vt:lpstr>Mangal</vt:lpstr>
      <vt:lpstr>Office Theme</vt:lpstr>
      <vt:lpstr>Acrobat.Document.DC</vt:lpstr>
      <vt:lpstr>PowerPoint 演示文稿</vt:lpstr>
      <vt:lpstr>Index</vt:lpstr>
      <vt:lpstr>Index</vt:lpstr>
      <vt:lpstr>Brief Introduction of the Faculty Member </vt:lpstr>
      <vt:lpstr>Evaluation Scheme</vt:lpstr>
      <vt:lpstr>Syllabus</vt:lpstr>
      <vt:lpstr>Syllabus</vt:lpstr>
      <vt:lpstr>Branch Wise Application</vt:lpstr>
      <vt:lpstr>Course objective(s)</vt:lpstr>
      <vt:lpstr>Course outcome(s) </vt:lpstr>
      <vt:lpstr>Program outcome (POs)</vt:lpstr>
      <vt:lpstr>COs and POs Mapping</vt:lpstr>
      <vt:lpstr>Program Educational Objectives (PEOs)</vt:lpstr>
      <vt:lpstr>Result Analysis</vt:lpstr>
      <vt:lpstr>End Semester Question paper Templates</vt:lpstr>
      <vt:lpstr>End Semester Question paper Templates</vt:lpstr>
      <vt:lpstr> Prerequisite /Recap</vt:lpstr>
      <vt:lpstr>Brief Introduction about the Subject with Videos</vt:lpstr>
      <vt:lpstr>Unit Content</vt:lpstr>
      <vt:lpstr>Unit objective</vt:lpstr>
      <vt:lpstr>Topic Objectives &amp; Topic Outcome</vt:lpstr>
      <vt:lpstr>Project scheduling </vt:lpstr>
      <vt:lpstr>Project Planning vs Project Scheduling</vt:lpstr>
      <vt:lpstr>Steps in Project Scheduling</vt:lpstr>
      <vt:lpstr>Step 1: Plan Schedule Management</vt:lpstr>
      <vt:lpstr>Step 2: Define Activities</vt:lpstr>
      <vt:lpstr>Step 3: Sequence Activities</vt:lpstr>
      <vt:lpstr>Task Dependencies (Four Types)</vt:lpstr>
      <vt:lpstr>Leads &amp; Lags</vt:lpstr>
      <vt:lpstr>Step 4: Estimate Activity Resources</vt:lpstr>
      <vt:lpstr>Step 5:  Estimate Activity Durations</vt:lpstr>
      <vt:lpstr>Methods of Estimation</vt:lpstr>
      <vt:lpstr>Methods of Estimation contd…</vt:lpstr>
      <vt:lpstr>Step 6:  Develop a Schedule</vt:lpstr>
      <vt:lpstr>Gantt Chart</vt:lpstr>
      <vt:lpstr>Gantt Chart</vt:lpstr>
      <vt:lpstr>Benefits of using a Gantt chart</vt:lpstr>
      <vt:lpstr>Topic objective and topic outcome</vt:lpstr>
      <vt:lpstr>Work Breakdown Structure</vt:lpstr>
      <vt:lpstr>Benefits of using Work Breakdown Structure</vt:lpstr>
      <vt:lpstr>Responsibility Assignment Matrix (RAM) </vt:lpstr>
      <vt:lpstr>RACI</vt:lpstr>
      <vt:lpstr>RACI</vt:lpstr>
      <vt:lpstr>Responsibility Assignment Matrix (RAM) </vt:lpstr>
      <vt:lpstr>Topic objective and topic outcome</vt:lpstr>
      <vt:lpstr>Identifying Nodes &amp; Activities </vt:lpstr>
      <vt:lpstr>Identifying Nodes &amp; Activities </vt:lpstr>
      <vt:lpstr>Activity on Arrow (AOA)</vt:lpstr>
      <vt:lpstr>Activity on Arrow (AOA)</vt:lpstr>
      <vt:lpstr>Activity on Node (AON)</vt:lpstr>
      <vt:lpstr>Activity on Node (AON)</vt:lpstr>
      <vt:lpstr>Topic objective and topic outcome</vt:lpstr>
      <vt:lpstr>Program Evaluation Review Technique (PERT)</vt:lpstr>
      <vt:lpstr>Program Evaluation Review Technique (PERT)</vt:lpstr>
      <vt:lpstr>Steps in PERT planning</vt:lpstr>
      <vt:lpstr>Steps in PERT planning</vt:lpstr>
      <vt:lpstr>Steps in PERT planning</vt:lpstr>
      <vt:lpstr>Steps in PERT planning</vt:lpstr>
      <vt:lpstr>Steps in PERT planning</vt:lpstr>
      <vt:lpstr>Benefits Of PERT</vt:lpstr>
      <vt:lpstr>Critical Path Method (CPM)</vt:lpstr>
      <vt:lpstr>Steps in CPM</vt:lpstr>
      <vt:lpstr>Steps in CPM</vt:lpstr>
      <vt:lpstr>Steps in CPM</vt:lpstr>
      <vt:lpstr>PERT vs CPM</vt:lpstr>
      <vt:lpstr>Topic objective and topic outcome</vt:lpstr>
      <vt:lpstr>Crashing in Project</vt:lpstr>
      <vt:lpstr>Situations when to crash a project</vt:lpstr>
      <vt:lpstr>Steps in Project Crashing</vt:lpstr>
      <vt:lpstr>Case Study</vt:lpstr>
      <vt:lpstr>Daily quiz</vt:lpstr>
      <vt:lpstr>Daily quiz</vt:lpstr>
      <vt:lpstr>Daily quiz</vt:lpstr>
      <vt:lpstr>Weekly assignment </vt:lpstr>
      <vt:lpstr>Topic links</vt:lpstr>
      <vt:lpstr>MCQs</vt:lpstr>
      <vt:lpstr>MCQs</vt:lpstr>
      <vt:lpstr>MCQs</vt:lpstr>
      <vt:lpstr>Old question paper</vt:lpstr>
      <vt:lpstr>Old question paper</vt:lpstr>
      <vt:lpstr>Old question paper</vt:lpstr>
      <vt:lpstr>Old question paper</vt:lpstr>
      <vt:lpstr>Old question paper</vt:lpstr>
      <vt:lpstr>Old question paper</vt:lpstr>
      <vt:lpstr>Expected Questions</vt:lpstr>
      <vt:lpstr>Recap of unit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Manish Kaushik</dc:creator>
  <cp:lastModifiedBy>tarun</cp:lastModifiedBy>
  <cp:revision>19</cp:revision>
  <dcterms:created xsi:type="dcterms:W3CDTF">2024-03-22T08:16:00Z</dcterms:created>
  <dcterms:modified xsi:type="dcterms:W3CDTF">2024-08-08T05:44:07Z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4A1879F1530F4CB085A97380905A597A_12</vt:lpwstr>
  </property>
  <property fmtid="{D5CDD505-2E9C-101B-9397-08002B2CF9AE}" pid="3" name="KSOProductBuildVer">
    <vt:lpwstr>1033-12.2.0.17119</vt:lpwstr>
  </property>
</Properties>
</file>