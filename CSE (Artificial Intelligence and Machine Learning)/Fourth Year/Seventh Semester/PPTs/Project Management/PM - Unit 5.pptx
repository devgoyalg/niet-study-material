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79"/>
  </p:handoutMasterIdLst>
  <p:sldIdLst>
    <p:sldId id="256" r:id="rId3"/>
    <p:sldId id="668" r:id="rId5"/>
    <p:sldId id="669" r:id="rId6"/>
    <p:sldId id="670" r:id="rId7"/>
    <p:sldId id="260" r:id="rId8"/>
    <p:sldId id="672" r:id="rId9"/>
    <p:sldId id="673" r:id="rId10"/>
    <p:sldId id="674" r:id="rId11"/>
    <p:sldId id="675" r:id="rId12"/>
    <p:sldId id="676" r:id="rId13"/>
    <p:sldId id="677" r:id="rId14"/>
    <p:sldId id="679" r:id="rId15"/>
    <p:sldId id="680" r:id="rId16"/>
    <p:sldId id="681" r:id="rId17"/>
    <p:sldId id="682" r:id="rId18"/>
    <p:sldId id="683" r:id="rId19"/>
    <p:sldId id="684" r:id="rId20"/>
    <p:sldId id="685" r:id="rId21"/>
    <p:sldId id="496" r:id="rId22"/>
    <p:sldId id="497" r:id="rId23"/>
    <p:sldId id="498" r:id="rId24"/>
    <p:sldId id="632" r:id="rId25"/>
    <p:sldId id="633" r:id="rId26"/>
    <p:sldId id="634" r:id="rId27"/>
    <p:sldId id="635" r:id="rId28"/>
    <p:sldId id="636" r:id="rId29"/>
    <p:sldId id="637" r:id="rId30"/>
    <p:sldId id="638" r:id="rId31"/>
    <p:sldId id="639" r:id="rId32"/>
    <p:sldId id="640" r:id="rId33"/>
    <p:sldId id="641" r:id="rId34"/>
    <p:sldId id="642" r:id="rId35"/>
    <p:sldId id="643" r:id="rId36"/>
    <p:sldId id="686" r:id="rId37"/>
    <p:sldId id="687" r:id="rId38"/>
    <p:sldId id="688" r:id="rId39"/>
    <p:sldId id="644" r:id="rId40"/>
    <p:sldId id="645" r:id="rId41"/>
    <p:sldId id="553" r:id="rId42"/>
    <p:sldId id="653" r:id="rId43"/>
    <p:sldId id="655" r:id="rId44"/>
    <p:sldId id="654" r:id="rId45"/>
    <p:sldId id="651" r:id="rId46"/>
    <p:sldId id="652" r:id="rId47"/>
    <p:sldId id="649" r:id="rId48"/>
    <p:sldId id="650" r:id="rId49"/>
    <p:sldId id="647" r:id="rId50"/>
    <p:sldId id="648" r:id="rId51"/>
    <p:sldId id="631" r:id="rId52"/>
    <p:sldId id="664" r:id="rId53"/>
    <p:sldId id="665" r:id="rId54"/>
    <p:sldId id="689" r:id="rId55"/>
    <p:sldId id="690" r:id="rId56"/>
    <p:sldId id="691" r:id="rId57"/>
    <p:sldId id="666" r:id="rId58"/>
    <p:sldId id="661" r:id="rId59"/>
    <p:sldId id="662" r:id="rId60"/>
    <p:sldId id="491" r:id="rId61"/>
    <p:sldId id="370" r:id="rId62"/>
    <p:sldId id="371" r:id="rId63"/>
    <p:sldId id="625" r:id="rId64"/>
    <p:sldId id="626" r:id="rId65"/>
    <p:sldId id="372" r:id="rId66"/>
    <p:sldId id="373" r:id="rId67"/>
    <p:sldId id="551" r:id="rId68"/>
    <p:sldId id="552" r:id="rId69"/>
    <p:sldId id="667" r:id="rId70"/>
    <p:sldId id="374" r:id="rId71"/>
    <p:sldId id="548" r:id="rId72"/>
    <p:sldId id="549" r:id="rId73"/>
    <p:sldId id="550" r:id="rId74"/>
    <p:sldId id="375" r:id="rId75"/>
    <p:sldId id="376" r:id="rId76"/>
    <p:sldId id="377" r:id="rId77"/>
    <p:sldId id="627" r:id="rId7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603" autoAdjust="0"/>
    <p:restoredTop sz="94660"/>
  </p:normalViewPr>
  <p:slideViewPr>
    <p:cSldViewPr showGuides="1">
      <p:cViewPr varScale="1">
        <p:scale>
          <a:sx n="92" d="100"/>
          <a:sy n="92" d="100"/>
        </p:scale>
        <p:origin x="1051" y="82"/>
      </p:cViewPr>
      <p:guideLst>
        <p:guide orient="horz" pos="2160"/>
        <p:guide pos="2880"/>
      </p:guideLst>
    </p:cSldViewPr>
  </p:slideViewPr>
  <p:notesTextViewPr>
    <p:cViewPr>
      <p:scale>
        <a:sx n="100" d="100"/>
        <a:sy n="100" d="100"/>
      </p:scale>
      <p:origin x="0" y="0"/>
    </p:cViewPr>
  </p:notesText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2" Type="http://schemas.openxmlformats.org/officeDocument/2006/relationships/tableStyles" Target="tableStyles.xml"/><Relationship Id="rId81" Type="http://schemas.openxmlformats.org/officeDocument/2006/relationships/viewProps" Target="viewProps.xml"/><Relationship Id="rId80" Type="http://schemas.openxmlformats.org/officeDocument/2006/relationships/presProps" Target="presProps.xml"/><Relationship Id="rId8" Type="http://schemas.openxmlformats.org/officeDocument/2006/relationships/slide" Target="slides/slide5.xml"/><Relationship Id="rId79" Type="http://schemas.openxmlformats.org/officeDocument/2006/relationships/handoutMaster" Target="handoutMasters/handoutMaster1.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FEA036C7-16FE-40E2-9C73-6F93BB861270}" type="datetime1">
              <a:rPr lang="en-US" smtClean="0"/>
            </a:fld>
            <a:endParaRPr lang="en-US"/>
          </a:p>
        </p:txBody>
      </p:sp>
      <p:sp>
        <p:nvSpPr>
          <p:cNvPr id="5" name="Footer Placeholder 4"/>
          <p:cNvSpPr>
            <a:spLocks noGrp="1"/>
          </p:cNvSpPr>
          <p:nvPr>
            <p:ph type="ftr" sz="quarter" idx="11"/>
          </p:nvPr>
        </p:nvSpPr>
        <p:spPr/>
        <p:txBody>
          <a:bodyPr/>
          <a:lstStyle/>
          <a:p>
            <a:r>
              <a:rPr lang="en-US"/>
              <a:t>Dr. Meenu Chaudhary     AMBA 0401 (PM)                Unit-5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ACE61604-136B-461C-BE50-30B43AC91115}" type="datetime1">
              <a:rPr lang="en-US" smtClean="0"/>
            </a:fld>
            <a:endParaRPr lang="en-US"/>
          </a:p>
        </p:txBody>
      </p:sp>
      <p:sp>
        <p:nvSpPr>
          <p:cNvPr id="5" name="Footer Placeholder 4"/>
          <p:cNvSpPr>
            <a:spLocks noGrp="1"/>
          </p:cNvSpPr>
          <p:nvPr>
            <p:ph type="ftr" sz="quarter" idx="11"/>
          </p:nvPr>
        </p:nvSpPr>
        <p:spPr/>
        <p:txBody>
          <a:bodyPr/>
          <a:lstStyle/>
          <a:p>
            <a:r>
              <a:rPr lang="en-IN" altLang="en-US"/>
              <a:t>By Tarun Maheshwari</a:t>
            </a:r>
            <a:endParaRPr lang="en-IN" alt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8133CC30-0F0F-40DF-98DC-673E5EAFA56A}" type="datetime1">
              <a:rPr lang="en-US" smtClean="0"/>
            </a:fld>
            <a:endParaRPr lang="en-US"/>
          </a:p>
        </p:txBody>
      </p:sp>
      <p:sp>
        <p:nvSpPr>
          <p:cNvPr id="5" name="Footer Placeholder 4"/>
          <p:cNvSpPr>
            <a:spLocks noGrp="1"/>
          </p:cNvSpPr>
          <p:nvPr>
            <p:ph type="ftr" sz="quarter" idx="11"/>
          </p:nvPr>
        </p:nvSpPr>
        <p:spPr/>
        <p:txBody>
          <a:bodyPr/>
          <a:lstStyle/>
          <a:p>
            <a:r>
              <a:rPr lang="en-US"/>
              <a:t>Dr. Meenu Chaudhary     AMBA 0401 (PM)                Unit-5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9053D4D-B39D-44E2-9897-73C114A63D98}" type="datetime1">
              <a:rPr lang="en-US" smtClean="0"/>
            </a:fld>
            <a:endParaRPr lang="en-US"/>
          </a:p>
        </p:txBody>
      </p:sp>
      <p:sp>
        <p:nvSpPr>
          <p:cNvPr id="6" name="Footer Placeholder 5"/>
          <p:cNvSpPr>
            <a:spLocks noGrp="1"/>
          </p:cNvSpPr>
          <p:nvPr>
            <p:ph type="ftr" sz="quarter" idx="11"/>
          </p:nvPr>
        </p:nvSpPr>
        <p:spPr/>
        <p:txBody>
          <a:bodyPr/>
          <a:lstStyle/>
          <a:p>
            <a:r>
              <a:rPr lang="en-US"/>
              <a:t>Dr. Meenu Chaudhary     AMBA 0401 (PM)                Unit-5</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256096A3-E069-40EE-8977-D719C7AAB0B5}" type="datetime1">
              <a:rPr lang="en-US" smtClean="0"/>
            </a:fld>
            <a:endParaRPr lang="en-US"/>
          </a:p>
        </p:txBody>
      </p:sp>
      <p:sp>
        <p:nvSpPr>
          <p:cNvPr id="8" name="Footer Placeholder 7"/>
          <p:cNvSpPr>
            <a:spLocks noGrp="1"/>
          </p:cNvSpPr>
          <p:nvPr>
            <p:ph type="ftr" sz="quarter" idx="11"/>
          </p:nvPr>
        </p:nvSpPr>
        <p:spPr/>
        <p:txBody>
          <a:bodyPr/>
          <a:lstStyle/>
          <a:p>
            <a:r>
              <a:rPr lang="en-US"/>
              <a:t>Dr. Meenu Chaudhary     AMBA 0401 (PM)                Unit-5</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C7A7E0D5-F280-4898-B366-F18FAE555296}" type="datetime1">
              <a:rPr lang="en-US" smtClean="0"/>
            </a:fld>
            <a:endParaRPr lang="en-US"/>
          </a:p>
        </p:txBody>
      </p:sp>
      <p:sp>
        <p:nvSpPr>
          <p:cNvPr id="4" name="Footer Placeholder 3"/>
          <p:cNvSpPr>
            <a:spLocks noGrp="1"/>
          </p:cNvSpPr>
          <p:nvPr>
            <p:ph type="ftr" sz="quarter" idx="11"/>
          </p:nvPr>
        </p:nvSpPr>
        <p:spPr/>
        <p:txBody>
          <a:bodyPr/>
          <a:lstStyle/>
          <a:p>
            <a:r>
              <a:rPr lang="en-US"/>
              <a:t>Dr. Meenu Chaudhary     AMBA 0401 (PM)                Unit-5</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B5BA7B-3964-4D38-82A5-4C2DDDF37704}" type="datetime1">
              <a:rPr lang="en-US" smtClean="0"/>
            </a:fld>
            <a:endParaRPr lang="en-US"/>
          </a:p>
        </p:txBody>
      </p:sp>
      <p:sp>
        <p:nvSpPr>
          <p:cNvPr id="3" name="Footer Placeholder 2"/>
          <p:cNvSpPr>
            <a:spLocks noGrp="1"/>
          </p:cNvSpPr>
          <p:nvPr>
            <p:ph type="ftr" sz="quarter" idx="11"/>
          </p:nvPr>
        </p:nvSpPr>
        <p:spPr/>
        <p:txBody>
          <a:bodyPr/>
          <a:lstStyle/>
          <a:p>
            <a:r>
              <a:rPr lang="en-US"/>
              <a:t>Dr. Meenu Chaudhary     AMBA 0401 (PM)                Unit-5</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C1C04BB-DBAD-4A63-B944-18B281340970}" type="datetime1">
              <a:rPr lang="en-US" smtClean="0"/>
            </a:fld>
            <a:endParaRPr lang="en-US"/>
          </a:p>
        </p:txBody>
      </p:sp>
      <p:sp>
        <p:nvSpPr>
          <p:cNvPr id="6" name="Footer Placeholder 5"/>
          <p:cNvSpPr>
            <a:spLocks noGrp="1"/>
          </p:cNvSpPr>
          <p:nvPr>
            <p:ph type="ftr" sz="quarter" idx="11"/>
          </p:nvPr>
        </p:nvSpPr>
        <p:spPr/>
        <p:txBody>
          <a:bodyPr/>
          <a:lstStyle/>
          <a:p>
            <a:r>
              <a:rPr lang="en-US"/>
              <a:t>Dr. Meenu Chaudhary     AMBA 0401 (PM)                Unit-5</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D5C98900-4121-493E-88D7-92B45E1B2A2F}" type="datetime1">
              <a:rPr lang="en-US" smtClean="0"/>
            </a:fld>
            <a:endParaRPr lang="en-US"/>
          </a:p>
        </p:txBody>
      </p:sp>
      <p:sp>
        <p:nvSpPr>
          <p:cNvPr id="6" name="Footer Placeholder 5"/>
          <p:cNvSpPr>
            <a:spLocks noGrp="1"/>
          </p:cNvSpPr>
          <p:nvPr>
            <p:ph type="ftr" sz="quarter" idx="11"/>
          </p:nvPr>
        </p:nvSpPr>
        <p:spPr/>
        <p:txBody>
          <a:bodyPr/>
          <a:lstStyle/>
          <a:p>
            <a:r>
              <a:rPr lang="en-US"/>
              <a:t>Dr. Meenu Chaudhary     AMBA 0401 (PM)                Unit-5</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A99D83C7-BD8A-4F43-AAFA-B2866DC20DC1}" type="datetime1">
              <a:rPr lang="en-US" smtClean="0"/>
            </a:fld>
            <a:endParaRPr lang="en-US"/>
          </a:p>
        </p:txBody>
      </p:sp>
      <p:sp>
        <p:nvSpPr>
          <p:cNvPr id="5" name="Footer Placeholder 4"/>
          <p:cNvSpPr>
            <a:spLocks noGrp="1"/>
          </p:cNvSpPr>
          <p:nvPr>
            <p:ph type="ftr" sz="quarter" idx="11"/>
          </p:nvPr>
        </p:nvSpPr>
        <p:spPr/>
        <p:txBody>
          <a:bodyPr/>
          <a:lstStyle/>
          <a:p>
            <a:r>
              <a:rPr lang="en-US"/>
              <a:t>Dr. Meenu Chaudhary     AMBA 0401 (PM)                Unit-5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AA76E2E9-3B2C-4D8A-AA54-67498F13C931}" type="datetime1">
              <a:rPr lang="en-US" smtClean="0"/>
            </a:fld>
            <a:endParaRPr lang="en-US"/>
          </a:p>
        </p:txBody>
      </p:sp>
      <p:sp>
        <p:nvSpPr>
          <p:cNvPr id="5" name="Footer Placeholder 4"/>
          <p:cNvSpPr>
            <a:spLocks noGrp="1"/>
          </p:cNvSpPr>
          <p:nvPr>
            <p:ph type="ftr" sz="quarter" idx="11"/>
          </p:nvPr>
        </p:nvSpPr>
        <p:spPr/>
        <p:txBody>
          <a:bodyPr/>
          <a:lstStyle/>
          <a:p>
            <a:r>
              <a:rPr lang="en-US"/>
              <a:t>Dr. Meenu Chaudhary     AMBA 0401 (PM)                Unit-5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6E61DB-78BE-47F5-A100-0B01246FDC46}" type="datetime1">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Meenu Chaudhary     AMBA 0401 (PM)                Unit-5</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jpeg"/><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jpeg"/><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jpeg"/><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jpeg"/><Relationship Id="rId1" Type="http://schemas.openxmlformats.org/officeDocument/2006/relationships/image" Target="../media/image1.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jpeg"/><Relationship Id="rId1" Type="http://schemas.openxmlformats.org/officeDocument/2006/relationships/image" Target="../media/image1.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jpeg"/><Relationship Id="rId1" Type="http://schemas.openxmlformats.org/officeDocument/2006/relationships/image" Target="../media/image1.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jpeg"/><Relationship Id="rId1" Type="http://schemas.openxmlformats.org/officeDocument/2006/relationships/image" Target="../media/image1.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9.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s://www.youtube.com/watch?v=mYUIMsc6Niw" TargetMode="External"/><Relationship Id="rId3" Type="http://schemas.openxmlformats.org/officeDocument/2006/relationships/hyperlink" Target="https://www.youtube.com/watch?v=rAJYAgTBXEY" TargetMode="External"/><Relationship Id="rId2" Type="http://schemas.openxmlformats.org/officeDocument/2006/relationships/hyperlink" Target="https://www.youtube.com/watch?v=QTL0NU_S2Mc" TargetMode="External"/><Relationship Id="rId1" Type="http://schemas.openxmlformats.org/officeDocument/2006/relationships/hyperlink" Target="https://www.youtube.com/watch?v=lfIX8VwZpPE" TargetMode="Externa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jpeg"/><Relationship Id="rId1" Type="http://schemas.openxmlformats.org/officeDocument/2006/relationships/image" Target="../media/image1.png"/></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jpeg"/><Relationship Id="rId1" Type="http://schemas.openxmlformats.org/officeDocument/2006/relationships/image" Target="../media/image1.png"/></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jpeg"/><Relationship Id="rId1" Type="http://schemas.openxmlformats.org/officeDocument/2006/relationships/image" Target="../media/image1.png"/></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jpeg"/><Relationship Id="rId1" Type="http://schemas.openxmlformats.org/officeDocument/2006/relationships/image" Target="../media/image1.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hyperlink" Target="http://www.technologyuk.net/computing/software-development/project-management/project-termination.shtml" TargetMode="External"/><Relationship Id="rId3" Type="http://schemas.openxmlformats.org/officeDocument/2006/relationships/hyperlink" Target="https://www.google.com/search?q=project+termination+process+in+project+management&amp;sxsrf=ALeKk00XHUBeTKGmy4P_46lOCdOVVwx4qQ:1592294685524&amp;source=lnms&amp;tbm=isch&amp;sa=X&amp;ved=2ahUKEwjtwu7474XqAhUTT30KHe6sCzsQ_AUoAXoECA0QAw&amp;biw=1366&amp;bih=625" TargetMode="External"/><Relationship Id="rId2" Type="http://schemas.openxmlformats.org/officeDocument/2006/relationships/hyperlink" Target="https://www.projectplan365.com/articles/tracking-gantt/" TargetMode="External"/><Relationship Id="rId1" Type="http://schemas.openxmlformats.org/officeDocument/2006/relationships/image" Target="../media/image1.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
            <a:ext cx="77724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err="1"/>
              <a:t>Noida</a:t>
            </a:r>
            <a:r>
              <a:rPr lang="en-US" sz="2400" dirty="0"/>
              <a:t> Institute of Engineering and Technology, Greater </a:t>
            </a:r>
            <a:r>
              <a:rPr lang="en-US" sz="2400" dirty="0" err="1"/>
              <a:t>Noida</a:t>
            </a:r>
            <a:endParaRPr lang="en-US" sz="2400" dirty="0"/>
          </a:p>
        </p:txBody>
      </p:sp>
      <p:sp>
        <p:nvSpPr>
          <p:cNvPr id="3" name="Subtitle 2"/>
          <p:cNvSpPr>
            <a:spLocks noGrp="1"/>
          </p:cNvSpPr>
          <p:nvPr>
            <p:ph type="subTitle" idx="1"/>
          </p:nvPr>
        </p:nvSpPr>
        <p:spPr>
          <a:xfrm>
            <a:off x="914400" y="914400"/>
            <a:ext cx="7848600" cy="1752600"/>
          </a:xfrm>
        </p:spPr>
        <p:style>
          <a:lnRef idx="2">
            <a:schemeClr val="accent5"/>
          </a:lnRef>
          <a:fillRef idx="1">
            <a:schemeClr val="lt1"/>
          </a:fillRef>
          <a:effectRef idx="0">
            <a:schemeClr val="accent5"/>
          </a:effectRef>
          <a:fontRef idx="minor">
            <a:schemeClr val="dk1"/>
          </a:fontRef>
        </p:style>
        <p:txBody>
          <a:bodyPr>
            <a:normAutofit/>
          </a:bodyPr>
          <a:lstStyle/>
          <a:p>
            <a:r>
              <a:rPr lang="en-US" b="1" dirty="0">
                <a:solidFill>
                  <a:schemeClr val="tx1"/>
                </a:solidFill>
                <a:cs typeface="Times New Roman" panose="02020603050405020304" pitchFamily="18" charset="0"/>
              </a:rPr>
              <a:t>Project Monitoring and Control</a:t>
            </a:r>
            <a:endParaRPr lang="en-US" b="1" dirty="0">
              <a:solidFill>
                <a:schemeClr val="tx1"/>
              </a:solidFill>
              <a:cs typeface="Times New Roman" panose="02020603050405020304" pitchFamily="18" charset="0"/>
            </a:endParaRPr>
          </a:p>
          <a:p>
            <a:r>
              <a:rPr lang="en-US" b="1" dirty="0">
                <a:solidFill>
                  <a:schemeClr val="tx1"/>
                </a:solidFill>
                <a:cs typeface="Times New Roman" panose="02020603050405020304" pitchFamily="18" charset="0"/>
              </a:rPr>
              <a:t>Earned  Value Analysis</a:t>
            </a:r>
            <a:endParaRPr lang="en-US" b="1" dirty="0">
              <a:solidFill>
                <a:schemeClr val="tx1"/>
              </a:solidFill>
              <a:cs typeface="Times New Roman" panose="02020603050405020304" pitchFamily="18" charset="0"/>
            </a:endParaRPr>
          </a:p>
          <a:p>
            <a:r>
              <a:rPr lang="en-US" b="1" dirty="0">
                <a:solidFill>
                  <a:schemeClr val="tx1"/>
                </a:solidFill>
                <a:cs typeface="Times New Roman" panose="02020603050405020304" pitchFamily="18" charset="0"/>
              </a:rPr>
              <a:t>Project Termination</a:t>
            </a:r>
            <a:endParaRPr lang="en-US" b="1" dirty="0">
              <a:solidFill>
                <a:schemeClr val="tx1"/>
              </a:solidFill>
              <a:cs typeface="Times New Roman" panose="02020603050405020304" pitchFamily="18" charset="0"/>
            </a:endParaRPr>
          </a:p>
          <a:p>
            <a:endParaRPr lang="en-US" b="1" dirty="0">
              <a:solidFill>
                <a:schemeClr val="tx1"/>
              </a:solidFill>
            </a:endParaRPr>
          </a:p>
        </p:txBody>
      </p:sp>
      <p:pic>
        <p:nvPicPr>
          <p:cNvPr id="1026"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6" name="Subtitle 2"/>
          <p:cNvSpPr txBox="1"/>
          <p:nvPr/>
        </p:nvSpPr>
        <p:spPr>
          <a:xfrm>
            <a:off x="5791200" y="4648200"/>
            <a:ext cx="3048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IN" altLang="en-US" sz="2400" dirty="0">
                <a:solidFill>
                  <a:schemeClr val="tx1"/>
                </a:solidFill>
              </a:rPr>
              <a:t>Tarun Maheshwari</a:t>
            </a:r>
            <a:endParaRPr lang="en-US" sz="2400" dirty="0">
              <a:solidFill>
                <a:schemeClr val="tx1"/>
              </a:solidFill>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400" b="0" i="0" u="none" strike="noStrike" kern="1200" cap="none" spc="0" normalizeH="0" baseline="0" noProof="0" dirty="0">
                <a:ln>
                  <a:noFill/>
                </a:ln>
                <a:solidFill>
                  <a:schemeClr val="tx1"/>
                </a:solidFill>
                <a:effectLst/>
                <a:uLnTx/>
                <a:uFillTx/>
                <a:latin typeface="+mn-lt"/>
                <a:ea typeface="+mn-ea"/>
                <a:cs typeface="+mn-cs"/>
              </a:rPr>
              <a:t>Assistant</a:t>
            </a:r>
            <a:r>
              <a:rPr kumimoji="0" lang="en-US" sz="2400" b="0" i="0" u="none" strike="noStrike" kern="1200" cap="none" spc="0" normalizeH="0" noProof="0" dirty="0">
                <a:ln>
                  <a:noFill/>
                </a:ln>
                <a:solidFill>
                  <a:schemeClr val="tx1"/>
                </a:solidFill>
                <a:effectLst/>
                <a:uLnTx/>
                <a:uFillTx/>
                <a:latin typeface="+mn-lt"/>
                <a:ea typeface="+mn-ea"/>
                <a:cs typeface="+mn-cs"/>
              </a:rPr>
              <a:t> Professor </a:t>
            </a:r>
            <a:endParaRPr kumimoji="0" lang="en-US" sz="2400" b="0" i="0" u="none" strike="noStrike" kern="1200" cap="none" spc="0" normalizeH="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400" b="0" i="0" u="none" strike="noStrike" kern="1200" cap="none" spc="0" normalizeH="0" noProof="0" dirty="0">
                <a:ln>
                  <a:noFill/>
                </a:ln>
                <a:solidFill>
                  <a:schemeClr val="tx1"/>
                </a:solidFill>
                <a:effectLst/>
                <a:uLnTx/>
                <a:uFillTx/>
                <a:latin typeface="+mn-lt"/>
                <a:ea typeface="+mn-ea"/>
                <a:cs typeface="+mn-cs"/>
              </a:rPr>
              <a:t>Department of </a:t>
            </a:r>
            <a:r>
              <a:rPr kumimoji="0" lang="en-IN" altLang="en-US" sz="2400" b="0" i="0" u="none" strike="noStrike" kern="1200" cap="none" spc="0" normalizeH="0" noProof="0" dirty="0">
                <a:ln>
                  <a:noFill/>
                </a:ln>
                <a:solidFill>
                  <a:schemeClr val="tx1"/>
                </a:solidFill>
                <a:effectLst/>
                <a:uLnTx/>
                <a:uFillTx/>
                <a:latin typeface="+mn-lt"/>
                <a:ea typeface="+mn-ea"/>
                <a:cs typeface="+mn-cs"/>
              </a:rPr>
              <a:t>PGDM</a:t>
            </a:r>
            <a:endParaRPr kumimoji="0" lang="en-IN" alt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12" name="Subtitle 2"/>
          <p:cNvSpPr txBox="1"/>
          <p:nvPr/>
        </p:nvSpPr>
        <p:spPr>
          <a:xfrm>
            <a:off x="1524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500" b="0" i="0" u="none" strike="noStrike" kern="1200" cap="none" spc="0" normalizeH="0" baseline="0" noProof="0" dirty="0">
                <a:ln>
                  <a:noFill/>
                </a:ln>
                <a:solidFill>
                  <a:schemeClr val="tx1"/>
                </a:solidFill>
                <a:effectLst/>
                <a:uLnTx/>
                <a:uFillTx/>
                <a:latin typeface="+mn-lt"/>
                <a:ea typeface="+mn-ea"/>
                <a:cs typeface="+mn-cs"/>
              </a:rPr>
              <a:t>Unit:</a:t>
            </a:r>
            <a:r>
              <a:rPr kumimoji="0" lang="en-US" sz="2500" b="0" i="0" u="none" strike="noStrike" kern="1200" cap="none" spc="0" normalizeH="0" noProof="0" dirty="0">
                <a:ln>
                  <a:noFill/>
                </a:ln>
                <a:solidFill>
                  <a:schemeClr val="tx1"/>
                </a:solidFill>
                <a:effectLst/>
                <a:uLnTx/>
                <a:uFillTx/>
                <a:latin typeface="+mn-lt"/>
                <a:ea typeface="+mn-ea"/>
                <a:cs typeface="+mn-cs"/>
              </a:rPr>
              <a:t> V</a:t>
            </a:r>
            <a:endParaRPr kumimoji="0" lang="en-US" sz="2500" b="0" i="0" u="none" strike="noStrike" kern="1200" cap="none" spc="0" normalizeH="0" baseline="0" noProof="0" dirty="0">
              <a:ln>
                <a:noFill/>
              </a:ln>
              <a:solidFill>
                <a:schemeClr val="tx1"/>
              </a:solidFill>
              <a:effectLst/>
              <a:uLnTx/>
              <a:uFillTx/>
              <a:latin typeface="+mn-lt"/>
              <a:ea typeface="+mn-ea"/>
              <a:cs typeface="+mn-cs"/>
            </a:endParaRPr>
          </a:p>
        </p:txBody>
      </p:sp>
      <p:sp>
        <p:nvSpPr>
          <p:cNvPr id="14" name="Subtitle 2"/>
          <p:cNvSpPr txBox="1"/>
          <p:nvPr/>
        </p:nvSpPr>
        <p:spPr>
          <a:xfrm>
            <a:off x="152400" y="38100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Autofit/>
          </a:bodyPr>
          <a:lstStyle/>
          <a:p>
            <a:pPr algn="ctr"/>
            <a:r>
              <a:rPr lang="en-US" sz="2800" b="1" dirty="0">
                <a:solidFill>
                  <a:schemeClr val="tx1"/>
                </a:solidFill>
              </a:rPr>
              <a:t>Project Management</a:t>
            </a:r>
            <a:endParaRPr lang="en-US" sz="2800" b="1" dirty="0">
              <a:solidFill>
                <a:schemeClr val="tx1"/>
              </a:solidFill>
            </a:endParaRPr>
          </a:p>
        </p:txBody>
      </p:sp>
      <p:sp>
        <p:nvSpPr>
          <p:cNvPr id="15" name="Subtitle 2"/>
          <p:cNvSpPr txBox="1"/>
          <p:nvPr/>
        </p:nvSpPr>
        <p:spPr>
          <a:xfrm>
            <a:off x="152400" y="48768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IN" altLang="en-US" sz="2000" dirty="0">
                <a:solidFill>
                  <a:schemeClr val="tx1"/>
                </a:solidFill>
              </a:rPr>
              <a:t>B.Tech</a:t>
            </a:r>
            <a:r>
              <a:rPr lang="en-US" sz="2000" dirty="0">
                <a:solidFill>
                  <a:schemeClr val="tx1"/>
                </a:solidFill>
              </a:rPr>
              <a:t> </a:t>
            </a:r>
            <a:r>
              <a:rPr lang="en-IN" altLang="en-US" sz="2000" dirty="0">
                <a:solidFill>
                  <a:schemeClr val="tx1"/>
                </a:solidFill>
              </a:rPr>
              <a:t>VII</a:t>
            </a:r>
            <a:r>
              <a:rPr lang="en-US" sz="2000" dirty="0">
                <a:solidFill>
                  <a:schemeClr val="tx1"/>
                </a:solidFill>
              </a:rPr>
              <a:t> Semester</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dk1"/>
                </a:solidFill>
                <a:effectLst/>
                <a:uLnTx/>
                <a:uFillTx/>
                <a:latin typeface="+mn-lt"/>
                <a:ea typeface="+mn-ea"/>
                <a:cs typeface="+mn-cs"/>
              </a:rPr>
              <a:t>Index</a:t>
            </a:r>
            <a:endParaRPr kumimoji="0" lang="en-US" sz="3200" b="1" i="0" u="none" strike="noStrike" kern="1200" cap="none" spc="0" normalizeH="0" baseline="0" noProof="0" dirty="0">
              <a:ln>
                <a:noFill/>
              </a:ln>
              <a:solidFill>
                <a:schemeClr val="dk1"/>
              </a:solidFill>
              <a:effectLst/>
              <a:uLnTx/>
              <a:uFillTx/>
              <a:latin typeface="+mn-lt"/>
              <a:ea typeface="+mn-ea"/>
              <a:cs typeface="+mn-cs"/>
            </a:endParaRPr>
          </a:p>
        </p:txBody>
      </p:sp>
      <p:pic>
        <p:nvPicPr>
          <p:cNvPr id="9"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10" name="Footer Placeholder 9"/>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graphicFrame>
        <p:nvGraphicFramePr>
          <p:cNvPr id="11" name="Table 10"/>
          <p:cNvGraphicFramePr>
            <a:graphicFrameLocks noGrp="1"/>
          </p:cNvGraphicFramePr>
          <p:nvPr/>
        </p:nvGraphicFramePr>
        <p:xfrm>
          <a:off x="228600" y="838201"/>
          <a:ext cx="8763000" cy="5612130"/>
        </p:xfrm>
        <a:graphic>
          <a:graphicData uri="http://schemas.openxmlformats.org/drawingml/2006/table">
            <a:tbl>
              <a:tblPr firstRow="1" bandRow="1">
                <a:tableStyleId>{5C22544A-7EE6-4342-B048-85BDC9FD1C3A}</a:tableStyleId>
              </a:tblPr>
              <a:tblGrid>
                <a:gridCol w="1622778"/>
                <a:gridCol w="7140222"/>
              </a:tblGrid>
              <a:tr h="394581">
                <a:tc>
                  <a:txBody>
                    <a:bodyPr/>
                    <a:lstStyle/>
                    <a:p>
                      <a:r>
                        <a:rPr lang="en-US" sz="2200" dirty="0"/>
                        <a:t>S. No.</a:t>
                      </a:r>
                      <a:endParaRPr lang="en-US" sz="2200" dirty="0"/>
                    </a:p>
                  </a:txBody>
                  <a:tcPr/>
                </a:tc>
                <a:tc>
                  <a:txBody>
                    <a:bodyPr/>
                    <a:lstStyle/>
                    <a:p>
                      <a:pPr algn="l"/>
                      <a:r>
                        <a:rPr lang="en-US" sz="2200" dirty="0"/>
                        <a:t>Content</a:t>
                      </a:r>
                      <a:r>
                        <a:rPr lang="en-US" sz="2200" baseline="0" dirty="0"/>
                        <a:t> </a:t>
                      </a:r>
                      <a:endParaRPr lang="en-US" sz="2200" dirty="0"/>
                    </a:p>
                  </a:txBody>
                  <a:tcPr/>
                </a:tc>
              </a:tr>
              <a:tr h="769785">
                <a:tc>
                  <a:txBody>
                    <a:bodyPr/>
                    <a:lstStyle/>
                    <a:p>
                      <a:r>
                        <a:rPr lang="en-US" sz="2700" b="0" dirty="0">
                          <a:latin typeface="Times New Roman" panose="02020603050405020304" pitchFamily="18" charset="0"/>
                          <a:cs typeface="Times New Roman" panose="02020603050405020304" pitchFamily="18" charset="0"/>
                        </a:rPr>
                        <a:t>1.</a:t>
                      </a:r>
                      <a:endParaRPr lang="en-US" sz="2700" b="0" dirty="0">
                        <a:latin typeface="Times New Roman" panose="02020603050405020304" pitchFamily="18" charset="0"/>
                        <a:cs typeface="Times New Roman" panose="02020603050405020304" pitchFamily="18" charset="0"/>
                      </a:endParaRPr>
                    </a:p>
                  </a:txBody>
                  <a:tcPr/>
                </a:tc>
                <a:tc>
                  <a:txBody>
                    <a:bodyPr/>
                    <a:lstStyle/>
                    <a:p>
                      <a:pPr algn="l" fontAlgn="ctr"/>
                      <a:r>
                        <a:rPr lang="en-US" sz="2700" b="0" i="0" u="none" strike="noStrike" dirty="0">
                          <a:solidFill>
                            <a:srgbClr val="000000"/>
                          </a:solidFill>
                          <a:latin typeface="Times New Roman" panose="02020603050405020304" pitchFamily="18" charset="0"/>
                          <a:cs typeface="Times New Roman" panose="02020603050405020304" pitchFamily="18" charset="0"/>
                        </a:rPr>
                        <a:t>Name of Subject with code, Course and Subject Teacher</a:t>
                      </a:r>
                      <a:endParaRPr lang="en-US" sz="2700" b="0" i="0" u="none" strike="noStrike" dirty="0">
                        <a:solidFill>
                          <a:srgbClr val="000000"/>
                        </a:solidFill>
                        <a:latin typeface="Times New Roman" panose="02020603050405020304" pitchFamily="18" charset="0"/>
                        <a:cs typeface="Times New Roman" panose="02020603050405020304" pitchFamily="18" charset="0"/>
                      </a:endParaRPr>
                    </a:p>
                  </a:txBody>
                  <a:tcPr marL="9525" marR="9525" marT="9525" marB="0" anchor="ctr"/>
                </a:tc>
              </a:tr>
              <a:tr h="769785">
                <a:tc>
                  <a:txBody>
                    <a:bodyPr/>
                    <a:lstStyle/>
                    <a:p>
                      <a:r>
                        <a:rPr lang="en-US" sz="2700" b="0" dirty="0">
                          <a:latin typeface="Times New Roman" panose="02020603050405020304" pitchFamily="18" charset="0"/>
                          <a:cs typeface="Times New Roman" panose="02020603050405020304" pitchFamily="18" charset="0"/>
                        </a:rPr>
                        <a:t>2.</a:t>
                      </a:r>
                      <a:endParaRPr lang="en-US" sz="2700" b="0" dirty="0">
                        <a:latin typeface="Times New Roman" panose="02020603050405020304" pitchFamily="18" charset="0"/>
                        <a:cs typeface="Times New Roman" panose="02020603050405020304" pitchFamily="18" charset="0"/>
                      </a:endParaRPr>
                    </a:p>
                  </a:txBody>
                  <a:tcPr/>
                </a:tc>
                <a:tc>
                  <a:txBody>
                    <a:bodyPr/>
                    <a:lstStyle/>
                    <a:p>
                      <a:pPr algn="l" fontAlgn="ctr"/>
                      <a:r>
                        <a:rPr lang="en-US" sz="2700" b="0" i="0" u="none" strike="noStrike" dirty="0">
                          <a:solidFill>
                            <a:srgbClr val="000000"/>
                          </a:solidFill>
                          <a:latin typeface="Times New Roman" panose="02020603050405020304" pitchFamily="18" charset="0"/>
                          <a:cs typeface="Times New Roman" panose="02020603050405020304" pitchFamily="18" charset="0"/>
                        </a:rPr>
                        <a:t>Brief Introduction of Faculty member with Photograph</a:t>
                      </a:r>
                      <a:endParaRPr lang="en-US" sz="2700" b="0" i="0" u="none" strike="noStrike" dirty="0">
                        <a:solidFill>
                          <a:srgbClr val="000000"/>
                        </a:solidFill>
                        <a:latin typeface="Times New Roman" panose="02020603050405020304" pitchFamily="18" charset="0"/>
                        <a:cs typeface="Times New Roman" panose="02020603050405020304" pitchFamily="18" charset="0"/>
                      </a:endParaRPr>
                    </a:p>
                  </a:txBody>
                  <a:tcPr marL="9525" marR="9525" marT="9525" marB="0" anchor="ctr"/>
                </a:tc>
              </a:tr>
              <a:tr h="465042">
                <a:tc>
                  <a:txBody>
                    <a:bodyPr/>
                    <a:lstStyle/>
                    <a:p>
                      <a:r>
                        <a:rPr lang="en-US" sz="2700" b="0" dirty="0">
                          <a:latin typeface="Times New Roman" panose="02020603050405020304" pitchFamily="18" charset="0"/>
                          <a:cs typeface="Times New Roman" panose="02020603050405020304" pitchFamily="18" charset="0"/>
                        </a:rPr>
                        <a:t>3.</a:t>
                      </a:r>
                      <a:endParaRPr lang="en-US" sz="2700" b="0" dirty="0">
                        <a:latin typeface="Times New Roman" panose="02020603050405020304" pitchFamily="18" charset="0"/>
                        <a:cs typeface="Times New Roman" panose="02020603050405020304" pitchFamily="18" charset="0"/>
                      </a:endParaRPr>
                    </a:p>
                  </a:txBody>
                  <a:tcPr/>
                </a:tc>
                <a:tc>
                  <a:txBody>
                    <a:bodyPr/>
                    <a:lstStyle/>
                    <a:p>
                      <a:pPr algn="l" fontAlgn="ctr"/>
                      <a:r>
                        <a:rPr lang="en-US" sz="2700" b="0" i="0" u="none" strike="noStrike" dirty="0">
                          <a:solidFill>
                            <a:srgbClr val="000000"/>
                          </a:solidFill>
                          <a:latin typeface="Times New Roman" panose="02020603050405020304" pitchFamily="18" charset="0"/>
                          <a:cs typeface="Times New Roman" panose="02020603050405020304" pitchFamily="18" charset="0"/>
                        </a:rPr>
                        <a:t>Evaluation Scheme</a:t>
                      </a:r>
                      <a:endParaRPr lang="en-US" sz="2700" b="0" i="0" u="none" strike="noStrike" dirty="0">
                        <a:solidFill>
                          <a:srgbClr val="000000"/>
                        </a:solidFill>
                        <a:latin typeface="Times New Roman" panose="02020603050405020304" pitchFamily="18" charset="0"/>
                        <a:cs typeface="Times New Roman" panose="02020603050405020304" pitchFamily="18" charset="0"/>
                      </a:endParaRPr>
                    </a:p>
                  </a:txBody>
                  <a:tcPr marL="9525" marR="9525" marT="9525" marB="0" anchor="ctr"/>
                </a:tc>
              </a:tr>
              <a:tr h="465042">
                <a:tc>
                  <a:txBody>
                    <a:bodyPr/>
                    <a:lstStyle/>
                    <a:p>
                      <a:r>
                        <a:rPr lang="en-US" sz="2700" b="0" dirty="0">
                          <a:latin typeface="Times New Roman" panose="02020603050405020304" pitchFamily="18" charset="0"/>
                          <a:cs typeface="Times New Roman" panose="02020603050405020304" pitchFamily="18" charset="0"/>
                        </a:rPr>
                        <a:t>4.</a:t>
                      </a:r>
                      <a:endParaRPr lang="en-US" sz="2700" b="0" dirty="0">
                        <a:latin typeface="Times New Roman" panose="02020603050405020304" pitchFamily="18" charset="0"/>
                        <a:cs typeface="Times New Roman" panose="02020603050405020304" pitchFamily="18" charset="0"/>
                      </a:endParaRPr>
                    </a:p>
                  </a:txBody>
                  <a:tcPr/>
                </a:tc>
                <a:tc>
                  <a:txBody>
                    <a:bodyPr/>
                    <a:lstStyle/>
                    <a:p>
                      <a:r>
                        <a:rPr lang="en-US" sz="2700" b="0" dirty="0">
                          <a:latin typeface="Times New Roman" panose="02020603050405020304" pitchFamily="18" charset="0"/>
                          <a:cs typeface="Times New Roman" panose="02020603050405020304" pitchFamily="18" charset="0"/>
                        </a:rPr>
                        <a:t>Syllabus</a:t>
                      </a:r>
                      <a:endParaRPr lang="en-US" sz="2700" b="0" dirty="0">
                        <a:latin typeface="Times New Roman" panose="02020603050405020304" pitchFamily="18" charset="0"/>
                        <a:cs typeface="Times New Roman" panose="02020603050405020304" pitchFamily="18" charset="0"/>
                      </a:endParaRPr>
                    </a:p>
                  </a:txBody>
                  <a:tcPr/>
                </a:tc>
              </a:tr>
              <a:tr h="465042">
                <a:tc>
                  <a:txBody>
                    <a:bodyPr/>
                    <a:lstStyle/>
                    <a:p>
                      <a:r>
                        <a:rPr lang="en-US" sz="2700" b="0" dirty="0">
                          <a:latin typeface="Times New Roman" panose="02020603050405020304" pitchFamily="18" charset="0"/>
                          <a:cs typeface="Times New Roman" panose="02020603050405020304" pitchFamily="18" charset="0"/>
                        </a:rPr>
                        <a:t>5.</a:t>
                      </a:r>
                      <a:endParaRPr lang="en-US" sz="2700" b="0" dirty="0">
                        <a:latin typeface="Times New Roman" panose="02020603050405020304" pitchFamily="18" charset="0"/>
                        <a:cs typeface="Times New Roman" panose="02020603050405020304" pitchFamily="18" charset="0"/>
                      </a:endParaRPr>
                    </a:p>
                  </a:txBody>
                  <a:tcPr/>
                </a:tc>
                <a:tc>
                  <a:txBody>
                    <a:bodyPr/>
                    <a:lstStyle/>
                    <a:p>
                      <a:r>
                        <a:rPr lang="en-US" sz="2700" dirty="0">
                          <a:latin typeface="Times New Roman" panose="02020603050405020304" pitchFamily="18" charset="0"/>
                          <a:cs typeface="Times New Roman" panose="02020603050405020304" pitchFamily="18" charset="0"/>
                        </a:rPr>
                        <a:t>Branch wise Application</a:t>
                      </a:r>
                      <a:endParaRPr lang="en-US" sz="2700" dirty="0">
                        <a:latin typeface="Times New Roman" panose="02020603050405020304" pitchFamily="18" charset="0"/>
                        <a:cs typeface="Times New Roman" panose="02020603050405020304" pitchFamily="18" charset="0"/>
                      </a:endParaRPr>
                    </a:p>
                  </a:txBody>
                  <a:tcPr/>
                </a:tc>
              </a:tr>
              <a:tr h="465042">
                <a:tc>
                  <a:txBody>
                    <a:bodyPr/>
                    <a:lstStyle/>
                    <a:p>
                      <a:r>
                        <a:rPr lang="en-US" sz="2700" b="0" dirty="0">
                          <a:latin typeface="Times New Roman" panose="02020603050405020304" pitchFamily="18" charset="0"/>
                          <a:cs typeface="Times New Roman" panose="02020603050405020304" pitchFamily="18" charset="0"/>
                        </a:rPr>
                        <a:t>6.</a:t>
                      </a:r>
                      <a:endParaRPr lang="en-US" sz="2700" b="0" dirty="0">
                        <a:latin typeface="Times New Roman" panose="02020603050405020304" pitchFamily="18" charset="0"/>
                        <a:cs typeface="Times New Roman" panose="02020603050405020304" pitchFamily="18" charset="0"/>
                      </a:endParaRPr>
                    </a:p>
                  </a:txBody>
                  <a:tcPr/>
                </a:tc>
                <a:tc>
                  <a:txBody>
                    <a:bodyPr/>
                    <a:lstStyle/>
                    <a:p>
                      <a:r>
                        <a:rPr lang="en-US" sz="2700" b="0" dirty="0">
                          <a:latin typeface="Times New Roman" panose="02020603050405020304" pitchFamily="18" charset="0"/>
                          <a:cs typeface="Times New Roman" panose="02020603050405020304" pitchFamily="18" charset="0"/>
                        </a:rPr>
                        <a:t>Course Objective(s)</a:t>
                      </a:r>
                      <a:endParaRPr lang="en-US" sz="2700" b="0" dirty="0">
                        <a:latin typeface="Times New Roman" panose="02020603050405020304" pitchFamily="18" charset="0"/>
                        <a:cs typeface="Times New Roman" panose="02020603050405020304" pitchFamily="18" charset="0"/>
                      </a:endParaRPr>
                    </a:p>
                  </a:txBody>
                  <a:tcPr/>
                </a:tc>
              </a:tr>
              <a:tr h="465042">
                <a:tc>
                  <a:txBody>
                    <a:bodyPr/>
                    <a:lstStyle/>
                    <a:p>
                      <a:r>
                        <a:rPr lang="en-US" sz="2700" b="0" dirty="0">
                          <a:latin typeface="Times New Roman" panose="02020603050405020304" pitchFamily="18" charset="0"/>
                          <a:cs typeface="Times New Roman" panose="02020603050405020304" pitchFamily="18" charset="0"/>
                        </a:rPr>
                        <a:t>7.</a:t>
                      </a:r>
                      <a:endParaRPr lang="en-US" sz="2700" b="0" dirty="0">
                        <a:latin typeface="Times New Roman" panose="02020603050405020304" pitchFamily="18" charset="0"/>
                        <a:cs typeface="Times New Roman" panose="02020603050405020304" pitchFamily="18" charset="0"/>
                      </a:endParaRPr>
                    </a:p>
                  </a:txBody>
                  <a:tcPr/>
                </a:tc>
                <a:tc>
                  <a:txBody>
                    <a:bodyPr/>
                    <a:lstStyle/>
                    <a:p>
                      <a:r>
                        <a:rPr lang="en-US" sz="2700" b="0" dirty="0">
                          <a:latin typeface="Times New Roman" panose="02020603050405020304" pitchFamily="18" charset="0"/>
                          <a:cs typeface="Times New Roman" panose="02020603050405020304" pitchFamily="18" charset="0"/>
                        </a:rPr>
                        <a:t>Course Outcome(s)</a:t>
                      </a:r>
                      <a:endParaRPr lang="en-US" sz="2700" b="0" dirty="0">
                        <a:latin typeface="Times New Roman" panose="02020603050405020304" pitchFamily="18" charset="0"/>
                        <a:cs typeface="Times New Roman" panose="02020603050405020304" pitchFamily="18" charset="0"/>
                      </a:endParaRPr>
                    </a:p>
                  </a:txBody>
                  <a:tcPr/>
                </a:tc>
              </a:tr>
              <a:tr h="465042">
                <a:tc>
                  <a:txBody>
                    <a:bodyPr/>
                    <a:lstStyle/>
                    <a:p>
                      <a:r>
                        <a:rPr lang="en-US" sz="2700" b="0" dirty="0">
                          <a:latin typeface="Times New Roman" panose="02020603050405020304" pitchFamily="18" charset="0"/>
                          <a:cs typeface="Times New Roman" panose="02020603050405020304" pitchFamily="18" charset="0"/>
                        </a:rPr>
                        <a:t>8.</a:t>
                      </a:r>
                      <a:endParaRPr lang="en-US" sz="2700" b="0" dirty="0">
                        <a:latin typeface="Times New Roman" panose="02020603050405020304" pitchFamily="18" charset="0"/>
                        <a:cs typeface="Times New Roman" panose="02020603050405020304" pitchFamily="18" charset="0"/>
                      </a:endParaRPr>
                    </a:p>
                  </a:txBody>
                  <a:tcPr/>
                </a:tc>
                <a:tc>
                  <a:txBody>
                    <a:bodyPr/>
                    <a:lstStyle/>
                    <a:p>
                      <a:r>
                        <a:rPr lang="en-US" sz="2700" b="0" dirty="0">
                          <a:latin typeface="Times New Roman" panose="02020603050405020304" pitchFamily="18" charset="0"/>
                          <a:cs typeface="Times New Roman" panose="02020603050405020304" pitchFamily="18" charset="0"/>
                        </a:rPr>
                        <a:t>Program Outcomes (PSOs)</a:t>
                      </a:r>
                      <a:endParaRPr lang="en-US" sz="2700" b="0" dirty="0">
                        <a:latin typeface="Times New Roman" panose="02020603050405020304" pitchFamily="18" charset="0"/>
                        <a:cs typeface="Times New Roman" panose="02020603050405020304" pitchFamily="18" charset="0"/>
                      </a:endParaRPr>
                    </a:p>
                  </a:txBody>
                  <a:tcPr/>
                </a:tc>
              </a:tr>
              <a:tr h="465042">
                <a:tc>
                  <a:txBody>
                    <a:bodyPr/>
                    <a:lstStyle/>
                    <a:p>
                      <a:r>
                        <a:rPr lang="en-US" sz="2700" b="0" dirty="0">
                          <a:latin typeface="Times New Roman" panose="02020603050405020304" pitchFamily="18" charset="0"/>
                          <a:cs typeface="Times New Roman" panose="02020603050405020304" pitchFamily="18" charset="0"/>
                        </a:rPr>
                        <a:t>9.</a:t>
                      </a:r>
                      <a:endParaRPr lang="en-US" sz="2700" b="0" dirty="0">
                        <a:latin typeface="Times New Roman" panose="02020603050405020304" pitchFamily="18" charset="0"/>
                        <a:cs typeface="Times New Roman" panose="02020603050405020304" pitchFamily="18" charset="0"/>
                      </a:endParaRPr>
                    </a:p>
                  </a:txBody>
                  <a:tcPr/>
                </a:tc>
                <a:tc>
                  <a:txBody>
                    <a:bodyPr/>
                    <a:lstStyle/>
                    <a:p>
                      <a:r>
                        <a:rPr lang="en-US" sz="2700" dirty="0">
                          <a:latin typeface="Times New Roman" panose="02020603050405020304" pitchFamily="18" charset="0"/>
                          <a:cs typeface="Times New Roman" panose="02020603050405020304" pitchFamily="18" charset="0"/>
                        </a:rPr>
                        <a:t>Cos and POs Mapping</a:t>
                      </a:r>
                      <a:endParaRPr lang="en-US" sz="2700"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dk1"/>
                </a:solidFill>
                <a:effectLst/>
                <a:uLnTx/>
                <a:uFillTx/>
                <a:latin typeface="+mn-lt"/>
                <a:ea typeface="+mn-ea"/>
                <a:cs typeface="+mn-cs"/>
              </a:rPr>
              <a:t>Index</a:t>
            </a:r>
            <a:endParaRPr kumimoji="0" lang="en-US" sz="3200" b="1" i="0" u="none" strike="noStrike" kern="1200" cap="none" spc="0" normalizeH="0" baseline="0" noProof="0" dirty="0">
              <a:ln>
                <a:noFill/>
              </a:ln>
              <a:solidFill>
                <a:schemeClr val="dk1"/>
              </a:solidFill>
              <a:effectLst/>
              <a:uLnTx/>
              <a:uFillTx/>
              <a:latin typeface="+mn-lt"/>
              <a:ea typeface="+mn-ea"/>
              <a:cs typeface="+mn-cs"/>
            </a:endParaRPr>
          </a:p>
        </p:txBody>
      </p:sp>
      <p:pic>
        <p:nvPicPr>
          <p:cNvPr id="9"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10" name="Footer Placeholder 9"/>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graphicFrame>
        <p:nvGraphicFramePr>
          <p:cNvPr id="11" name="Content Placeholder 8"/>
          <p:cNvGraphicFramePr>
            <a:graphicFrameLocks noGrp="1"/>
          </p:cNvGraphicFramePr>
          <p:nvPr>
            <p:ph idx="1"/>
          </p:nvPr>
        </p:nvGraphicFramePr>
        <p:xfrm>
          <a:off x="228600" y="782955"/>
          <a:ext cx="8686800" cy="5455920"/>
        </p:xfrm>
        <a:graphic>
          <a:graphicData uri="http://schemas.openxmlformats.org/drawingml/2006/table">
            <a:tbl>
              <a:tblPr firstRow="1" bandRow="1">
                <a:tableStyleId>{5C22544A-7EE6-4342-B048-85BDC9FD1C3A}</a:tableStyleId>
              </a:tblPr>
              <a:tblGrid>
                <a:gridCol w="1608666"/>
                <a:gridCol w="7078134"/>
              </a:tblGrid>
              <a:tr h="367867">
                <a:tc>
                  <a:txBody>
                    <a:bodyPr/>
                    <a:lstStyle/>
                    <a:p>
                      <a:r>
                        <a:rPr lang="en-US" sz="2200" dirty="0"/>
                        <a:t>S. No.</a:t>
                      </a:r>
                      <a:endParaRPr lang="en-US" sz="2200" dirty="0"/>
                    </a:p>
                  </a:txBody>
                  <a:tcPr/>
                </a:tc>
                <a:tc>
                  <a:txBody>
                    <a:bodyPr/>
                    <a:lstStyle/>
                    <a:p>
                      <a:pPr algn="l"/>
                      <a:r>
                        <a:rPr lang="en-US" sz="2200" dirty="0"/>
                        <a:t>Content</a:t>
                      </a:r>
                      <a:endParaRPr lang="en-US" sz="2200" dirty="0"/>
                    </a:p>
                  </a:txBody>
                  <a:tcPr/>
                </a:tc>
              </a:tr>
              <a:tr h="433558">
                <a:tc>
                  <a:txBody>
                    <a:bodyPr/>
                    <a:lstStyle/>
                    <a:p>
                      <a:r>
                        <a:rPr lang="en-US" sz="2700" b="0" dirty="0">
                          <a:latin typeface="Times New Roman" panose="02020603050405020304" pitchFamily="18" charset="0"/>
                          <a:cs typeface="Times New Roman" panose="02020603050405020304" pitchFamily="18" charset="0"/>
                        </a:rPr>
                        <a:t>10.</a:t>
                      </a:r>
                      <a:endParaRPr lang="en-US" sz="2700" b="0" dirty="0">
                        <a:latin typeface="Times New Roman" panose="02020603050405020304" pitchFamily="18" charset="0"/>
                        <a:cs typeface="Times New Roman" panose="02020603050405020304" pitchFamily="18" charset="0"/>
                      </a:endParaRPr>
                    </a:p>
                  </a:txBody>
                  <a:tcPr/>
                </a:tc>
                <a:tc>
                  <a:txBody>
                    <a:bodyPr/>
                    <a:lstStyle/>
                    <a:p>
                      <a:r>
                        <a:rPr lang="en-US" sz="2700" b="0" dirty="0">
                          <a:latin typeface="Times New Roman" panose="02020603050405020304" pitchFamily="18" charset="0"/>
                          <a:cs typeface="Times New Roman" panose="02020603050405020304" pitchFamily="18" charset="0"/>
                        </a:rPr>
                        <a:t>Program Specific  Outcomes (PSOs)</a:t>
                      </a:r>
                      <a:endParaRPr lang="en-US" sz="2700" b="0" dirty="0">
                        <a:latin typeface="Times New Roman" panose="02020603050405020304" pitchFamily="18" charset="0"/>
                        <a:cs typeface="Times New Roman" panose="02020603050405020304" pitchFamily="18" charset="0"/>
                      </a:endParaRPr>
                    </a:p>
                  </a:txBody>
                  <a:tcPr/>
                </a:tc>
              </a:tr>
              <a:tr h="433558">
                <a:tc>
                  <a:txBody>
                    <a:bodyPr/>
                    <a:lstStyle/>
                    <a:p>
                      <a:r>
                        <a:rPr lang="en-US" sz="2700" b="0" dirty="0">
                          <a:latin typeface="Times New Roman" panose="02020603050405020304" pitchFamily="18" charset="0"/>
                          <a:cs typeface="Times New Roman" panose="02020603050405020304" pitchFamily="18" charset="0"/>
                        </a:rPr>
                        <a:t>11.</a:t>
                      </a:r>
                      <a:endParaRPr lang="en-US" sz="27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7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Cos and PSOs Mapping</a:t>
                      </a:r>
                      <a:endParaRPr kumimoji="0" lang="en-US" sz="27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a:txBody>
                  <a:tcPr/>
                </a:tc>
              </a:tr>
              <a:tr h="433558">
                <a:tc>
                  <a:txBody>
                    <a:bodyPr/>
                    <a:lstStyle/>
                    <a:p>
                      <a:r>
                        <a:rPr lang="en-US" sz="2700" b="0" dirty="0">
                          <a:latin typeface="Times New Roman" panose="02020603050405020304" pitchFamily="18" charset="0"/>
                          <a:cs typeface="Times New Roman" panose="02020603050405020304" pitchFamily="18" charset="0"/>
                        </a:rPr>
                        <a:t>12.</a:t>
                      </a:r>
                      <a:endParaRPr lang="en-US" sz="2700" b="0"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700" b="0" dirty="0">
                          <a:latin typeface="Times New Roman" panose="02020603050405020304" pitchFamily="18" charset="0"/>
                          <a:cs typeface="Times New Roman" panose="02020603050405020304" pitchFamily="18" charset="0"/>
                        </a:rPr>
                        <a:t>Program Educational Objectives (PEOs)</a:t>
                      </a:r>
                      <a:endParaRPr lang="en-US" sz="2700" b="0" dirty="0">
                        <a:latin typeface="Times New Roman" panose="02020603050405020304" pitchFamily="18" charset="0"/>
                        <a:cs typeface="Times New Roman" panose="02020603050405020304" pitchFamily="18" charset="0"/>
                      </a:endParaRPr>
                    </a:p>
                  </a:txBody>
                  <a:tcPr/>
                </a:tc>
              </a:tr>
              <a:tr h="433558">
                <a:tc>
                  <a:txBody>
                    <a:bodyPr/>
                    <a:lstStyle/>
                    <a:p>
                      <a:r>
                        <a:rPr lang="en-US" sz="2700" b="0" dirty="0">
                          <a:latin typeface="Times New Roman" panose="02020603050405020304" pitchFamily="18" charset="0"/>
                          <a:cs typeface="Times New Roman" panose="02020603050405020304" pitchFamily="18" charset="0"/>
                        </a:rPr>
                        <a:t>13.</a:t>
                      </a:r>
                      <a:endParaRPr lang="en-US" sz="2700" b="0" dirty="0">
                        <a:latin typeface="Times New Roman" panose="02020603050405020304" pitchFamily="18" charset="0"/>
                        <a:cs typeface="Times New Roman" panose="02020603050405020304" pitchFamily="18" charset="0"/>
                      </a:endParaRPr>
                    </a:p>
                  </a:txBody>
                  <a:tcPr/>
                </a:tc>
                <a:tc>
                  <a:txBody>
                    <a:bodyPr/>
                    <a:lstStyle/>
                    <a:p>
                      <a:r>
                        <a:rPr lang="en-US" sz="2700" b="0" dirty="0">
                          <a:latin typeface="Times New Roman" panose="02020603050405020304" pitchFamily="18" charset="0"/>
                          <a:cs typeface="Times New Roman" panose="02020603050405020304" pitchFamily="18" charset="0"/>
                        </a:rPr>
                        <a:t>Result Analysis</a:t>
                      </a:r>
                      <a:endParaRPr lang="en-US" sz="2700" b="0" dirty="0">
                        <a:latin typeface="Times New Roman" panose="02020603050405020304" pitchFamily="18" charset="0"/>
                        <a:cs typeface="Times New Roman" panose="02020603050405020304" pitchFamily="18" charset="0"/>
                      </a:endParaRPr>
                    </a:p>
                  </a:txBody>
                  <a:tcPr/>
                </a:tc>
              </a:tr>
              <a:tr h="433558">
                <a:tc>
                  <a:txBody>
                    <a:bodyPr/>
                    <a:lstStyle/>
                    <a:p>
                      <a:r>
                        <a:rPr lang="en-US" sz="2700" b="0" dirty="0">
                          <a:latin typeface="Times New Roman" panose="02020603050405020304" pitchFamily="18" charset="0"/>
                          <a:cs typeface="Times New Roman" panose="02020603050405020304" pitchFamily="18" charset="0"/>
                        </a:rPr>
                        <a:t>14.</a:t>
                      </a:r>
                      <a:endParaRPr lang="en-US" sz="2700" b="0" dirty="0">
                        <a:latin typeface="Times New Roman" panose="02020603050405020304" pitchFamily="18" charset="0"/>
                        <a:cs typeface="Times New Roman" panose="02020603050405020304" pitchFamily="18" charset="0"/>
                      </a:endParaRPr>
                    </a:p>
                  </a:txBody>
                  <a:tcPr/>
                </a:tc>
                <a:tc>
                  <a:txBody>
                    <a:bodyPr/>
                    <a:lstStyle/>
                    <a:p>
                      <a:r>
                        <a:rPr lang="en-US" sz="2700" b="0" dirty="0">
                          <a:latin typeface="Times New Roman" panose="02020603050405020304" pitchFamily="18" charset="0"/>
                          <a:cs typeface="Times New Roman" panose="02020603050405020304" pitchFamily="18" charset="0"/>
                        </a:rPr>
                        <a:t>End Semester Question paper Templates</a:t>
                      </a:r>
                      <a:endParaRPr lang="en-US" sz="2700" b="0" dirty="0">
                        <a:latin typeface="Times New Roman" panose="02020603050405020304" pitchFamily="18" charset="0"/>
                        <a:cs typeface="Times New Roman" panose="02020603050405020304" pitchFamily="18" charset="0"/>
                      </a:endParaRPr>
                    </a:p>
                  </a:txBody>
                  <a:tcPr/>
                </a:tc>
              </a:tr>
              <a:tr h="433558">
                <a:tc>
                  <a:txBody>
                    <a:bodyPr/>
                    <a:lstStyle/>
                    <a:p>
                      <a:r>
                        <a:rPr lang="en-US" sz="2700" b="0" dirty="0">
                          <a:latin typeface="Times New Roman" panose="02020603050405020304" pitchFamily="18" charset="0"/>
                          <a:cs typeface="Times New Roman" panose="02020603050405020304" pitchFamily="18" charset="0"/>
                        </a:rPr>
                        <a:t>15.</a:t>
                      </a:r>
                      <a:endParaRPr lang="en-US" sz="2700" b="0"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700" b="0" dirty="0">
                          <a:latin typeface="Times New Roman" panose="02020603050405020304" pitchFamily="18" charset="0"/>
                          <a:cs typeface="Times New Roman" panose="02020603050405020304" pitchFamily="18" charset="0"/>
                        </a:rPr>
                        <a:t>Prequisite/Recap</a:t>
                      </a:r>
                      <a:endParaRPr lang="en-US" sz="2700" b="0" dirty="0">
                        <a:latin typeface="Times New Roman" panose="02020603050405020304" pitchFamily="18" charset="0"/>
                        <a:cs typeface="Times New Roman" panose="02020603050405020304" pitchFamily="18" charset="0"/>
                      </a:endParaRPr>
                    </a:p>
                  </a:txBody>
                  <a:tcPr/>
                </a:tc>
              </a:tr>
              <a:tr h="433558">
                <a:tc>
                  <a:txBody>
                    <a:bodyPr/>
                    <a:lstStyle/>
                    <a:p>
                      <a:r>
                        <a:rPr lang="en-US" sz="2700" b="0" dirty="0">
                          <a:latin typeface="Times New Roman" panose="02020603050405020304" pitchFamily="18" charset="0"/>
                          <a:cs typeface="Times New Roman" panose="02020603050405020304" pitchFamily="18" charset="0"/>
                        </a:rPr>
                        <a:t>16.</a:t>
                      </a:r>
                      <a:endParaRPr lang="en-US" sz="2700" b="0" dirty="0">
                        <a:latin typeface="Times New Roman" panose="02020603050405020304" pitchFamily="18" charset="0"/>
                        <a:cs typeface="Times New Roman" panose="02020603050405020304" pitchFamily="18" charset="0"/>
                      </a:endParaRPr>
                    </a:p>
                  </a:txBody>
                  <a:tcPr/>
                </a:tc>
                <a:tc>
                  <a:txBody>
                    <a:bodyPr/>
                    <a:lstStyle/>
                    <a:p>
                      <a:r>
                        <a:rPr lang="en-US" sz="2700" b="0" dirty="0">
                          <a:latin typeface="Times New Roman" panose="02020603050405020304" pitchFamily="18" charset="0"/>
                          <a:cs typeface="Times New Roman" panose="02020603050405020304" pitchFamily="18" charset="0"/>
                        </a:rPr>
                        <a:t>Brief Indtroduction about the Subject with Videos</a:t>
                      </a:r>
                      <a:endParaRPr lang="en-US" sz="2700" b="0" dirty="0">
                        <a:latin typeface="Times New Roman" panose="02020603050405020304" pitchFamily="18" charset="0"/>
                        <a:cs typeface="Times New Roman" panose="02020603050405020304" pitchFamily="18" charset="0"/>
                      </a:endParaRPr>
                    </a:p>
                  </a:txBody>
                  <a:tcPr/>
                </a:tc>
              </a:tr>
              <a:tr h="433558">
                <a:tc>
                  <a:txBody>
                    <a:bodyPr/>
                    <a:lstStyle/>
                    <a:p>
                      <a:r>
                        <a:rPr lang="en-US" sz="2700" b="0" dirty="0">
                          <a:latin typeface="Times New Roman" panose="02020603050405020304" pitchFamily="18" charset="0"/>
                          <a:cs typeface="Times New Roman" panose="02020603050405020304" pitchFamily="18" charset="0"/>
                        </a:rPr>
                        <a:t>17.</a:t>
                      </a:r>
                      <a:endParaRPr lang="en-US" sz="2700" b="0" dirty="0">
                        <a:latin typeface="Times New Roman" panose="02020603050405020304" pitchFamily="18" charset="0"/>
                        <a:cs typeface="Times New Roman" panose="02020603050405020304" pitchFamily="18" charset="0"/>
                      </a:endParaRPr>
                    </a:p>
                  </a:txBody>
                  <a:tcPr/>
                </a:tc>
                <a:tc>
                  <a:txBody>
                    <a:bodyPr/>
                    <a:lstStyle/>
                    <a:p>
                      <a:r>
                        <a:rPr lang="en-US" sz="2700" b="0" dirty="0">
                          <a:latin typeface="Times New Roman" panose="02020603050405020304" pitchFamily="18" charset="0"/>
                          <a:cs typeface="Times New Roman" panose="02020603050405020304" pitchFamily="18" charset="0"/>
                        </a:rPr>
                        <a:t>Unit Contents</a:t>
                      </a:r>
                      <a:endParaRPr lang="en-US" sz="2700" b="0" dirty="0">
                        <a:latin typeface="Times New Roman" panose="02020603050405020304" pitchFamily="18" charset="0"/>
                        <a:cs typeface="Times New Roman" panose="02020603050405020304" pitchFamily="18" charset="0"/>
                      </a:endParaRPr>
                    </a:p>
                  </a:txBody>
                  <a:tcPr/>
                </a:tc>
              </a:tr>
              <a:tr h="433558">
                <a:tc>
                  <a:txBody>
                    <a:bodyPr/>
                    <a:lstStyle/>
                    <a:p>
                      <a:r>
                        <a:rPr lang="en-US" sz="2700" b="0" dirty="0">
                          <a:latin typeface="Times New Roman" panose="02020603050405020304" pitchFamily="18" charset="0"/>
                          <a:cs typeface="Times New Roman" panose="02020603050405020304" pitchFamily="18" charset="0"/>
                        </a:rPr>
                        <a:t>18.</a:t>
                      </a:r>
                      <a:endParaRPr lang="en-US" sz="2700" b="0" dirty="0">
                        <a:latin typeface="Times New Roman" panose="02020603050405020304" pitchFamily="18" charset="0"/>
                        <a:cs typeface="Times New Roman" panose="02020603050405020304" pitchFamily="18" charset="0"/>
                      </a:endParaRPr>
                    </a:p>
                  </a:txBody>
                  <a:tcPr/>
                </a:tc>
                <a:tc>
                  <a:txBody>
                    <a:bodyPr/>
                    <a:lstStyle/>
                    <a:p>
                      <a:r>
                        <a:rPr lang="en-US" sz="2700" b="0" dirty="0">
                          <a:latin typeface="Times New Roman" panose="02020603050405020304" pitchFamily="18" charset="0"/>
                          <a:cs typeface="Times New Roman" panose="02020603050405020304" pitchFamily="18" charset="0"/>
                        </a:rPr>
                        <a:t>Unit</a:t>
                      </a:r>
                      <a:r>
                        <a:rPr lang="en-US" sz="2700" b="0" baseline="0" dirty="0">
                          <a:latin typeface="Times New Roman" panose="02020603050405020304" pitchFamily="18" charset="0"/>
                          <a:cs typeface="Times New Roman" panose="02020603050405020304" pitchFamily="18" charset="0"/>
                        </a:rPr>
                        <a:t> Objectives</a:t>
                      </a:r>
                      <a:endParaRPr lang="en-US" sz="2700" b="0" dirty="0">
                        <a:latin typeface="Times New Roman" panose="02020603050405020304" pitchFamily="18" charset="0"/>
                        <a:cs typeface="Times New Roman" panose="02020603050405020304" pitchFamily="18" charset="0"/>
                      </a:endParaRPr>
                    </a:p>
                  </a:txBody>
                  <a:tcPr/>
                </a:tc>
              </a:tr>
              <a:tr h="433558">
                <a:tc>
                  <a:txBody>
                    <a:bodyPr/>
                    <a:lstStyle/>
                    <a:p>
                      <a:r>
                        <a:rPr lang="en-US" sz="2700" b="0" dirty="0">
                          <a:latin typeface="Times New Roman" panose="02020603050405020304" pitchFamily="18" charset="0"/>
                          <a:cs typeface="Times New Roman" panose="02020603050405020304" pitchFamily="18" charset="0"/>
                        </a:rPr>
                        <a:t>19.</a:t>
                      </a:r>
                      <a:endParaRPr lang="en-US" sz="2700" b="0" dirty="0">
                        <a:latin typeface="Times New Roman" panose="02020603050405020304" pitchFamily="18" charset="0"/>
                        <a:cs typeface="Times New Roman" panose="02020603050405020304" pitchFamily="18" charset="0"/>
                      </a:endParaRPr>
                    </a:p>
                  </a:txBody>
                  <a:tcPr/>
                </a:tc>
                <a:tc>
                  <a:txBody>
                    <a:bodyPr/>
                    <a:lstStyle/>
                    <a:p>
                      <a:r>
                        <a:rPr lang="en-US" sz="2700" b="0" dirty="0">
                          <a:latin typeface="Times New Roman" panose="02020603050405020304" pitchFamily="18" charset="0"/>
                          <a:cs typeface="Times New Roman" panose="02020603050405020304" pitchFamily="18" charset="0"/>
                        </a:rPr>
                        <a:t>Topic Objectives/Topic Outcome</a:t>
                      </a:r>
                      <a:endParaRPr lang="en-US" sz="2700" b="0"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dk1"/>
                </a:solidFill>
                <a:effectLst/>
                <a:uLnTx/>
                <a:uFillTx/>
                <a:latin typeface="+mn-lt"/>
                <a:ea typeface="+mn-ea"/>
                <a:cs typeface="+mn-cs"/>
              </a:rPr>
              <a:t>Index</a:t>
            </a:r>
            <a:endParaRPr kumimoji="0" lang="en-US" sz="3200" b="1" i="0" u="none" strike="noStrike" kern="1200" cap="none" spc="0" normalizeH="0" baseline="0" noProof="0" dirty="0">
              <a:ln>
                <a:noFill/>
              </a:ln>
              <a:solidFill>
                <a:schemeClr val="dk1"/>
              </a:solidFill>
              <a:effectLst/>
              <a:uLnTx/>
              <a:uFillTx/>
              <a:latin typeface="+mn-lt"/>
              <a:ea typeface="+mn-ea"/>
              <a:cs typeface="+mn-cs"/>
            </a:endParaRPr>
          </a:p>
        </p:txBody>
      </p:sp>
      <p:pic>
        <p:nvPicPr>
          <p:cNvPr id="9"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10" name="Footer Placeholder 9"/>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graphicFrame>
        <p:nvGraphicFramePr>
          <p:cNvPr id="11" name="Content Placeholder 8"/>
          <p:cNvGraphicFramePr>
            <a:graphicFrameLocks noGrp="1"/>
          </p:cNvGraphicFramePr>
          <p:nvPr>
            <p:ph idx="1"/>
          </p:nvPr>
        </p:nvGraphicFramePr>
        <p:xfrm>
          <a:off x="228600" y="914404"/>
          <a:ext cx="8686800" cy="5105396"/>
        </p:xfrm>
        <a:graphic>
          <a:graphicData uri="http://schemas.openxmlformats.org/drawingml/2006/table">
            <a:tbl>
              <a:tblPr firstRow="1" bandRow="1">
                <a:tableStyleId>{5C22544A-7EE6-4342-B048-85BDC9FD1C3A}</a:tableStyleId>
              </a:tblPr>
              <a:tblGrid>
                <a:gridCol w="1608666"/>
                <a:gridCol w="7078134"/>
              </a:tblGrid>
              <a:tr h="439850">
                <a:tc>
                  <a:txBody>
                    <a:bodyPr/>
                    <a:lstStyle/>
                    <a:p>
                      <a:r>
                        <a:rPr lang="en-US" sz="2200" dirty="0"/>
                        <a:t>S. No.</a:t>
                      </a:r>
                      <a:endParaRPr lang="en-US" sz="2200" dirty="0"/>
                    </a:p>
                  </a:txBody>
                  <a:tcPr/>
                </a:tc>
                <a:tc>
                  <a:txBody>
                    <a:bodyPr/>
                    <a:lstStyle/>
                    <a:p>
                      <a:pPr algn="l"/>
                      <a:r>
                        <a:rPr lang="en-US" sz="2200" dirty="0"/>
                        <a:t>Content</a:t>
                      </a:r>
                      <a:endParaRPr lang="en-US" sz="2200" dirty="0"/>
                    </a:p>
                  </a:txBody>
                  <a:tcPr/>
                </a:tc>
              </a:tr>
              <a:tr h="518394">
                <a:tc>
                  <a:txBody>
                    <a:bodyPr/>
                    <a:lstStyle/>
                    <a:p>
                      <a:r>
                        <a:rPr lang="en-US" sz="2700" b="0" dirty="0">
                          <a:latin typeface="Times New Roman" panose="02020603050405020304" pitchFamily="18" charset="0"/>
                          <a:cs typeface="Times New Roman" panose="02020603050405020304" pitchFamily="18" charset="0"/>
                        </a:rPr>
                        <a:t>20.</a:t>
                      </a:r>
                      <a:endParaRPr lang="en-US" sz="2700" b="0" dirty="0">
                        <a:latin typeface="Times New Roman" panose="02020603050405020304" pitchFamily="18" charset="0"/>
                        <a:cs typeface="Times New Roman" panose="02020603050405020304" pitchFamily="18" charset="0"/>
                      </a:endParaRPr>
                    </a:p>
                  </a:txBody>
                  <a:tcPr/>
                </a:tc>
                <a:tc>
                  <a:txBody>
                    <a:bodyPr/>
                    <a:lstStyle/>
                    <a:p>
                      <a:r>
                        <a:rPr lang="en-US" sz="2700" b="0" dirty="0">
                          <a:latin typeface="Times New Roman" panose="02020603050405020304" pitchFamily="18" charset="0"/>
                          <a:cs typeface="Times New Roman" panose="02020603050405020304" pitchFamily="18" charset="0"/>
                        </a:rPr>
                        <a:t>Lecture related to topic</a:t>
                      </a:r>
                      <a:endParaRPr lang="en-US" sz="2700" b="0" dirty="0">
                        <a:latin typeface="Times New Roman" panose="02020603050405020304" pitchFamily="18" charset="0"/>
                        <a:cs typeface="Times New Roman" panose="02020603050405020304" pitchFamily="18" charset="0"/>
                      </a:endParaRPr>
                    </a:p>
                  </a:txBody>
                  <a:tcPr/>
                </a:tc>
              </a:tr>
              <a:tr h="518394">
                <a:tc>
                  <a:txBody>
                    <a:bodyPr/>
                    <a:lstStyle/>
                    <a:p>
                      <a:r>
                        <a:rPr lang="en-US" sz="2700" b="0" dirty="0">
                          <a:latin typeface="Times New Roman" panose="02020603050405020304" pitchFamily="18" charset="0"/>
                          <a:cs typeface="Times New Roman" panose="02020603050405020304" pitchFamily="18" charset="0"/>
                        </a:rPr>
                        <a:t>21.</a:t>
                      </a:r>
                      <a:endParaRPr lang="en-US" sz="27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7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Daily Quiz</a:t>
                      </a:r>
                      <a:endParaRPr kumimoji="0" lang="en-US" sz="27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a:txBody>
                  <a:tcPr/>
                </a:tc>
              </a:tr>
              <a:tr h="518394">
                <a:tc>
                  <a:txBody>
                    <a:bodyPr/>
                    <a:lstStyle/>
                    <a:p>
                      <a:r>
                        <a:rPr lang="en-US" sz="2700" b="0" dirty="0">
                          <a:latin typeface="Times New Roman" panose="02020603050405020304" pitchFamily="18" charset="0"/>
                          <a:cs typeface="Times New Roman" panose="02020603050405020304" pitchFamily="18" charset="0"/>
                        </a:rPr>
                        <a:t>22.</a:t>
                      </a:r>
                      <a:endParaRPr lang="en-US" sz="2700" b="0"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700" b="0" dirty="0">
                          <a:latin typeface="Times New Roman" panose="02020603050405020304" pitchFamily="18" charset="0"/>
                          <a:cs typeface="Times New Roman" panose="02020603050405020304" pitchFamily="18" charset="0"/>
                        </a:rPr>
                        <a:t>Weekly Assignment</a:t>
                      </a:r>
                      <a:endParaRPr lang="en-US" sz="2700" b="0" dirty="0">
                        <a:latin typeface="Times New Roman" panose="02020603050405020304" pitchFamily="18" charset="0"/>
                        <a:cs typeface="Times New Roman" panose="02020603050405020304" pitchFamily="18" charset="0"/>
                      </a:endParaRPr>
                    </a:p>
                  </a:txBody>
                  <a:tcPr/>
                </a:tc>
              </a:tr>
              <a:tr h="518394">
                <a:tc>
                  <a:txBody>
                    <a:bodyPr/>
                    <a:lstStyle/>
                    <a:p>
                      <a:r>
                        <a:rPr lang="en-US" sz="2700" b="0" dirty="0">
                          <a:latin typeface="Times New Roman" panose="02020603050405020304" pitchFamily="18" charset="0"/>
                          <a:cs typeface="Times New Roman" panose="02020603050405020304" pitchFamily="18" charset="0"/>
                        </a:rPr>
                        <a:t>23.</a:t>
                      </a:r>
                      <a:endParaRPr lang="en-US" sz="2700" b="0" dirty="0">
                        <a:latin typeface="Times New Roman" panose="02020603050405020304" pitchFamily="18" charset="0"/>
                        <a:cs typeface="Times New Roman" panose="02020603050405020304" pitchFamily="18" charset="0"/>
                      </a:endParaRPr>
                    </a:p>
                  </a:txBody>
                  <a:tcPr/>
                </a:tc>
                <a:tc>
                  <a:txBody>
                    <a:bodyPr/>
                    <a:lstStyle/>
                    <a:p>
                      <a:r>
                        <a:rPr lang="en-US" sz="2700" b="0" dirty="0">
                          <a:latin typeface="Times New Roman" panose="02020603050405020304" pitchFamily="18" charset="0"/>
                          <a:cs typeface="Times New Roman" panose="02020603050405020304" pitchFamily="18" charset="0"/>
                        </a:rPr>
                        <a:t>Topic Links</a:t>
                      </a:r>
                      <a:endParaRPr lang="en-US" sz="2700" b="0" dirty="0">
                        <a:latin typeface="Times New Roman" panose="02020603050405020304" pitchFamily="18" charset="0"/>
                        <a:cs typeface="Times New Roman" panose="02020603050405020304" pitchFamily="18" charset="0"/>
                      </a:endParaRPr>
                    </a:p>
                  </a:txBody>
                  <a:tcPr/>
                </a:tc>
              </a:tr>
              <a:tr h="518394">
                <a:tc>
                  <a:txBody>
                    <a:bodyPr/>
                    <a:lstStyle/>
                    <a:p>
                      <a:r>
                        <a:rPr lang="en-US" sz="2700" b="0" dirty="0">
                          <a:latin typeface="Times New Roman" panose="02020603050405020304" pitchFamily="18" charset="0"/>
                          <a:cs typeface="Times New Roman" panose="02020603050405020304" pitchFamily="18" charset="0"/>
                        </a:rPr>
                        <a:t>24.</a:t>
                      </a:r>
                      <a:endParaRPr lang="en-US" sz="2700" b="0" dirty="0">
                        <a:latin typeface="Times New Roman" panose="02020603050405020304" pitchFamily="18" charset="0"/>
                        <a:cs typeface="Times New Roman" panose="02020603050405020304" pitchFamily="18" charset="0"/>
                      </a:endParaRPr>
                    </a:p>
                  </a:txBody>
                  <a:tcPr/>
                </a:tc>
                <a:tc>
                  <a:txBody>
                    <a:bodyPr/>
                    <a:lstStyle/>
                    <a:p>
                      <a:r>
                        <a:rPr lang="en-US" sz="2700" b="0" dirty="0">
                          <a:latin typeface="Times New Roman" panose="02020603050405020304" pitchFamily="18" charset="0"/>
                          <a:cs typeface="Times New Roman" panose="02020603050405020304" pitchFamily="18" charset="0"/>
                        </a:rPr>
                        <a:t>MCQs</a:t>
                      </a:r>
                      <a:endParaRPr lang="en-US" sz="2700" b="0" dirty="0">
                        <a:latin typeface="Times New Roman" panose="02020603050405020304" pitchFamily="18" charset="0"/>
                        <a:cs typeface="Times New Roman" panose="02020603050405020304" pitchFamily="18" charset="0"/>
                      </a:endParaRPr>
                    </a:p>
                  </a:txBody>
                  <a:tcPr/>
                </a:tc>
              </a:tr>
              <a:tr h="518394">
                <a:tc>
                  <a:txBody>
                    <a:bodyPr/>
                    <a:lstStyle/>
                    <a:p>
                      <a:r>
                        <a:rPr lang="en-US" sz="2700" b="0" dirty="0">
                          <a:latin typeface="Times New Roman" panose="02020603050405020304" pitchFamily="18" charset="0"/>
                          <a:cs typeface="Times New Roman" panose="02020603050405020304" pitchFamily="18" charset="0"/>
                        </a:rPr>
                        <a:t>25.</a:t>
                      </a:r>
                      <a:endParaRPr lang="en-US" sz="2700" b="0"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700" b="0" dirty="0">
                          <a:latin typeface="Times New Roman" panose="02020603050405020304" pitchFamily="18" charset="0"/>
                          <a:cs typeface="Times New Roman" panose="02020603050405020304" pitchFamily="18" charset="0"/>
                        </a:rPr>
                        <a:t>Glossary Questions</a:t>
                      </a:r>
                      <a:endParaRPr lang="en-US" sz="2700" b="0" dirty="0">
                        <a:latin typeface="Times New Roman" panose="02020603050405020304" pitchFamily="18" charset="0"/>
                        <a:cs typeface="Times New Roman" panose="02020603050405020304" pitchFamily="18" charset="0"/>
                      </a:endParaRPr>
                    </a:p>
                  </a:txBody>
                  <a:tcPr/>
                </a:tc>
              </a:tr>
              <a:tr h="518394">
                <a:tc>
                  <a:txBody>
                    <a:bodyPr/>
                    <a:lstStyle/>
                    <a:p>
                      <a:r>
                        <a:rPr lang="en-US" sz="2700" b="0" dirty="0">
                          <a:latin typeface="Times New Roman" panose="02020603050405020304" pitchFamily="18" charset="0"/>
                          <a:cs typeface="Times New Roman" panose="02020603050405020304" pitchFamily="18" charset="0"/>
                        </a:rPr>
                        <a:t>26.</a:t>
                      </a:r>
                      <a:endParaRPr lang="en-US" sz="2700" b="0" dirty="0">
                        <a:latin typeface="Times New Roman" panose="02020603050405020304" pitchFamily="18" charset="0"/>
                        <a:cs typeface="Times New Roman" panose="02020603050405020304" pitchFamily="18" charset="0"/>
                      </a:endParaRPr>
                    </a:p>
                  </a:txBody>
                  <a:tcPr/>
                </a:tc>
                <a:tc>
                  <a:txBody>
                    <a:bodyPr/>
                    <a:lstStyle/>
                    <a:p>
                      <a:r>
                        <a:rPr lang="en-US" sz="2700" b="0" dirty="0">
                          <a:latin typeface="Times New Roman" panose="02020603050405020304" pitchFamily="18" charset="0"/>
                          <a:cs typeface="Times New Roman" panose="02020603050405020304" pitchFamily="18" charset="0"/>
                        </a:rPr>
                        <a:t>Old question papers</a:t>
                      </a:r>
                      <a:endParaRPr lang="en-US" sz="2700" b="0" dirty="0">
                        <a:latin typeface="Times New Roman" panose="02020603050405020304" pitchFamily="18" charset="0"/>
                        <a:cs typeface="Times New Roman" panose="02020603050405020304" pitchFamily="18" charset="0"/>
                      </a:endParaRPr>
                    </a:p>
                  </a:txBody>
                  <a:tcPr/>
                </a:tc>
              </a:tr>
              <a:tr h="518394">
                <a:tc>
                  <a:txBody>
                    <a:bodyPr/>
                    <a:lstStyle/>
                    <a:p>
                      <a:r>
                        <a:rPr lang="en-US" sz="2700" b="0" dirty="0">
                          <a:latin typeface="Times New Roman" panose="02020603050405020304" pitchFamily="18" charset="0"/>
                          <a:cs typeface="Times New Roman" panose="02020603050405020304" pitchFamily="18" charset="0"/>
                        </a:rPr>
                        <a:t>27.</a:t>
                      </a:r>
                      <a:endParaRPr lang="en-US" sz="2700" b="0" dirty="0">
                        <a:latin typeface="Times New Roman" panose="02020603050405020304" pitchFamily="18" charset="0"/>
                        <a:cs typeface="Times New Roman" panose="02020603050405020304" pitchFamily="18" charset="0"/>
                      </a:endParaRPr>
                    </a:p>
                  </a:txBody>
                  <a:tcPr/>
                </a:tc>
                <a:tc>
                  <a:txBody>
                    <a:bodyPr/>
                    <a:lstStyle/>
                    <a:p>
                      <a:r>
                        <a:rPr lang="en-US" sz="2700" b="0" dirty="0">
                          <a:latin typeface="Times New Roman" panose="02020603050405020304" pitchFamily="18" charset="0"/>
                          <a:cs typeface="Times New Roman" panose="02020603050405020304" pitchFamily="18" charset="0"/>
                        </a:rPr>
                        <a:t>Expected Questions</a:t>
                      </a:r>
                      <a:endParaRPr lang="en-US" sz="2700" b="0" dirty="0">
                        <a:latin typeface="Times New Roman" panose="02020603050405020304" pitchFamily="18" charset="0"/>
                        <a:cs typeface="Times New Roman" panose="02020603050405020304" pitchFamily="18" charset="0"/>
                      </a:endParaRPr>
                    </a:p>
                  </a:txBody>
                  <a:tcPr/>
                </a:tc>
              </a:tr>
              <a:tr h="518394">
                <a:tc>
                  <a:txBody>
                    <a:bodyPr/>
                    <a:lstStyle/>
                    <a:p>
                      <a:r>
                        <a:rPr lang="en-US" sz="2700" b="0" dirty="0">
                          <a:latin typeface="Times New Roman" panose="02020603050405020304" pitchFamily="18" charset="0"/>
                          <a:cs typeface="Times New Roman" panose="02020603050405020304" pitchFamily="18" charset="0"/>
                        </a:rPr>
                        <a:t>28.</a:t>
                      </a:r>
                      <a:endParaRPr lang="en-US" sz="2700" b="0" dirty="0">
                        <a:latin typeface="Times New Roman" panose="02020603050405020304" pitchFamily="18" charset="0"/>
                        <a:cs typeface="Times New Roman" panose="02020603050405020304" pitchFamily="18" charset="0"/>
                      </a:endParaRPr>
                    </a:p>
                  </a:txBody>
                  <a:tcPr/>
                </a:tc>
                <a:tc>
                  <a:txBody>
                    <a:bodyPr/>
                    <a:lstStyle/>
                    <a:p>
                      <a:r>
                        <a:rPr lang="en-US" sz="2700" b="0" dirty="0">
                          <a:latin typeface="Times New Roman" panose="02020603050405020304" pitchFamily="18" charset="0"/>
                          <a:cs typeface="Times New Roman" panose="02020603050405020304" pitchFamily="18" charset="0"/>
                        </a:rPr>
                        <a:t>Recap of unit</a:t>
                      </a:r>
                      <a:endParaRPr lang="en-US" sz="2700" b="0"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C7530794-E63D-463C-B9C8-822E77BFE7EE}" type="datetime1">
              <a:rPr lang="en-US" sz="900">
                <a:solidFill>
                  <a:prstClr val="black">
                    <a:tint val="75000"/>
                  </a:prstClr>
                </a:solidFill>
                <a:latin typeface="Calibri" panose="020F0502020204030204"/>
              </a:rPr>
            </a:fld>
            <a:endParaRPr lang="en-US" sz="900">
              <a:solidFill>
                <a:prstClr val="black">
                  <a:tint val="75000"/>
                </a:prstClr>
              </a:solidFill>
              <a:latin typeface="Calibri" panose="020F0502020204030204"/>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panose="020F0502020204030204"/>
              </a:rPr>
            </a:fld>
            <a:endParaRPr lang="en-US" sz="900">
              <a:solidFill>
                <a:prstClr val="black">
                  <a:tint val="75000"/>
                </a:prstClr>
              </a:solidFill>
              <a:latin typeface="Calibri" panose="020F0502020204030204"/>
            </a:endParaRPr>
          </a:p>
        </p:txBody>
      </p:sp>
      <p:sp>
        <p:nvSpPr>
          <p:cNvPr id="11" name="Content Placeholder 10"/>
          <p:cNvSpPr>
            <a:spLocks noGrp="1"/>
          </p:cNvSpPr>
          <p:nvPr>
            <p:ph idx="4294967295"/>
          </p:nvPr>
        </p:nvSpPr>
        <p:spPr>
          <a:xfrm>
            <a:off x="685800" y="1543051"/>
            <a:ext cx="7143750" cy="3486149"/>
          </a:xfrm>
        </p:spPr>
        <p:txBody>
          <a:bodyPr>
            <a:normAutofit/>
          </a:bodyPr>
          <a:lstStyle/>
          <a:p>
            <a:pPr>
              <a:buNone/>
            </a:pPr>
            <a:endParaRPr lang="en-IN" sz="1500" dirty="0">
              <a:latin typeface="Times New Roman" panose="02020603050405020304" pitchFamily="18" charset="0"/>
              <a:cs typeface="Times New Roman" panose="02020603050405020304" pitchFamily="18" charset="0"/>
            </a:endParaRPr>
          </a:p>
          <a:p>
            <a:pPr>
              <a:buNone/>
            </a:pPr>
            <a:r>
              <a:rPr lang="en-IN" sz="1500" dirty="0">
                <a:latin typeface="Times New Roman" panose="02020603050405020304" pitchFamily="18" charset="0"/>
                <a:cs typeface="Times New Roman" panose="02020603050405020304" pitchFamily="18" charset="0"/>
                <a:sym typeface="+mn-ea"/>
              </a:rPr>
              <a:t>Faculty Name: Tarun Maheshwari</a:t>
            </a:r>
            <a:endParaRPr lang="en-IN" sz="1500" dirty="0">
              <a:latin typeface="Times New Roman" panose="02020603050405020304" pitchFamily="18" charset="0"/>
              <a:cs typeface="Times New Roman" panose="02020603050405020304" pitchFamily="18" charset="0"/>
            </a:endParaRPr>
          </a:p>
          <a:p>
            <a:pPr>
              <a:buNone/>
            </a:pPr>
            <a:r>
              <a:rPr lang="en-IN" sz="1500" dirty="0">
                <a:latin typeface="Times New Roman" panose="02020603050405020304" pitchFamily="18" charset="0"/>
                <a:cs typeface="Times New Roman" panose="02020603050405020304" pitchFamily="18" charset="0"/>
                <a:sym typeface="+mn-ea"/>
              </a:rPr>
              <a:t>Designation: Assistant Professor</a:t>
            </a:r>
            <a:endParaRPr lang="en-IN" sz="1500" dirty="0">
              <a:latin typeface="Times New Roman" panose="02020603050405020304" pitchFamily="18" charset="0"/>
              <a:cs typeface="Times New Roman" panose="02020603050405020304" pitchFamily="18" charset="0"/>
            </a:endParaRPr>
          </a:p>
          <a:p>
            <a:pPr>
              <a:buNone/>
            </a:pPr>
            <a:r>
              <a:rPr lang="en-IN" sz="1500" dirty="0">
                <a:latin typeface="Times New Roman" panose="02020603050405020304" pitchFamily="18" charset="0"/>
                <a:cs typeface="Times New Roman" panose="02020603050405020304" pitchFamily="18" charset="0"/>
                <a:sym typeface="+mn-ea"/>
              </a:rPr>
              <a:t>Department: PGDM</a:t>
            </a:r>
            <a:endParaRPr lang="en-IN" sz="1500" dirty="0">
              <a:latin typeface="Times New Roman" panose="02020603050405020304" pitchFamily="18" charset="0"/>
              <a:cs typeface="Times New Roman" panose="02020603050405020304" pitchFamily="18" charset="0"/>
            </a:endParaRPr>
          </a:p>
          <a:p>
            <a:pPr>
              <a:buNone/>
            </a:pPr>
            <a:r>
              <a:rPr lang="en-IN" sz="1500" dirty="0">
                <a:latin typeface="Times New Roman" panose="02020603050405020304" pitchFamily="18" charset="0"/>
                <a:cs typeface="Times New Roman" panose="02020603050405020304" pitchFamily="18" charset="0"/>
                <a:sym typeface="+mn-ea"/>
              </a:rPr>
              <a:t>Email ID: tarun.maheshwari@niet.co.in</a:t>
            </a:r>
            <a:endParaRPr lang="en-IN" sz="1500" dirty="0">
              <a:latin typeface="Times New Roman" panose="02020603050405020304" pitchFamily="18" charset="0"/>
              <a:cs typeface="Times New Roman" panose="02020603050405020304" pitchFamily="18" charset="0"/>
            </a:endParaRPr>
          </a:p>
          <a:p>
            <a:pPr>
              <a:buNone/>
            </a:pPr>
            <a:r>
              <a:rPr lang="en-IN" sz="1500" dirty="0">
                <a:latin typeface="Times New Roman" panose="02020603050405020304" pitchFamily="18" charset="0"/>
                <a:cs typeface="Times New Roman" panose="02020603050405020304" pitchFamily="18" charset="0"/>
                <a:sym typeface="+mn-ea"/>
              </a:rPr>
              <a:t>Qualification: MBA, PG Diploma In Traning &amp; Development</a:t>
            </a:r>
            <a:endParaRPr lang="en-IN" sz="1500" dirty="0">
              <a:latin typeface="Times New Roman" panose="02020603050405020304" pitchFamily="18" charset="0"/>
              <a:cs typeface="Times New Roman" panose="02020603050405020304" pitchFamily="18" charset="0"/>
            </a:endParaRPr>
          </a:p>
          <a:p>
            <a:pPr>
              <a:buNone/>
            </a:pPr>
            <a:r>
              <a:rPr lang="en-IN" sz="1500" dirty="0">
                <a:latin typeface="Times New Roman" panose="02020603050405020304" pitchFamily="18" charset="0"/>
                <a:cs typeface="Times New Roman" panose="02020603050405020304" pitchFamily="18" charset="0"/>
                <a:sym typeface="+mn-ea"/>
              </a:rPr>
              <a:t>Specialization: Human Resource</a:t>
            </a:r>
            <a:endParaRPr lang="en-IN" sz="1500" dirty="0">
              <a:latin typeface="Times New Roman" panose="02020603050405020304" pitchFamily="18" charset="0"/>
              <a:cs typeface="Times New Roman" panose="02020603050405020304" pitchFamily="18" charset="0"/>
            </a:endParaRPr>
          </a:p>
          <a:p>
            <a:pPr>
              <a:buNone/>
            </a:pPr>
            <a:r>
              <a:rPr lang="en-IN" sz="1500" dirty="0">
                <a:latin typeface="Times New Roman" panose="02020603050405020304" pitchFamily="18" charset="0"/>
                <a:cs typeface="Times New Roman" panose="02020603050405020304" pitchFamily="18" charset="0"/>
                <a:sym typeface="+mn-ea"/>
              </a:rPr>
              <a:t>Teaching Area: HR</a:t>
            </a:r>
            <a:endParaRPr lang="en-IN" sz="1500" dirty="0">
              <a:latin typeface="Times New Roman" panose="02020603050405020304" pitchFamily="18" charset="0"/>
              <a:cs typeface="Times New Roman" panose="02020603050405020304" pitchFamily="18" charset="0"/>
            </a:endParaRPr>
          </a:p>
          <a:p>
            <a:pPr>
              <a:buNone/>
            </a:pPr>
            <a:r>
              <a:rPr lang="en-IN" sz="1500" dirty="0">
                <a:latin typeface="Times New Roman" panose="02020603050405020304" pitchFamily="18" charset="0"/>
                <a:cs typeface="Times New Roman" panose="02020603050405020304" pitchFamily="18" charset="0"/>
                <a:sym typeface="+mn-ea"/>
              </a:rPr>
              <a:t>Total Experience: 11 years</a:t>
            </a:r>
            <a:endParaRPr lang="en-IN" sz="1500" dirty="0">
              <a:latin typeface="Times New Roman" panose="02020603050405020304" pitchFamily="18" charset="0"/>
              <a:cs typeface="Times New Roman" panose="02020603050405020304" pitchFamily="18" charset="0"/>
            </a:endParaRPr>
          </a:p>
        </p:txBody>
      </p:sp>
      <p:sp>
        <p:nvSpPr>
          <p:cNvPr id="7" name="Title 1"/>
          <p:cNvSpPr txBox="1"/>
          <p:nvPr/>
        </p:nvSpPr>
        <p:spPr>
          <a:xfrm>
            <a:off x="1644881" y="124225"/>
            <a:ext cx="5829300" cy="514349"/>
          </a:xfrm>
          <a:prstGeom prst="rect">
            <a:avLst/>
          </a:prstGeom>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defTabSz="685800">
              <a:spcBef>
                <a:spcPct val="0"/>
              </a:spcBef>
              <a:defRPr/>
            </a:pPr>
            <a:r>
              <a:rPr lang="en-US" sz="2100" dirty="0">
                <a:solidFill>
                  <a:prstClr val="black"/>
                </a:solidFill>
                <a:latin typeface="Times New Roman" panose="02020603050405020304" pitchFamily="18" charset="0"/>
                <a:cs typeface="Times New Roman" panose="02020603050405020304" pitchFamily="18" charset="0"/>
              </a:rPr>
              <a:t>Faculty Profile</a:t>
            </a:r>
            <a:endParaRPr lang="en-US" sz="2100" dirty="0">
              <a:solidFill>
                <a:prstClr val="black"/>
              </a:solidFill>
              <a:latin typeface="Times New Roman" panose="02020603050405020304" pitchFamily="18" charset="0"/>
              <a:cs typeface="Times New Roman" panose="02020603050405020304" pitchFamily="18" charset="0"/>
            </a:endParaRPr>
          </a:p>
        </p:txBody>
      </p:sp>
      <p:pic>
        <p:nvPicPr>
          <p:cNvPr id="8" name="Picture 0" descr="Logo New.png"/>
          <p:cNvPicPr>
            <a:picLocks noChangeAspect="1" noChangeArrowheads="1"/>
          </p:cNvPicPr>
          <p:nvPr/>
        </p:nvPicPr>
        <p:blipFill>
          <a:blip r:embed="rId1"/>
          <a:srcRect/>
          <a:stretch>
            <a:fillRect/>
          </a:stretch>
        </p:blipFill>
        <p:spPr bwMode="auto">
          <a:xfrm>
            <a:off x="0" y="136524"/>
            <a:ext cx="1369382" cy="720727"/>
          </a:xfrm>
          <a:prstGeom prst="rect">
            <a:avLst/>
          </a:prstGeom>
          <a:noFill/>
          <a:ln w="9525">
            <a:noFill/>
            <a:miter lim="800000"/>
            <a:headEnd/>
            <a:tailEnd/>
          </a:ln>
        </p:spPr>
      </p:pic>
      <p:sp>
        <p:nvSpPr>
          <p:cNvPr id="2" name="Rectangle 1"/>
          <p:cNvSpPr/>
          <p:nvPr/>
        </p:nvSpPr>
        <p:spPr>
          <a:xfrm>
            <a:off x="5875902" y="1700808"/>
            <a:ext cx="1782198" cy="151216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lang="en-US" sz="3400" b="1" dirty="0"/>
              <a:t>Evaluation Scheme</a:t>
            </a:r>
            <a:endParaRPr kumimoji="0" lang="en-US" sz="3400" b="1" i="0" u="none" strike="noStrike" kern="1200" cap="none" spc="0" normalizeH="0" baseline="0" noProof="0" dirty="0">
              <a:ln>
                <a:noFill/>
              </a:ln>
              <a:solidFill>
                <a:schemeClr val="dk1"/>
              </a:solidFill>
              <a:effectLst/>
              <a:uLnTx/>
              <a:uFillTx/>
              <a:latin typeface="+mn-lt"/>
              <a:ea typeface="+mn-ea"/>
              <a:cs typeface="+mn-cs"/>
            </a:endParaRPr>
          </a:p>
        </p:txBody>
      </p:sp>
      <p:pic>
        <p:nvPicPr>
          <p:cNvPr id="9"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10" name="Footer Placeholder 9"/>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pic>
        <p:nvPicPr>
          <p:cNvPr id="109572" name="Picture 4" descr="D:\PROJECT MANAGEMENT PPT\Evaluation Scheme.png"/>
          <p:cNvPicPr>
            <a:picLocks noChangeAspect="1" noChangeArrowheads="1"/>
          </p:cNvPicPr>
          <p:nvPr/>
        </p:nvPicPr>
        <p:blipFill>
          <a:blip r:embed="rId2"/>
          <a:srcRect/>
          <a:stretch>
            <a:fillRect/>
          </a:stretch>
        </p:blipFill>
        <p:spPr bwMode="auto">
          <a:xfrm>
            <a:off x="0" y="1143000"/>
            <a:ext cx="9144000" cy="5202022"/>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400" b="1" i="0" u="none" strike="noStrike" kern="1200" cap="none" spc="0" normalizeH="0" baseline="0" noProof="0" dirty="0">
                <a:ln>
                  <a:noFill/>
                </a:ln>
                <a:solidFill>
                  <a:schemeClr val="dk1"/>
                </a:solidFill>
                <a:effectLst/>
                <a:uLnTx/>
                <a:uFillTx/>
                <a:latin typeface="+mn-lt"/>
                <a:ea typeface="+mn-ea"/>
                <a:cs typeface="+mn-cs"/>
              </a:rPr>
              <a:t>Syllabus</a:t>
            </a:r>
            <a:endParaRPr kumimoji="0" lang="en-US" sz="3400" b="1" i="0" u="none" strike="noStrike" kern="1200" cap="none" spc="0" normalizeH="0" baseline="0" noProof="0" dirty="0">
              <a:ln>
                <a:noFill/>
              </a:ln>
              <a:solidFill>
                <a:schemeClr val="dk1"/>
              </a:solidFill>
              <a:effectLst/>
              <a:uLnTx/>
              <a:uFillTx/>
              <a:latin typeface="+mn-lt"/>
              <a:ea typeface="+mn-ea"/>
              <a:cs typeface="+mn-cs"/>
            </a:endParaRPr>
          </a:p>
        </p:txBody>
      </p:sp>
      <p:pic>
        <p:nvPicPr>
          <p:cNvPr id="9"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10" name="Footer Placeholder 9"/>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pic>
        <p:nvPicPr>
          <p:cNvPr id="111618" name="Picture 2"/>
          <p:cNvPicPr>
            <a:picLocks noChangeAspect="1" noChangeArrowheads="1"/>
          </p:cNvPicPr>
          <p:nvPr/>
        </p:nvPicPr>
        <p:blipFill>
          <a:blip r:embed="rId2"/>
          <a:srcRect/>
          <a:stretch>
            <a:fillRect/>
          </a:stretch>
        </p:blipFill>
        <p:spPr bwMode="auto">
          <a:xfrm>
            <a:off x="914400" y="801356"/>
            <a:ext cx="7391400" cy="5523244"/>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90600"/>
            <a:ext cx="8305800" cy="5257800"/>
          </a:xfrm>
        </p:spPr>
        <p:txBody>
          <a:bodyPr>
            <a:normAutofit/>
          </a:bodyPr>
          <a:lstStyle/>
          <a:p>
            <a:pPr algn="just"/>
            <a:r>
              <a:rPr lang="en-US" sz="2800" dirty="0">
                <a:latin typeface="Times New Roman" panose="02020603050405020304" pitchFamily="18" charset="0"/>
                <a:cs typeface="Times New Roman" panose="02020603050405020304" pitchFamily="18" charset="0"/>
              </a:rPr>
              <a:t>Handling projects.</a:t>
            </a:r>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Evaluating &amp; Monitoring Project Process</a:t>
            </a:r>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Taking necessary and corrective action.</a:t>
            </a:r>
            <a:endParaRPr lang="en-US" sz="2800" dirty="0">
              <a:latin typeface="Times New Roman" panose="02020603050405020304" pitchFamily="18" charset="0"/>
              <a:cs typeface="Times New Roman" panose="02020603050405020304" pitchFamily="18" charset="0"/>
            </a:endParaRPr>
          </a:p>
        </p:txBody>
      </p:sp>
      <p:sp>
        <p:nvSpPr>
          <p:cNvPr id="8"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400" b="1" i="0" u="none" strike="noStrike" kern="1200" cap="none" spc="0" normalizeH="0" baseline="0" noProof="0" dirty="0">
                <a:ln>
                  <a:noFill/>
                </a:ln>
                <a:solidFill>
                  <a:schemeClr val="dk1"/>
                </a:solidFill>
                <a:effectLst/>
                <a:uLnTx/>
                <a:uFillTx/>
                <a:latin typeface="+mn-lt"/>
                <a:ea typeface="+mn-ea"/>
                <a:cs typeface="+mn-cs"/>
              </a:rPr>
              <a:t>Branch Wise </a:t>
            </a:r>
            <a:r>
              <a:rPr kumimoji="0" lang="en-US" sz="3400" b="1" i="0" u="none" strike="noStrike" kern="1200" cap="none" spc="0" normalizeH="0" noProof="0" dirty="0">
                <a:ln>
                  <a:noFill/>
                </a:ln>
                <a:solidFill>
                  <a:schemeClr val="dk1"/>
                </a:solidFill>
                <a:effectLst/>
                <a:uLnTx/>
                <a:uFillTx/>
                <a:latin typeface="+mn-lt"/>
                <a:ea typeface="+mn-ea"/>
                <a:cs typeface="+mn-cs"/>
              </a:rPr>
              <a:t>Application</a:t>
            </a:r>
            <a:endParaRPr kumimoji="0" lang="en-US" sz="3400" b="1" i="0" u="none" strike="noStrike" kern="1200" cap="none" spc="0" normalizeH="0" baseline="0" noProof="0" dirty="0">
              <a:ln>
                <a:noFill/>
              </a:ln>
              <a:solidFill>
                <a:schemeClr val="dk1"/>
              </a:solidFill>
              <a:effectLst/>
              <a:uLnTx/>
              <a:uFillTx/>
              <a:latin typeface="+mn-lt"/>
              <a:ea typeface="+mn-ea"/>
              <a:cs typeface="+mn-cs"/>
            </a:endParaRPr>
          </a:p>
        </p:txBody>
      </p:sp>
      <p:pic>
        <p:nvPicPr>
          <p:cNvPr id="9"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10" name="Footer Placeholder 9"/>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66800"/>
            <a:ext cx="8458200" cy="5029200"/>
          </a:xfrm>
        </p:spPr>
        <p:txBody>
          <a:bodyPr>
            <a:normAutofit/>
          </a:bodyPr>
          <a:lstStyle/>
          <a:p>
            <a:pPr algn="just"/>
            <a:r>
              <a:rPr lang="en-US" sz="2400" dirty="0"/>
              <a:t>To empower the students to get insights of basic concepts on project management. </a:t>
            </a:r>
            <a:endParaRPr lang="en-US" sz="2400" dirty="0"/>
          </a:p>
          <a:p>
            <a:pPr algn="just"/>
            <a:r>
              <a:rPr lang="en-US" sz="2400" dirty="0"/>
              <a:t>To create awareness on the roles and responsibilities of project manager.</a:t>
            </a:r>
            <a:endParaRPr lang="en-US" sz="2400" dirty="0"/>
          </a:p>
          <a:p>
            <a:pPr algn="just"/>
            <a:r>
              <a:rPr lang="x-none" sz="2400"/>
              <a:t>To build the confident among the students to take up any kind of projects.</a:t>
            </a:r>
            <a:endParaRPr lang="en-US" sz="2400" dirty="0"/>
          </a:p>
          <a:p>
            <a:pPr algn="just"/>
            <a:r>
              <a:rPr lang="en-US" sz="2400" dirty="0"/>
              <a:t>To sharpen the planning, scheduling and controlling skills of the students with respect to individual projects.</a:t>
            </a:r>
            <a:endParaRPr lang="en-US" sz="2400" dirty="0"/>
          </a:p>
          <a:p>
            <a:pPr algn="just"/>
            <a:r>
              <a:rPr lang="en-US" sz="2400" dirty="0"/>
              <a:t>To understand the perspectives in which optimum decisions are to be taken in case of risks with planned activities in project.</a:t>
            </a:r>
            <a:endParaRPr lang="en-US" sz="2400" dirty="0"/>
          </a:p>
          <a:p>
            <a:pPr algn="just">
              <a:buNone/>
            </a:pPr>
            <a:endParaRPr lang="en-US" sz="2400" dirty="0">
              <a:latin typeface="Times New Roman" panose="02020603050405020304" pitchFamily="18" charset="0"/>
              <a:cs typeface="Times New Roman" panose="02020603050405020304" pitchFamily="18" charset="0"/>
            </a:endParaRPr>
          </a:p>
        </p:txBody>
      </p:sp>
      <p:sp>
        <p:nvSpPr>
          <p:cNvPr id="8"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400" b="1" i="0" u="none" strike="noStrike" kern="1200" cap="none" spc="0" normalizeH="0" baseline="0" noProof="0" dirty="0">
                <a:ln>
                  <a:noFill/>
                </a:ln>
                <a:solidFill>
                  <a:schemeClr val="dk1"/>
                </a:solidFill>
                <a:effectLst/>
                <a:uLnTx/>
                <a:uFillTx/>
                <a:latin typeface="+mn-lt"/>
                <a:ea typeface="+mn-ea"/>
                <a:cs typeface="+mn-cs"/>
              </a:rPr>
              <a:t>Course Objectives</a:t>
            </a:r>
            <a:endParaRPr kumimoji="0" lang="en-US" sz="3400" b="1" i="0" u="none" strike="noStrike" kern="1200" cap="none" spc="0" normalizeH="0" baseline="0" noProof="0" dirty="0">
              <a:ln>
                <a:noFill/>
              </a:ln>
              <a:solidFill>
                <a:schemeClr val="dk1"/>
              </a:solidFill>
              <a:effectLst/>
              <a:uLnTx/>
              <a:uFillTx/>
              <a:latin typeface="+mn-lt"/>
              <a:ea typeface="+mn-ea"/>
              <a:cs typeface="+mn-cs"/>
            </a:endParaRPr>
          </a:p>
        </p:txBody>
      </p:sp>
      <p:pic>
        <p:nvPicPr>
          <p:cNvPr id="9"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10" name="Footer Placeholder 9"/>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400" b="1" i="0" u="none" strike="noStrike" kern="1200" cap="none" spc="0" normalizeH="0" baseline="0" noProof="0" dirty="0">
                <a:ln>
                  <a:noFill/>
                </a:ln>
                <a:solidFill>
                  <a:schemeClr val="dk1"/>
                </a:solidFill>
                <a:effectLst/>
                <a:uLnTx/>
                <a:uFillTx/>
                <a:latin typeface="+mn-lt"/>
                <a:ea typeface="+mn-ea"/>
                <a:cs typeface="+mn-cs"/>
              </a:rPr>
              <a:t>Course</a:t>
            </a:r>
            <a:r>
              <a:rPr kumimoji="0" lang="en-US" sz="3400" b="1" i="0" u="none" strike="noStrike" kern="1200" cap="none" spc="0" normalizeH="0" noProof="0" dirty="0">
                <a:ln>
                  <a:noFill/>
                </a:ln>
                <a:solidFill>
                  <a:schemeClr val="dk1"/>
                </a:solidFill>
                <a:effectLst/>
                <a:uLnTx/>
                <a:uFillTx/>
                <a:latin typeface="+mn-lt"/>
                <a:ea typeface="+mn-ea"/>
                <a:cs typeface="+mn-cs"/>
              </a:rPr>
              <a:t> Outcome</a:t>
            </a:r>
            <a:endParaRPr kumimoji="0" lang="en-US" sz="3400" b="1"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pic>
        <p:nvPicPr>
          <p:cNvPr id="112642" name="Picture 2"/>
          <p:cNvPicPr>
            <a:picLocks noGrp="1" noChangeAspect="1" noChangeArrowheads="1"/>
          </p:cNvPicPr>
          <p:nvPr>
            <p:ph idx="1"/>
          </p:nvPr>
        </p:nvPicPr>
        <p:blipFill>
          <a:blip r:embed="rId2"/>
          <a:srcRect/>
          <a:stretch>
            <a:fillRect/>
          </a:stretch>
        </p:blipFill>
        <p:spPr bwMode="auto">
          <a:xfrm>
            <a:off x="76200" y="1295400"/>
            <a:ext cx="9067800" cy="441960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66800"/>
            <a:ext cx="8458200" cy="5181600"/>
          </a:xfrm>
        </p:spPr>
        <p:txBody>
          <a:bodyPr>
            <a:normAutofit/>
          </a:bodyPr>
          <a:lstStyle/>
          <a:p>
            <a:pPr algn="just" fontAlgn="base">
              <a:buNone/>
            </a:pPr>
            <a:r>
              <a:rPr lang="en-US" sz="2800" dirty="0"/>
              <a:t>1. Apply knowledge of management theories and practices to solve business problems.</a:t>
            </a:r>
            <a:endParaRPr lang="en-US" sz="2800" dirty="0"/>
          </a:p>
          <a:p>
            <a:pPr algn="just" fontAlgn="base">
              <a:buNone/>
            </a:pPr>
            <a:r>
              <a:rPr lang="en-US" sz="2800" dirty="0"/>
              <a:t>2. Foster analytical and critical thinking abilities for data-based decision making.</a:t>
            </a:r>
            <a:endParaRPr lang="en-US" sz="2800" dirty="0"/>
          </a:p>
          <a:p>
            <a:pPr algn="just" fontAlgn="base">
              <a:buNone/>
            </a:pPr>
            <a:r>
              <a:rPr lang="en-US" sz="2800" dirty="0"/>
              <a:t>3. Ability to develop value based leadership ability.</a:t>
            </a:r>
            <a:endParaRPr lang="en-US" sz="2800" dirty="0"/>
          </a:p>
          <a:p>
            <a:pPr algn="just" fontAlgn="base">
              <a:buNone/>
            </a:pPr>
            <a:r>
              <a:rPr lang="en-US" sz="2800" dirty="0"/>
              <a:t>4. Ability to understand, analyze and communicate global, economic, legal and ethical aspects of business.</a:t>
            </a:r>
            <a:endParaRPr lang="en-US" sz="2800" dirty="0"/>
          </a:p>
          <a:p>
            <a:pPr algn="just">
              <a:buNone/>
            </a:pPr>
            <a:r>
              <a:rPr lang="en-US" sz="2800" dirty="0"/>
              <a:t>5. Ability to lead themselves and others in the achievement of organizational goals, contributing effectively to a team environment.</a:t>
            </a:r>
            <a:endParaRPr lang="en-US" sz="2800" dirty="0">
              <a:latin typeface="Times New Roman" panose="02020603050405020304" pitchFamily="18" charset="0"/>
              <a:cs typeface="Times New Roman" panose="02020603050405020304" pitchFamily="18" charset="0"/>
            </a:endParaRPr>
          </a:p>
        </p:txBody>
      </p:sp>
      <p:sp>
        <p:nvSpPr>
          <p:cNvPr id="8"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400" b="1" i="0" u="none" strike="noStrike" kern="1200" cap="none" spc="0" normalizeH="0" baseline="0" noProof="0" dirty="0">
                <a:ln>
                  <a:noFill/>
                </a:ln>
                <a:solidFill>
                  <a:schemeClr val="dk1"/>
                </a:solidFill>
                <a:effectLst/>
                <a:uLnTx/>
                <a:uFillTx/>
                <a:latin typeface="+mn-lt"/>
                <a:ea typeface="+mn-ea"/>
                <a:cs typeface="+mn-cs"/>
              </a:rPr>
              <a:t>Program Outcomes</a:t>
            </a:r>
            <a:endParaRPr kumimoji="0" lang="en-US" sz="3400" b="1" i="0" u="none" strike="noStrike" kern="1200" cap="none" spc="0" normalizeH="0" baseline="0" noProof="0" dirty="0">
              <a:ln>
                <a:noFill/>
              </a:ln>
              <a:solidFill>
                <a:schemeClr val="dk1"/>
              </a:solidFill>
              <a:effectLst/>
              <a:uLnTx/>
              <a:uFillTx/>
              <a:latin typeface="+mn-lt"/>
              <a:ea typeface="+mn-ea"/>
              <a:cs typeface="+mn-cs"/>
            </a:endParaRPr>
          </a:p>
        </p:txBody>
      </p:sp>
      <p:pic>
        <p:nvPicPr>
          <p:cNvPr id="9"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10" name="Footer Placeholder 9"/>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2400" b="1" i="0" u="none" strike="noStrike" kern="1200" cap="none" spc="0" normalizeH="0" baseline="0" noProof="0" dirty="0">
                <a:ln>
                  <a:noFill/>
                </a:ln>
                <a:solidFill>
                  <a:schemeClr val="dk1"/>
                </a:solidFill>
                <a:effectLst/>
                <a:uLnTx/>
                <a:uFillTx/>
                <a:latin typeface="+mn-lt"/>
                <a:ea typeface="+mn-ea"/>
                <a:cs typeface="+mn-cs"/>
              </a:rPr>
              <a:t>CO-PO and PSO Mapping</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graphicFrame>
        <p:nvGraphicFramePr>
          <p:cNvPr id="10" name="Table 9"/>
          <p:cNvGraphicFramePr>
            <a:graphicFrameLocks noGrp="1"/>
          </p:cNvGraphicFramePr>
          <p:nvPr/>
        </p:nvGraphicFramePr>
        <p:xfrm>
          <a:off x="1752600" y="914400"/>
          <a:ext cx="6019802" cy="2243328"/>
        </p:xfrm>
        <a:graphic>
          <a:graphicData uri="http://schemas.openxmlformats.org/drawingml/2006/table">
            <a:tbl>
              <a:tblPr/>
              <a:tblGrid>
                <a:gridCol w="723789"/>
                <a:gridCol w="882669"/>
                <a:gridCol w="794402"/>
                <a:gridCol w="794402"/>
                <a:gridCol w="794402"/>
                <a:gridCol w="706135"/>
                <a:gridCol w="617868"/>
                <a:gridCol w="706135"/>
              </a:tblGrid>
              <a:tr h="292100">
                <a:tc>
                  <a:txBody>
                    <a:bodyPr/>
                    <a:lstStyle/>
                    <a:p>
                      <a:pPr marL="0" marR="0" algn="ctr">
                        <a:lnSpc>
                          <a:spcPct val="115000"/>
                        </a:lnSpc>
                        <a:spcBef>
                          <a:spcPts val="0"/>
                        </a:spcBef>
                        <a:spcAft>
                          <a:spcPts val="0"/>
                        </a:spcAft>
                      </a:pPr>
                      <a:r>
                        <a:rPr lang="en-US" sz="2000" b="1" dirty="0">
                          <a:latin typeface="Calibri" panose="020F0502020204030204"/>
                          <a:ea typeface="Times New Roman" panose="02020603050405020304"/>
                          <a:cs typeface="Mangal"/>
                        </a:rPr>
                        <a:t>S No</a:t>
                      </a: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Calibri" panose="020F0502020204030204"/>
                          <a:ea typeface="Times New Roman" panose="02020603050405020304"/>
                          <a:cs typeface="Mangal"/>
                        </a:rPr>
                        <a:t>CO/PO</a:t>
                      </a: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latin typeface="Calibri" panose="020F0502020204030204"/>
                          <a:ea typeface="Times New Roman" panose="02020603050405020304"/>
                          <a:cs typeface="Mangal"/>
                        </a:rPr>
                        <a:t>PO1</a:t>
                      </a:r>
                      <a:endParaRPr lang="en-US" sz="200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Calibri" panose="020F0502020204030204"/>
                          <a:ea typeface="Times New Roman" panose="02020603050405020304"/>
                          <a:cs typeface="Mangal"/>
                        </a:rPr>
                        <a:t>PO2</a:t>
                      </a: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latin typeface="Calibri" panose="020F0502020204030204"/>
                          <a:ea typeface="Times New Roman" panose="02020603050405020304"/>
                          <a:cs typeface="Mangal"/>
                        </a:rPr>
                        <a:t>PO3</a:t>
                      </a:r>
                      <a:endParaRPr lang="en-US" sz="200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latin typeface="Calibri" panose="020F0502020204030204"/>
                          <a:ea typeface="Times New Roman" panose="02020603050405020304"/>
                          <a:cs typeface="Mangal"/>
                        </a:rPr>
                        <a:t>PO4</a:t>
                      </a:r>
                      <a:endParaRPr lang="en-US" sz="200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Calibri" panose="020F0502020204030204"/>
                          <a:ea typeface="Times New Roman" panose="02020603050405020304"/>
                          <a:cs typeface="Mangal"/>
                        </a:rPr>
                        <a:t>PO5</a:t>
                      </a: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Calibri" panose="020F0502020204030204"/>
                          <a:ea typeface="Times New Roman" panose="02020603050405020304"/>
                          <a:cs typeface="Mangal"/>
                        </a:rPr>
                        <a:t>PO6</a:t>
                      </a: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2100">
                <a:tc>
                  <a:txBody>
                    <a:bodyPr/>
                    <a:lstStyle/>
                    <a:p>
                      <a:pPr marL="0" marR="0" algn="ctr">
                        <a:lnSpc>
                          <a:spcPct val="115000"/>
                        </a:lnSpc>
                        <a:spcBef>
                          <a:spcPts val="0"/>
                        </a:spcBef>
                        <a:spcAft>
                          <a:spcPts val="0"/>
                        </a:spcAft>
                      </a:pPr>
                      <a:r>
                        <a:rPr lang="en-US" sz="2000" b="0" i="0" dirty="0">
                          <a:solidFill>
                            <a:schemeClr val="tx1"/>
                          </a:solidFill>
                          <a:latin typeface="Calibri" panose="020F0502020204030204"/>
                          <a:ea typeface="Times New Roman" panose="02020603050405020304"/>
                          <a:cs typeface="Mangal"/>
                        </a:rPr>
                        <a:t>1</a:t>
                      </a:r>
                      <a:endParaRPr lang="en-US" sz="2000" b="0" i="0" dirty="0">
                        <a:solidFill>
                          <a:schemeClr val="tx1"/>
                        </a:solidFill>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0" i="0" dirty="0">
                          <a:solidFill>
                            <a:schemeClr val="tx1"/>
                          </a:solidFill>
                          <a:latin typeface="Calibri" panose="020F0502020204030204"/>
                          <a:ea typeface="Times New Roman" panose="02020603050405020304"/>
                          <a:cs typeface="Mangal"/>
                        </a:rPr>
                        <a:t>CO1</a:t>
                      </a:r>
                      <a:endParaRPr lang="en-US" sz="2000" b="0" i="0" dirty="0">
                        <a:solidFill>
                          <a:schemeClr val="tx1"/>
                        </a:solidFill>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000" b="0" i="0" dirty="0">
                        <a:solidFill>
                          <a:schemeClr val="tx1"/>
                        </a:solidFill>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0" i="0" dirty="0">
                          <a:solidFill>
                            <a:schemeClr val="tx1"/>
                          </a:solidFill>
                          <a:latin typeface="Calibri" panose="020F0502020204030204"/>
                          <a:ea typeface="Times New Roman" panose="02020603050405020304"/>
                          <a:cs typeface="Mangal"/>
                        </a:rPr>
                        <a:t>3</a:t>
                      </a:r>
                      <a:endParaRPr lang="en-US" sz="2000" b="0" i="0" dirty="0">
                        <a:solidFill>
                          <a:schemeClr val="tx1"/>
                        </a:solidFill>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000" b="0" i="0" dirty="0">
                        <a:solidFill>
                          <a:schemeClr val="tx1"/>
                        </a:solidFill>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0" i="0" dirty="0">
                          <a:solidFill>
                            <a:schemeClr val="tx1"/>
                          </a:solidFill>
                          <a:latin typeface="Calibri" panose="020F0502020204030204"/>
                          <a:ea typeface="Times New Roman" panose="02020603050405020304"/>
                          <a:cs typeface="Mangal"/>
                        </a:rPr>
                        <a:t>2</a:t>
                      </a:r>
                      <a:endParaRPr lang="en-US" sz="2000" b="0" i="0" dirty="0">
                        <a:solidFill>
                          <a:schemeClr val="tx1"/>
                        </a:solidFill>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000" b="0" i="0" dirty="0">
                        <a:solidFill>
                          <a:schemeClr val="tx1"/>
                        </a:solidFill>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000" b="0" i="0" dirty="0">
                        <a:solidFill>
                          <a:schemeClr val="tx1"/>
                        </a:solidFill>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2100">
                <a:tc>
                  <a:txBody>
                    <a:bodyPr/>
                    <a:lstStyle/>
                    <a:p>
                      <a:pPr marL="0" marR="0" algn="ctr">
                        <a:lnSpc>
                          <a:spcPct val="115000"/>
                        </a:lnSpc>
                        <a:spcBef>
                          <a:spcPts val="0"/>
                        </a:spcBef>
                        <a:spcAft>
                          <a:spcPts val="0"/>
                        </a:spcAft>
                      </a:pPr>
                      <a:r>
                        <a:rPr lang="en-US" sz="2000" b="0" dirty="0">
                          <a:solidFill>
                            <a:schemeClr val="tx1"/>
                          </a:solidFill>
                          <a:latin typeface="Calibri" panose="020F0502020204030204"/>
                          <a:ea typeface="Times New Roman" panose="02020603050405020304"/>
                          <a:cs typeface="Mangal"/>
                        </a:rPr>
                        <a:t>2</a:t>
                      </a:r>
                      <a:endParaRPr lang="en-US" sz="2000" b="0" dirty="0">
                        <a:solidFill>
                          <a:schemeClr val="tx1"/>
                        </a:solidFill>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0" dirty="0">
                          <a:solidFill>
                            <a:schemeClr val="tx1"/>
                          </a:solidFill>
                          <a:latin typeface="Calibri" panose="020F0502020204030204"/>
                          <a:ea typeface="Times New Roman" panose="02020603050405020304"/>
                          <a:cs typeface="Mangal"/>
                        </a:rPr>
                        <a:t>CO2</a:t>
                      </a:r>
                      <a:endParaRPr lang="en-US" sz="2000" b="0" dirty="0">
                        <a:solidFill>
                          <a:schemeClr val="tx1"/>
                        </a:solidFill>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000" b="0" dirty="0">
                        <a:solidFill>
                          <a:schemeClr val="tx1"/>
                        </a:solidFill>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000" b="0" dirty="0">
                        <a:solidFill>
                          <a:schemeClr val="tx1"/>
                        </a:solidFill>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0" dirty="0">
                          <a:solidFill>
                            <a:schemeClr val="tx1"/>
                          </a:solidFill>
                          <a:latin typeface="Calibri" panose="020F0502020204030204"/>
                          <a:ea typeface="Times New Roman" panose="02020603050405020304"/>
                          <a:cs typeface="Mangal"/>
                        </a:rPr>
                        <a:t>3</a:t>
                      </a:r>
                      <a:endParaRPr lang="en-US" sz="2000" b="0" dirty="0">
                        <a:solidFill>
                          <a:schemeClr val="tx1"/>
                        </a:solidFill>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000" b="0" dirty="0">
                        <a:solidFill>
                          <a:schemeClr val="tx1"/>
                        </a:solidFill>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000" b="0" dirty="0">
                        <a:solidFill>
                          <a:schemeClr val="tx1"/>
                        </a:solidFill>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0" dirty="0">
                          <a:solidFill>
                            <a:schemeClr val="tx1"/>
                          </a:solidFill>
                          <a:latin typeface="Calibri" panose="020F0502020204030204"/>
                          <a:ea typeface="Times New Roman" panose="02020603050405020304"/>
                          <a:cs typeface="Mangal"/>
                        </a:rPr>
                        <a:t>2</a:t>
                      </a:r>
                      <a:endParaRPr lang="en-US" sz="2000" b="0" dirty="0">
                        <a:solidFill>
                          <a:schemeClr val="tx1"/>
                        </a:solidFill>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2100">
                <a:tc>
                  <a:txBody>
                    <a:bodyPr/>
                    <a:lstStyle/>
                    <a:p>
                      <a:pPr marL="0" marR="0" algn="ctr">
                        <a:lnSpc>
                          <a:spcPct val="115000"/>
                        </a:lnSpc>
                        <a:spcBef>
                          <a:spcPts val="0"/>
                        </a:spcBef>
                        <a:spcAft>
                          <a:spcPts val="0"/>
                        </a:spcAft>
                      </a:pPr>
                      <a:r>
                        <a:rPr lang="en-US" sz="2000" dirty="0">
                          <a:latin typeface="Calibri" panose="020F0502020204030204"/>
                          <a:ea typeface="Times New Roman" panose="02020603050405020304"/>
                          <a:cs typeface="Mangal"/>
                        </a:rPr>
                        <a:t>3</a:t>
                      </a: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a:latin typeface="Calibri" panose="020F0502020204030204"/>
                          <a:ea typeface="Times New Roman" panose="02020603050405020304"/>
                          <a:cs typeface="Mangal"/>
                        </a:rPr>
                        <a:t>CO3</a:t>
                      </a:r>
                      <a:endParaRPr lang="en-US" sz="200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Calibri" panose="020F0502020204030204"/>
                          <a:ea typeface="Times New Roman" panose="02020603050405020304"/>
                          <a:cs typeface="Mangal"/>
                        </a:rPr>
                        <a:t>3</a:t>
                      </a: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2100">
                <a:tc>
                  <a:txBody>
                    <a:bodyPr/>
                    <a:lstStyle/>
                    <a:p>
                      <a:pPr marL="0" marR="0" algn="ctr">
                        <a:lnSpc>
                          <a:spcPct val="115000"/>
                        </a:lnSpc>
                        <a:spcBef>
                          <a:spcPts val="0"/>
                        </a:spcBef>
                        <a:spcAft>
                          <a:spcPts val="0"/>
                        </a:spcAft>
                      </a:pPr>
                      <a:r>
                        <a:rPr lang="en-US" sz="2000" dirty="0">
                          <a:latin typeface="Calibri" panose="020F0502020204030204"/>
                          <a:ea typeface="Times New Roman" panose="02020603050405020304"/>
                          <a:cs typeface="Mangal"/>
                        </a:rPr>
                        <a:t>4</a:t>
                      </a: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Calibri" panose="020F0502020204030204"/>
                          <a:ea typeface="Times New Roman" panose="02020603050405020304"/>
                          <a:cs typeface="Mangal"/>
                        </a:rPr>
                        <a:t>CO4</a:t>
                      </a: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Calibri" panose="020F0502020204030204"/>
                          <a:ea typeface="Times New Roman" panose="02020603050405020304"/>
                          <a:cs typeface="Mangal"/>
                        </a:rPr>
                        <a:t>1</a:t>
                      </a: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Calibri" panose="020F0502020204030204"/>
                          <a:ea typeface="Times New Roman" panose="02020603050405020304"/>
                          <a:cs typeface="Mangal"/>
                        </a:rPr>
                        <a:t>3</a:t>
                      </a: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2100">
                <a:tc>
                  <a:txBody>
                    <a:bodyPr/>
                    <a:lstStyle/>
                    <a:p>
                      <a:pPr marL="0" marR="0" algn="ctr">
                        <a:lnSpc>
                          <a:spcPct val="115000"/>
                        </a:lnSpc>
                        <a:spcBef>
                          <a:spcPts val="0"/>
                        </a:spcBef>
                        <a:spcAft>
                          <a:spcPts val="0"/>
                        </a:spcAft>
                      </a:pPr>
                      <a:r>
                        <a:rPr lang="en-US" sz="2800" b="1" dirty="0">
                          <a:solidFill>
                            <a:srgbClr val="FF0000"/>
                          </a:solidFill>
                          <a:latin typeface="Calibri" panose="020F0502020204030204"/>
                          <a:ea typeface="Times New Roman" panose="02020603050405020304"/>
                          <a:cs typeface="Mangal"/>
                        </a:rPr>
                        <a:t>5</a:t>
                      </a:r>
                      <a:endParaRPr lang="en-US" sz="2800" b="1" dirty="0">
                        <a:solidFill>
                          <a:srgbClr val="FF0000"/>
                        </a:solidFill>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800" b="1" dirty="0">
                          <a:solidFill>
                            <a:srgbClr val="FF0000"/>
                          </a:solidFill>
                          <a:latin typeface="Calibri" panose="020F0502020204030204"/>
                          <a:ea typeface="Times New Roman" panose="02020603050405020304"/>
                          <a:cs typeface="Mangal"/>
                        </a:rPr>
                        <a:t>CO 5</a:t>
                      </a:r>
                      <a:endParaRPr lang="en-US" sz="2800" b="1" dirty="0">
                        <a:solidFill>
                          <a:srgbClr val="FF0000"/>
                        </a:solidFill>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800" b="1" dirty="0">
                          <a:solidFill>
                            <a:srgbClr val="FF0000"/>
                          </a:solidFill>
                          <a:latin typeface="Calibri" panose="020F0502020204030204"/>
                          <a:ea typeface="Times New Roman" panose="02020603050405020304"/>
                          <a:cs typeface="Mangal"/>
                        </a:rPr>
                        <a:t>1</a:t>
                      </a:r>
                      <a:endParaRPr lang="en-US" sz="2800" b="1" dirty="0">
                        <a:solidFill>
                          <a:srgbClr val="FF0000"/>
                        </a:solidFill>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800" b="1" dirty="0">
                          <a:solidFill>
                            <a:srgbClr val="FF0000"/>
                          </a:solidFill>
                          <a:latin typeface="Calibri" panose="020F0502020204030204"/>
                          <a:ea typeface="Times New Roman" panose="02020603050405020304"/>
                          <a:cs typeface="Mangal"/>
                        </a:rPr>
                        <a:t>2</a:t>
                      </a:r>
                      <a:endParaRPr lang="en-US" sz="2800" b="1" dirty="0">
                        <a:solidFill>
                          <a:srgbClr val="FF0000"/>
                        </a:solidFill>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800" b="1" dirty="0">
                        <a:solidFill>
                          <a:srgbClr val="FF0000"/>
                        </a:solidFill>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800" b="1" dirty="0">
                        <a:solidFill>
                          <a:srgbClr val="FF0000"/>
                        </a:solidFill>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800" b="1" dirty="0">
                        <a:solidFill>
                          <a:srgbClr val="FF0000"/>
                        </a:solidFill>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800" b="1" dirty="0">
                        <a:solidFill>
                          <a:srgbClr val="FF0000"/>
                        </a:solidFill>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1" name="Table 10"/>
          <p:cNvGraphicFramePr>
            <a:graphicFrameLocks noGrp="1"/>
          </p:cNvGraphicFramePr>
          <p:nvPr/>
        </p:nvGraphicFramePr>
        <p:xfrm>
          <a:off x="1752601" y="3992880"/>
          <a:ext cx="6096001" cy="2166620"/>
        </p:xfrm>
        <a:graphic>
          <a:graphicData uri="http://schemas.openxmlformats.org/drawingml/2006/table">
            <a:tbl>
              <a:tblPr/>
              <a:tblGrid>
                <a:gridCol w="1402259"/>
                <a:gridCol w="803376"/>
                <a:gridCol w="803376"/>
                <a:gridCol w="957062"/>
                <a:gridCol w="661012"/>
                <a:gridCol w="734458"/>
                <a:gridCol w="734458"/>
              </a:tblGrid>
              <a:tr h="363220">
                <a:tc rowSpan="2">
                  <a:txBody>
                    <a:bodyPr/>
                    <a:lstStyle/>
                    <a:p>
                      <a:pPr marL="0" marR="0">
                        <a:lnSpc>
                          <a:spcPct val="115000"/>
                        </a:lnSpc>
                        <a:spcBef>
                          <a:spcPts val="0"/>
                        </a:spcBef>
                        <a:spcAft>
                          <a:spcPts val="0"/>
                        </a:spcAft>
                      </a:pPr>
                      <a:r>
                        <a:rPr lang="en-US" sz="2000" b="1" dirty="0">
                          <a:latin typeface="Calibri" panose="020F0502020204030204"/>
                          <a:ea typeface="Times New Roman" panose="02020603050405020304"/>
                          <a:cs typeface="Mangal"/>
                        </a:rPr>
                        <a:t>Program Specific Outcomes</a:t>
                      </a: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6">
                  <a:txBody>
                    <a:bodyPr/>
                    <a:lstStyle/>
                    <a:p>
                      <a:pPr marL="0" marR="0" algn="ctr">
                        <a:lnSpc>
                          <a:spcPct val="115000"/>
                        </a:lnSpc>
                        <a:spcBef>
                          <a:spcPts val="0"/>
                        </a:spcBef>
                        <a:spcAft>
                          <a:spcPts val="0"/>
                        </a:spcAft>
                      </a:pPr>
                      <a:r>
                        <a:rPr lang="en-US" sz="2000" b="1" dirty="0">
                          <a:latin typeface="Calibri" panose="020F0502020204030204"/>
                          <a:ea typeface="Times New Roman" panose="02020603050405020304"/>
                          <a:cs typeface="Mangal"/>
                        </a:rPr>
                        <a:t>Course Outcomes</a:t>
                      </a: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r>
              <a:tr h="726440">
                <a:tc vMerge="1">
                  <a:tcPr/>
                </a:tc>
                <a:tc>
                  <a:txBody>
                    <a:bodyPr/>
                    <a:lstStyle/>
                    <a:p>
                      <a:pPr marL="0" marR="0" algn="ctr">
                        <a:lnSpc>
                          <a:spcPct val="115000"/>
                        </a:lnSpc>
                        <a:spcBef>
                          <a:spcPts val="0"/>
                        </a:spcBef>
                        <a:spcAft>
                          <a:spcPts val="0"/>
                        </a:spcAft>
                      </a:pPr>
                      <a:r>
                        <a:rPr lang="en-US" sz="2000" b="1" dirty="0">
                          <a:latin typeface="Calibri" panose="020F0502020204030204"/>
                          <a:ea typeface="Times New Roman" panose="02020603050405020304"/>
                          <a:cs typeface="Mangal"/>
                        </a:rPr>
                        <a:t>1</a:t>
                      </a: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Calibri" panose="020F0502020204030204"/>
                          <a:ea typeface="Times New Roman" panose="02020603050405020304"/>
                          <a:cs typeface="Mangal"/>
                        </a:rPr>
                        <a:t>2</a:t>
                      </a: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Calibri" panose="020F0502020204030204"/>
                          <a:ea typeface="Times New Roman" panose="02020603050405020304"/>
                          <a:cs typeface="Mangal"/>
                        </a:rPr>
                        <a:t>3</a:t>
                      </a: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Calibri" panose="020F0502020204030204"/>
                          <a:ea typeface="Times New Roman" panose="02020603050405020304"/>
                          <a:cs typeface="Mangal"/>
                        </a:rPr>
                        <a:t>4</a:t>
                      </a: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Calibri" panose="020F0502020204030204"/>
                          <a:ea typeface="Times New Roman" panose="02020603050405020304"/>
                          <a:cs typeface="Mangal"/>
                        </a:rPr>
                        <a:t>5</a:t>
                      </a:r>
                      <a:endParaRPr lang="en-US" sz="2000" b="1"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4">
                  <a:txBody>
                    <a:bodyPr/>
                    <a:lstStyle/>
                    <a:p>
                      <a:pPr marL="0" marR="0">
                        <a:lnSpc>
                          <a:spcPct val="115000"/>
                        </a:lnSpc>
                        <a:spcBef>
                          <a:spcPts val="0"/>
                        </a:spcBef>
                        <a:spcAft>
                          <a:spcPts val="0"/>
                        </a:spcAft>
                      </a:pP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3220">
                <a:tc>
                  <a:txBody>
                    <a:bodyPr/>
                    <a:lstStyle/>
                    <a:p>
                      <a:pPr marL="0" marR="0" algn="ctr">
                        <a:lnSpc>
                          <a:spcPct val="115000"/>
                        </a:lnSpc>
                        <a:spcBef>
                          <a:spcPts val="0"/>
                        </a:spcBef>
                        <a:spcAft>
                          <a:spcPts val="0"/>
                        </a:spcAft>
                      </a:pPr>
                      <a:r>
                        <a:rPr lang="en-US" sz="2000" b="1" dirty="0">
                          <a:latin typeface="Calibri" panose="020F0502020204030204"/>
                          <a:ea typeface="Times New Roman" panose="02020603050405020304"/>
                          <a:cs typeface="Mangal"/>
                        </a:rPr>
                        <a:t>1</a:t>
                      </a: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Calibri" panose="020F0502020204030204"/>
                          <a:ea typeface="Times New Roman" panose="02020603050405020304"/>
                          <a:cs typeface="Mangal"/>
                        </a:rPr>
                        <a:t>3</a:t>
                      </a: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Calibri" panose="020F0502020204030204"/>
                          <a:ea typeface="Times New Roman" panose="02020603050405020304"/>
                          <a:cs typeface="Mangal"/>
                        </a:rPr>
                        <a:t>1</a:t>
                      </a: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dirty="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2415">
                <a:tc>
                  <a:txBody>
                    <a:bodyPr/>
                    <a:lstStyle/>
                    <a:p>
                      <a:pPr marL="0" marR="0" algn="ctr">
                        <a:lnSpc>
                          <a:spcPct val="115000"/>
                        </a:lnSpc>
                        <a:spcBef>
                          <a:spcPts val="0"/>
                        </a:spcBef>
                        <a:spcAft>
                          <a:spcPts val="0"/>
                        </a:spcAft>
                      </a:pPr>
                      <a:r>
                        <a:rPr lang="en-US" sz="2000" b="1" dirty="0">
                          <a:latin typeface="Calibri" panose="020F0502020204030204"/>
                          <a:ea typeface="Times New Roman" panose="02020603050405020304"/>
                          <a:cs typeface="Mangal"/>
                        </a:rPr>
                        <a:t>2</a:t>
                      </a: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Calibri" panose="020F0502020204030204"/>
                          <a:ea typeface="Times New Roman" panose="02020603050405020304"/>
                          <a:cs typeface="Mangal"/>
                        </a:rPr>
                        <a:t>1</a:t>
                      </a: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Calibri" panose="020F0502020204030204"/>
                          <a:ea typeface="Times New Roman" panose="02020603050405020304"/>
                          <a:cs typeface="Mangal"/>
                        </a:rPr>
                        <a:t>1</a:t>
                      </a: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dirty="0"/>
                        <a:t>2</a:t>
                      </a:r>
                      <a:endParaRPr lang="en-US" dirty="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3220">
                <a:tc>
                  <a:txBody>
                    <a:bodyPr/>
                    <a:lstStyle/>
                    <a:p>
                      <a:pPr marL="0" marR="0" algn="ctr">
                        <a:lnSpc>
                          <a:spcPct val="115000"/>
                        </a:lnSpc>
                        <a:spcBef>
                          <a:spcPts val="0"/>
                        </a:spcBef>
                        <a:spcAft>
                          <a:spcPts val="0"/>
                        </a:spcAft>
                      </a:pPr>
                      <a:r>
                        <a:rPr lang="en-US" sz="2000" b="1" dirty="0">
                          <a:latin typeface="Calibri" panose="020F0502020204030204"/>
                          <a:ea typeface="Times New Roman" panose="02020603050405020304"/>
                          <a:cs typeface="Mangal"/>
                        </a:rPr>
                        <a:t>3</a:t>
                      </a: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Calibri" panose="020F0502020204030204"/>
                          <a:ea typeface="Times New Roman" panose="02020603050405020304"/>
                          <a:cs typeface="Mangal"/>
                        </a:rPr>
                        <a:t>1</a:t>
                      </a: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Calibri" panose="020F0502020204030204"/>
                          <a:ea typeface="Times New Roman" panose="02020603050405020304"/>
                          <a:cs typeface="Mangal"/>
                        </a:rPr>
                        <a:t>2</a:t>
                      </a: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0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dirty="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9" name="Content Placeholder 2"/>
          <p:cNvSpPr>
            <a:spLocks noGrp="1"/>
          </p:cNvSpPr>
          <p:nvPr>
            <p:ph idx="1"/>
          </p:nvPr>
        </p:nvSpPr>
        <p:spPr>
          <a:xfrm>
            <a:off x="533400" y="3352801"/>
            <a:ext cx="8229600" cy="457200"/>
          </a:xfrm>
        </p:spPr>
        <p:txBody>
          <a:bodyPr>
            <a:normAutofit fontScale="92500" lnSpcReduction="10000"/>
          </a:bodyPr>
          <a:lstStyle/>
          <a:p>
            <a:pPr algn="ctr">
              <a:buNone/>
            </a:pPr>
            <a:r>
              <a:rPr lang="en-US" sz="2800" dirty="0"/>
              <a:t>*1=High, *2=Medium, *3=Low</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14400"/>
            <a:ext cx="8686800" cy="5257800"/>
          </a:xfrm>
        </p:spPr>
        <p:txBody>
          <a:bodyPr>
            <a:normAutofit fontScale="92500"/>
          </a:bodyPr>
          <a:lstStyle/>
          <a:p>
            <a:pPr algn="just" fontAlgn="base">
              <a:buNone/>
            </a:pPr>
            <a:r>
              <a:rPr lang="en-US" sz="2800" dirty="0"/>
              <a:t>PEO 1: Graduates of the Management program will have conceptual knowledge, to adapt to the rapidly changing environment, learn new skills and demonstrate application of management principles in a professional work setting.</a:t>
            </a:r>
            <a:endParaRPr lang="en-US" sz="2800" dirty="0"/>
          </a:p>
          <a:p>
            <a:pPr algn="just" fontAlgn="base">
              <a:buNone/>
            </a:pPr>
            <a:r>
              <a:rPr lang="en-US" sz="2800" dirty="0"/>
              <a:t>PEO 2: Graduates will apply appropriate tools for decision making required for solving complex managerial problems in the local or global context.</a:t>
            </a:r>
            <a:endParaRPr lang="en-US" sz="2800" dirty="0"/>
          </a:p>
          <a:p>
            <a:pPr algn="just" fontAlgn="base">
              <a:buNone/>
            </a:pPr>
            <a:r>
              <a:rPr lang="en-US" sz="2800" dirty="0"/>
              <a:t>PEO 3: Graduates of the Management program will exhibit integrity, social responsibility and teamwork.</a:t>
            </a:r>
            <a:endParaRPr lang="en-US" sz="2800" dirty="0"/>
          </a:p>
          <a:p>
            <a:pPr algn="just" fontAlgn="base">
              <a:buNone/>
            </a:pPr>
            <a:r>
              <a:rPr lang="en-US" sz="2800" dirty="0"/>
              <a:t>PEO 4: Graduates will exhibit ethics, communication skills, leadership qualities and entrepreneurial mindset using creativity and innovation.</a:t>
            </a:r>
            <a:endParaRPr lang="en-US" sz="2800" dirty="0"/>
          </a:p>
        </p:txBody>
      </p:sp>
      <p:sp>
        <p:nvSpPr>
          <p:cNvPr id="5" name="Footer Placeholder 4"/>
          <p:cNvSpPr>
            <a:spLocks noGrp="1"/>
          </p:cNvSpPr>
          <p:nvPr>
            <p:ph type="ftr" sz="quarter" idx="11"/>
          </p:nvPr>
        </p:nvSpPr>
        <p:spPr>
          <a:xfrm>
            <a:off x="2819400" y="6248400"/>
            <a:ext cx="4724400" cy="365125"/>
          </a:xfrm>
        </p:spPr>
        <p:txBody>
          <a:bodyPr/>
          <a:lstStyle/>
          <a:p>
            <a:r>
              <a:rPr lang="en-US"/>
              <a:t>Dr. Meenu Chaudhary     AMBA 0401 (PM)                Unit-5</a:t>
            </a:r>
            <a:endParaRPr lang="en-US" dirty="0"/>
          </a:p>
        </p:txBody>
      </p:sp>
      <p:sp>
        <p:nvSpPr>
          <p:cNvPr id="7"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400" b="1" i="0" u="none" strike="noStrike" kern="1200" cap="none" spc="0" normalizeH="0" noProof="0" dirty="0">
                <a:ln>
                  <a:noFill/>
                </a:ln>
                <a:solidFill>
                  <a:schemeClr val="dk1"/>
                </a:solidFill>
                <a:effectLst/>
                <a:uLnTx/>
                <a:uFillTx/>
                <a:latin typeface="+mn-lt"/>
                <a:ea typeface="+mn-ea"/>
                <a:cs typeface="+mn-cs"/>
              </a:rPr>
              <a:t>Program Educational Objective</a:t>
            </a:r>
            <a:endParaRPr kumimoji="0" lang="en-US" sz="3400" b="1"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14400"/>
            <a:ext cx="8686800" cy="5257800"/>
          </a:xfrm>
        </p:spPr>
        <p:txBody>
          <a:bodyPr>
            <a:normAutofit/>
          </a:bodyPr>
          <a:lstStyle/>
          <a:p>
            <a:pPr algn="just" fontAlgn="base">
              <a:buNone/>
            </a:pPr>
            <a:r>
              <a:rPr lang="en-US" sz="2800" dirty="0"/>
              <a:t>	Subject is first time introduced under the autonomous status. This would be the first result of the course. </a:t>
            </a:r>
            <a:endParaRPr lang="en-US" sz="2800" dirty="0"/>
          </a:p>
        </p:txBody>
      </p:sp>
      <p:sp>
        <p:nvSpPr>
          <p:cNvPr id="5" name="Footer Placeholder 4"/>
          <p:cNvSpPr>
            <a:spLocks noGrp="1"/>
          </p:cNvSpPr>
          <p:nvPr>
            <p:ph type="ftr" sz="quarter" idx="11"/>
          </p:nvPr>
        </p:nvSpPr>
        <p:spPr>
          <a:xfrm>
            <a:off x="2819400" y="6248400"/>
            <a:ext cx="4724400" cy="365125"/>
          </a:xfrm>
        </p:spPr>
        <p:txBody>
          <a:bodyPr/>
          <a:lstStyle/>
          <a:p>
            <a:r>
              <a:rPr lang="en-US"/>
              <a:t>Dr. Meenu Chaudhary     AMBA 0401 (PM)                Unit-5</a:t>
            </a:r>
            <a:endParaRPr lang="en-US" dirty="0"/>
          </a:p>
        </p:txBody>
      </p:sp>
      <p:sp>
        <p:nvSpPr>
          <p:cNvPr id="7"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400" b="1" i="0" u="none" strike="noStrike" kern="1200" cap="none" spc="0" normalizeH="0" noProof="0" dirty="0">
                <a:ln>
                  <a:noFill/>
                </a:ln>
                <a:solidFill>
                  <a:schemeClr val="dk1"/>
                </a:solidFill>
                <a:effectLst/>
                <a:uLnTx/>
                <a:uFillTx/>
                <a:latin typeface="+mn-lt"/>
                <a:ea typeface="+mn-ea"/>
                <a:cs typeface="+mn-cs"/>
              </a:rPr>
              <a:t>Result Analysis</a:t>
            </a:r>
            <a:endParaRPr kumimoji="0" lang="en-US" sz="3400" b="1"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819400" y="6248400"/>
            <a:ext cx="4724400" cy="365125"/>
          </a:xfrm>
        </p:spPr>
        <p:txBody>
          <a:bodyPr/>
          <a:lstStyle/>
          <a:p>
            <a:r>
              <a:rPr lang="en-US"/>
              <a:t>Dr. Meenu Chaudhary     AMBA 0401 (PM)                Unit-5</a:t>
            </a:r>
            <a:endParaRPr lang="en-US" dirty="0"/>
          </a:p>
        </p:txBody>
      </p:sp>
      <p:sp>
        <p:nvSpPr>
          <p:cNvPr id="7"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400" b="1" i="0" u="none" strike="noStrike" kern="1200" cap="none" spc="0" normalizeH="0" noProof="0" dirty="0">
                <a:ln>
                  <a:noFill/>
                </a:ln>
                <a:solidFill>
                  <a:schemeClr val="dk1"/>
                </a:solidFill>
                <a:effectLst/>
                <a:uLnTx/>
                <a:uFillTx/>
                <a:latin typeface="+mn-lt"/>
                <a:ea typeface="+mn-ea"/>
                <a:cs typeface="+mn-cs"/>
              </a:rPr>
              <a:t>End Semester Question Paper Template</a:t>
            </a:r>
            <a:endParaRPr kumimoji="0" lang="en-US" sz="3400" b="1"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pic>
        <p:nvPicPr>
          <p:cNvPr id="9" name="Content Placeholder 9" descr="temp1.png"/>
          <p:cNvPicPr>
            <a:picLocks noGrp="1" noChangeAspect="1"/>
          </p:cNvPicPr>
          <p:nvPr>
            <p:ph idx="1"/>
          </p:nvPr>
        </p:nvPicPr>
        <p:blipFill>
          <a:blip r:embed="rId2"/>
          <a:stretch>
            <a:fillRect/>
          </a:stretch>
        </p:blipFill>
        <p:spPr>
          <a:xfrm>
            <a:off x="914400" y="990600"/>
            <a:ext cx="7807199" cy="5297376"/>
          </a:xfr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819400" y="6248400"/>
            <a:ext cx="4724400" cy="365125"/>
          </a:xfrm>
        </p:spPr>
        <p:txBody>
          <a:bodyPr/>
          <a:lstStyle/>
          <a:p>
            <a:r>
              <a:rPr lang="en-US"/>
              <a:t>Dr. Meenu Chaudhary     AMBA 0401 (PM)                Unit-5</a:t>
            </a:r>
            <a:endParaRPr lang="en-US" dirty="0"/>
          </a:p>
        </p:txBody>
      </p:sp>
      <p:sp>
        <p:nvSpPr>
          <p:cNvPr id="7"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400" b="1" i="0" u="none" strike="noStrike" kern="1200" cap="none" spc="0" normalizeH="0" noProof="0" dirty="0">
                <a:ln>
                  <a:noFill/>
                </a:ln>
                <a:solidFill>
                  <a:schemeClr val="dk1"/>
                </a:solidFill>
                <a:effectLst/>
                <a:uLnTx/>
                <a:uFillTx/>
                <a:latin typeface="+mn-lt"/>
                <a:ea typeface="+mn-ea"/>
                <a:cs typeface="+mn-cs"/>
              </a:rPr>
              <a:t>End Semester Question Paper Template</a:t>
            </a:r>
            <a:endParaRPr kumimoji="0" lang="en-US" sz="3400" b="1"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pic>
        <p:nvPicPr>
          <p:cNvPr id="9" name="Content Placeholder 7" descr="temp3.png"/>
          <p:cNvPicPr>
            <a:picLocks noGrp="1" noChangeAspect="1"/>
          </p:cNvPicPr>
          <p:nvPr>
            <p:ph idx="1"/>
          </p:nvPr>
        </p:nvPicPr>
        <p:blipFill>
          <a:blip r:embed="rId2"/>
          <a:stretch>
            <a:fillRect/>
          </a:stretch>
        </p:blipFill>
        <p:spPr>
          <a:xfrm>
            <a:off x="1066800" y="762000"/>
            <a:ext cx="7086600" cy="5532249"/>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14400"/>
            <a:ext cx="8686800" cy="5257800"/>
          </a:xfrm>
        </p:spPr>
        <p:txBody>
          <a:bodyPr>
            <a:normAutofit/>
          </a:bodyPr>
          <a:lstStyle/>
          <a:p>
            <a:pPr marL="457200" indent="-457200" algn="just">
              <a:buNone/>
            </a:pPr>
            <a:r>
              <a:rPr lang="en-US" sz="2800" dirty="0"/>
              <a:t>Objective of this unit are:</a:t>
            </a:r>
            <a:endParaRPr lang="en-US" sz="2800" dirty="0"/>
          </a:p>
          <a:p>
            <a:pPr marL="457200" indent="-457200" algn="just">
              <a:buNone/>
            </a:pPr>
            <a:endParaRPr lang="en-US" sz="2800" dirty="0"/>
          </a:p>
          <a:p>
            <a:pPr marL="457200" indent="-457200" algn="just"/>
            <a:r>
              <a:rPr lang="en-US" sz="2800" dirty="0"/>
              <a:t>To make the students learn about project and project management.</a:t>
            </a:r>
            <a:endParaRPr lang="en-US" sz="2800" dirty="0"/>
          </a:p>
          <a:p>
            <a:pPr marL="457200" indent="-457200" algn="just"/>
            <a:r>
              <a:rPr lang="en-US" sz="2800" dirty="0"/>
              <a:t>To make to students understand the project management process.</a:t>
            </a:r>
            <a:endParaRPr lang="en-US" sz="2800" dirty="0"/>
          </a:p>
          <a:p>
            <a:pPr marL="457200" indent="-457200" algn="just"/>
            <a:r>
              <a:rPr lang="en-US" sz="2800" dirty="0"/>
              <a:t>To make the students know about the project life cycle.</a:t>
            </a:r>
            <a:endParaRPr lang="en-US" sz="2800" dirty="0"/>
          </a:p>
        </p:txBody>
      </p:sp>
      <p:sp>
        <p:nvSpPr>
          <p:cNvPr id="5" name="Footer Placeholder 4"/>
          <p:cNvSpPr>
            <a:spLocks noGrp="1"/>
          </p:cNvSpPr>
          <p:nvPr>
            <p:ph type="ftr" sz="quarter" idx="11"/>
          </p:nvPr>
        </p:nvSpPr>
        <p:spPr>
          <a:xfrm>
            <a:off x="2819400" y="6248400"/>
            <a:ext cx="4724400" cy="365125"/>
          </a:xfrm>
        </p:spPr>
        <p:txBody>
          <a:bodyPr/>
          <a:lstStyle/>
          <a:p>
            <a:r>
              <a:rPr lang="en-US"/>
              <a:t>Dr. Meenu Chaudhary     AMBA 0401 (PM)                Unit-5</a:t>
            </a:r>
            <a:endParaRPr lang="en-US" dirty="0"/>
          </a:p>
        </p:txBody>
      </p:sp>
      <p:sp>
        <p:nvSpPr>
          <p:cNvPr id="7"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400" b="1" i="0" u="none" strike="noStrike" kern="1200" cap="none" spc="0" normalizeH="0" noProof="0" dirty="0">
                <a:ln>
                  <a:noFill/>
                </a:ln>
                <a:solidFill>
                  <a:schemeClr val="dk1"/>
                </a:solidFill>
                <a:effectLst/>
                <a:uLnTx/>
                <a:uFillTx/>
                <a:latin typeface="+mn-lt"/>
                <a:ea typeface="+mn-ea"/>
                <a:cs typeface="+mn-cs"/>
              </a:rPr>
              <a:t>Objective of Unit</a:t>
            </a:r>
            <a:endParaRPr kumimoji="0" lang="en-US" sz="3400" b="1"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14400"/>
            <a:ext cx="8686800" cy="5257800"/>
          </a:xfrm>
        </p:spPr>
        <p:txBody>
          <a:bodyPr>
            <a:normAutofit/>
          </a:bodyPr>
          <a:lstStyle/>
          <a:p>
            <a:pPr marL="457200" indent="-457200" algn="just">
              <a:buNone/>
            </a:pPr>
            <a:r>
              <a:rPr lang="en-US" sz="2800" b="1" dirty="0">
                <a:latin typeface="Times New Roman" panose="02020603050405020304" pitchFamily="18" charset="0"/>
                <a:cs typeface="Times New Roman" panose="02020603050405020304" pitchFamily="18" charset="0"/>
              </a:rPr>
              <a:t>Unit-1: </a:t>
            </a:r>
            <a:r>
              <a:rPr lang="en-US" sz="2800" dirty="0">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a:p>
            <a:pPr algn="just">
              <a:buNone/>
            </a:pPr>
            <a:r>
              <a:rPr lang="en-US" sz="2800" b="1" dirty="0"/>
              <a:t>Monitoring the project </a:t>
            </a:r>
            <a:r>
              <a:rPr lang="en-US" sz="2800" dirty="0"/>
              <a:t>– Control cycle – Project control – Designing the control system . </a:t>
            </a:r>
            <a:endParaRPr lang="en-US" sz="2800" dirty="0"/>
          </a:p>
          <a:p>
            <a:pPr algn="just">
              <a:buNone/>
            </a:pPr>
            <a:r>
              <a:rPr lang="en-US" sz="2800" b="1" dirty="0"/>
              <a:t>Evaluation of project: </a:t>
            </a:r>
            <a:r>
              <a:rPr lang="en-US" sz="2800" dirty="0"/>
              <a:t>Milestone Analysis and Tracking Gantt chart. Earned Value Analysis (EVA): Planned Value (PV), Earned Value (EV), Cost Variance (CV), Schedule Variance (SV), Cost performance Index (CPI), Schedule performance Index (SPI) – Project auditing – </a:t>
            </a:r>
            <a:endParaRPr lang="en-US" sz="2800" dirty="0"/>
          </a:p>
          <a:p>
            <a:pPr algn="just">
              <a:buNone/>
            </a:pPr>
            <a:r>
              <a:rPr lang="en-US" sz="2800" b="1" dirty="0"/>
              <a:t>Project termination: </a:t>
            </a:r>
            <a:r>
              <a:rPr lang="en-US" sz="2800" dirty="0"/>
              <a:t>Types of Terminations, Project Termination Process. </a:t>
            </a:r>
            <a:r>
              <a:rPr lang="en-US" sz="2800" b="1" dirty="0"/>
              <a:t>Case Study</a:t>
            </a:r>
            <a:endParaRPr lang="en-US" sz="2800" dirty="0"/>
          </a:p>
        </p:txBody>
      </p:sp>
      <p:sp>
        <p:nvSpPr>
          <p:cNvPr id="5" name="Footer Placeholder 4"/>
          <p:cNvSpPr>
            <a:spLocks noGrp="1"/>
          </p:cNvSpPr>
          <p:nvPr>
            <p:ph type="ftr" sz="quarter" idx="11"/>
          </p:nvPr>
        </p:nvSpPr>
        <p:spPr>
          <a:xfrm>
            <a:off x="2819400" y="6248400"/>
            <a:ext cx="4724400" cy="365125"/>
          </a:xfrm>
        </p:spPr>
        <p:txBody>
          <a:bodyPr/>
          <a:lstStyle/>
          <a:p>
            <a:r>
              <a:rPr lang="en-US"/>
              <a:t>Dr. Meenu Chaudhary     AMBA 0401 (PM)                Unit-5</a:t>
            </a:r>
            <a:endParaRPr lang="en-US" dirty="0"/>
          </a:p>
        </p:txBody>
      </p:sp>
      <p:sp>
        <p:nvSpPr>
          <p:cNvPr id="7"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400" b="1" i="0" u="none" strike="noStrike" kern="1200" cap="none" spc="0" normalizeH="0" noProof="0" dirty="0">
                <a:ln>
                  <a:noFill/>
                </a:ln>
                <a:solidFill>
                  <a:schemeClr val="dk1"/>
                </a:solidFill>
                <a:effectLst/>
                <a:uLnTx/>
                <a:uFillTx/>
                <a:latin typeface="+mn-lt"/>
                <a:ea typeface="+mn-ea"/>
                <a:cs typeface="+mn-cs"/>
              </a:rPr>
              <a:t>Content of Unit</a:t>
            </a:r>
            <a:endParaRPr kumimoji="0" lang="en-US" sz="3400" b="1"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38200"/>
            <a:ext cx="8534400" cy="5562600"/>
          </a:xfrm>
        </p:spPr>
        <p:txBody>
          <a:bodyPr>
            <a:normAutofit/>
          </a:bodyPr>
          <a:lstStyle/>
          <a:p>
            <a:pPr algn="just">
              <a:buNone/>
            </a:pPr>
            <a:r>
              <a:rPr lang="en-US" b="1" dirty="0"/>
              <a:t>Prerequisites for this session are:</a:t>
            </a:r>
            <a:endParaRPr lang="en-US" b="1" dirty="0"/>
          </a:p>
          <a:p>
            <a:pPr algn="just"/>
            <a:r>
              <a:rPr lang="en-US" sz="2800" dirty="0"/>
              <a:t>General understanding of project management.</a:t>
            </a:r>
            <a:endParaRPr lang="en-US" sz="2800" dirty="0"/>
          </a:p>
          <a:p>
            <a:pPr algn="just"/>
            <a:r>
              <a:rPr lang="en-US" sz="2800" dirty="0"/>
              <a:t>Moderate analytical skills.</a:t>
            </a:r>
            <a:endParaRPr lang="en-US" sz="2800" dirty="0"/>
          </a:p>
          <a:p>
            <a:pPr algn="just">
              <a:buNone/>
            </a:pPr>
            <a:endParaRPr lang="en-US" sz="2800" dirty="0"/>
          </a:p>
          <a:p>
            <a:pPr algn="just">
              <a:buNone/>
            </a:pPr>
            <a:endParaRPr lang="en-US" sz="2800" dirty="0"/>
          </a:p>
          <a:p>
            <a:pPr algn="just">
              <a:buNone/>
            </a:pPr>
            <a:r>
              <a:rPr lang="en-US" b="1" dirty="0"/>
              <a:t>Recap: </a:t>
            </a:r>
            <a:endParaRPr lang="en-US" sz="2800" b="1" dirty="0"/>
          </a:p>
          <a:p>
            <a:pPr algn="just">
              <a:buNone/>
            </a:pPr>
            <a:r>
              <a:rPr lang="en-US" sz="2800" dirty="0">
                <a:cs typeface="Times New Roman" panose="02020603050405020304" pitchFamily="18" charset="0"/>
              </a:rPr>
              <a:t>Project Scheduling and Network Analysis: </a:t>
            </a:r>
            <a:endParaRPr lang="en-US" sz="2800" dirty="0">
              <a:cs typeface="Times New Roman" panose="02020603050405020304" pitchFamily="18" charset="0"/>
            </a:endParaRPr>
          </a:p>
          <a:p>
            <a:pPr algn="just">
              <a:buNone/>
            </a:pPr>
            <a:r>
              <a:rPr lang="en-US" sz="2800" dirty="0">
                <a:cs typeface="Times New Roman" panose="02020603050405020304" pitchFamily="18" charset="0"/>
              </a:rPr>
              <a:t>Project Network Design: </a:t>
            </a:r>
            <a:endParaRPr lang="en-US" sz="2800" dirty="0">
              <a:cs typeface="Times New Roman" panose="02020603050405020304" pitchFamily="18" charset="0"/>
            </a:endParaRPr>
          </a:p>
          <a:p>
            <a:pPr algn="just">
              <a:buNone/>
            </a:pPr>
            <a:endParaRPr lang="en-US" sz="2800" b="1" dirty="0">
              <a:cs typeface="Times New Roman" panose="02020603050405020304" pitchFamily="18" charset="0"/>
            </a:endParaRPr>
          </a:p>
        </p:txBody>
      </p:sp>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400" b="1" i="0" u="none" strike="noStrike" kern="1200" cap="none" spc="0" normalizeH="0" baseline="0" noProof="0" dirty="0">
                <a:ln>
                  <a:noFill/>
                </a:ln>
                <a:solidFill>
                  <a:schemeClr val="dk1"/>
                </a:solidFill>
                <a:effectLst/>
                <a:uLnTx/>
                <a:uFillTx/>
                <a:latin typeface="+mn-lt"/>
                <a:ea typeface="+mn-ea"/>
                <a:cs typeface="+mn-cs"/>
              </a:rPr>
              <a:t>Prerequisites and Topic wise</a:t>
            </a:r>
            <a:r>
              <a:rPr kumimoji="0" lang="en-US" sz="3400" b="1" i="0" u="none" strike="noStrike" kern="1200" cap="none" spc="0" normalizeH="0" noProof="0" dirty="0">
                <a:ln>
                  <a:noFill/>
                </a:ln>
                <a:solidFill>
                  <a:schemeClr val="dk1"/>
                </a:solidFill>
                <a:effectLst/>
                <a:uLnTx/>
                <a:uFillTx/>
                <a:latin typeface="+mn-lt"/>
                <a:ea typeface="+mn-ea"/>
                <a:cs typeface="+mn-cs"/>
              </a:rPr>
              <a:t> Recap</a:t>
            </a:r>
            <a:endParaRPr kumimoji="0" lang="en-US" sz="3400" b="1"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2400" b="1" i="0" u="none" strike="noStrike" kern="1200" cap="none" spc="0" normalizeH="0" baseline="0" noProof="0" dirty="0">
                <a:ln>
                  <a:noFill/>
                </a:ln>
                <a:solidFill>
                  <a:schemeClr val="dk1"/>
                </a:solidFill>
                <a:effectLst/>
                <a:uLnTx/>
                <a:uFillTx/>
                <a:latin typeface="+mn-lt"/>
                <a:ea typeface="+mn-ea"/>
                <a:cs typeface="+mn-cs"/>
              </a:rPr>
              <a:t>Topic &amp; CO Mapping</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graphicFrame>
        <p:nvGraphicFramePr>
          <p:cNvPr id="9" name="Table 8"/>
          <p:cNvGraphicFramePr>
            <a:graphicFrameLocks noGrp="1"/>
          </p:cNvGraphicFramePr>
          <p:nvPr/>
        </p:nvGraphicFramePr>
        <p:xfrm>
          <a:off x="76200" y="2309003"/>
          <a:ext cx="8915402" cy="1653397"/>
        </p:xfrm>
        <a:graphic>
          <a:graphicData uri="http://schemas.openxmlformats.org/drawingml/2006/table">
            <a:tbl>
              <a:tblPr/>
              <a:tblGrid>
                <a:gridCol w="706370"/>
                <a:gridCol w="6139384"/>
                <a:gridCol w="956190"/>
                <a:gridCol w="1113458"/>
              </a:tblGrid>
              <a:tr h="359434">
                <a:tc>
                  <a:txBody>
                    <a:bodyPr/>
                    <a:lstStyle/>
                    <a:p>
                      <a:pPr marL="0" marR="0" algn="ctr">
                        <a:lnSpc>
                          <a:spcPct val="115000"/>
                        </a:lnSpc>
                        <a:spcBef>
                          <a:spcPts val="0"/>
                        </a:spcBef>
                        <a:spcAft>
                          <a:spcPts val="0"/>
                        </a:spcAft>
                      </a:pPr>
                      <a:r>
                        <a:rPr lang="en-US" sz="2000" b="1" dirty="0">
                          <a:latin typeface="Calibri" panose="020F0502020204030204"/>
                          <a:ea typeface="Times New Roman" panose="02020603050405020304"/>
                          <a:cs typeface="Mangal"/>
                        </a:rPr>
                        <a:t>S No</a:t>
                      </a:r>
                      <a:endParaRPr lang="en-US" sz="2000" b="1"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Calibri" panose="020F0502020204030204"/>
                          <a:ea typeface="Times New Roman" panose="02020603050405020304"/>
                          <a:cs typeface="Mangal"/>
                        </a:rPr>
                        <a:t>Topic</a:t>
                      </a:r>
                      <a:r>
                        <a:rPr lang="en-US" sz="2000" b="1" baseline="0" dirty="0">
                          <a:latin typeface="Calibri" panose="020F0502020204030204"/>
                          <a:ea typeface="Times New Roman" panose="02020603050405020304"/>
                          <a:cs typeface="Mangal"/>
                        </a:rPr>
                        <a:t> </a:t>
                      </a:r>
                      <a:endParaRPr lang="en-US" sz="2000" b="1"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Calibri" panose="020F0502020204030204"/>
                          <a:ea typeface="Times New Roman" panose="02020603050405020304"/>
                          <a:cs typeface="Mangal"/>
                        </a:rPr>
                        <a:t>CO</a:t>
                      </a:r>
                      <a:endParaRPr lang="en-US" sz="2000" b="1"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Calibri" panose="020F0502020204030204"/>
                          <a:ea typeface="Times New Roman" panose="02020603050405020304"/>
                          <a:cs typeface="Mangal"/>
                        </a:rPr>
                        <a:t>Level</a:t>
                      </a:r>
                      <a:endParaRPr lang="en-US" sz="2000" b="1"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1321">
                <a:tc>
                  <a:txBody>
                    <a:bodyPr/>
                    <a:lstStyle/>
                    <a:p>
                      <a:pPr algn="ctr">
                        <a:spcAft>
                          <a:spcPct val="20000"/>
                        </a:spcAft>
                      </a:pPr>
                      <a:r>
                        <a:rPr lang="en-US" sz="2400" dirty="0">
                          <a:latin typeface="Calibri" panose="020F0502020204030204"/>
                          <a:ea typeface="Times New Roman" panose="02020603050405020304"/>
                          <a:cs typeface="Mangal"/>
                        </a:rPr>
                        <a:t>1</a:t>
                      </a:r>
                      <a:endParaRPr lang="en-US" sz="24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2400" b="1" dirty="0">
                          <a:cs typeface="Times New Roman" panose="02020603050405020304" pitchFamily="18" charset="0"/>
                        </a:rPr>
                        <a:t>Project Monitoring and Control</a:t>
                      </a:r>
                      <a:endParaRPr lang="en-US" sz="2400" b="0" dirty="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panose="020F0502020204030204"/>
                          <a:ea typeface="Times New Roman" panose="02020603050405020304"/>
                          <a:cs typeface="Mangal"/>
                        </a:rPr>
                        <a:t>CO 5</a:t>
                      </a:r>
                      <a:endParaRPr lang="en-US" sz="24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panose="020F0502020204030204"/>
                          <a:ea typeface="Times New Roman" panose="02020603050405020304"/>
                          <a:cs typeface="Mangal"/>
                        </a:rPr>
                        <a:t>2</a:t>
                      </a:r>
                      <a:endParaRPr lang="en-US" sz="24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1321">
                <a:tc>
                  <a:txBody>
                    <a:bodyPr/>
                    <a:lstStyle/>
                    <a:p>
                      <a:pPr marL="0" marR="0" indent="0" algn="ctr" defTabSz="914400" rtl="0" eaLnBrk="1" fontAlgn="auto" latinLnBrk="0" hangingPunct="1">
                        <a:lnSpc>
                          <a:spcPct val="115000"/>
                        </a:lnSpc>
                        <a:spcBef>
                          <a:spcPts val="0"/>
                        </a:spcBef>
                        <a:spcAft>
                          <a:spcPts val="0"/>
                        </a:spcAft>
                        <a:buClrTx/>
                        <a:buSzTx/>
                        <a:buFontTx/>
                        <a:buNone/>
                        <a:defRPr/>
                      </a:pPr>
                      <a:r>
                        <a:rPr lang="en-US" sz="2400" dirty="0">
                          <a:latin typeface="Calibri" panose="020F0502020204030204"/>
                          <a:ea typeface="Times New Roman" panose="02020603050405020304"/>
                          <a:cs typeface="Mangal"/>
                        </a:rPr>
                        <a:t>2</a:t>
                      </a:r>
                      <a:endParaRPr lang="en-US" sz="24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defRPr/>
                      </a:pPr>
                      <a:r>
                        <a:rPr lang="en-US" sz="2400" b="1" dirty="0">
                          <a:cs typeface="Times New Roman" panose="02020603050405020304" pitchFamily="18" charset="0"/>
                        </a:rPr>
                        <a:t>Earned  Value Analysis (EVA): </a:t>
                      </a:r>
                      <a:endParaRPr lang="en-US" sz="2400" b="1" dirty="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panose="020F0502020204030204"/>
                          <a:ea typeface="Times New Roman" panose="02020603050405020304"/>
                          <a:cs typeface="Mangal"/>
                        </a:rPr>
                        <a:t> CO 4</a:t>
                      </a:r>
                      <a:endParaRPr lang="en-US" sz="24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panose="020F0502020204030204"/>
                          <a:ea typeface="Times New Roman" panose="02020603050405020304"/>
                          <a:cs typeface="Mangal"/>
                        </a:rPr>
                        <a:t>2</a:t>
                      </a:r>
                      <a:endParaRPr lang="en-US" sz="24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1321">
                <a:tc>
                  <a:txBody>
                    <a:bodyPr/>
                    <a:lstStyle/>
                    <a:p>
                      <a:pPr marL="0" marR="0" indent="0" algn="ctr" defTabSz="914400" rtl="0" eaLnBrk="1" fontAlgn="auto" latinLnBrk="0" hangingPunct="1">
                        <a:lnSpc>
                          <a:spcPct val="115000"/>
                        </a:lnSpc>
                        <a:spcBef>
                          <a:spcPts val="0"/>
                        </a:spcBef>
                        <a:spcAft>
                          <a:spcPts val="0"/>
                        </a:spcAft>
                        <a:buClrTx/>
                        <a:buSzTx/>
                        <a:buFontTx/>
                        <a:buNone/>
                        <a:defRPr/>
                      </a:pPr>
                      <a:r>
                        <a:rPr lang="en-US" sz="2400" dirty="0">
                          <a:latin typeface="Calibri" panose="020F0502020204030204"/>
                          <a:ea typeface="Times New Roman" panose="02020603050405020304"/>
                          <a:cs typeface="Mangal"/>
                        </a:rPr>
                        <a:t>3</a:t>
                      </a:r>
                      <a:endParaRPr lang="en-US" sz="24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buNone/>
                      </a:pPr>
                      <a:r>
                        <a:rPr lang="en-US" sz="2400" b="1" dirty="0">
                          <a:cs typeface="Times New Roman" panose="02020603050405020304" pitchFamily="18" charset="0"/>
                        </a:rPr>
                        <a:t>Project Termination</a:t>
                      </a:r>
                      <a:endParaRPr lang="en-US" sz="2400" dirty="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panose="020F0502020204030204"/>
                          <a:ea typeface="Times New Roman" panose="02020603050405020304"/>
                          <a:cs typeface="Mangal"/>
                        </a:rPr>
                        <a:t> CO 5</a:t>
                      </a:r>
                      <a:endParaRPr lang="en-US" sz="24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panose="020F0502020204030204"/>
                          <a:ea typeface="Times New Roman" panose="02020603050405020304"/>
                          <a:cs typeface="Mangal"/>
                        </a:rPr>
                        <a:t>1</a:t>
                      </a:r>
                      <a:endParaRPr lang="en-US" sz="24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838200"/>
            <a:ext cx="8686800" cy="5486400"/>
          </a:xfrm>
        </p:spPr>
        <p:txBody>
          <a:bodyPr>
            <a:normAutofit/>
          </a:bodyPr>
          <a:lstStyle/>
          <a:p>
            <a:pPr algn="just"/>
            <a:endParaRPr lang="en-US" sz="2800" dirty="0">
              <a:cs typeface="Times New Roman" panose="02020603050405020304" pitchFamily="18" charset="0"/>
            </a:endParaRPr>
          </a:p>
          <a:p>
            <a:pPr algn="just"/>
            <a:r>
              <a:rPr lang="en-US" sz="2800" dirty="0">
                <a:cs typeface="Times New Roman" panose="02020603050405020304" pitchFamily="18" charset="0"/>
              </a:rPr>
              <a:t>To understand the Project Monitoring and Control. </a:t>
            </a:r>
            <a:endParaRPr lang="en-US" sz="2800" dirty="0">
              <a:cs typeface="Times New Roman" panose="02020603050405020304" pitchFamily="18" charset="0"/>
            </a:endParaRPr>
          </a:p>
          <a:p>
            <a:pPr algn="just"/>
            <a:endParaRPr lang="en-US" sz="2800" dirty="0">
              <a:cs typeface="Times New Roman" panose="02020603050405020304" pitchFamily="18" charset="0"/>
            </a:endParaRPr>
          </a:p>
          <a:p>
            <a:pPr algn="just"/>
            <a:r>
              <a:rPr lang="en-US" sz="2800" dirty="0">
                <a:cs typeface="Times New Roman" panose="02020603050405020304" pitchFamily="18" charset="0"/>
              </a:rPr>
              <a:t>To perform the Earned  Value Analysis and learning about its components.</a:t>
            </a:r>
            <a:endParaRPr lang="en-US" sz="2800" dirty="0">
              <a:cs typeface="Times New Roman" panose="02020603050405020304" pitchFamily="18" charset="0"/>
            </a:endParaRPr>
          </a:p>
          <a:p>
            <a:pPr algn="just"/>
            <a:endParaRPr lang="en-US" sz="2800" dirty="0">
              <a:cs typeface="Times New Roman" panose="02020603050405020304" pitchFamily="18" charset="0"/>
            </a:endParaRPr>
          </a:p>
          <a:p>
            <a:pPr algn="just"/>
            <a:r>
              <a:rPr lang="en-US" sz="2800" dirty="0">
                <a:cs typeface="Times New Roman" panose="02020603050405020304" pitchFamily="18" charset="0"/>
              </a:rPr>
              <a:t>To understand and learning to execute Project Termination.</a:t>
            </a:r>
            <a:endParaRPr lang="en-US" sz="2800" dirty="0">
              <a:cs typeface="Times New Roman" panose="02020603050405020304" pitchFamily="18" charset="0"/>
            </a:endParaRPr>
          </a:p>
          <a:p>
            <a:pPr algn="just"/>
            <a:endParaRPr lang="en-US" sz="2800" dirty="0">
              <a:cs typeface="Times New Roman" panose="02020603050405020304" pitchFamily="18" charset="0"/>
            </a:endParaRPr>
          </a:p>
        </p:txBody>
      </p:sp>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200" b="1" dirty="0"/>
              <a:t>Session/ Topic Objectives</a:t>
            </a:r>
            <a:endParaRPr lang="en-US" sz="3200" b="1" dirty="0"/>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a:t>Project Monitoring &amp; Control</a:t>
            </a:r>
            <a:endParaRPr lang="en-US" sz="34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152400" y="838200"/>
            <a:ext cx="8839200" cy="5562600"/>
          </a:xfrm>
        </p:spPr>
        <p:txBody>
          <a:bodyPr>
            <a:normAutofit/>
          </a:bodyPr>
          <a:lstStyle/>
          <a:p>
            <a:pPr algn="just">
              <a:buNone/>
            </a:pPr>
            <a:r>
              <a:rPr lang="en-US" sz="2800" dirty="0"/>
              <a:t>	According to the Project Management Body of Knowledge (PMBOK), </a:t>
            </a:r>
            <a:endParaRPr lang="en-US" sz="2800" dirty="0"/>
          </a:p>
          <a:p>
            <a:pPr algn="just">
              <a:buNone/>
            </a:pPr>
            <a:endParaRPr lang="en-US" sz="2800" dirty="0"/>
          </a:p>
          <a:p>
            <a:pPr algn="just">
              <a:buNone/>
            </a:pPr>
            <a:r>
              <a:rPr lang="en-US" sz="2800" dirty="0"/>
              <a:t>	“The Monitoring and Control Process Group consists of those processes performed to observe project execution so that potential problems can be identified in a timely manner and corrective action can be taken, when necessary, to control the execution of the project.”</a:t>
            </a:r>
            <a:endParaRPr lang="en-US" sz="2800" dirty="0"/>
          </a:p>
          <a:p>
            <a:pPr algn="just">
              <a:buNone/>
            </a:pPr>
            <a:endParaRPr 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t>Monitoring and Control Processes</a:t>
            </a:r>
            <a:endParaRPr lang="en-US" sz="34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152400" y="838200"/>
            <a:ext cx="8839200" cy="5562600"/>
          </a:xfrm>
        </p:spPr>
        <p:txBody>
          <a:bodyPr>
            <a:normAutofit/>
          </a:bodyPr>
          <a:lstStyle/>
          <a:p>
            <a:pPr>
              <a:buNone/>
            </a:pPr>
            <a:r>
              <a:rPr lang="en-US" sz="2800" dirty="0"/>
              <a:t>1. Monitoring and Controlling Project Work</a:t>
            </a:r>
            <a:endParaRPr lang="en-US" sz="2800" dirty="0"/>
          </a:p>
          <a:p>
            <a:pPr>
              <a:buNone/>
            </a:pPr>
            <a:r>
              <a:rPr lang="en-US" sz="2800" dirty="0"/>
              <a:t>2. Integrated Change Control</a:t>
            </a:r>
            <a:endParaRPr lang="en-US" sz="2800" dirty="0"/>
          </a:p>
          <a:p>
            <a:pPr>
              <a:buNone/>
            </a:pPr>
            <a:r>
              <a:rPr lang="en-US" sz="2800" dirty="0"/>
              <a:t>3. Scope Verification</a:t>
            </a:r>
            <a:endParaRPr lang="en-US" sz="2800" dirty="0"/>
          </a:p>
          <a:p>
            <a:pPr>
              <a:buNone/>
            </a:pPr>
            <a:r>
              <a:rPr lang="en-US" sz="2800" dirty="0"/>
              <a:t>4. Scope Control</a:t>
            </a:r>
            <a:endParaRPr lang="en-US" sz="2800" dirty="0"/>
          </a:p>
          <a:p>
            <a:pPr>
              <a:buNone/>
            </a:pPr>
            <a:r>
              <a:rPr lang="en-US" sz="2800" dirty="0"/>
              <a:t>5. Schedule Control</a:t>
            </a:r>
            <a:endParaRPr lang="en-US" sz="2800" dirty="0"/>
          </a:p>
          <a:p>
            <a:pPr>
              <a:buNone/>
            </a:pPr>
            <a:r>
              <a:rPr lang="en-US" sz="2800" dirty="0"/>
              <a:t>6. Cost Control</a:t>
            </a:r>
            <a:endParaRPr lang="en-US" sz="2800" dirty="0"/>
          </a:p>
          <a:p>
            <a:pPr>
              <a:buNone/>
            </a:pPr>
            <a:r>
              <a:rPr lang="en-US" sz="2800" dirty="0"/>
              <a:t>7. Performing Quality Control</a:t>
            </a:r>
            <a:endParaRPr lang="en-US" sz="2800" dirty="0"/>
          </a:p>
          <a:p>
            <a:pPr>
              <a:buNone/>
            </a:pPr>
            <a:r>
              <a:rPr lang="en-US" sz="2800" dirty="0"/>
              <a:t>8. Managing the Project Team</a:t>
            </a:r>
            <a:endParaRPr lang="en-US" sz="2800" dirty="0"/>
          </a:p>
          <a:p>
            <a:pPr>
              <a:buNone/>
            </a:pPr>
            <a:r>
              <a:rPr lang="en-US" sz="2800" dirty="0"/>
              <a:t>9. Performance Reporting</a:t>
            </a:r>
            <a:endParaRPr lang="en-US" sz="2800" dirty="0"/>
          </a:p>
          <a:p>
            <a:pPr>
              <a:buNone/>
            </a:pPr>
            <a:r>
              <a:rPr lang="en-US" sz="2800" dirty="0"/>
              <a:t>10. Managing Stakeholders</a:t>
            </a:r>
            <a:endParaRPr lang="en-US" sz="2800" dirty="0"/>
          </a:p>
          <a:p>
            <a:pPr algn="just">
              <a:buNone/>
            </a:pPr>
            <a:endParaRPr lang="en-US"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t>Project monitoring &amp; Control Cycle</a:t>
            </a:r>
            <a:endParaRPr lang="en-US" sz="34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pic>
        <p:nvPicPr>
          <p:cNvPr id="10" name="Picture 2" descr="C:\Users\awashti\Desktop\PMCC.png"/>
          <p:cNvPicPr>
            <a:picLocks noGrp="1" noChangeAspect="1" noChangeArrowheads="1"/>
          </p:cNvPicPr>
          <p:nvPr>
            <p:ph idx="1"/>
          </p:nvPr>
        </p:nvPicPr>
        <p:blipFill>
          <a:blip r:embed="rId2"/>
          <a:srcRect/>
          <a:stretch>
            <a:fillRect/>
          </a:stretch>
        </p:blipFill>
        <p:spPr bwMode="auto">
          <a:xfrm>
            <a:off x="1981200" y="762000"/>
            <a:ext cx="4914743" cy="5584935"/>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a:t>PROJECT MANAGEMENT INFORMATION SYSTEM (PMIS)</a:t>
            </a:r>
            <a:endParaRPr lang="en-US" sz="34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pic>
        <p:nvPicPr>
          <p:cNvPr id="10" name="Picture 2" descr="C:\Users\awashti\Desktop\PMIS.png"/>
          <p:cNvPicPr>
            <a:picLocks noGrp="1" noChangeAspect="1" noChangeArrowheads="1"/>
          </p:cNvPicPr>
          <p:nvPr>
            <p:ph idx="1"/>
          </p:nvPr>
        </p:nvPicPr>
        <p:blipFill>
          <a:blip r:embed="rId2"/>
          <a:srcRect/>
          <a:stretch>
            <a:fillRect/>
          </a:stretch>
        </p:blipFill>
        <p:spPr bwMode="auto">
          <a:xfrm>
            <a:off x="1794615" y="838200"/>
            <a:ext cx="5554769" cy="5562600"/>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t>PMIS</a:t>
            </a:r>
            <a:endParaRPr lang="en-US" sz="34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pic>
        <p:nvPicPr>
          <p:cNvPr id="10" name="Picture 2" descr="C:\Users\awashti\Desktop\pmi.jpg"/>
          <p:cNvPicPr>
            <a:picLocks noGrp="1" noChangeAspect="1" noChangeArrowheads="1"/>
          </p:cNvPicPr>
          <p:nvPr>
            <p:ph idx="1"/>
          </p:nvPr>
        </p:nvPicPr>
        <p:blipFill>
          <a:blip r:embed="rId2"/>
          <a:srcRect/>
          <a:stretch>
            <a:fillRect/>
          </a:stretch>
        </p:blipFill>
        <p:spPr bwMode="auto">
          <a:xfrm>
            <a:off x="862944" y="831871"/>
            <a:ext cx="7442856" cy="5416529"/>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t>Components of a PMIS</a:t>
            </a:r>
            <a:endParaRPr lang="en-US" sz="34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152400" y="838200"/>
            <a:ext cx="8839200" cy="5562600"/>
          </a:xfrm>
        </p:spPr>
        <p:txBody>
          <a:bodyPr>
            <a:normAutofit/>
          </a:bodyPr>
          <a:lstStyle/>
          <a:p>
            <a:pPr marL="514350" indent="-514350">
              <a:buFont typeface="+mj-lt"/>
              <a:buAutoNum type="arabicPeriod"/>
            </a:pPr>
            <a:r>
              <a:rPr lang="en-US" sz="2800" dirty="0"/>
              <a:t>Scheduling</a:t>
            </a:r>
            <a:endParaRPr lang="en-US" sz="2800" dirty="0"/>
          </a:p>
          <a:p>
            <a:pPr marL="514350" indent="-514350">
              <a:buFont typeface="+mj-lt"/>
              <a:buAutoNum type="arabicPeriod"/>
            </a:pPr>
            <a:r>
              <a:rPr lang="en-US" sz="2800" dirty="0"/>
              <a:t>Estimating</a:t>
            </a:r>
            <a:endParaRPr lang="en-US" sz="2800" dirty="0"/>
          </a:p>
          <a:p>
            <a:pPr marL="514350" indent="-514350">
              <a:buFont typeface="+mj-lt"/>
              <a:buAutoNum type="arabicPeriod"/>
            </a:pPr>
            <a:r>
              <a:rPr lang="en-US" sz="2800" dirty="0"/>
              <a:t>Resources</a:t>
            </a:r>
            <a:endParaRPr lang="en-US" sz="2800" dirty="0"/>
          </a:p>
          <a:p>
            <a:pPr marL="514350" indent="-514350">
              <a:buFont typeface="+mj-lt"/>
              <a:buAutoNum type="arabicPeriod"/>
            </a:pPr>
            <a:r>
              <a:rPr lang="en-US" sz="2800" dirty="0"/>
              <a:t>Project documents and data</a:t>
            </a:r>
            <a:endParaRPr lang="en-US" sz="2800" dirty="0"/>
          </a:p>
          <a:p>
            <a:pPr marL="514350" indent="-514350">
              <a:buFont typeface="+mj-lt"/>
              <a:buAutoNum type="arabicPeriod"/>
            </a:pPr>
            <a:r>
              <a:rPr lang="en-US" sz="2800" dirty="0"/>
              <a:t>Portals and dashboards</a:t>
            </a:r>
            <a:endParaRPr lang="en-US" sz="2800" dirty="0"/>
          </a:p>
          <a:p>
            <a:pPr marL="514350" indent="-514350">
              <a:buFont typeface="+mj-lt"/>
              <a:buAutoNum type="arabicPeriod"/>
            </a:pPr>
            <a:r>
              <a:rPr lang="en-US" sz="2800" dirty="0"/>
              <a:t>Collaborative work management tools</a:t>
            </a:r>
            <a:endParaRPr lang="en-US" sz="2800" dirty="0"/>
          </a:p>
          <a:p>
            <a:pPr marL="514350" indent="-514350">
              <a:buFont typeface="+mj-lt"/>
              <a:buAutoNum type="arabicPeriod"/>
            </a:pPr>
            <a:r>
              <a:rPr lang="en-US" sz="2800" dirty="0"/>
              <a:t>Social media</a:t>
            </a:r>
            <a:endParaRPr lang="en-US" sz="2800" dirty="0"/>
          </a:p>
          <a:p>
            <a:pPr marL="514350" indent="-514350">
              <a:buFont typeface="+mj-lt"/>
              <a:buAutoNum type="arabicPeriod"/>
            </a:pPr>
            <a:r>
              <a:rPr lang="en-US" sz="2800" dirty="0"/>
              <a:t>Project control</a:t>
            </a:r>
            <a:endParaRPr lang="en-US" sz="2800" dirty="0"/>
          </a:p>
          <a:p>
            <a:pPr>
              <a:buNone/>
            </a:pPr>
            <a:endParaRPr lang="en-US" sz="2800" dirty="0"/>
          </a:p>
          <a:p>
            <a:pPr algn="just">
              <a:buNone/>
            </a:pPr>
            <a:endParaRPr lang="en-US"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t>Milestone Analysis</a:t>
            </a:r>
            <a:endParaRPr lang="en-US" sz="34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152400" y="838200"/>
            <a:ext cx="8839200" cy="5562600"/>
          </a:xfrm>
        </p:spPr>
        <p:txBody>
          <a:bodyPr>
            <a:normAutofit/>
          </a:bodyPr>
          <a:lstStyle/>
          <a:p>
            <a:pPr algn="just">
              <a:buNone/>
            </a:pPr>
            <a:r>
              <a:rPr lang="en-US" sz="2800" b="1" dirty="0"/>
              <a:t>Milestone</a:t>
            </a:r>
            <a:endParaRPr lang="en-US" sz="2800" b="1" dirty="0"/>
          </a:p>
          <a:p>
            <a:pPr algn="just">
              <a:buNone/>
            </a:pPr>
            <a:r>
              <a:rPr lang="en-US" sz="2800" dirty="0"/>
              <a:t>	Milestones are tools used in project management to mark specific points along a project timeline. These points may signal anchors such as a project start and end date, or a need for external review or input and budget checks.</a:t>
            </a:r>
            <a:endParaRPr lang="en-US" sz="2800" dirty="0"/>
          </a:p>
          <a:p>
            <a:pPr algn="just">
              <a:buNone/>
            </a:pPr>
            <a:r>
              <a:rPr lang="en-US" sz="2800" dirty="0"/>
              <a:t>	In many instances, milestones do not impact project duration. Instead, they focus on major progress points that must be reached to achieve success.</a:t>
            </a:r>
            <a:endParaRPr lang="en-US" sz="2800" dirty="0"/>
          </a:p>
          <a:p>
            <a:pPr algn="just">
              <a:buNone/>
            </a:pPr>
            <a:endParaRPr lang="en-US" sz="2800" dirty="0"/>
          </a:p>
          <a:p>
            <a:pPr algn="just">
              <a:buNone/>
            </a:pPr>
            <a:endParaRPr lang="en-US" sz="2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t>Milestone Analysis: Steps</a:t>
            </a:r>
            <a:endParaRPr lang="en-US" sz="34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152400" y="838200"/>
            <a:ext cx="8839200" cy="5562600"/>
          </a:xfrm>
        </p:spPr>
        <p:txBody>
          <a:bodyPr>
            <a:normAutofit/>
          </a:bodyPr>
          <a:lstStyle/>
          <a:p>
            <a:pPr marL="742950" indent="-742950">
              <a:buFont typeface="+mj-lt"/>
              <a:buAutoNum type="arabicPeriod"/>
            </a:pPr>
            <a:endParaRPr lang="en-US" sz="2800" dirty="0"/>
          </a:p>
          <a:p>
            <a:pPr marL="742950" indent="-742950">
              <a:buFont typeface="+mj-lt"/>
              <a:buAutoNum type="arabicPeriod"/>
            </a:pPr>
            <a:endParaRPr lang="en-US" sz="2800" dirty="0"/>
          </a:p>
          <a:p>
            <a:pPr marL="742950" indent="-742950">
              <a:buFont typeface="+mj-lt"/>
              <a:buAutoNum type="arabicPeriod"/>
            </a:pPr>
            <a:r>
              <a:rPr lang="en-US" sz="2800" dirty="0"/>
              <a:t>Set the milestones</a:t>
            </a:r>
            <a:endParaRPr lang="en-US" sz="2800" dirty="0"/>
          </a:p>
          <a:p>
            <a:pPr marL="742950" indent="-742950">
              <a:buFont typeface="+mj-lt"/>
              <a:buAutoNum type="arabicPeriod"/>
            </a:pPr>
            <a:r>
              <a:rPr lang="en-US" sz="2800" dirty="0"/>
              <a:t>Reassess after each milestone</a:t>
            </a:r>
            <a:endParaRPr lang="en-US" sz="2800" dirty="0"/>
          </a:p>
          <a:p>
            <a:pPr marL="742950" indent="-742950">
              <a:buFont typeface="+mj-lt"/>
              <a:buAutoNum type="arabicPeriod"/>
            </a:pPr>
            <a:r>
              <a:rPr lang="en-US" sz="2800" dirty="0"/>
              <a:t>Track your progress</a:t>
            </a:r>
            <a:endParaRPr lang="en-US" sz="2800" dirty="0"/>
          </a:p>
          <a:p>
            <a:pPr marL="742950" indent="-742950">
              <a:buFont typeface="+mj-lt"/>
              <a:buAutoNum type="arabicPeriod"/>
            </a:pPr>
            <a:r>
              <a:rPr lang="en-US" sz="2800" dirty="0"/>
              <a:t>Read the nuances</a:t>
            </a:r>
            <a:endParaRPr lang="en-US" sz="2800" dirty="0"/>
          </a:p>
          <a:p>
            <a:pPr marL="742950" indent="-742950">
              <a:buFont typeface="+mj-lt"/>
              <a:buAutoNum type="arabicPeriod"/>
            </a:pPr>
            <a:endParaRPr lang="en-US" sz="2800" dirty="0"/>
          </a:p>
          <a:p>
            <a:pPr algn="just">
              <a:buNone/>
            </a:pPr>
            <a:endParaRPr lang="en-US"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400" b="1" dirty="0">
                <a:cs typeface="Times New Roman" panose="02020603050405020304" pitchFamily="18" charset="0"/>
              </a:rPr>
              <a:t>Tracking Gantt Chart</a:t>
            </a:r>
            <a:endParaRPr lang="en-US" sz="34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152400" y="838200"/>
            <a:ext cx="8839200" cy="5562600"/>
          </a:xfrm>
        </p:spPr>
        <p:txBody>
          <a:bodyPr>
            <a:normAutofit/>
          </a:bodyPr>
          <a:lstStyle/>
          <a:p>
            <a:pPr algn="just">
              <a:buNone/>
            </a:pPr>
            <a:endParaRPr lang="en-US" sz="2800" dirty="0"/>
          </a:p>
        </p:txBody>
      </p:sp>
      <p:pic>
        <p:nvPicPr>
          <p:cNvPr id="6146" name="Picture 2" descr="Track project progress with Milestone"/>
          <p:cNvPicPr>
            <a:picLocks noChangeAspect="1" noChangeArrowheads="1"/>
          </p:cNvPicPr>
          <p:nvPr/>
        </p:nvPicPr>
        <p:blipFill>
          <a:blip r:embed="rId2"/>
          <a:srcRect/>
          <a:stretch>
            <a:fillRect/>
          </a:stretch>
        </p:blipFill>
        <p:spPr bwMode="auto">
          <a:xfrm>
            <a:off x="228599" y="1676400"/>
            <a:ext cx="8691277" cy="26670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400" b="1" dirty="0">
                <a:cs typeface="Times New Roman" panose="02020603050405020304" pitchFamily="18" charset="0"/>
              </a:rPr>
              <a:t>Tracking Gantt Chart</a:t>
            </a:r>
            <a:endParaRPr lang="en-US" sz="34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152400" y="838200"/>
            <a:ext cx="8839200" cy="5562600"/>
          </a:xfrm>
        </p:spPr>
        <p:txBody>
          <a:bodyPr>
            <a:normAutofit fontScale="92500"/>
          </a:bodyPr>
          <a:lstStyle/>
          <a:p>
            <a:pPr algn="just"/>
            <a:r>
              <a:rPr lang="en-US" sz="2800" b="1" dirty="0"/>
              <a:t>Layout options</a:t>
            </a:r>
            <a:r>
              <a:rPr lang="en-US" sz="2800" dirty="0"/>
              <a:t> - options for drawing the links between tasks, date format, bar height, etc.  </a:t>
            </a:r>
            <a:endParaRPr lang="en-US" sz="2800" dirty="0"/>
          </a:p>
          <a:p>
            <a:pPr algn="just"/>
            <a:endParaRPr lang="en-US" sz="2800" dirty="0"/>
          </a:p>
          <a:p>
            <a:pPr algn="just"/>
            <a:r>
              <a:rPr lang="en-US" sz="2800" b="1" dirty="0"/>
              <a:t>Bar styles</a:t>
            </a:r>
            <a:r>
              <a:rPr lang="en-US" sz="2800" dirty="0"/>
              <a:t> - the styles for drawing the bars and displaying information about bars in the particular view </a:t>
            </a:r>
            <a:endParaRPr lang="en-US" sz="2800" dirty="0"/>
          </a:p>
          <a:p>
            <a:pPr algn="just"/>
            <a:r>
              <a:rPr lang="en-US" sz="2800" dirty="0"/>
              <a:t> </a:t>
            </a:r>
            <a:endParaRPr lang="en-US" sz="2800" dirty="0"/>
          </a:p>
          <a:p>
            <a:pPr algn="just"/>
            <a:r>
              <a:rPr lang="en-US" sz="2800" b="1" dirty="0"/>
              <a:t>Text styles</a:t>
            </a:r>
            <a:r>
              <a:rPr lang="en-US" sz="2800" dirty="0"/>
              <a:t> - the font styles for the various texts in the view  </a:t>
            </a:r>
            <a:endParaRPr lang="en-US" sz="2800" dirty="0"/>
          </a:p>
          <a:p>
            <a:pPr algn="just"/>
            <a:endParaRPr lang="en-US" sz="2800" dirty="0"/>
          </a:p>
          <a:p>
            <a:pPr algn="just"/>
            <a:r>
              <a:rPr lang="en-US" sz="2800" b="1" dirty="0"/>
              <a:t>Bar formatting</a:t>
            </a:r>
            <a:r>
              <a:rPr lang="en-US" sz="2800" dirty="0"/>
              <a:t> - the specific formatting of a particular bar in the chart, in case the project manager intentionally changed the format to make the task stand-out from the others by its visual presentation  </a:t>
            </a:r>
            <a:endParaRPr lang="en-US" sz="2800" dirty="0"/>
          </a:p>
          <a:p>
            <a:pPr algn="just">
              <a:buNone/>
            </a:pPr>
            <a:endParaRPr lang="en-US" sz="2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400" b="1">
                <a:cs typeface="Times New Roman" panose="02020603050405020304" pitchFamily="18" charset="0"/>
              </a:rPr>
              <a:t>Tracking Gantt Chart</a:t>
            </a:r>
            <a:endParaRPr lang="en-US" sz="34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152400" y="838200"/>
            <a:ext cx="8839200" cy="5562600"/>
          </a:xfrm>
        </p:spPr>
        <p:txBody>
          <a:bodyPr>
            <a:normAutofit/>
          </a:bodyPr>
          <a:lstStyle/>
          <a:p>
            <a:pPr algn="just"/>
            <a:r>
              <a:rPr lang="en-US" sz="2800" b="1" dirty="0"/>
              <a:t>Row, Column, and Cell Font formatting</a:t>
            </a:r>
            <a:r>
              <a:rPr lang="en-US" sz="2800" dirty="0"/>
              <a:t> - the specific font formatting of a particular row, column, or cell in the sheet portion of the view, in case the project manager intentionally applied a different format to highlight the particular task, field, or value  </a:t>
            </a:r>
            <a:endParaRPr lang="en-US" sz="2800" dirty="0"/>
          </a:p>
          <a:p>
            <a:pPr algn="just"/>
            <a:endParaRPr lang="en-US" sz="2800" b="1" dirty="0"/>
          </a:p>
          <a:p>
            <a:pPr algn="just"/>
            <a:r>
              <a:rPr lang="en-US" sz="2800" b="1" dirty="0"/>
              <a:t>Progress Lines formatting</a:t>
            </a:r>
            <a:r>
              <a:rPr lang="en-US" sz="2800" dirty="0"/>
              <a:t> - the progress lines activated for the view and formatting options related to them  </a:t>
            </a:r>
            <a:endParaRPr lang="en-US" sz="2800" dirty="0"/>
          </a:p>
          <a:p>
            <a:pPr algn="just">
              <a:buNone/>
            </a:pPr>
            <a:endParaRPr lang="en-US" sz="2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400" b="1">
                <a:cs typeface="Times New Roman" panose="02020603050405020304" pitchFamily="18" charset="0"/>
              </a:rPr>
              <a:t>Tracking Gantt Chart</a:t>
            </a:r>
            <a:endParaRPr lang="en-US" sz="34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152400" y="838200"/>
            <a:ext cx="8839200" cy="5562600"/>
          </a:xfrm>
        </p:spPr>
        <p:txBody>
          <a:bodyPr>
            <a:normAutofit/>
          </a:bodyPr>
          <a:lstStyle/>
          <a:p>
            <a:pPr algn="just"/>
            <a:r>
              <a:rPr lang="en-US" sz="2800" b="1" dirty="0"/>
              <a:t>Timescale formatting</a:t>
            </a:r>
            <a:r>
              <a:rPr lang="en-US" sz="2800" dirty="0"/>
              <a:t> - the formatting of the different timescale tiers, as well as the calendar and presentation of the working and non-working days .</a:t>
            </a:r>
            <a:endParaRPr lang="en-US" sz="2800" dirty="0"/>
          </a:p>
          <a:p>
            <a:pPr algn="just"/>
            <a:endParaRPr lang="en-US" sz="2800" dirty="0"/>
          </a:p>
          <a:p>
            <a:pPr algn="just"/>
            <a:r>
              <a:rPr lang="en-US" sz="2800" b="1" dirty="0"/>
              <a:t>Gridlines formatting</a:t>
            </a:r>
            <a:r>
              <a:rPr lang="en-US" sz="2800" dirty="0"/>
              <a:t>    - the formatting of the different gridlines for the sheet and chart portions of the view.</a:t>
            </a:r>
            <a:endParaRPr lang="en-US" sz="2800" dirty="0"/>
          </a:p>
          <a:p>
            <a:pPr algn="just"/>
            <a:r>
              <a:rPr lang="en-US" sz="2800" dirty="0"/>
              <a:t> </a:t>
            </a:r>
            <a:endParaRPr lang="en-US" sz="2800" dirty="0"/>
          </a:p>
          <a:p>
            <a:pPr algn="just"/>
            <a:r>
              <a:rPr lang="en-US" sz="2800" b="1" dirty="0"/>
              <a:t>Drawings</a:t>
            </a:r>
            <a:r>
              <a:rPr lang="en-US" sz="2800" dirty="0"/>
              <a:t> - the different drawings and text boxes placed on the chart by the project manager, in order to place additional information for the tasks or emphasize a certain phase in the plan.  </a:t>
            </a:r>
            <a:endParaRPr lang="en-US" sz="2800" dirty="0"/>
          </a:p>
          <a:p>
            <a:pPr algn="just">
              <a:buNone/>
            </a:pPr>
            <a:endParaRPr lang="en-US" sz="2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endParaRPr lang="en-US" sz="3200" b="1" dirty="0">
              <a:solidFill>
                <a:schemeClr val="tx1"/>
              </a:solidFill>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graphicFrame>
        <p:nvGraphicFramePr>
          <p:cNvPr id="10" name="Table 9"/>
          <p:cNvGraphicFramePr>
            <a:graphicFrameLocks noGrp="1"/>
          </p:cNvGraphicFramePr>
          <p:nvPr/>
        </p:nvGraphicFramePr>
        <p:xfrm>
          <a:off x="609599" y="2309003"/>
          <a:ext cx="8153400" cy="908074"/>
        </p:xfrm>
        <a:graphic>
          <a:graphicData uri="http://schemas.openxmlformats.org/drawingml/2006/table">
            <a:tbl>
              <a:tblPr/>
              <a:tblGrid>
                <a:gridCol w="6083752"/>
                <a:gridCol w="956190"/>
                <a:gridCol w="1113458"/>
              </a:tblGrid>
              <a:tr h="359434">
                <a:tc>
                  <a:txBody>
                    <a:bodyPr/>
                    <a:lstStyle/>
                    <a:p>
                      <a:pPr marL="0" marR="0" algn="ctr">
                        <a:lnSpc>
                          <a:spcPct val="115000"/>
                        </a:lnSpc>
                        <a:spcBef>
                          <a:spcPts val="0"/>
                        </a:spcBef>
                        <a:spcAft>
                          <a:spcPts val="0"/>
                        </a:spcAft>
                      </a:pPr>
                      <a:r>
                        <a:rPr lang="en-US" sz="2000" b="1" dirty="0">
                          <a:latin typeface="Calibri" panose="020F0502020204030204"/>
                          <a:ea typeface="Times New Roman" panose="02020603050405020304"/>
                          <a:cs typeface="Mangal"/>
                        </a:rPr>
                        <a:t>Topic</a:t>
                      </a:r>
                      <a:r>
                        <a:rPr lang="en-US" sz="2000" b="1" baseline="0" dirty="0">
                          <a:latin typeface="Calibri" panose="020F0502020204030204"/>
                          <a:ea typeface="Times New Roman" panose="02020603050405020304"/>
                          <a:cs typeface="Mangal"/>
                        </a:rPr>
                        <a:t> </a:t>
                      </a:r>
                      <a:endParaRPr lang="en-US" sz="2000" b="1"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Calibri" panose="020F0502020204030204"/>
                          <a:ea typeface="Times New Roman" panose="02020603050405020304"/>
                          <a:cs typeface="Mangal"/>
                        </a:rPr>
                        <a:t>CO</a:t>
                      </a:r>
                      <a:endParaRPr lang="en-US" sz="2000" b="1"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Calibri" panose="020F0502020204030204"/>
                          <a:ea typeface="Times New Roman" panose="02020603050405020304"/>
                          <a:cs typeface="Mangal"/>
                        </a:rPr>
                        <a:t>Level</a:t>
                      </a:r>
                      <a:endParaRPr lang="en-US" sz="2000" b="1"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1321">
                <a:tc>
                  <a:txBody>
                    <a:bodyPr/>
                    <a:lstStyle/>
                    <a:p>
                      <a:pPr marL="0" marR="0" indent="0" algn="just" defTabSz="914400" rtl="0" eaLnBrk="1" fontAlgn="auto" latinLnBrk="0" hangingPunct="1">
                        <a:lnSpc>
                          <a:spcPct val="100000"/>
                        </a:lnSpc>
                        <a:spcBef>
                          <a:spcPts val="0"/>
                        </a:spcBef>
                        <a:spcAft>
                          <a:spcPts val="0"/>
                        </a:spcAft>
                        <a:buClrTx/>
                        <a:buSzTx/>
                        <a:buFontTx/>
                        <a:buNone/>
                        <a:defRPr/>
                      </a:pPr>
                      <a:r>
                        <a:rPr lang="en-US" sz="3600" b="1" dirty="0">
                          <a:cs typeface="Times New Roman" panose="02020603050405020304" pitchFamily="18" charset="0"/>
                        </a:rPr>
                        <a:t>Earned  Value Analysis (EVA)</a:t>
                      </a:r>
                      <a:endParaRPr lang="en-US" sz="2400" b="1" dirty="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panose="020F0502020204030204"/>
                          <a:ea typeface="Times New Roman" panose="02020603050405020304"/>
                          <a:cs typeface="Mangal"/>
                        </a:rPr>
                        <a:t> CO 4</a:t>
                      </a:r>
                      <a:endParaRPr lang="en-US" sz="24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panose="020F0502020204030204"/>
                          <a:ea typeface="Times New Roman" panose="02020603050405020304"/>
                          <a:cs typeface="Mangal"/>
                        </a:rPr>
                        <a:t>2</a:t>
                      </a:r>
                      <a:endParaRPr lang="en-US" sz="24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838200"/>
            <a:ext cx="8686800" cy="5486400"/>
          </a:xfrm>
        </p:spPr>
        <p:txBody>
          <a:bodyPr>
            <a:normAutofit/>
          </a:bodyPr>
          <a:lstStyle/>
          <a:p>
            <a:pPr algn="just">
              <a:buNone/>
            </a:pPr>
            <a:r>
              <a:rPr lang="en-US" sz="2800" b="1" dirty="0">
                <a:latin typeface="Times New Roman" panose="02020603050405020304" pitchFamily="18" charset="0"/>
                <a:cs typeface="Times New Roman" panose="02020603050405020304" pitchFamily="18" charset="0"/>
              </a:rPr>
              <a:t>Objective:</a:t>
            </a:r>
            <a:endParaRPr lang="en-US" sz="2800" b="1"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To understand and analyze the earned value of project.</a:t>
            </a:r>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algn="just">
              <a:buNone/>
            </a:pPr>
            <a:r>
              <a:rPr lang="en-US" sz="2800" b="1" dirty="0">
                <a:latin typeface="Times New Roman" panose="02020603050405020304" pitchFamily="18" charset="0"/>
                <a:cs typeface="Times New Roman" panose="02020603050405020304" pitchFamily="18" charset="0"/>
              </a:rPr>
              <a:t>Outcome:</a:t>
            </a:r>
            <a:endParaRPr lang="en-US" sz="2800" b="1"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Student would be able to identify and analyze the earned value of project for optimizing value and cost.</a:t>
            </a:r>
            <a:endParaRPr lang="en-US" sz="2800" dirty="0">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200" b="1" dirty="0"/>
              <a:t>Topic Objectives &amp; Outcome</a:t>
            </a:r>
            <a:endParaRPr lang="en-US" sz="3200" b="1" dirty="0"/>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838200"/>
            <a:ext cx="8686800" cy="5486400"/>
          </a:xfrm>
        </p:spPr>
        <p:txBody>
          <a:bodyPr>
            <a:normAutofit/>
          </a:bodyPr>
          <a:lstStyle/>
          <a:p>
            <a:pPr algn="just"/>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200" b="1" dirty="0"/>
              <a:t>Recap</a:t>
            </a:r>
            <a:endParaRPr lang="en-US" sz="3200" b="1" dirty="0"/>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2"/>
          <p:cNvSpPr txBox="1"/>
          <p:nvPr/>
        </p:nvSpPr>
        <p:spPr>
          <a:xfrm>
            <a:off x="381000" y="990600"/>
            <a:ext cx="8686800" cy="5486400"/>
          </a:xfrm>
          <a:prstGeom prst="rect">
            <a:avLst/>
          </a:prstGeom>
        </p:spPr>
        <p:txBody>
          <a:bodyPr vert="horz" lIns="91440" tIns="45720" rIns="91440" bIns="45720" rtlCol="0">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28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lang="en-US" sz="2800" dirty="0">
              <a:latin typeface="Times New Roman" panose="02020603050405020304" pitchFamily="18" charset="0"/>
              <a:cs typeface="Times New Roman" panose="02020603050405020304" pitchFamily="18" charset="0"/>
            </a:endParaRPr>
          </a:p>
        </p:txBody>
      </p:sp>
      <p:sp>
        <p:nvSpPr>
          <p:cNvPr id="10" name="Content Placeholder 8"/>
          <p:cNvSpPr txBox="1"/>
          <p:nvPr/>
        </p:nvSpPr>
        <p:spPr>
          <a:xfrm>
            <a:off x="152400" y="838200"/>
            <a:ext cx="8839200" cy="5562600"/>
          </a:xfrm>
          <a:prstGeom prst="rect">
            <a:avLst/>
          </a:prstGeom>
        </p:spPr>
        <p:txBody>
          <a:bodyPr vert="horz" lIns="91440" tIns="45720" rIns="91440" bIns="45720" rtlCol="0">
            <a:normAutofit/>
          </a:bodyPr>
          <a:lstStyle/>
          <a:p>
            <a:pPr marL="342900" marR="0" lvl="0" indent="-342900" algn="just" defTabSz="914400" rtl="0" eaLnBrk="1" fontAlgn="auto" latinLnBrk="0" hangingPunct="1">
              <a:lnSpc>
                <a:spcPct val="100000"/>
              </a:lnSpc>
              <a:spcBef>
                <a:spcPct val="20000"/>
              </a:spcBef>
              <a:spcAft>
                <a:spcPts val="0"/>
              </a:spcAft>
              <a:buClrTx/>
              <a:buSzTx/>
              <a:defRPr/>
            </a:pP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endPar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Project Monitoring</a:t>
            </a:r>
            <a:endPar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sz="2800" dirty="0">
                <a:latin typeface="Times New Roman" panose="02020603050405020304" pitchFamily="18" charset="0"/>
                <a:cs typeface="Times New Roman" panose="02020603050405020304" pitchFamily="18" charset="0"/>
              </a:rPr>
              <a:t>Project Control</a:t>
            </a:r>
            <a:endParaRPr lang="en-US" sz="2800" dirty="0">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PMIS</a:t>
            </a:r>
            <a:endPar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t>Earned Value Analysis</a:t>
            </a:r>
            <a:endParaRPr lang="en-US" sz="34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152400" y="838200"/>
            <a:ext cx="8839200" cy="5562600"/>
          </a:xfrm>
        </p:spPr>
        <p:txBody>
          <a:bodyPr>
            <a:normAutofit/>
          </a:bodyPr>
          <a:lstStyle/>
          <a:p>
            <a:pPr algn="just">
              <a:buNone/>
            </a:pPr>
            <a:r>
              <a:rPr lang="en-US" sz="2800" dirty="0"/>
              <a:t>	</a:t>
            </a:r>
            <a:endParaRPr lang="en-US" sz="2800" dirty="0"/>
          </a:p>
          <a:p>
            <a:pPr algn="just">
              <a:buNone/>
            </a:pPr>
            <a:r>
              <a:rPr lang="en-US" sz="2800" dirty="0"/>
              <a:t>	The earned value analysis is a project controlling procedure that, along with the planned and actual costs, includes the earned value. </a:t>
            </a:r>
            <a:endParaRPr lang="en-US" sz="2800" dirty="0"/>
          </a:p>
          <a:p>
            <a:pPr algn="just">
              <a:buNone/>
            </a:pPr>
            <a:endParaRPr lang="en-US" sz="2800" dirty="0"/>
          </a:p>
          <a:p>
            <a:pPr algn="just">
              <a:buNone/>
            </a:pPr>
            <a:r>
              <a:rPr lang="en-US" sz="2800" dirty="0"/>
              <a:t>	Through this the project’s cost efficiency and time efficiency can be calculated.</a:t>
            </a:r>
            <a:endParaRPr lang="en-US" sz="2800" dirty="0"/>
          </a:p>
          <a:p>
            <a:pPr algn="just">
              <a:buNone/>
            </a:pPr>
            <a:endParaRPr lang="en-US" sz="2800" dirty="0"/>
          </a:p>
          <a:p>
            <a:pPr algn="just">
              <a:buNone/>
            </a:pPr>
            <a:endParaRPr lang="en-US" sz="2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t>Earned Value</a:t>
            </a:r>
            <a:endParaRPr lang="en-US" sz="34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152400" y="838200"/>
            <a:ext cx="8839200" cy="5562600"/>
          </a:xfrm>
        </p:spPr>
        <p:txBody>
          <a:bodyPr>
            <a:normAutofit/>
          </a:bodyPr>
          <a:lstStyle/>
          <a:p>
            <a:pPr algn="just">
              <a:buNone/>
            </a:pPr>
            <a:r>
              <a:rPr lang="en-US" sz="2800" dirty="0"/>
              <a:t>	</a:t>
            </a:r>
            <a:endParaRPr lang="en-US" sz="2800" dirty="0"/>
          </a:p>
          <a:p>
            <a:pPr algn="just">
              <a:buNone/>
            </a:pPr>
            <a:r>
              <a:rPr lang="en-US" sz="2800" dirty="0"/>
              <a:t>	Oftentimes the term “earned value” is defined as the “budgeted cost of work performed” or BCWP. </a:t>
            </a:r>
            <a:endParaRPr lang="en-US" sz="2800" dirty="0"/>
          </a:p>
          <a:p>
            <a:pPr algn="just">
              <a:buNone/>
            </a:pPr>
            <a:endParaRPr lang="en-US" sz="2800" dirty="0"/>
          </a:p>
          <a:p>
            <a:pPr algn="just">
              <a:buNone/>
            </a:pPr>
            <a:r>
              <a:rPr lang="en-US" sz="2800" dirty="0"/>
              <a:t>	This budgeted cost of work performed measure enables the project manager to compute performance indices or burn rates for cost and schedule performance, which provides information on how well the project is doing or performing relative to its original plans.</a:t>
            </a:r>
            <a:endParaRPr lang="en-US" sz="2800" dirty="0"/>
          </a:p>
          <a:p>
            <a:pPr algn="just">
              <a:buNone/>
            </a:pPr>
            <a:endParaRPr lang="en-US" sz="2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t>EVM Foundational Concepts</a:t>
            </a:r>
            <a:endParaRPr lang="en-US" sz="34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152400" y="838200"/>
            <a:ext cx="8839200" cy="5562600"/>
          </a:xfrm>
        </p:spPr>
        <p:txBody>
          <a:bodyPr>
            <a:normAutofit/>
          </a:bodyPr>
          <a:lstStyle/>
          <a:p>
            <a:pPr algn="just">
              <a:buNone/>
            </a:pPr>
            <a:r>
              <a:rPr lang="en-US" sz="2800" dirty="0"/>
              <a:t>	Earned Value Management Systems allow the project manager to answer the following three questions, as they relate to the project:</a:t>
            </a:r>
            <a:endParaRPr lang="en-US" sz="2800" dirty="0"/>
          </a:p>
          <a:p>
            <a:pPr algn="just">
              <a:buNone/>
            </a:pPr>
            <a:endParaRPr lang="en-US" sz="2800" dirty="0"/>
          </a:p>
          <a:p>
            <a:pPr algn="just"/>
            <a:r>
              <a:rPr lang="en-US" sz="2800" dirty="0"/>
              <a:t>Where have we been?</a:t>
            </a:r>
            <a:endParaRPr lang="en-US" sz="2800" dirty="0"/>
          </a:p>
          <a:p>
            <a:pPr algn="just"/>
            <a:r>
              <a:rPr lang="en-US" sz="2800" dirty="0"/>
              <a:t>Where are we now?</a:t>
            </a:r>
            <a:endParaRPr lang="en-US" sz="2800" dirty="0"/>
          </a:p>
          <a:p>
            <a:pPr algn="just"/>
            <a:r>
              <a:rPr lang="en-US" sz="2800" dirty="0"/>
              <a:t>Where are we going?</a:t>
            </a:r>
            <a:endParaRPr lang="en-US" sz="2800" dirty="0"/>
          </a:p>
          <a:p>
            <a:pPr algn="just">
              <a:buNone/>
            </a:pPr>
            <a:endParaRPr lang="en-US" sz="2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t>Planned Value (PV)</a:t>
            </a:r>
            <a:endParaRPr lang="en-US" sz="34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152400" y="838200"/>
            <a:ext cx="8839200" cy="5562600"/>
          </a:xfrm>
        </p:spPr>
        <p:txBody>
          <a:bodyPr>
            <a:normAutofit/>
          </a:bodyPr>
          <a:lstStyle/>
          <a:p>
            <a:pPr algn="just">
              <a:buNone/>
            </a:pPr>
            <a:r>
              <a:rPr lang="en-US" sz="2800" dirty="0"/>
              <a:t>	</a:t>
            </a:r>
            <a:endParaRPr lang="en-US" sz="2800" dirty="0"/>
          </a:p>
          <a:p>
            <a:pPr algn="just">
              <a:buNone/>
            </a:pPr>
            <a:r>
              <a:rPr lang="en-US" sz="2800" dirty="0"/>
              <a:t>	Planned Value describes how far along project work is supposed to be at any given point in the project schedule and cost estimate. Cost and Schedule baseline refers to the physical work scheduled and the approved budget to accomplish the scheduled work. </a:t>
            </a:r>
            <a:endParaRPr lang="en-US" sz="2800" dirty="0"/>
          </a:p>
          <a:p>
            <a:pPr algn="just">
              <a:buNone/>
            </a:pPr>
            <a:r>
              <a:rPr lang="en-US" sz="2800" dirty="0"/>
              <a:t>		</a:t>
            </a:r>
            <a:endParaRPr lang="en-US" sz="2800" dirty="0"/>
          </a:p>
          <a:p>
            <a:pPr algn="just">
              <a:buNone/>
            </a:pPr>
            <a:r>
              <a:rPr lang="en-US" sz="2800" dirty="0"/>
              <a:t>	Together, they result in an important value: Planned Value (PV). PV can be looked at in two ways: cumulative and current.</a:t>
            </a:r>
            <a:endParaRPr lang="en-US" sz="2800" dirty="0"/>
          </a:p>
          <a:p>
            <a:pPr algn="just">
              <a:buNone/>
            </a:pPr>
            <a:endParaRPr lang="en-US" sz="2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200" b="1" dirty="0"/>
              <a:t>Planned Value (PV): Cumulative &amp; Current</a:t>
            </a:r>
            <a:endParaRPr lang="en-US" sz="32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152400" y="838200"/>
            <a:ext cx="8839200" cy="5562600"/>
          </a:xfrm>
        </p:spPr>
        <p:txBody>
          <a:bodyPr>
            <a:normAutofit/>
          </a:bodyPr>
          <a:lstStyle/>
          <a:p>
            <a:pPr algn="just">
              <a:buNone/>
            </a:pPr>
            <a:r>
              <a:rPr lang="en-US" sz="2800" dirty="0"/>
              <a:t>	</a:t>
            </a:r>
            <a:endParaRPr lang="en-US" sz="2800" dirty="0"/>
          </a:p>
          <a:p>
            <a:pPr algn="just">
              <a:buNone/>
            </a:pPr>
            <a:r>
              <a:rPr lang="en-US" sz="2800" dirty="0"/>
              <a:t>	Cumulative PV is the sum of the approved budget for activities scheduled to be performed to date. </a:t>
            </a:r>
            <a:endParaRPr lang="en-US" sz="2800" dirty="0"/>
          </a:p>
          <a:p>
            <a:pPr algn="just">
              <a:buNone/>
            </a:pPr>
            <a:endParaRPr lang="en-US" sz="2800" dirty="0"/>
          </a:p>
          <a:p>
            <a:pPr algn="just">
              <a:buNone/>
            </a:pPr>
            <a:r>
              <a:rPr lang="en-US" sz="2800" dirty="0"/>
              <a:t>	Current PV is the approved budget for activities scheduled to be performed during a given period. This period could represent days, weeks, months, etc.</a:t>
            </a:r>
            <a:endParaRPr lang="en-US" sz="2800" dirty="0"/>
          </a:p>
          <a:p>
            <a:pPr algn="just">
              <a:buNone/>
            </a:pPr>
            <a:endParaRPr lang="en-US" sz="2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t>Earned Value</a:t>
            </a:r>
            <a:endParaRPr lang="en-US" sz="34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152400" y="838200"/>
            <a:ext cx="8839200" cy="5562600"/>
          </a:xfrm>
        </p:spPr>
        <p:txBody>
          <a:bodyPr>
            <a:normAutofit/>
          </a:bodyPr>
          <a:lstStyle/>
          <a:p>
            <a:pPr algn="just">
              <a:buNone/>
            </a:pPr>
            <a:r>
              <a:rPr lang="en-US" sz="2800" dirty="0"/>
              <a:t>	</a:t>
            </a:r>
            <a:endParaRPr lang="en-US" sz="2800" dirty="0"/>
          </a:p>
          <a:p>
            <a:pPr algn="just">
              <a:buNone/>
            </a:pPr>
            <a:r>
              <a:rPr lang="en-US" sz="2800" dirty="0"/>
              <a:t>	EV is the quantification of the “worth” of the work done to date. </a:t>
            </a:r>
            <a:endParaRPr lang="en-US" sz="2800" dirty="0"/>
          </a:p>
          <a:p>
            <a:pPr algn="just">
              <a:buNone/>
            </a:pPr>
            <a:endParaRPr lang="en-US" sz="2800" dirty="0"/>
          </a:p>
          <a:p>
            <a:pPr algn="just">
              <a:buNone/>
            </a:pPr>
            <a:r>
              <a:rPr lang="en-US" sz="2800" dirty="0"/>
              <a:t>	In other words, EV tells you, in physical terms, what the project has accomplished.</a:t>
            </a:r>
            <a:endParaRPr lang="en-US" sz="2800" dirty="0"/>
          </a:p>
          <a:p>
            <a:pPr algn="just">
              <a:buNone/>
            </a:pPr>
            <a:endParaRPr lang="en-US" sz="2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t>Earned Value: Cumulative &amp; Current</a:t>
            </a:r>
            <a:endParaRPr lang="en-US" sz="34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152400" y="838200"/>
            <a:ext cx="8839200" cy="5562600"/>
          </a:xfrm>
        </p:spPr>
        <p:txBody>
          <a:bodyPr>
            <a:normAutofit/>
          </a:bodyPr>
          <a:lstStyle/>
          <a:p>
            <a:pPr algn="just">
              <a:buNone/>
            </a:pPr>
            <a:r>
              <a:rPr lang="en-US" sz="2800" dirty="0"/>
              <a:t>	</a:t>
            </a:r>
            <a:endParaRPr lang="en-US" sz="2800" dirty="0"/>
          </a:p>
          <a:p>
            <a:pPr algn="just">
              <a:buNone/>
            </a:pPr>
            <a:r>
              <a:rPr lang="en-US" sz="2800" dirty="0"/>
              <a:t>	Cumulative EV is the sum of the budget for the activities accomplished to date. </a:t>
            </a:r>
            <a:endParaRPr lang="en-US" sz="2800" dirty="0"/>
          </a:p>
          <a:p>
            <a:pPr algn="just">
              <a:buNone/>
            </a:pPr>
            <a:endParaRPr lang="en-US" sz="2800" dirty="0"/>
          </a:p>
          <a:p>
            <a:pPr algn="just">
              <a:buNone/>
            </a:pPr>
            <a:r>
              <a:rPr lang="en-US" sz="2800" dirty="0"/>
              <a:t>	Current EV is the sum of the budget for the activities accomplished in a given period. Earned Value is also called Budgeted Cost of Work Performed (BCWP).</a:t>
            </a:r>
            <a:endParaRPr lang="en-US" sz="2800" dirty="0"/>
          </a:p>
          <a:p>
            <a:pPr algn="just">
              <a:buNone/>
            </a:pPr>
            <a:endParaRPr lang="en-US" sz="2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t>Variance Analysis</a:t>
            </a:r>
            <a:endParaRPr lang="en-US" sz="34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152400" y="838200"/>
            <a:ext cx="8839200" cy="5562600"/>
          </a:xfrm>
        </p:spPr>
        <p:txBody>
          <a:bodyPr>
            <a:normAutofit/>
          </a:bodyPr>
          <a:lstStyle/>
          <a:p>
            <a:pPr algn="just">
              <a:buNone/>
            </a:pPr>
            <a:r>
              <a:rPr lang="en-US" sz="2800" dirty="0"/>
              <a:t>	</a:t>
            </a:r>
            <a:endParaRPr lang="en-US" sz="2800" dirty="0"/>
          </a:p>
          <a:p>
            <a:pPr algn="just">
              <a:buNone/>
            </a:pPr>
            <a:endParaRPr lang="en-US" sz="2800" dirty="0"/>
          </a:p>
          <a:p>
            <a:pPr algn="just">
              <a:buNone/>
            </a:pPr>
            <a:r>
              <a:rPr lang="en-US" sz="2800" dirty="0"/>
              <a:t>	A quantifiable deviation, departure, or divergence away from a known baseline or expected value.</a:t>
            </a:r>
            <a:endParaRPr lang="en-US" sz="2800" dirty="0"/>
          </a:p>
          <a:p>
            <a:pPr algn="just">
              <a:buNone/>
            </a:pPr>
            <a:endParaRPr lang="en-US" sz="2800" dirty="0"/>
          </a:p>
          <a:p>
            <a:pPr algn="just">
              <a:buNone/>
            </a:pPr>
            <a:r>
              <a:rPr lang="en-US" sz="2800" dirty="0"/>
              <a:t>	There are two basic expressions of variance, schedule variance and cost variance.</a:t>
            </a:r>
            <a:endParaRPr lang="en-US" sz="2800" dirty="0"/>
          </a:p>
          <a:p>
            <a:pPr algn="just">
              <a:buNone/>
            </a:pPr>
            <a:endParaRPr lang="en-US" sz="2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t>Schedule Variance</a:t>
            </a:r>
            <a:endParaRPr lang="en-US" sz="34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152400" y="838200"/>
            <a:ext cx="8839200" cy="5562600"/>
          </a:xfrm>
        </p:spPr>
        <p:txBody>
          <a:bodyPr>
            <a:normAutofit/>
          </a:bodyPr>
          <a:lstStyle/>
          <a:p>
            <a:pPr algn="just">
              <a:buNone/>
            </a:pPr>
            <a:r>
              <a:rPr lang="en-US" sz="2800" dirty="0"/>
              <a:t>	</a:t>
            </a:r>
            <a:endParaRPr lang="en-US" sz="2800" dirty="0"/>
          </a:p>
          <a:p>
            <a:pPr algn="just">
              <a:buNone/>
            </a:pPr>
            <a:r>
              <a:rPr lang="en-US" sz="2800" dirty="0"/>
              <a:t>	Schedule Variance status does indicate the Monetary value difference between work that is ahead or behind the plan and reflects a given measurement method.</a:t>
            </a:r>
            <a:endParaRPr lang="en-US" sz="2800" dirty="0"/>
          </a:p>
          <a:p>
            <a:pPr algn="just">
              <a:buNone/>
            </a:pPr>
            <a:endParaRPr lang="en-US" sz="2800" dirty="0"/>
          </a:p>
          <a:p>
            <a:pPr algn="just">
              <a:buNone/>
            </a:pPr>
            <a:r>
              <a:rPr lang="en-US" sz="2800" dirty="0"/>
              <a:t>	The formula utilized to express schedule variance is project earned value minus the project planned value as of the date of examination. </a:t>
            </a:r>
            <a:endParaRPr lang="en-US" sz="2800" dirty="0"/>
          </a:p>
          <a:p>
            <a:pPr algn="just">
              <a:buNone/>
            </a:pPr>
            <a:endParaRPr lang="en-US" sz="2800" dirty="0"/>
          </a:p>
          <a:p>
            <a:pPr algn="just">
              <a:buNone/>
            </a:pPr>
            <a:r>
              <a:rPr lang="en-US" sz="2800" dirty="0"/>
              <a:t>	(SV = EV – PV)</a:t>
            </a:r>
            <a:endParaRPr lang="en-US" sz="2800" dirty="0"/>
          </a:p>
          <a:p>
            <a:pPr algn="just">
              <a:buNone/>
            </a:pPr>
            <a:endParaRPr lang="en-US" sz="2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200" b="1" dirty="0"/>
              <a:t>Schedule Variance</a:t>
            </a:r>
            <a:endParaRPr lang="en-US" sz="32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152400" y="838200"/>
            <a:ext cx="8839200" cy="5562600"/>
          </a:xfrm>
        </p:spPr>
        <p:txBody>
          <a:bodyPr>
            <a:normAutofit/>
          </a:bodyPr>
          <a:lstStyle/>
          <a:p>
            <a:pPr algn="just">
              <a:buNone/>
            </a:pPr>
            <a:r>
              <a:rPr lang="en-US" sz="2800" dirty="0"/>
              <a:t>	</a:t>
            </a:r>
            <a:endParaRPr lang="en-US" sz="2800" dirty="0"/>
          </a:p>
          <a:p>
            <a:pPr algn="just">
              <a:buNone/>
            </a:pPr>
            <a:r>
              <a:rPr lang="en-US" sz="2800" dirty="0"/>
              <a:t>	If the variance is equal to 0, the project is on schedule. </a:t>
            </a:r>
            <a:endParaRPr lang="en-US" sz="2800" dirty="0"/>
          </a:p>
          <a:p>
            <a:pPr algn="just">
              <a:buNone/>
            </a:pPr>
            <a:endParaRPr lang="en-US" sz="2800" dirty="0"/>
          </a:p>
          <a:p>
            <a:pPr algn="just">
              <a:buNone/>
            </a:pPr>
            <a:r>
              <a:rPr lang="en-US" sz="2800" dirty="0"/>
              <a:t>	If a negative variance is determined, the project is behind schedule.  </a:t>
            </a:r>
            <a:endParaRPr lang="en-US" sz="2800" dirty="0"/>
          </a:p>
          <a:p>
            <a:pPr algn="just">
              <a:buNone/>
            </a:pPr>
            <a:endParaRPr lang="en-US" sz="2800" dirty="0"/>
          </a:p>
          <a:p>
            <a:pPr algn="just">
              <a:buNone/>
            </a:pPr>
            <a:r>
              <a:rPr lang="en-US" sz="2800" dirty="0"/>
              <a:t>	If the variance is positive the project is ahead of schedule.</a:t>
            </a:r>
            <a:endParaRPr lang="en-US" sz="2800" dirty="0"/>
          </a:p>
          <a:p>
            <a:pPr algn="just">
              <a:buNone/>
            </a:pPr>
            <a:endParaRPr lang="en-US" sz="2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t>Cost Variance</a:t>
            </a:r>
            <a:endParaRPr lang="en-US" sz="34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152400" y="838200"/>
            <a:ext cx="8839200" cy="5562600"/>
          </a:xfrm>
        </p:spPr>
        <p:txBody>
          <a:bodyPr>
            <a:normAutofit/>
          </a:bodyPr>
          <a:lstStyle/>
          <a:p>
            <a:pPr algn="just">
              <a:buNone/>
            </a:pPr>
            <a:r>
              <a:rPr lang="en-US" sz="2800" dirty="0"/>
              <a:t>	</a:t>
            </a:r>
            <a:endParaRPr lang="en-US" sz="2800" dirty="0"/>
          </a:p>
          <a:p>
            <a:pPr algn="just">
              <a:buNone/>
            </a:pPr>
            <a:r>
              <a:rPr lang="en-US" sz="2800" dirty="0"/>
              <a:t>	The cost variance is defined as the difference between earned value and actual costs. </a:t>
            </a:r>
            <a:endParaRPr lang="en-US" sz="2800" dirty="0"/>
          </a:p>
          <a:p>
            <a:pPr algn="just">
              <a:buNone/>
            </a:pPr>
            <a:endParaRPr lang="en-US" sz="2800" dirty="0"/>
          </a:p>
          <a:p>
            <a:pPr algn="just">
              <a:buNone/>
            </a:pPr>
            <a:r>
              <a:rPr lang="en-US" sz="2800" dirty="0"/>
              <a:t>	(CV = EV – AC)</a:t>
            </a:r>
            <a:endParaRPr lang="en-US" sz="2800" dirty="0"/>
          </a:p>
          <a:p>
            <a:pPr algn="just">
              <a:buNone/>
            </a:pPr>
            <a:endParaRPr lang="en-US" sz="2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400" b="1" dirty="0">
                <a:cs typeface="Times New Roman" panose="02020603050405020304" pitchFamily="18" charset="0"/>
              </a:rPr>
              <a:t>Graphic Representation</a:t>
            </a:r>
            <a:endParaRPr lang="en-US" sz="34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pic>
        <p:nvPicPr>
          <p:cNvPr id="10" name="Picture 2"/>
          <p:cNvPicPr>
            <a:picLocks noGrp="1" noChangeAspect="1" noChangeArrowheads="1"/>
          </p:cNvPicPr>
          <p:nvPr>
            <p:ph idx="1"/>
          </p:nvPr>
        </p:nvPicPr>
        <p:blipFill>
          <a:blip r:embed="rId2"/>
          <a:srcRect/>
          <a:stretch>
            <a:fillRect/>
          </a:stretch>
        </p:blipFill>
        <p:spPr bwMode="auto">
          <a:xfrm>
            <a:off x="762000" y="837732"/>
            <a:ext cx="7620000" cy="5563068"/>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t>Performance Indexes</a:t>
            </a:r>
            <a:endParaRPr lang="en-US" sz="34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152400" y="838200"/>
            <a:ext cx="8839200" cy="5562600"/>
          </a:xfrm>
        </p:spPr>
        <p:txBody>
          <a:bodyPr>
            <a:normAutofit/>
          </a:bodyPr>
          <a:lstStyle/>
          <a:p>
            <a:pPr algn="just">
              <a:buNone/>
            </a:pPr>
            <a:r>
              <a:rPr lang="en-US" sz="2800" dirty="0"/>
              <a:t>	</a:t>
            </a:r>
            <a:endParaRPr lang="en-US" sz="2800" dirty="0"/>
          </a:p>
          <a:p>
            <a:pPr algn="just">
              <a:buNone/>
            </a:pPr>
            <a:r>
              <a:rPr lang="en-US" sz="2800" dirty="0"/>
              <a:t>	Another analysis that can be done by using EVMS is that of Performance or establishing the project’s burn rate. </a:t>
            </a:r>
            <a:endParaRPr lang="en-US" sz="2800" dirty="0"/>
          </a:p>
          <a:p>
            <a:pPr algn="just">
              <a:buNone/>
            </a:pPr>
            <a:endParaRPr lang="en-US" sz="2800" dirty="0"/>
          </a:p>
          <a:p>
            <a:pPr algn="just">
              <a:buNone/>
            </a:pPr>
            <a:r>
              <a:rPr lang="en-US" sz="2800" dirty="0"/>
              <a:t>	Two examination of performance are available to the project manager: </a:t>
            </a:r>
            <a:endParaRPr lang="en-US" sz="2800" dirty="0"/>
          </a:p>
          <a:p>
            <a:pPr algn="just"/>
            <a:r>
              <a:rPr lang="en-US" sz="2800" dirty="0"/>
              <a:t>Schedule Performance Index (SPI)  </a:t>
            </a:r>
            <a:endParaRPr lang="en-US" sz="2800" dirty="0"/>
          </a:p>
          <a:p>
            <a:pPr algn="just"/>
            <a:r>
              <a:rPr lang="en-US" sz="2800" dirty="0"/>
              <a:t>Cost Performance Index (CPI).	</a:t>
            </a:r>
            <a:endParaRPr lang="en-US" sz="2800" dirty="0"/>
          </a:p>
          <a:p>
            <a:pPr algn="just">
              <a:buNone/>
            </a:pPr>
            <a:endParaRPr lang="en-US" sz="2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t>Schedule Performance Index (SPI) </a:t>
            </a:r>
            <a:endParaRPr lang="en-US" sz="34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152400" y="838200"/>
            <a:ext cx="8839200" cy="5562600"/>
          </a:xfrm>
        </p:spPr>
        <p:txBody>
          <a:bodyPr>
            <a:normAutofit/>
          </a:bodyPr>
          <a:lstStyle/>
          <a:p>
            <a:pPr algn="just">
              <a:buNone/>
            </a:pPr>
            <a:r>
              <a:rPr lang="en-US" sz="2800" dirty="0"/>
              <a:t>	</a:t>
            </a:r>
            <a:endParaRPr lang="en-US" sz="2800" dirty="0"/>
          </a:p>
          <a:p>
            <a:pPr algn="just">
              <a:buNone/>
            </a:pPr>
            <a:r>
              <a:rPr lang="en-US" sz="2800" dirty="0"/>
              <a:t>	A measure of schedule efficiency on a project. It is the ratio of earned value (EV) to planned value (PV). </a:t>
            </a:r>
            <a:endParaRPr lang="en-US" sz="2800" dirty="0"/>
          </a:p>
          <a:p>
            <a:pPr algn="just">
              <a:buNone/>
            </a:pPr>
            <a:r>
              <a:rPr lang="en-US" sz="2800" dirty="0"/>
              <a:t>	The SPI is equal to earned value divided by planned value. 	</a:t>
            </a:r>
            <a:endParaRPr lang="en-US" sz="2800" dirty="0"/>
          </a:p>
          <a:p>
            <a:pPr algn="ctr">
              <a:buNone/>
            </a:pPr>
            <a:r>
              <a:rPr lang="en-US" sz="3600" b="1" dirty="0"/>
              <a:t>SPI = EV/PV</a:t>
            </a:r>
            <a:endParaRPr lang="en-US" sz="3600" b="1" dirty="0"/>
          </a:p>
          <a:p>
            <a:pPr algn="just">
              <a:buNone/>
            </a:pPr>
            <a:r>
              <a:rPr lang="en-US" sz="2800" dirty="0"/>
              <a:t>	An SPI </a:t>
            </a:r>
            <a:r>
              <a:rPr lang="en-US" sz="2800" b="1" dirty="0"/>
              <a:t>equal to or greater than one indicates a favorable condition</a:t>
            </a:r>
            <a:r>
              <a:rPr lang="en-US" sz="2800" dirty="0"/>
              <a:t> and a </a:t>
            </a:r>
            <a:r>
              <a:rPr lang="en-US" sz="2800" b="1" dirty="0"/>
              <a:t>value of less than one indicates an unfavorable condition.</a:t>
            </a:r>
            <a:endParaRPr lang="en-US" sz="2800" b="1" dirty="0"/>
          </a:p>
          <a:p>
            <a:pPr algn="just">
              <a:buNone/>
            </a:pPr>
            <a:endParaRPr lang="en-US" sz="2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t>Cost Performance Index (CPI)</a:t>
            </a:r>
            <a:endParaRPr lang="en-US" sz="34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152400" y="838200"/>
            <a:ext cx="8839200" cy="5562600"/>
          </a:xfrm>
        </p:spPr>
        <p:txBody>
          <a:bodyPr>
            <a:normAutofit/>
          </a:bodyPr>
          <a:lstStyle/>
          <a:p>
            <a:pPr algn="just">
              <a:buNone/>
            </a:pPr>
            <a:r>
              <a:rPr lang="en-US" sz="2800" dirty="0"/>
              <a:t>	</a:t>
            </a:r>
            <a:endParaRPr lang="en-US" sz="2800" dirty="0"/>
          </a:p>
          <a:p>
            <a:pPr algn="just">
              <a:buNone/>
            </a:pPr>
            <a:r>
              <a:rPr lang="en-US" sz="2800" dirty="0"/>
              <a:t>	A  measure of cost efficiency on a project. It is the ratio of earned value (EV) to actual costs (AC). </a:t>
            </a:r>
            <a:endParaRPr lang="en-US" sz="2800" dirty="0"/>
          </a:p>
          <a:p>
            <a:pPr algn="just">
              <a:buNone/>
            </a:pPr>
            <a:r>
              <a:rPr lang="en-US" sz="2800" dirty="0"/>
              <a:t>	The CPI is equal to the earned value divided by the actual costs. </a:t>
            </a:r>
            <a:endParaRPr lang="en-US" sz="2800" dirty="0"/>
          </a:p>
          <a:p>
            <a:pPr algn="ctr">
              <a:buNone/>
            </a:pPr>
            <a:r>
              <a:rPr lang="en-US" sz="2800" b="1" dirty="0"/>
              <a:t>CPI = EV/AC.</a:t>
            </a:r>
            <a:endParaRPr lang="en-US" sz="2800" b="1" dirty="0"/>
          </a:p>
          <a:p>
            <a:pPr algn="just">
              <a:buNone/>
            </a:pPr>
            <a:r>
              <a:rPr lang="en-US" sz="2800" dirty="0"/>
              <a:t>	A CPI </a:t>
            </a:r>
            <a:r>
              <a:rPr lang="en-US" sz="2800" b="1" dirty="0"/>
              <a:t>equal to or greater than one indicates a favorable condition</a:t>
            </a:r>
            <a:r>
              <a:rPr lang="en-US" sz="2800" dirty="0"/>
              <a:t> and a value of </a:t>
            </a:r>
            <a:r>
              <a:rPr lang="en-US" sz="2800" b="1" dirty="0"/>
              <a:t>less than one indicates an unfavorable condition</a:t>
            </a:r>
            <a:r>
              <a:rPr lang="en-US" sz="2800" dirty="0"/>
              <a:t>.</a:t>
            </a:r>
            <a:endParaRPr lang="en-US" sz="2800" dirty="0"/>
          </a:p>
          <a:p>
            <a:pPr algn="just">
              <a:buNone/>
            </a:pPr>
            <a:endParaRPr lang="en-US" sz="2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endParaRPr lang="en-US" sz="3200" b="1" dirty="0">
              <a:solidFill>
                <a:schemeClr val="tx1"/>
              </a:solidFill>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graphicFrame>
        <p:nvGraphicFramePr>
          <p:cNvPr id="9" name="Table 8"/>
          <p:cNvGraphicFramePr>
            <a:graphicFrameLocks noGrp="1"/>
          </p:cNvGraphicFramePr>
          <p:nvPr/>
        </p:nvGraphicFramePr>
        <p:xfrm>
          <a:off x="477768" y="2309003"/>
          <a:ext cx="8209032" cy="908074"/>
        </p:xfrm>
        <a:graphic>
          <a:graphicData uri="http://schemas.openxmlformats.org/drawingml/2006/table">
            <a:tbl>
              <a:tblPr/>
              <a:tblGrid>
                <a:gridCol w="6139384"/>
                <a:gridCol w="956190"/>
                <a:gridCol w="1113458"/>
              </a:tblGrid>
              <a:tr h="359434">
                <a:tc>
                  <a:txBody>
                    <a:bodyPr/>
                    <a:lstStyle/>
                    <a:p>
                      <a:pPr marL="0" marR="0" algn="ctr">
                        <a:lnSpc>
                          <a:spcPct val="115000"/>
                        </a:lnSpc>
                        <a:spcBef>
                          <a:spcPts val="0"/>
                        </a:spcBef>
                        <a:spcAft>
                          <a:spcPts val="0"/>
                        </a:spcAft>
                      </a:pPr>
                      <a:r>
                        <a:rPr lang="en-US" sz="2000" b="1" dirty="0">
                          <a:latin typeface="Calibri" panose="020F0502020204030204"/>
                          <a:ea typeface="Times New Roman" panose="02020603050405020304"/>
                          <a:cs typeface="Mangal"/>
                        </a:rPr>
                        <a:t>Topic</a:t>
                      </a:r>
                      <a:r>
                        <a:rPr lang="en-US" sz="2000" b="1" baseline="0" dirty="0">
                          <a:latin typeface="Calibri" panose="020F0502020204030204"/>
                          <a:ea typeface="Times New Roman" panose="02020603050405020304"/>
                          <a:cs typeface="Mangal"/>
                        </a:rPr>
                        <a:t> </a:t>
                      </a:r>
                      <a:endParaRPr lang="en-US" sz="2000" b="1"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Calibri" panose="020F0502020204030204"/>
                          <a:ea typeface="Times New Roman" panose="02020603050405020304"/>
                          <a:cs typeface="Mangal"/>
                        </a:rPr>
                        <a:t>CO</a:t>
                      </a:r>
                      <a:endParaRPr lang="en-US" sz="2000" b="1"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latin typeface="Calibri" panose="020F0502020204030204"/>
                          <a:ea typeface="Times New Roman" panose="02020603050405020304"/>
                          <a:cs typeface="Mangal"/>
                        </a:rPr>
                        <a:t>Level</a:t>
                      </a:r>
                      <a:endParaRPr lang="en-US" sz="2000" b="1"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1321">
                <a:tc>
                  <a:txBody>
                    <a:bodyPr/>
                    <a:lstStyle/>
                    <a:p>
                      <a:pPr algn="just">
                        <a:buNone/>
                      </a:pPr>
                      <a:r>
                        <a:rPr lang="en-US" sz="3600" b="1" dirty="0">
                          <a:cs typeface="Times New Roman" panose="02020603050405020304" pitchFamily="18" charset="0"/>
                        </a:rPr>
                        <a:t>Project Termination</a:t>
                      </a:r>
                      <a:endParaRPr lang="en-US" sz="3600" dirty="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panose="020F0502020204030204"/>
                          <a:ea typeface="Times New Roman" panose="02020603050405020304"/>
                          <a:cs typeface="Mangal"/>
                        </a:rPr>
                        <a:t> CO 5</a:t>
                      </a:r>
                      <a:endParaRPr lang="en-US" sz="24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panose="020F0502020204030204"/>
                          <a:ea typeface="Times New Roman" panose="02020603050405020304"/>
                          <a:cs typeface="Mangal"/>
                        </a:rPr>
                        <a:t>1</a:t>
                      </a:r>
                      <a:endParaRPr lang="en-US" sz="2400" dirty="0">
                        <a:latin typeface="Calibri" panose="020F0502020204030204"/>
                        <a:ea typeface="Times New Roman" panose="02020603050405020304"/>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838200"/>
            <a:ext cx="8686800" cy="5486400"/>
          </a:xfrm>
        </p:spPr>
        <p:txBody>
          <a:bodyPr>
            <a:normAutofit/>
          </a:bodyPr>
          <a:lstStyle/>
          <a:p>
            <a:pPr algn="just">
              <a:buNone/>
            </a:pPr>
            <a:r>
              <a:rPr lang="en-US" sz="2800" b="1" dirty="0">
                <a:latin typeface="Times New Roman" panose="02020603050405020304" pitchFamily="18" charset="0"/>
                <a:cs typeface="Times New Roman" panose="02020603050405020304" pitchFamily="18" charset="0"/>
              </a:rPr>
              <a:t>Objective:</a:t>
            </a:r>
            <a:endParaRPr lang="en-US" sz="2800" b="1"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To learn and understand the process of project termination.</a:t>
            </a:r>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algn="just">
              <a:buNone/>
            </a:pPr>
            <a:r>
              <a:rPr lang="en-US" sz="2800" b="1" dirty="0">
                <a:latin typeface="Times New Roman" panose="02020603050405020304" pitchFamily="18" charset="0"/>
                <a:cs typeface="Times New Roman" panose="02020603050405020304" pitchFamily="18" charset="0"/>
              </a:rPr>
              <a:t>Outcome:</a:t>
            </a:r>
            <a:endParaRPr lang="en-US" sz="2800" b="1"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Student would be able to apply step wise step </a:t>
            </a:r>
            <a:r>
              <a:rPr lang="en-US" sz="2800" dirty="0" err="1">
                <a:latin typeface="Times New Roman" panose="02020603050405020304" pitchFamily="18" charset="0"/>
                <a:cs typeface="Times New Roman" panose="02020603050405020304" pitchFamily="18" charset="0"/>
              </a:rPr>
              <a:t>appreach</a:t>
            </a:r>
            <a:r>
              <a:rPr lang="en-US" sz="2800" dirty="0">
                <a:latin typeface="Times New Roman" panose="02020603050405020304" pitchFamily="18" charset="0"/>
                <a:cs typeface="Times New Roman" panose="02020603050405020304" pitchFamily="18" charset="0"/>
              </a:rPr>
              <a:t> to terminate the projects. </a:t>
            </a:r>
            <a:endParaRPr lang="en-US" sz="2800" dirty="0">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200" b="1" dirty="0"/>
              <a:t>Topic Objectives &amp; Outcome</a:t>
            </a:r>
            <a:endParaRPr lang="en-US" sz="3200" b="1" dirty="0"/>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838200"/>
            <a:ext cx="8686800" cy="5486400"/>
          </a:xfrm>
        </p:spPr>
        <p:txBody>
          <a:bodyPr>
            <a:normAutofit/>
          </a:bodyPr>
          <a:lstStyle/>
          <a:p>
            <a:pPr algn="just"/>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200" b="1" dirty="0"/>
              <a:t>Recap</a:t>
            </a:r>
            <a:endParaRPr lang="en-US" sz="3200" b="1" dirty="0"/>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2"/>
          <p:cNvSpPr txBox="1"/>
          <p:nvPr/>
        </p:nvSpPr>
        <p:spPr>
          <a:xfrm>
            <a:off x="381000" y="990600"/>
            <a:ext cx="8686800" cy="5486400"/>
          </a:xfrm>
          <a:prstGeom prst="rect">
            <a:avLst/>
          </a:prstGeom>
        </p:spPr>
        <p:txBody>
          <a:bodyPr vert="horz" lIns="91440" tIns="45720" rIns="91440" bIns="45720" rtlCol="0">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28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lang="en-US" sz="2800" dirty="0">
              <a:latin typeface="Times New Roman" panose="02020603050405020304" pitchFamily="18" charset="0"/>
              <a:cs typeface="Times New Roman" panose="02020603050405020304" pitchFamily="18" charset="0"/>
            </a:endParaRPr>
          </a:p>
        </p:txBody>
      </p:sp>
      <p:sp>
        <p:nvSpPr>
          <p:cNvPr id="10" name="Content Placeholder 8"/>
          <p:cNvSpPr txBox="1"/>
          <p:nvPr/>
        </p:nvSpPr>
        <p:spPr>
          <a:xfrm>
            <a:off x="152400" y="838200"/>
            <a:ext cx="8839200" cy="5562600"/>
          </a:xfrm>
          <a:prstGeom prst="rect">
            <a:avLst/>
          </a:prstGeom>
        </p:spPr>
        <p:txBody>
          <a:bodyPr vert="horz" lIns="91440" tIns="45720" rIns="91440" bIns="45720" rtlCol="0">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defRPr/>
            </a:pP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endPar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Earned Value</a:t>
            </a:r>
            <a:r>
              <a:rPr kumimoji="0" lang="en-US" sz="2800" b="0"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rPr>
              <a:t> Analysis</a:t>
            </a:r>
            <a:endParaRPr kumimoji="0" lang="en-US" sz="2800" b="0"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sz="2800" baseline="0" dirty="0">
                <a:latin typeface="Times New Roman" panose="02020603050405020304" pitchFamily="18" charset="0"/>
                <a:cs typeface="Times New Roman" panose="02020603050405020304" pitchFamily="18" charset="0"/>
              </a:rPr>
              <a:t>Variance</a:t>
            </a:r>
            <a:endParaRPr lang="en-US" sz="2800" baseline="0" dirty="0">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sz="2800" b="0"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rPr>
              <a:t>SPI &amp; CPI</a:t>
            </a:r>
            <a:endParaRPr kumimoji="0" lang="en-US" sz="2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400" b="1" dirty="0">
                <a:cs typeface="Times New Roman" panose="02020603050405020304" pitchFamily="18" charset="0"/>
              </a:rPr>
              <a:t>Project Termination</a:t>
            </a:r>
            <a:endParaRPr lang="en-US" sz="34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152400" y="838200"/>
            <a:ext cx="8839200" cy="5562600"/>
          </a:xfrm>
        </p:spPr>
        <p:txBody>
          <a:bodyPr>
            <a:normAutofit/>
          </a:bodyPr>
          <a:lstStyle/>
          <a:p>
            <a:pPr algn="just">
              <a:buNone/>
            </a:pPr>
            <a:endParaRPr lang="en-US" sz="2800" dirty="0"/>
          </a:p>
          <a:p>
            <a:pPr algn="just">
              <a:buNone/>
            </a:pPr>
            <a:r>
              <a:rPr lang="en-US" sz="2800" dirty="0"/>
              <a:t>	</a:t>
            </a:r>
            <a:endParaRPr lang="en-US" sz="2800" dirty="0"/>
          </a:p>
          <a:p>
            <a:pPr algn="just">
              <a:buNone/>
            </a:pPr>
            <a:r>
              <a:rPr lang="en-US" sz="2800" dirty="0"/>
              <a:t>	Project termination (or </a:t>
            </a:r>
            <a:r>
              <a:rPr lang="en-US" sz="2800" i="1" dirty="0"/>
              <a:t>close-out</a:t>
            </a:r>
            <a:r>
              <a:rPr lang="en-US" sz="2800" dirty="0"/>
              <a:t>) is the last stage of managing the project, and occurs after the implementation phase has ended. </a:t>
            </a:r>
            <a:endParaRPr lang="en-US" sz="2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400" b="1" dirty="0">
                <a:cs typeface="Times New Roman" panose="02020603050405020304" pitchFamily="18" charset="0"/>
              </a:rPr>
              <a:t>Types of Project Termination</a:t>
            </a:r>
            <a:endParaRPr lang="en-US" sz="34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pic>
        <p:nvPicPr>
          <p:cNvPr id="64514" name="Picture 2"/>
          <p:cNvPicPr>
            <a:picLocks noGrp="1" noChangeAspect="1" noChangeArrowheads="1"/>
          </p:cNvPicPr>
          <p:nvPr>
            <p:ph idx="1"/>
          </p:nvPr>
        </p:nvPicPr>
        <p:blipFill>
          <a:blip r:embed="rId2"/>
          <a:srcRect/>
          <a:stretch>
            <a:fillRect/>
          </a:stretch>
        </p:blipFill>
        <p:spPr bwMode="auto">
          <a:xfrm>
            <a:off x="76200" y="838200"/>
            <a:ext cx="8935005" cy="5029200"/>
          </a:xfrm>
          <a:prstGeom prst="rect">
            <a:avLst/>
          </a:prstGeom>
          <a:noFill/>
          <a:ln w="9525">
            <a:noFill/>
            <a:miter lim="800000"/>
            <a:headEnd/>
            <a:tailEnd/>
          </a:ln>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200" b="1" dirty="0">
                <a:cs typeface="Times New Roman" panose="02020603050405020304" pitchFamily="18" charset="0"/>
              </a:rPr>
              <a:t>Most Common Reasons Projects Terminate</a:t>
            </a:r>
            <a:endParaRPr lang="en-US" sz="3200" b="1" dirty="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pic>
        <p:nvPicPr>
          <p:cNvPr id="65538" name="Picture 2"/>
          <p:cNvPicPr>
            <a:picLocks noGrp="1" noChangeAspect="1" noChangeArrowheads="1"/>
          </p:cNvPicPr>
          <p:nvPr>
            <p:ph idx="1"/>
          </p:nvPr>
        </p:nvPicPr>
        <p:blipFill>
          <a:blip r:embed="rId2"/>
          <a:srcRect/>
          <a:stretch>
            <a:fillRect/>
          </a:stretch>
        </p:blipFill>
        <p:spPr bwMode="auto">
          <a:xfrm>
            <a:off x="343951" y="869312"/>
            <a:ext cx="8495249" cy="5379088"/>
          </a:xfrm>
          <a:prstGeom prst="rect">
            <a:avLst/>
          </a:prstGeom>
          <a:noFill/>
          <a:ln w="9525">
            <a:noFill/>
            <a:miter lim="800000"/>
            <a:headEnd/>
            <a:tailEnd/>
          </a:ln>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3400" b="1" i="0" u="none" strike="noStrike" kern="1200" cap="none" spc="0" normalizeH="0" baseline="0" noProof="0" dirty="0">
                <a:ln>
                  <a:noFill/>
                </a:ln>
                <a:solidFill>
                  <a:schemeClr val="tx1"/>
                </a:solidFill>
                <a:effectLst/>
                <a:uLnTx/>
                <a:uFillTx/>
                <a:latin typeface="+mn-lt"/>
                <a:ea typeface="+mn-ea"/>
                <a:cs typeface="+mn-cs"/>
              </a:rPr>
              <a:t>Summary</a:t>
            </a:r>
            <a:endParaRPr kumimoji="0" lang="en-US" sz="3400" b="1" i="0" u="none" strike="noStrike" kern="1200" cap="none" spc="0" normalizeH="0" baseline="0" noProof="0" dirty="0">
              <a:ln>
                <a:noFill/>
              </a:ln>
              <a:solidFill>
                <a:schemeClr val="tx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76200" y="838200"/>
            <a:ext cx="8991600" cy="5562600"/>
          </a:xfrm>
        </p:spPr>
        <p:txBody>
          <a:bodyPr>
            <a:normAutofit/>
          </a:bodyPr>
          <a:lstStyle/>
          <a:p>
            <a:pPr algn="just">
              <a:buNone/>
            </a:pPr>
            <a:r>
              <a:rPr lang="en-US" sz="2800" dirty="0"/>
              <a:t>	Milestones are tools used in project management to mark specific points along a project timeline. </a:t>
            </a:r>
            <a:endParaRPr lang="en-US" sz="2800" dirty="0"/>
          </a:p>
          <a:p>
            <a:pPr algn="just">
              <a:buNone/>
            </a:pPr>
            <a:endParaRPr lang="en-US" sz="2800" dirty="0"/>
          </a:p>
          <a:p>
            <a:pPr algn="just">
              <a:buNone/>
            </a:pPr>
            <a:r>
              <a:rPr lang="en-US" sz="2800" dirty="0"/>
              <a:t>	These points may signal anchors such as a project start and end date, or a need for external review or input and budget checks.</a:t>
            </a:r>
            <a:endParaRPr lang="en-US" sz="2800" dirty="0"/>
          </a:p>
          <a:p>
            <a:pPr algn="just">
              <a:buNone/>
            </a:pPr>
            <a:endParaRPr lang="en-US" sz="2800" dirty="0"/>
          </a:p>
          <a:p>
            <a:pPr algn="just">
              <a:buNone/>
            </a:pPr>
            <a:r>
              <a:rPr lang="en-US" sz="2800" dirty="0"/>
              <a:t>	A  measure of cost efficiency on a project. It is the ratio of earned value (EV) to actual costs (AC). </a:t>
            </a:r>
            <a:endParaRPr lang="en-US" sz="2800" dirty="0"/>
          </a:p>
          <a:p>
            <a:pPr algn="just">
              <a:buNone/>
            </a:pPr>
            <a:r>
              <a:rPr lang="en-US" sz="2800" dirty="0"/>
              <a:t>	The CPI is equal to the earned value divided by the actual costs. </a:t>
            </a:r>
            <a:endParaRPr lang="en-US" sz="2800" dirty="0"/>
          </a:p>
          <a:p>
            <a:pPr algn="just">
              <a:buNone/>
            </a:pPr>
            <a:endParaRPr lang="en-US" sz="2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buNone/>
            </a:pPr>
            <a:r>
              <a:rPr lang="en-US" sz="2400" dirty="0">
                <a:hlinkClick r:id="rId1"/>
              </a:rPr>
              <a:t>https://www.youtube.com/watch?v=lfIX8VwZpPE</a:t>
            </a:r>
            <a:endParaRPr lang="en-US" sz="2400" dirty="0"/>
          </a:p>
          <a:p>
            <a:pPr>
              <a:buNone/>
            </a:pPr>
            <a:endParaRPr lang="en-US" sz="2400" dirty="0"/>
          </a:p>
          <a:p>
            <a:pPr>
              <a:buNone/>
            </a:pPr>
            <a:r>
              <a:rPr lang="en-US" sz="2400" dirty="0">
                <a:hlinkClick r:id="rId2"/>
              </a:rPr>
              <a:t>https://www.youtube.com/watch?v=QTL0NU_S2Mc</a:t>
            </a:r>
            <a:endParaRPr lang="en-US" sz="2400" dirty="0"/>
          </a:p>
          <a:p>
            <a:pPr>
              <a:buNone/>
            </a:pPr>
            <a:endParaRPr lang="en-US" sz="2400" dirty="0">
              <a:hlinkClick r:id="rId3"/>
            </a:endParaRPr>
          </a:p>
          <a:p>
            <a:pPr>
              <a:buNone/>
            </a:pPr>
            <a:r>
              <a:rPr lang="en-US" sz="2400" dirty="0">
                <a:hlinkClick r:id="rId3"/>
              </a:rPr>
              <a:t>https://www.youtube.com/watch?v=rAJYAgTBXEY</a:t>
            </a:r>
            <a:endParaRPr lang="en-US" sz="2400" dirty="0"/>
          </a:p>
          <a:p>
            <a:pPr>
              <a:buNone/>
            </a:pPr>
            <a:endParaRPr lang="en-US" sz="2400" dirty="0"/>
          </a:p>
          <a:p>
            <a:pPr>
              <a:buNone/>
            </a:pPr>
            <a:r>
              <a:rPr lang="en-US" sz="2400" dirty="0">
                <a:hlinkClick r:id="rId4"/>
              </a:rPr>
              <a:t>https://www.youtube.com/watch?v=mYUIMsc6Niw</a:t>
            </a:r>
            <a:endParaRPr lang="en-US" sz="2400" dirty="0"/>
          </a:p>
          <a:p>
            <a:pPr>
              <a:buNone/>
            </a:pPr>
            <a:endParaRPr lang="en-US" sz="2400" dirty="0"/>
          </a:p>
        </p:txBody>
      </p:sp>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none" spc="0" normalizeH="0" noProof="0" dirty="0">
                <a:ln>
                  <a:noFill/>
                </a:ln>
                <a:solidFill>
                  <a:schemeClr val="dk1"/>
                </a:solidFill>
                <a:effectLst/>
                <a:uLnTx/>
                <a:uFillTx/>
                <a:latin typeface="+mn-lt"/>
                <a:ea typeface="+mn-ea"/>
                <a:cs typeface="+mn-cs"/>
              </a:rPr>
              <a:t> </a:t>
            </a:r>
            <a:r>
              <a:rPr kumimoji="0" lang="en-US" sz="3200" b="1" i="0" u="none" strike="noStrike" kern="1200" cap="none" spc="0" normalizeH="0" noProof="0" dirty="0" err="1">
                <a:ln>
                  <a:noFill/>
                </a:ln>
                <a:solidFill>
                  <a:schemeClr val="dk1"/>
                </a:solidFill>
                <a:effectLst/>
                <a:uLnTx/>
                <a:uFillTx/>
                <a:latin typeface="+mn-lt"/>
                <a:ea typeface="+mn-ea"/>
                <a:cs typeface="+mn-cs"/>
              </a:rPr>
              <a:t>Youtube</a:t>
            </a:r>
            <a:r>
              <a:rPr kumimoji="0" lang="en-US" sz="3200" b="1" i="0" u="none" strike="noStrike" kern="1200" cap="none" spc="0" normalizeH="0" noProof="0" dirty="0">
                <a:ln>
                  <a:noFill/>
                </a:ln>
                <a:solidFill>
                  <a:schemeClr val="dk1"/>
                </a:solidFill>
                <a:effectLst/>
                <a:uLnTx/>
                <a:uFillTx/>
                <a:latin typeface="+mn-lt"/>
                <a:ea typeface="+mn-ea"/>
                <a:cs typeface="+mn-cs"/>
              </a:rPr>
              <a:t> Links</a:t>
            </a:r>
            <a:endParaRPr kumimoji="0" lang="en-US" sz="3200" b="1"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5"/>
          <a:srcRect/>
          <a:stretch>
            <a:fillRect/>
          </a:stretch>
        </p:blipFill>
        <p:spPr bwMode="auto">
          <a:xfrm>
            <a:off x="0" y="0"/>
            <a:ext cx="1447800" cy="817163"/>
          </a:xfrm>
          <a:prstGeom prst="rect">
            <a:avLst/>
          </a:prstGeom>
          <a:noFill/>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14400"/>
            <a:ext cx="8763000" cy="5257800"/>
          </a:xfrm>
        </p:spPr>
        <p:txBody>
          <a:bodyPr>
            <a:normAutofit/>
          </a:bodyPr>
          <a:lstStyle/>
          <a:p>
            <a:pPr marL="0" marR="0">
              <a:lnSpc>
                <a:spcPct val="115000"/>
              </a:lnSpc>
              <a:spcBef>
                <a:spcPts val="0"/>
              </a:spcBef>
              <a:spcAft>
                <a:spcPts val="0"/>
              </a:spcAft>
              <a:buNone/>
            </a:pPr>
            <a:r>
              <a:rPr lang="en-US" sz="2400" b="1" dirty="0">
                <a:ea typeface="Times New Roman" panose="02020603050405020304"/>
                <a:cs typeface="Mangal"/>
              </a:rPr>
              <a:t>Q1.</a:t>
            </a:r>
            <a:r>
              <a:rPr lang="en-US" sz="2400" dirty="0">
                <a:ea typeface="Times New Roman" panose="02020603050405020304"/>
                <a:cs typeface="Mangal"/>
              </a:rPr>
              <a:t> EVA stands for. </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b="1" dirty="0">
                <a:ea typeface="Times New Roman" panose="02020603050405020304"/>
                <a:cs typeface="Mangal"/>
              </a:rPr>
              <a:t>Earned value analysis </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dirty="0">
                <a:ea typeface="Times New Roman" panose="02020603050405020304"/>
                <a:cs typeface="Mangal"/>
              </a:rPr>
              <a:t>Early value analysis </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dirty="0">
                <a:ea typeface="Times New Roman" panose="02020603050405020304"/>
                <a:cs typeface="Mangal"/>
              </a:rPr>
              <a:t>Exposure value analysis </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dirty="0">
                <a:ea typeface="Times New Roman" panose="02020603050405020304"/>
                <a:cs typeface="Mangal"/>
              </a:rPr>
              <a:t>Explicit value analysis</a:t>
            </a:r>
            <a:endParaRPr lang="en-US" sz="2400" dirty="0">
              <a:ea typeface="Times New Roman" panose="02020603050405020304"/>
              <a:cs typeface="Mangal"/>
            </a:endParaRPr>
          </a:p>
          <a:p>
            <a:pPr lvl="0">
              <a:lnSpc>
                <a:spcPct val="115000"/>
              </a:lnSpc>
              <a:spcBef>
                <a:spcPts val="0"/>
              </a:spcBef>
              <a:buFont typeface="+mj-lt"/>
              <a:buAutoNum type="alphaUcPeriod"/>
            </a:pPr>
            <a:endParaRPr lang="en-US" sz="2400" dirty="0">
              <a:ea typeface="Times New Roman" panose="02020603050405020304"/>
              <a:cs typeface="Mangal"/>
            </a:endParaRPr>
          </a:p>
          <a:p>
            <a:pPr marL="0" marR="0">
              <a:lnSpc>
                <a:spcPct val="115000"/>
              </a:lnSpc>
              <a:spcBef>
                <a:spcPts val="0"/>
              </a:spcBef>
              <a:spcAft>
                <a:spcPts val="0"/>
              </a:spcAft>
              <a:buNone/>
            </a:pPr>
            <a:r>
              <a:rPr lang="en-US" sz="2400" b="1" dirty="0">
                <a:ea typeface="Times New Roman" panose="02020603050405020304"/>
                <a:cs typeface="Mangal"/>
              </a:rPr>
              <a:t>Q2.</a:t>
            </a:r>
            <a:r>
              <a:rPr lang="en-US" sz="2400" dirty="0">
                <a:ea typeface="Times New Roman" panose="02020603050405020304"/>
                <a:cs typeface="Mangal"/>
              </a:rPr>
              <a:t> PV stands for. </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dirty="0">
                <a:ea typeface="Times New Roman" panose="02020603050405020304"/>
                <a:cs typeface="Mangal"/>
              </a:rPr>
              <a:t>Projected value </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b="1" dirty="0">
                <a:ea typeface="Times New Roman" panose="02020603050405020304"/>
                <a:cs typeface="Mangal"/>
              </a:rPr>
              <a:t>Planned value </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dirty="0">
                <a:ea typeface="Times New Roman" panose="02020603050405020304"/>
                <a:cs typeface="Mangal"/>
              </a:rPr>
              <a:t>Peculiar value </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dirty="0">
                <a:ea typeface="Times New Roman" panose="02020603050405020304"/>
                <a:cs typeface="Mangal"/>
              </a:rPr>
              <a:t>None of the above</a:t>
            </a:r>
            <a:endParaRPr lang="en-US" sz="2400" dirty="0">
              <a:ea typeface="Times New Roman" panose="02020603050405020304"/>
              <a:cs typeface="Mangal"/>
            </a:endParaRPr>
          </a:p>
          <a:p>
            <a:pPr lvl="0">
              <a:lnSpc>
                <a:spcPct val="115000"/>
              </a:lnSpc>
              <a:spcBef>
                <a:spcPts val="0"/>
              </a:spcBef>
              <a:buFont typeface="+mj-lt"/>
              <a:buAutoNum type="alphaUcPeriod"/>
            </a:pPr>
            <a:endParaRPr lang="en-US" sz="2400" dirty="0">
              <a:ea typeface="Times New Roman" panose="02020603050405020304"/>
              <a:cs typeface="Mangal"/>
            </a:endParaRPr>
          </a:p>
          <a:p>
            <a:pPr marL="0" marR="0" algn="just">
              <a:spcBef>
                <a:spcPts val="0"/>
              </a:spcBef>
              <a:buNone/>
            </a:pPr>
            <a:endParaRPr lang="en-US" sz="2400" dirty="0">
              <a:cs typeface="Times New Roman" panose="02020603050405020304" pitchFamily="18" charset="0"/>
            </a:endParaRPr>
          </a:p>
        </p:txBody>
      </p:sp>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lang="en-US" sz="2800" b="1" dirty="0">
                <a:latin typeface="Arial" panose="020B0604020202020204" pitchFamily="34" charset="0"/>
                <a:cs typeface="Arial" panose="020B0604020202020204" pitchFamily="34" charset="0"/>
              </a:rPr>
              <a:t>Daily Quiz</a:t>
            </a:r>
            <a:endParaRPr kumimoji="0" lang="en-US" sz="2800" b="1" i="0" u="none" strike="noStrike" kern="1200" cap="none" spc="0" normalizeH="0" baseline="0" noProof="0" dirty="0">
              <a:ln>
                <a:noFill/>
              </a:ln>
              <a:solidFill>
                <a:schemeClr val="dk1"/>
              </a:solidFill>
              <a:effectLst/>
              <a:uLnTx/>
              <a:uFillTx/>
              <a:latin typeface="Arial" panose="020B0604020202020204" pitchFamily="34" charset="0"/>
              <a:cs typeface="Arial" panose="020B0604020202020204" pitchFamily="34"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14400"/>
            <a:ext cx="8763000" cy="5257800"/>
          </a:xfrm>
        </p:spPr>
        <p:txBody>
          <a:bodyPr>
            <a:normAutofit/>
          </a:bodyPr>
          <a:lstStyle/>
          <a:p>
            <a:pPr marL="0" marR="0">
              <a:lnSpc>
                <a:spcPct val="115000"/>
              </a:lnSpc>
              <a:spcBef>
                <a:spcPts val="0"/>
              </a:spcBef>
              <a:spcAft>
                <a:spcPts val="0"/>
              </a:spcAft>
              <a:buNone/>
            </a:pPr>
            <a:r>
              <a:rPr lang="en-US" sz="2400" b="1" dirty="0">
                <a:ea typeface="Times New Roman" panose="02020603050405020304"/>
                <a:cs typeface="Mangal"/>
              </a:rPr>
              <a:t>Q3.</a:t>
            </a:r>
            <a:r>
              <a:rPr lang="en-US" sz="2400" dirty="0">
                <a:ea typeface="Times New Roman" panose="02020603050405020304"/>
                <a:cs typeface="Mangal"/>
              </a:rPr>
              <a:t> EV stands for. </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dirty="0">
                <a:ea typeface="Times New Roman" panose="02020603050405020304"/>
                <a:cs typeface="Mangal"/>
              </a:rPr>
              <a:t>Explicit value </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dirty="0">
                <a:ea typeface="Times New Roman" panose="02020603050405020304"/>
                <a:cs typeface="Mangal"/>
              </a:rPr>
              <a:t>Exposure value </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b="1" dirty="0">
                <a:ea typeface="Times New Roman" panose="02020603050405020304"/>
                <a:cs typeface="Mangal"/>
              </a:rPr>
              <a:t>Earned value </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dirty="0">
                <a:ea typeface="Times New Roman" panose="02020603050405020304"/>
                <a:cs typeface="Mangal"/>
              </a:rPr>
              <a:t>Expected value</a:t>
            </a:r>
            <a:endParaRPr lang="en-US" sz="2400" dirty="0">
              <a:ea typeface="Times New Roman" panose="02020603050405020304"/>
              <a:cs typeface="Mangal"/>
            </a:endParaRPr>
          </a:p>
          <a:p>
            <a:pPr marL="514350" indent="-514350" algn="just">
              <a:lnSpc>
                <a:spcPct val="110000"/>
              </a:lnSpc>
              <a:spcBef>
                <a:spcPts val="0"/>
              </a:spcBef>
              <a:buNone/>
            </a:pPr>
            <a:endParaRPr lang="en-US" sz="2400" dirty="0">
              <a:cs typeface="Times New Roman" panose="02020603050405020304" pitchFamily="18" charset="0"/>
            </a:endParaRPr>
          </a:p>
          <a:p>
            <a:pPr marL="0" marR="0">
              <a:lnSpc>
                <a:spcPct val="115000"/>
              </a:lnSpc>
              <a:spcBef>
                <a:spcPts val="0"/>
              </a:spcBef>
              <a:spcAft>
                <a:spcPts val="0"/>
              </a:spcAft>
              <a:buNone/>
            </a:pPr>
            <a:r>
              <a:rPr lang="en-US" sz="2400" b="1" dirty="0">
                <a:ea typeface="Times New Roman" panose="02020603050405020304"/>
                <a:cs typeface="Mangal"/>
              </a:rPr>
              <a:t>Q4.</a:t>
            </a:r>
            <a:r>
              <a:rPr lang="en-US" sz="2400" dirty="0">
                <a:ea typeface="Times New Roman" panose="02020603050405020304"/>
                <a:cs typeface="Mangal"/>
              </a:rPr>
              <a:t> In project monitoring CV stands for. </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dirty="0">
                <a:ea typeface="Times New Roman" panose="02020603050405020304"/>
                <a:cs typeface="Mangal"/>
              </a:rPr>
              <a:t>Cumulative variance </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dirty="0">
                <a:ea typeface="Times New Roman" panose="02020603050405020304"/>
                <a:cs typeface="Mangal"/>
              </a:rPr>
              <a:t>Cumulative value </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b="1" dirty="0">
                <a:ea typeface="Times New Roman" panose="02020603050405020304"/>
                <a:cs typeface="Mangal"/>
              </a:rPr>
              <a:t>Cost variance </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dirty="0">
                <a:ea typeface="Times New Roman" panose="02020603050405020304"/>
                <a:cs typeface="Mangal"/>
              </a:rPr>
              <a:t>None of the above</a:t>
            </a:r>
            <a:endParaRPr lang="en-US" sz="2400" dirty="0">
              <a:ea typeface="Times New Roman" panose="02020603050405020304"/>
              <a:cs typeface="Mangal"/>
            </a:endParaRPr>
          </a:p>
          <a:p>
            <a:pPr marL="514350" indent="-514350" algn="just">
              <a:lnSpc>
                <a:spcPct val="110000"/>
              </a:lnSpc>
              <a:spcBef>
                <a:spcPts val="0"/>
              </a:spcBef>
              <a:buNone/>
            </a:pPr>
            <a:endParaRPr lang="en-US" sz="2400" dirty="0">
              <a:cs typeface="Times New Roman" panose="02020603050405020304" pitchFamily="18" charset="0"/>
            </a:endParaRPr>
          </a:p>
        </p:txBody>
      </p:sp>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lang="en-US" sz="2800" b="1" dirty="0">
                <a:latin typeface="Arial" panose="020B0604020202020204" pitchFamily="34" charset="0"/>
                <a:cs typeface="Arial" panose="020B0604020202020204" pitchFamily="34" charset="0"/>
              </a:rPr>
              <a:t>Daily Quiz</a:t>
            </a:r>
            <a:endParaRPr kumimoji="0" lang="en-US" sz="2800" b="1" i="0" u="none" strike="noStrike" kern="1200" cap="none" spc="0" normalizeH="0" baseline="0" noProof="0" dirty="0">
              <a:ln>
                <a:noFill/>
              </a:ln>
              <a:solidFill>
                <a:schemeClr val="dk1"/>
              </a:solidFill>
              <a:effectLst/>
              <a:uLnTx/>
              <a:uFillTx/>
              <a:latin typeface="Arial" panose="020B0604020202020204" pitchFamily="34" charset="0"/>
              <a:cs typeface="Arial" panose="020B0604020202020204" pitchFamily="34"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14400"/>
            <a:ext cx="8763000" cy="5257800"/>
          </a:xfrm>
        </p:spPr>
        <p:txBody>
          <a:bodyPr>
            <a:normAutofit/>
          </a:bodyPr>
          <a:lstStyle/>
          <a:p>
            <a:pPr marL="0" marR="0">
              <a:lnSpc>
                <a:spcPct val="115000"/>
              </a:lnSpc>
              <a:spcBef>
                <a:spcPts val="0"/>
              </a:spcBef>
              <a:spcAft>
                <a:spcPts val="0"/>
              </a:spcAft>
              <a:buNone/>
            </a:pPr>
            <a:r>
              <a:rPr lang="en-US" sz="2400" b="1" dirty="0">
                <a:ea typeface="Times New Roman" panose="02020603050405020304"/>
                <a:cs typeface="Mangal"/>
              </a:rPr>
              <a:t>Q5.</a:t>
            </a:r>
            <a:r>
              <a:rPr lang="en-US" sz="2400" dirty="0">
                <a:ea typeface="Times New Roman" panose="02020603050405020304"/>
                <a:cs typeface="Mangal"/>
              </a:rPr>
              <a:t> In project monitoring SV stands for. </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dirty="0">
                <a:ea typeface="Times New Roman" panose="02020603050405020304"/>
                <a:cs typeface="Mangal"/>
              </a:rPr>
              <a:t>Standard value </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b="1" dirty="0">
                <a:ea typeface="Times New Roman" panose="02020603050405020304"/>
                <a:cs typeface="Mangal"/>
              </a:rPr>
              <a:t>Schedule variance </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dirty="0">
                <a:ea typeface="Times New Roman" panose="02020603050405020304"/>
                <a:cs typeface="Mangal"/>
              </a:rPr>
              <a:t>Schedule value </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dirty="0">
                <a:ea typeface="Times New Roman" panose="02020603050405020304"/>
                <a:cs typeface="Mangal"/>
              </a:rPr>
              <a:t>Standard variance</a:t>
            </a:r>
            <a:endParaRPr lang="en-US" sz="2400" dirty="0">
              <a:ea typeface="Times New Roman" panose="02020603050405020304"/>
              <a:cs typeface="Mangal"/>
            </a:endParaRPr>
          </a:p>
          <a:p>
            <a:pPr marL="0" marR="0">
              <a:lnSpc>
                <a:spcPct val="115000"/>
              </a:lnSpc>
              <a:spcBef>
                <a:spcPts val="0"/>
              </a:spcBef>
              <a:spcAft>
                <a:spcPts val="1000"/>
              </a:spcAft>
            </a:pPr>
            <a:endParaRPr lang="en-US" sz="2400" dirty="0">
              <a:cs typeface="Times New Roman" panose="02020603050405020304" pitchFamily="18" charset="0"/>
            </a:endParaRPr>
          </a:p>
          <a:p>
            <a:pPr marL="0" marR="0">
              <a:lnSpc>
                <a:spcPct val="115000"/>
              </a:lnSpc>
              <a:spcBef>
                <a:spcPts val="0"/>
              </a:spcBef>
              <a:spcAft>
                <a:spcPts val="0"/>
              </a:spcAft>
              <a:buNone/>
            </a:pPr>
            <a:r>
              <a:rPr lang="en-US" sz="2400" b="1" dirty="0">
                <a:ea typeface="Times New Roman" panose="02020603050405020304"/>
                <a:cs typeface="Mangal"/>
              </a:rPr>
              <a:t>Q6.</a:t>
            </a:r>
            <a:r>
              <a:rPr lang="en-US" sz="2400" dirty="0">
                <a:ea typeface="Times New Roman" panose="02020603050405020304"/>
                <a:cs typeface="Mangal"/>
              </a:rPr>
              <a:t> In project monitoring and control SPI stands for. </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dirty="0">
                <a:ea typeface="Times New Roman" panose="02020603050405020304"/>
                <a:cs typeface="Mangal"/>
              </a:rPr>
              <a:t>Supplementary performance index </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b="1" dirty="0">
                <a:ea typeface="Times New Roman" panose="02020603050405020304"/>
                <a:cs typeface="Mangal"/>
              </a:rPr>
              <a:t>Schedule performance index </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dirty="0">
                <a:ea typeface="Times New Roman" panose="02020603050405020304"/>
                <a:cs typeface="Mangal"/>
              </a:rPr>
              <a:t>Social performance index </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dirty="0">
                <a:ea typeface="Times New Roman" panose="02020603050405020304"/>
                <a:cs typeface="Mangal"/>
              </a:rPr>
              <a:t>Substitute performance index</a:t>
            </a:r>
            <a:endParaRPr lang="en-US" sz="2400" dirty="0">
              <a:ea typeface="Times New Roman" panose="02020603050405020304"/>
              <a:cs typeface="Mangal"/>
            </a:endParaRPr>
          </a:p>
          <a:p>
            <a:pPr marL="0" marR="0">
              <a:lnSpc>
                <a:spcPct val="115000"/>
              </a:lnSpc>
              <a:spcBef>
                <a:spcPts val="0"/>
              </a:spcBef>
              <a:spcAft>
                <a:spcPts val="1000"/>
              </a:spcAft>
            </a:pPr>
            <a:endParaRPr lang="en-US" sz="2400" dirty="0">
              <a:cs typeface="Times New Roman" panose="02020603050405020304" pitchFamily="18" charset="0"/>
            </a:endParaRPr>
          </a:p>
        </p:txBody>
      </p:sp>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lang="en-US" sz="2800" b="1" dirty="0">
                <a:latin typeface="Arial" panose="020B0604020202020204" pitchFamily="34" charset="0"/>
                <a:cs typeface="Arial" panose="020B0604020202020204" pitchFamily="34" charset="0"/>
              </a:rPr>
              <a:t>Daily Quiz</a:t>
            </a:r>
            <a:endParaRPr kumimoji="0" lang="en-US" sz="2800" b="1" i="0" u="none" strike="noStrike" kern="1200" cap="none" spc="0" normalizeH="0" baseline="0" noProof="0" dirty="0">
              <a:ln>
                <a:noFill/>
              </a:ln>
              <a:solidFill>
                <a:schemeClr val="dk1"/>
              </a:solidFill>
              <a:effectLst/>
              <a:uLnTx/>
              <a:uFillTx/>
              <a:latin typeface="Arial" panose="020B0604020202020204" pitchFamily="34" charset="0"/>
              <a:cs typeface="Arial" panose="020B0604020202020204" pitchFamily="34"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14400"/>
            <a:ext cx="8534400" cy="5410200"/>
          </a:xfrm>
        </p:spPr>
        <p:txBody>
          <a:bodyPr>
            <a:normAutofit/>
          </a:bodyPr>
          <a:lstStyle/>
          <a:p>
            <a:pPr marL="514350" lvl="0" indent="-514350" algn="just">
              <a:buNone/>
            </a:pPr>
            <a:r>
              <a:rPr lang="en-US" sz="2800" dirty="0"/>
              <a:t>Q1. Describe the project monitoring and control cycle.</a:t>
            </a:r>
            <a:endParaRPr lang="en-US" sz="2800" dirty="0"/>
          </a:p>
          <a:p>
            <a:pPr marL="514350" lvl="0" indent="-514350" algn="just">
              <a:buNone/>
            </a:pPr>
            <a:endParaRPr lang="en-US" sz="2800" dirty="0">
              <a:cs typeface="Arial" panose="020B0604020202020204" pitchFamily="34" charset="0"/>
            </a:endParaRPr>
          </a:p>
          <a:p>
            <a:pPr marL="514350" lvl="0" indent="-514350" algn="just">
              <a:buNone/>
            </a:pPr>
            <a:r>
              <a:rPr lang="en-US" sz="2800" dirty="0"/>
              <a:t>Q2. Discuss the Project Management Information System.</a:t>
            </a:r>
            <a:endParaRPr lang="en-US" sz="2800" dirty="0"/>
          </a:p>
          <a:p>
            <a:pPr marL="514350" lvl="0" indent="-514350" algn="just">
              <a:buNone/>
            </a:pPr>
            <a:endParaRPr lang="en-US" sz="2800" dirty="0">
              <a:cs typeface="Arial" panose="020B0604020202020204" pitchFamily="34" charset="0"/>
            </a:endParaRPr>
          </a:p>
          <a:p>
            <a:pPr marL="514350" lvl="0" indent="-514350" algn="just">
              <a:buNone/>
            </a:pPr>
            <a:r>
              <a:rPr lang="en-US" sz="2800" dirty="0"/>
              <a:t>Q3. Describe the project termination and its process in detail.</a:t>
            </a:r>
            <a:endParaRPr lang="en-US" sz="2800" dirty="0"/>
          </a:p>
          <a:p>
            <a:pPr marL="514350" lvl="0" indent="-514350" algn="just">
              <a:buNone/>
            </a:pPr>
            <a:endParaRPr lang="en-US" sz="2800" dirty="0">
              <a:cs typeface="Arial" panose="020B0604020202020204" pitchFamily="34" charset="0"/>
            </a:endParaRPr>
          </a:p>
          <a:p>
            <a:pPr marL="514350" lvl="0" indent="-514350" algn="just">
              <a:buNone/>
            </a:pPr>
            <a:r>
              <a:rPr lang="en-US" sz="2800" dirty="0">
                <a:cs typeface="Arial" panose="020B0604020202020204" pitchFamily="34" charset="0"/>
              </a:rPr>
              <a:t>Q4. Discuss the Earned Value Analysis and calculation of its components.</a:t>
            </a:r>
            <a:endParaRPr lang="en-US" sz="2800" dirty="0">
              <a:cs typeface="Arial" panose="020B0604020202020204" pitchFamily="34" charset="0"/>
            </a:endParaRPr>
          </a:p>
        </p:txBody>
      </p:sp>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2800" b="1" i="0" u="none" strike="noStrike" kern="1200" cap="none" spc="0" normalizeH="0" baseline="0" noProof="0" dirty="0">
                <a:ln>
                  <a:noFill/>
                </a:ln>
                <a:solidFill>
                  <a:schemeClr val="dk1"/>
                </a:solidFill>
                <a:effectLst/>
                <a:uLnTx/>
                <a:uFillTx/>
                <a:latin typeface="+mn-lt"/>
                <a:ea typeface="+mn-ea"/>
                <a:cs typeface="+mn-cs"/>
              </a:rPr>
              <a:t>Weekly</a:t>
            </a:r>
            <a:r>
              <a:rPr kumimoji="0" lang="en-US" sz="2800" b="1" i="0" u="none" strike="noStrike" kern="1200" cap="none" spc="0" normalizeH="0" noProof="0" dirty="0">
                <a:ln>
                  <a:noFill/>
                </a:ln>
                <a:solidFill>
                  <a:schemeClr val="dk1"/>
                </a:solidFill>
                <a:effectLst/>
                <a:uLnTx/>
                <a:uFillTx/>
                <a:latin typeface="+mn-lt"/>
                <a:ea typeface="+mn-ea"/>
                <a:cs typeface="+mn-cs"/>
              </a:rPr>
              <a:t> Assignment</a:t>
            </a:r>
            <a:endParaRPr kumimoji="0" lang="en-US" sz="2800" b="1"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838200"/>
            <a:ext cx="8610600" cy="5410200"/>
          </a:xfrm>
        </p:spPr>
        <p:txBody>
          <a:bodyPr>
            <a:noAutofit/>
          </a:bodyPr>
          <a:lstStyle/>
          <a:p>
            <a:pPr marL="0" marR="0" algn="just">
              <a:lnSpc>
                <a:spcPct val="115000"/>
              </a:lnSpc>
              <a:spcBef>
                <a:spcPts val="0"/>
              </a:spcBef>
              <a:spcAft>
                <a:spcPts val="0"/>
              </a:spcAft>
              <a:buNone/>
            </a:pPr>
            <a:r>
              <a:rPr lang="en-US" sz="2400" b="1" dirty="0">
                <a:ea typeface="Times New Roman" panose="02020603050405020304"/>
                <a:cs typeface="Mangal"/>
              </a:rPr>
              <a:t>Q1.</a:t>
            </a:r>
            <a:r>
              <a:rPr lang="en-US" sz="2400" dirty="0">
                <a:ea typeface="Times New Roman" panose="02020603050405020304"/>
                <a:cs typeface="Mangal"/>
              </a:rPr>
              <a:t> Who will be aware that for all projects, final technical and financial reports</a:t>
            </a:r>
            <a:endParaRPr lang="en-US" sz="2400" dirty="0">
              <a:ea typeface="Times New Roman" panose="02020603050405020304"/>
              <a:cs typeface="Mangal"/>
            </a:endParaRPr>
          </a:p>
          <a:p>
            <a:pPr lvl="0" algn="just">
              <a:lnSpc>
                <a:spcPct val="115000"/>
              </a:lnSpc>
              <a:spcBef>
                <a:spcPts val="0"/>
              </a:spcBef>
              <a:buFont typeface="+mj-lt"/>
              <a:buAutoNum type="alphaUcPeriod"/>
            </a:pPr>
            <a:r>
              <a:rPr lang="en-US" sz="2400" dirty="0">
                <a:ea typeface="Times New Roman" panose="02020603050405020304"/>
                <a:cs typeface="Mangal"/>
              </a:rPr>
              <a:t>Principal Investigator</a:t>
            </a:r>
            <a:endParaRPr lang="en-US" sz="2400" dirty="0">
              <a:ea typeface="Times New Roman" panose="02020603050405020304"/>
              <a:cs typeface="Mangal"/>
            </a:endParaRPr>
          </a:p>
          <a:p>
            <a:pPr lvl="0" algn="just">
              <a:lnSpc>
                <a:spcPct val="115000"/>
              </a:lnSpc>
              <a:spcBef>
                <a:spcPts val="0"/>
              </a:spcBef>
              <a:buFont typeface="+mj-lt"/>
              <a:buAutoNum type="alphaUcPeriod"/>
            </a:pPr>
            <a:r>
              <a:rPr lang="en-US" sz="2400" dirty="0">
                <a:ea typeface="Times New Roman" panose="02020603050405020304"/>
                <a:cs typeface="Mangal"/>
              </a:rPr>
              <a:t>Foremen</a:t>
            </a:r>
            <a:endParaRPr lang="en-US" sz="2400" dirty="0">
              <a:ea typeface="Times New Roman" panose="02020603050405020304"/>
              <a:cs typeface="Mangal"/>
            </a:endParaRPr>
          </a:p>
          <a:p>
            <a:pPr lvl="0" algn="just">
              <a:lnSpc>
                <a:spcPct val="115000"/>
              </a:lnSpc>
              <a:spcBef>
                <a:spcPts val="0"/>
              </a:spcBef>
              <a:buFont typeface="+mj-lt"/>
              <a:buAutoNum type="alphaUcPeriod"/>
            </a:pPr>
            <a:r>
              <a:rPr lang="en-US" sz="2400" dirty="0">
                <a:ea typeface="Times New Roman" panose="02020603050405020304"/>
                <a:cs typeface="Mangal"/>
              </a:rPr>
              <a:t>Supervisor</a:t>
            </a:r>
            <a:endParaRPr lang="en-US" sz="2400" dirty="0">
              <a:ea typeface="Times New Roman" panose="02020603050405020304"/>
              <a:cs typeface="Mangal"/>
            </a:endParaRPr>
          </a:p>
          <a:p>
            <a:pPr lvl="0" algn="just">
              <a:lnSpc>
                <a:spcPct val="115000"/>
              </a:lnSpc>
              <a:spcBef>
                <a:spcPts val="0"/>
              </a:spcBef>
              <a:buFont typeface="+mj-lt"/>
              <a:buAutoNum type="alphaUcPeriod"/>
            </a:pPr>
            <a:r>
              <a:rPr lang="en-US" sz="2400" dirty="0">
                <a:ea typeface="Times New Roman" panose="02020603050405020304"/>
                <a:cs typeface="Mangal"/>
              </a:rPr>
              <a:t>Clerk</a:t>
            </a:r>
            <a:endParaRPr lang="en-US" sz="2400" dirty="0">
              <a:ea typeface="Times New Roman" panose="02020603050405020304"/>
              <a:cs typeface="Mangal"/>
            </a:endParaRPr>
          </a:p>
          <a:p>
            <a:pPr marL="0" marR="0" algn="just">
              <a:spcBef>
                <a:spcPts val="0"/>
              </a:spcBef>
              <a:buNone/>
            </a:pPr>
            <a:endParaRPr lang="en-US" sz="2400" dirty="0"/>
          </a:p>
          <a:p>
            <a:pPr marL="0" marR="0" algn="just">
              <a:lnSpc>
                <a:spcPct val="115000"/>
              </a:lnSpc>
              <a:spcBef>
                <a:spcPts val="0"/>
              </a:spcBef>
              <a:spcAft>
                <a:spcPts val="0"/>
              </a:spcAft>
              <a:buNone/>
            </a:pPr>
            <a:r>
              <a:rPr lang="en-US" sz="2400" b="1" dirty="0">
                <a:ea typeface="Times New Roman" panose="02020603050405020304"/>
                <a:cs typeface="Mangal"/>
              </a:rPr>
              <a:t>Q2.</a:t>
            </a:r>
            <a:r>
              <a:rPr lang="en-US" sz="2400" dirty="0">
                <a:ea typeface="Times New Roman" panose="02020603050405020304"/>
                <a:cs typeface="Mangal"/>
              </a:rPr>
              <a:t> Why projects are terminated?</a:t>
            </a:r>
            <a:endParaRPr lang="en-US" sz="2400" dirty="0">
              <a:ea typeface="Times New Roman" panose="02020603050405020304"/>
              <a:cs typeface="Mangal"/>
            </a:endParaRPr>
          </a:p>
          <a:p>
            <a:pPr lvl="0" algn="just">
              <a:lnSpc>
                <a:spcPct val="115000"/>
              </a:lnSpc>
              <a:spcBef>
                <a:spcPts val="0"/>
              </a:spcBef>
              <a:buFont typeface="+mj-lt"/>
              <a:buAutoNum type="alphaUcPeriod"/>
            </a:pPr>
            <a:r>
              <a:rPr lang="en-US" sz="2400" dirty="0">
                <a:solidFill>
                  <a:srgbClr val="000000"/>
                </a:solidFill>
                <a:ea typeface="Times New Roman" panose="02020603050405020304"/>
                <a:cs typeface="Times New Roman" panose="02020603050405020304"/>
              </a:rPr>
              <a:t>Force majeure (e.g. earthquake, flooding, etc.)</a:t>
            </a:r>
            <a:endParaRPr lang="en-US" sz="2400" dirty="0">
              <a:ea typeface="Times New Roman" panose="02020603050405020304"/>
              <a:cs typeface="Mangal"/>
            </a:endParaRPr>
          </a:p>
          <a:p>
            <a:pPr lvl="0" algn="just">
              <a:lnSpc>
                <a:spcPct val="115000"/>
              </a:lnSpc>
              <a:spcBef>
                <a:spcPts val="0"/>
              </a:spcBef>
              <a:buFont typeface="+mj-lt"/>
              <a:buAutoNum type="alphaUcPeriod"/>
            </a:pPr>
            <a:r>
              <a:rPr lang="en-US" sz="2400" dirty="0">
                <a:solidFill>
                  <a:srgbClr val="000000"/>
                </a:solidFill>
                <a:ea typeface="Times New Roman" panose="02020603050405020304"/>
                <a:cs typeface="Times New Roman" panose="02020603050405020304"/>
              </a:rPr>
              <a:t>Necessary conditions disappear</a:t>
            </a:r>
            <a:endParaRPr lang="en-US" sz="2400" dirty="0">
              <a:ea typeface="Times New Roman" panose="02020603050405020304"/>
              <a:cs typeface="Mangal"/>
            </a:endParaRPr>
          </a:p>
          <a:p>
            <a:pPr lvl="0" algn="just">
              <a:lnSpc>
                <a:spcPct val="115000"/>
              </a:lnSpc>
              <a:spcBef>
                <a:spcPts val="0"/>
              </a:spcBef>
              <a:buFont typeface="+mj-lt"/>
              <a:buAutoNum type="alphaUcPeriod"/>
            </a:pPr>
            <a:r>
              <a:rPr lang="en-US" sz="2400" dirty="0">
                <a:solidFill>
                  <a:srgbClr val="000000"/>
                </a:solidFill>
                <a:ea typeface="Times New Roman" panose="02020603050405020304"/>
                <a:cs typeface="Times New Roman" panose="02020603050405020304"/>
              </a:rPr>
              <a:t>Lack of management support</a:t>
            </a:r>
            <a:endParaRPr lang="en-US" sz="2400" dirty="0">
              <a:ea typeface="Times New Roman" panose="02020603050405020304"/>
              <a:cs typeface="Mangal"/>
            </a:endParaRPr>
          </a:p>
          <a:p>
            <a:pPr lvl="0" algn="just">
              <a:lnSpc>
                <a:spcPct val="115000"/>
              </a:lnSpc>
              <a:spcBef>
                <a:spcPts val="0"/>
              </a:spcBef>
              <a:buFont typeface="+mj-lt"/>
              <a:buAutoNum type="alphaUcPeriod"/>
            </a:pPr>
            <a:r>
              <a:rPr lang="en-US" sz="2400" dirty="0">
                <a:solidFill>
                  <a:srgbClr val="000000"/>
                </a:solidFill>
                <a:ea typeface="Times New Roman" panose="02020603050405020304"/>
                <a:cs typeface="Times New Roman" panose="02020603050405020304"/>
              </a:rPr>
              <a:t>All of the above</a:t>
            </a:r>
            <a:endParaRPr lang="en-US" sz="2400" dirty="0">
              <a:ea typeface="Times New Roman" panose="02020603050405020304"/>
              <a:cs typeface="Mangal"/>
            </a:endParaRPr>
          </a:p>
          <a:p>
            <a:pPr marL="0" marR="0" algn="just">
              <a:spcBef>
                <a:spcPts val="0"/>
              </a:spcBef>
              <a:buNone/>
            </a:pPr>
            <a:endParaRPr lang="en-US" sz="2400" dirty="0"/>
          </a:p>
        </p:txBody>
      </p:sp>
      <p:sp>
        <p:nvSpPr>
          <p:cNvPr id="5" name="Footer Placeholder 4"/>
          <p:cNvSpPr>
            <a:spLocks noGrp="1"/>
          </p:cNvSpPr>
          <p:nvPr>
            <p:ph type="ftr" sz="quarter" idx="11"/>
          </p:nvPr>
        </p:nvSpPr>
        <p:spPr>
          <a:xfrm>
            <a:off x="2514600" y="6324600"/>
            <a:ext cx="4876800" cy="365125"/>
          </a:xfrm>
        </p:spPr>
        <p:txBody>
          <a:bodyPr/>
          <a:lstStyle/>
          <a:p>
            <a:r>
              <a:rPr lang="en-US"/>
              <a:t>Dr. Meenu Chaudhary     AMBA 0401 (PM)                Unit-5</a:t>
            </a:r>
            <a:endParaRPr lang="en-US" dirty="0"/>
          </a:p>
        </p:txBody>
      </p:sp>
      <p:sp>
        <p:nvSpPr>
          <p:cNvPr id="7"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2400" b="1" i="0" u="none" strike="noStrike" kern="1200" cap="none" spc="0" normalizeH="0" baseline="0" noProof="0" dirty="0">
                <a:ln>
                  <a:noFill/>
                </a:ln>
                <a:solidFill>
                  <a:schemeClr val="dk1"/>
                </a:solidFill>
                <a:effectLst/>
                <a:uLnTx/>
                <a:uFillTx/>
                <a:latin typeface="+mn-lt"/>
                <a:ea typeface="+mn-ea"/>
                <a:cs typeface="+mn-cs"/>
              </a:rPr>
              <a:t>MCQ</a:t>
            </a:r>
            <a:r>
              <a:rPr kumimoji="0" lang="en-US" sz="2400" b="1" i="0" u="none" strike="noStrike" kern="1200" cap="none" spc="0" normalizeH="0" noProof="0" dirty="0">
                <a:ln>
                  <a:noFill/>
                </a:ln>
                <a:solidFill>
                  <a:schemeClr val="dk1"/>
                </a:solidFill>
                <a:effectLst/>
                <a:uLnTx/>
                <a:uFillTx/>
                <a:latin typeface="+mn-lt"/>
                <a:ea typeface="+mn-ea"/>
                <a:cs typeface="+mn-cs"/>
              </a:rPr>
              <a:t> s</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62000"/>
            <a:ext cx="8915400" cy="5486400"/>
          </a:xfrm>
        </p:spPr>
        <p:txBody>
          <a:bodyPr>
            <a:normAutofit/>
          </a:bodyPr>
          <a:lstStyle/>
          <a:p>
            <a:pPr marL="0" marR="0">
              <a:lnSpc>
                <a:spcPct val="115000"/>
              </a:lnSpc>
              <a:spcBef>
                <a:spcPts val="0"/>
              </a:spcBef>
              <a:spcAft>
                <a:spcPts val="0"/>
              </a:spcAft>
              <a:buNone/>
            </a:pPr>
            <a:r>
              <a:rPr lang="en-US" sz="2400" b="1" dirty="0">
                <a:ea typeface="Times New Roman" panose="02020603050405020304"/>
                <a:cs typeface="Mangal"/>
              </a:rPr>
              <a:t>Q3.</a:t>
            </a:r>
            <a:r>
              <a:rPr lang="en-US" sz="2400" dirty="0">
                <a:ea typeface="Times New Roman" panose="02020603050405020304"/>
                <a:cs typeface="Mangal"/>
              </a:rPr>
              <a:t> We generally extol the value and virtue of time as a </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b="1" dirty="0">
                <a:ea typeface="Times New Roman" panose="02020603050405020304"/>
                <a:cs typeface="Mangal"/>
              </a:rPr>
              <a:t>Critical parameter</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dirty="0">
                <a:ea typeface="Times New Roman" panose="02020603050405020304"/>
                <a:cs typeface="Mangal"/>
              </a:rPr>
              <a:t>Compact parameter</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dirty="0">
                <a:ea typeface="Times New Roman" panose="02020603050405020304"/>
                <a:cs typeface="Mangal"/>
              </a:rPr>
              <a:t>Complex parameter</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dirty="0">
                <a:ea typeface="Times New Roman" panose="02020603050405020304"/>
                <a:cs typeface="Mangal"/>
              </a:rPr>
              <a:t>None of the above</a:t>
            </a:r>
            <a:endParaRPr lang="en-US" sz="2400" dirty="0">
              <a:ea typeface="Times New Roman" panose="02020603050405020304"/>
              <a:cs typeface="Mangal"/>
            </a:endParaRPr>
          </a:p>
          <a:p>
            <a:pPr marL="0" marR="0" algn="just">
              <a:lnSpc>
                <a:spcPct val="110000"/>
              </a:lnSpc>
              <a:spcBef>
                <a:spcPts val="0"/>
              </a:spcBef>
              <a:buNone/>
            </a:pPr>
            <a:endParaRPr lang="en-US" sz="2200" dirty="0"/>
          </a:p>
          <a:p>
            <a:pPr>
              <a:buNone/>
            </a:pPr>
            <a:r>
              <a:rPr lang="en-US" sz="2400" b="1" dirty="0"/>
              <a:t>Q4.</a:t>
            </a:r>
            <a:r>
              <a:rPr lang="en-US" sz="2400" dirty="0"/>
              <a:t> Projects are the means </a:t>
            </a:r>
            <a:r>
              <a:rPr lang="en-US" sz="2400" dirty="0" err="1"/>
              <a:t>of_________organizational</a:t>
            </a:r>
            <a:r>
              <a:rPr lang="en-US" sz="2400" dirty="0"/>
              <a:t>  strategy</a:t>
            </a:r>
            <a:endParaRPr lang="en-US" sz="2400" dirty="0"/>
          </a:p>
          <a:p>
            <a:pPr marL="457200" lvl="0" indent="-457200">
              <a:buFont typeface="+mj-lt"/>
              <a:buAutoNum type="alphaUcPeriod"/>
            </a:pPr>
            <a:r>
              <a:rPr lang="en-US" sz="2400" b="1" dirty="0"/>
              <a:t>Implementing</a:t>
            </a:r>
            <a:endParaRPr lang="en-US" sz="2400" dirty="0"/>
          </a:p>
          <a:p>
            <a:pPr marL="457200" lvl="0" indent="-457200">
              <a:buFont typeface="+mj-lt"/>
              <a:buAutoNum type="alphaUcPeriod"/>
            </a:pPr>
            <a:r>
              <a:rPr lang="en-US" sz="2400" dirty="0"/>
              <a:t>Making</a:t>
            </a:r>
            <a:endParaRPr lang="en-US" sz="2400" dirty="0"/>
          </a:p>
          <a:p>
            <a:pPr marL="457200" lvl="0" indent="-457200">
              <a:buFont typeface="+mj-lt"/>
              <a:buAutoNum type="alphaUcPeriod"/>
            </a:pPr>
            <a:r>
              <a:rPr lang="en-US" sz="2400" dirty="0"/>
              <a:t>Terminating</a:t>
            </a:r>
            <a:endParaRPr lang="en-US" sz="2400" dirty="0"/>
          </a:p>
          <a:p>
            <a:pPr marL="457200" lvl="0" indent="-457200">
              <a:buFont typeface="+mj-lt"/>
              <a:buAutoNum type="alphaUcPeriod"/>
            </a:pPr>
            <a:r>
              <a:rPr lang="en-US" sz="2400" dirty="0"/>
              <a:t>None of the above </a:t>
            </a:r>
            <a:endParaRPr lang="en-US" sz="2400" dirty="0"/>
          </a:p>
          <a:p>
            <a:pPr marL="0" marR="0" algn="just">
              <a:lnSpc>
                <a:spcPct val="110000"/>
              </a:lnSpc>
              <a:spcBef>
                <a:spcPts val="0"/>
              </a:spcBef>
              <a:buNone/>
            </a:pPr>
            <a:endParaRPr lang="en-US" sz="2200" dirty="0"/>
          </a:p>
        </p:txBody>
      </p:sp>
      <p:sp>
        <p:nvSpPr>
          <p:cNvPr id="5" name="Footer Placeholder 4"/>
          <p:cNvSpPr>
            <a:spLocks noGrp="1"/>
          </p:cNvSpPr>
          <p:nvPr>
            <p:ph type="ftr" sz="quarter" idx="11"/>
          </p:nvPr>
        </p:nvSpPr>
        <p:spPr>
          <a:xfrm>
            <a:off x="2514600" y="6324600"/>
            <a:ext cx="4876800" cy="365125"/>
          </a:xfrm>
        </p:spPr>
        <p:txBody>
          <a:bodyPr/>
          <a:lstStyle/>
          <a:p>
            <a:r>
              <a:rPr lang="en-US"/>
              <a:t>Dr. Meenu Chaudhary     AMBA 0401 (PM)                Unit-5</a:t>
            </a:r>
            <a:endParaRPr lang="en-US" dirty="0"/>
          </a:p>
        </p:txBody>
      </p:sp>
      <p:sp>
        <p:nvSpPr>
          <p:cNvPr id="7"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2400" b="1" i="0" u="none" strike="noStrike" kern="1200" cap="none" spc="0" normalizeH="0" baseline="0" noProof="0" dirty="0">
                <a:ln>
                  <a:noFill/>
                </a:ln>
                <a:solidFill>
                  <a:schemeClr val="dk1"/>
                </a:solidFill>
                <a:effectLst/>
                <a:uLnTx/>
                <a:uFillTx/>
                <a:latin typeface="+mn-lt"/>
                <a:ea typeface="+mn-ea"/>
                <a:cs typeface="+mn-cs"/>
              </a:rPr>
              <a:t>MCQ</a:t>
            </a:r>
            <a:r>
              <a:rPr kumimoji="0" lang="en-US" sz="2400" b="1" i="0" u="none" strike="noStrike" kern="1200" cap="none" spc="0" normalizeH="0" noProof="0" dirty="0">
                <a:ln>
                  <a:noFill/>
                </a:ln>
                <a:solidFill>
                  <a:schemeClr val="dk1"/>
                </a:solidFill>
                <a:effectLst/>
                <a:uLnTx/>
                <a:uFillTx/>
                <a:latin typeface="+mn-lt"/>
                <a:ea typeface="+mn-ea"/>
                <a:cs typeface="+mn-cs"/>
              </a:rPr>
              <a:t> s</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838200"/>
            <a:ext cx="8686800" cy="5486400"/>
          </a:xfrm>
        </p:spPr>
        <p:txBody>
          <a:bodyPr>
            <a:normAutofit lnSpcReduction="10000"/>
          </a:bodyPr>
          <a:lstStyle/>
          <a:p>
            <a:pPr marL="0" marR="0">
              <a:lnSpc>
                <a:spcPct val="115000"/>
              </a:lnSpc>
              <a:spcBef>
                <a:spcPts val="0"/>
              </a:spcBef>
              <a:spcAft>
                <a:spcPts val="0"/>
              </a:spcAft>
              <a:buNone/>
            </a:pPr>
            <a:r>
              <a:rPr lang="en-US" sz="2400" b="1" dirty="0">
                <a:ea typeface="Times New Roman" panose="02020603050405020304"/>
                <a:cs typeface="Mangal"/>
              </a:rPr>
              <a:t>Q5.</a:t>
            </a:r>
            <a:r>
              <a:rPr lang="en-US" sz="2400" dirty="0">
                <a:ea typeface="Times New Roman" panose="02020603050405020304"/>
                <a:cs typeface="Mangal"/>
              </a:rPr>
              <a:t> Which of the following is an incorrect activity for the configuration management of a software system?</a:t>
            </a:r>
            <a:br>
              <a:rPr lang="en-US" sz="2400" dirty="0">
                <a:ea typeface="Times New Roman" panose="02020603050405020304"/>
                <a:cs typeface="Mangal"/>
              </a:rPr>
            </a:br>
            <a:r>
              <a:rPr lang="en-US" sz="2400" b="1" dirty="0">
                <a:ea typeface="Times New Roman" panose="02020603050405020304"/>
                <a:cs typeface="Mangal"/>
              </a:rPr>
              <a:t>A. Internship management</a:t>
            </a:r>
            <a:br>
              <a:rPr lang="en-US" sz="2400" b="1" dirty="0">
                <a:ea typeface="Times New Roman" panose="02020603050405020304"/>
                <a:cs typeface="Mangal"/>
              </a:rPr>
            </a:br>
            <a:r>
              <a:rPr lang="en-US" sz="2400" dirty="0">
                <a:ea typeface="Times New Roman" panose="02020603050405020304"/>
                <a:cs typeface="Mangal"/>
              </a:rPr>
              <a:t>B. Change management</a:t>
            </a:r>
            <a:br>
              <a:rPr lang="en-US" sz="2400" dirty="0">
                <a:ea typeface="Times New Roman" panose="02020603050405020304"/>
                <a:cs typeface="Mangal"/>
              </a:rPr>
            </a:br>
            <a:r>
              <a:rPr lang="en-US" sz="2400" dirty="0">
                <a:ea typeface="Times New Roman" panose="02020603050405020304"/>
                <a:cs typeface="Mangal"/>
              </a:rPr>
              <a:t>C. Version management</a:t>
            </a:r>
            <a:br>
              <a:rPr lang="en-US" sz="2400" dirty="0">
                <a:ea typeface="Times New Roman" panose="02020603050405020304"/>
                <a:cs typeface="Mangal"/>
              </a:rPr>
            </a:br>
            <a:r>
              <a:rPr lang="en-US" sz="2400" dirty="0">
                <a:ea typeface="Times New Roman" panose="02020603050405020304"/>
                <a:cs typeface="Mangal"/>
              </a:rPr>
              <a:t>D. System management</a:t>
            </a:r>
            <a:endParaRPr lang="en-US" sz="2400" dirty="0">
              <a:ea typeface="Times New Roman" panose="02020603050405020304"/>
              <a:cs typeface="Mangal"/>
            </a:endParaRPr>
          </a:p>
          <a:p>
            <a:pPr algn="just">
              <a:spcBef>
                <a:spcPts val="0"/>
              </a:spcBef>
            </a:pPr>
            <a:endParaRPr lang="en-US" sz="2400" dirty="0"/>
          </a:p>
          <a:p>
            <a:pPr marL="0" marR="0">
              <a:lnSpc>
                <a:spcPct val="115000"/>
              </a:lnSpc>
              <a:spcBef>
                <a:spcPts val="0"/>
              </a:spcBef>
              <a:spcAft>
                <a:spcPts val="0"/>
              </a:spcAft>
              <a:buNone/>
            </a:pPr>
            <a:r>
              <a:rPr lang="en-US" sz="2400" b="1" dirty="0">
                <a:ea typeface="Times New Roman" panose="02020603050405020304"/>
                <a:cs typeface="Mangal"/>
              </a:rPr>
              <a:t>Q6.</a:t>
            </a:r>
            <a:r>
              <a:rPr lang="en-US" sz="2400" dirty="0">
                <a:ea typeface="Times New Roman" panose="02020603050405020304"/>
                <a:cs typeface="Mangal"/>
              </a:rPr>
              <a:t> Quality planning is the process of developing a quality plan applicable for.</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dirty="0">
                <a:ea typeface="Times New Roman" panose="02020603050405020304"/>
                <a:cs typeface="Mangal"/>
              </a:rPr>
              <a:t>Team</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b="1" dirty="0">
                <a:ea typeface="Times New Roman" panose="02020603050405020304"/>
                <a:cs typeface="Mangal"/>
              </a:rPr>
              <a:t> Project</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dirty="0">
                <a:ea typeface="Times New Roman" panose="02020603050405020304"/>
                <a:cs typeface="Mangal"/>
              </a:rPr>
              <a:t>Customers</a:t>
            </a:r>
            <a:endParaRPr lang="en-US" sz="2400" dirty="0">
              <a:ea typeface="Times New Roman" panose="02020603050405020304"/>
              <a:cs typeface="Mangal"/>
            </a:endParaRPr>
          </a:p>
          <a:p>
            <a:pPr lvl="0">
              <a:lnSpc>
                <a:spcPct val="115000"/>
              </a:lnSpc>
              <a:spcBef>
                <a:spcPts val="0"/>
              </a:spcBef>
              <a:buFont typeface="+mj-lt"/>
              <a:buAutoNum type="alphaUcPeriod"/>
            </a:pPr>
            <a:r>
              <a:rPr lang="en-US" sz="2400" dirty="0">
                <a:ea typeface="Times New Roman" panose="02020603050405020304"/>
                <a:cs typeface="Mangal"/>
              </a:rPr>
              <a:t>project manager</a:t>
            </a:r>
            <a:endParaRPr lang="en-US" sz="2400" dirty="0">
              <a:ea typeface="Times New Roman" panose="02020603050405020304"/>
              <a:cs typeface="Mangal"/>
            </a:endParaRPr>
          </a:p>
          <a:p>
            <a:pPr algn="just">
              <a:spcBef>
                <a:spcPts val="0"/>
              </a:spcBef>
            </a:pPr>
            <a:endParaRPr lang="en-US" sz="2400" dirty="0"/>
          </a:p>
        </p:txBody>
      </p:sp>
      <p:sp>
        <p:nvSpPr>
          <p:cNvPr id="5" name="Footer Placeholder 4"/>
          <p:cNvSpPr>
            <a:spLocks noGrp="1"/>
          </p:cNvSpPr>
          <p:nvPr>
            <p:ph type="ftr" sz="quarter" idx="11"/>
          </p:nvPr>
        </p:nvSpPr>
        <p:spPr>
          <a:xfrm>
            <a:off x="2514600" y="6324600"/>
            <a:ext cx="4876800" cy="365125"/>
          </a:xfrm>
        </p:spPr>
        <p:txBody>
          <a:bodyPr/>
          <a:lstStyle/>
          <a:p>
            <a:r>
              <a:rPr lang="en-US"/>
              <a:t>Dr. Meenu Chaudhary     AMBA 0401 (PM)                Unit-5</a:t>
            </a:r>
            <a:endParaRPr lang="en-US" dirty="0"/>
          </a:p>
        </p:txBody>
      </p:sp>
      <p:sp>
        <p:nvSpPr>
          <p:cNvPr id="7"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2400" b="1" i="0" u="none" strike="noStrike" kern="1200" cap="none" spc="0" normalizeH="0" baseline="0" noProof="0" dirty="0">
                <a:ln>
                  <a:noFill/>
                </a:ln>
                <a:solidFill>
                  <a:schemeClr val="dk1"/>
                </a:solidFill>
                <a:effectLst/>
                <a:uLnTx/>
                <a:uFillTx/>
                <a:latin typeface="+mn-lt"/>
                <a:ea typeface="+mn-ea"/>
                <a:cs typeface="+mn-cs"/>
              </a:rPr>
              <a:t>MCQ</a:t>
            </a:r>
            <a:r>
              <a:rPr kumimoji="0" lang="en-US" sz="2400" b="1" i="0" u="none" strike="noStrike" kern="1200" cap="none" spc="0" normalizeH="0" noProof="0" dirty="0">
                <a:ln>
                  <a:noFill/>
                </a:ln>
                <a:solidFill>
                  <a:schemeClr val="dk1"/>
                </a:solidFill>
                <a:effectLst/>
                <a:uLnTx/>
                <a:uFillTx/>
                <a:latin typeface="+mn-lt"/>
                <a:ea typeface="+mn-ea"/>
                <a:cs typeface="+mn-cs"/>
              </a:rPr>
              <a:t> s</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90600"/>
            <a:ext cx="8686800" cy="5334000"/>
          </a:xfrm>
        </p:spPr>
        <p:txBody>
          <a:bodyPr>
            <a:normAutofit/>
          </a:bodyPr>
          <a:lstStyle/>
          <a:p>
            <a:pPr marL="0" marR="0">
              <a:spcBef>
                <a:spcPts val="0"/>
              </a:spcBef>
              <a:buNone/>
            </a:pPr>
            <a:r>
              <a:rPr lang="en-US" sz="2800" dirty="0"/>
              <a:t>Part of Question Bank. </a:t>
            </a:r>
            <a:endParaRPr lang="en-US" sz="2800" dirty="0"/>
          </a:p>
          <a:p>
            <a:pPr marL="0" marR="0">
              <a:spcBef>
                <a:spcPts val="0"/>
              </a:spcBef>
              <a:buNone/>
            </a:pPr>
            <a:r>
              <a:rPr lang="en-US" sz="2800" dirty="0"/>
              <a:t>Yet to be prepared for IV </a:t>
            </a:r>
            <a:r>
              <a:rPr lang="en-US" sz="2800" dirty="0" err="1"/>
              <a:t>sem</a:t>
            </a:r>
            <a:r>
              <a:rPr lang="en-US" sz="2800" dirty="0"/>
              <a:t> Batch 2020-22</a:t>
            </a:r>
            <a:endParaRPr lang="en-US" sz="2800" dirty="0"/>
          </a:p>
        </p:txBody>
      </p:sp>
      <p:sp>
        <p:nvSpPr>
          <p:cNvPr id="5" name="Footer Placeholder 4"/>
          <p:cNvSpPr>
            <a:spLocks noGrp="1"/>
          </p:cNvSpPr>
          <p:nvPr>
            <p:ph type="ftr" sz="quarter" idx="11"/>
          </p:nvPr>
        </p:nvSpPr>
        <p:spPr>
          <a:xfrm>
            <a:off x="2514600" y="6324600"/>
            <a:ext cx="4876800" cy="365125"/>
          </a:xfrm>
        </p:spPr>
        <p:txBody>
          <a:bodyPr/>
          <a:lstStyle/>
          <a:p>
            <a:r>
              <a:rPr lang="en-US"/>
              <a:t>Dr. Meenu Chaudhary     AMBA 0401 (PM)                Unit-5</a:t>
            </a:r>
            <a:endParaRPr lang="en-US" dirty="0"/>
          </a:p>
        </p:txBody>
      </p:sp>
      <p:sp>
        <p:nvSpPr>
          <p:cNvPr id="7"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dk1"/>
                </a:solidFill>
                <a:effectLst/>
                <a:uLnTx/>
                <a:uFillTx/>
                <a:latin typeface="+mn-lt"/>
                <a:ea typeface="+mn-ea"/>
                <a:cs typeface="+mn-cs"/>
              </a:rPr>
              <a:t>Glossary Questions</a:t>
            </a:r>
            <a:endParaRPr kumimoji="0" lang="en-US" sz="3200" b="1"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24600"/>
            <a:ext cx="4876800" cy="365125"/>
          </a:xfrm>
        </p:spPr>
        <p:txBody>
          <a:bodyPr/>
          <a:lstStyle/>
          <a:p>
            <a:r>
              <a:rPr lang="en-US"/>
              <a:t>Dr. Meenu Chaudhary     AMBA 0401 (PM)                Unit-5</a:t>
            </a:r>
            <a:endParaRPr lang="en-US" dirty="0"/>
          </a:p>
        </p:txBody>
      </p:sp>
      <p:sp>
        <p:nvSpPr>
          <p:cNvPr id="7"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2800" b="1" i="0" u="none" strike="noStrike" kern="1200" cap="none" spc="0" normalizeH="0" baseline="0" noProof="0" dirty="0">
                <a:ln>
                  <a:noFill/>
                </a:ln>
                <a:solidFill>
                  <a:schemeClr val="dk1"/>
                </a:solidFill>
                <a:effectLst/>
                <a:uLnTx/>
                <a:uFillTx/>
                <a:latin typeface="Arial" panose="020B0604020202020204" pitchFamily="34" charset="0"/>
                <a:cs typeface="Arial" panose="020B0604020202020204" pitchFamily="34" charset="0"/>
              </a:rPr>
              <a:t>Old</a:t>
            </a:r>
            <a:r>
              <a:rPr kumimoji="0" lang="en-US" sz="2800" b="1" i="0" u="none" strike="noStrike" kern="1200" cap="none" spc="0" normalizeH="0" noProof="0" dirty="0">
                <a:ln>
                  <a:noFill/>
                </a:ln>
                <a:solidFill>
                  <a:schemeClr val="dk1"/>
                </a:solidFill>
                <a:effectLst/>
                <a:uLnTx/>
                <a:uFillTx/>
                <a:latin typeface="Arial" panose="020B0604020202020204" pitchFamily="34" charset="0"/>
                <a:cs typeface="Arial" panose="020B0604020202020204" pitchFamily="34" charset="0"/>
              </a:rPr>
              <a:t> Question Papers</a:t>
            </a:r>
            <a:endParaRPr kumimoji="0" lang="en-US" sz="2800" b="1" i="0" u="none" strike="noStrike" kern="1200" cap="none" spc="0" normalizeH="0" baseline="0" noProof="0" dirty="0">
              <a:ln>
                <a:noFill/>
              </a:ln>
              <a:solidFill>
                <a:schemeClr val="dk1"/>
              </a:solidFill>
              <a:effectLst/>
              <a:uLnTx/>
              <a:uFillTx/>
              <a:latin typeface="Arial" panose="020B0604020202020204" pitchFamily="34" charset="0"/>
              <a:cs typeface="Arial" panose="020B0604020202020204" pitchFamily="34"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pic>
        <p:nvPicPr>
          <p:cNvPr id="1026" name="Picture 2"/>
          <p:cNvPicPr>
            <a:picLocks noChangeAspect="1" noChangeArrowheads="1"/>
          </p:cNvPicPr>
          <p:nvPr/>
        </p:nvPicPr>
        <p:blipFill>
          <a:blip r:embed="rId2"/>
          <a:srcRect/>
          <a:stretch>
            <a:fillRect/>
          </a:stretch>
        </p:blipFill>
        <p:spPr bwMode="auto">
          <a:xfrm>
            <a:off x="76200" y="838200"/>
            <a:ext cx="8991600" cy="5410200"/>
          </a:xfrm>
          <a:prstGeom prst="rect">
            <a:avLst/>
          </a:prstGeom>
          <a:noFill/>
          <a:ln w="9525">
            <a:noFill/>
            <a:miter lim="800000"/>
            <a:headEnd/>
            <a:tailEnd/>
          </a:ln>
          <a:effec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24600"/>
            <a:ext cx="4876800" cy="365125"/>
          </a:xfrm>
        </p:spPr>
        <p:txBody>
          <a:bodyPr/>
          <a:lstStyle/>
          <a:p>
            <a:r>
              <a:rPr lang="en-US"/>
              <a:t>Dr. Meenu Chaudhary     AMBA 0401 (PM)                Unit-5</a:t>
            </a:r>
            <a:endParaRPr lang="en-US" dirty="0"/>
          </a:p>
        </p:txBody>
      </p:sp>
      <p:sp>
        <p:nvSpPr>
          <p:cNvPr id="7"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2800" b="1" i="0" u="none" strike="noStrike" kern="1200" cap="none" spc="0" normalizeH="0" baseline="0" noProof="0" dirty="0">
                <a:ln>
                  <a:noFill/>
                </a:ln>
                <a:solidFill>
                  <a:schemeClr val="dk1"/>
                </a:solidFill>
                <a:effectLst/>
                <a:uLnTx/>
                <a:uFillTx/>
                <a:latin typeface="Arial" panose="020B0604020202020204" pitchFamily="34" charset="0"/>
                <a:cs typeface="Arial" panose="020B0604020202020204" pitchFamily="34" charset="0"/>
              </a:rPr>
              <a:t>Old</a:t>
            </a:r>
            <a:r>
              <a:rPr kumimoji="0" lang="en-US" sz="2800" b="1" i="0" u="none" strike="noStrike" kern="1200" cap="none" spc="0" normalizeH="0" noProof="0" dirty="0">
                <a:ln>
                  <a:noFill/>
                </a:ln>
                <a:solidFill>
                  <a:schemeClr val="dk1"/>
                </a:solidFill>
                <a:effectLst/>
                <a:uLnTx/>
                <a:uFillTx/>
                <a:latin typeface="Arial" panose="020B0604020202020204" pitchFamily="34" charset="0"/>
                <a:cs typeface="Arial" panose="020B0604020202020204" pitchFamily="34" charset="0"/>
              </a:rPr>
              <a:t> Question Papers</a:t>
            </a:r>
            <a:endParaRPr kumimoji="0" lang="en-US" sz="2800" b="1" i="0" u="none" strike="noStrike" kern="1200" cap="none" spc="0" normalizeH="0" baseline="0" noProof="0" dirty="0">
              <a:ln>
                <a:noFill/>
              </a:ln>
              <a:solidFill>
                <a:schemeClr val="dk1"/>
              </a:solidFill>
              <a:effectLst/>
              <a:uLnTx/>
              <a:uFillTx/>
              <a:latin typeface="Arial" panose="020B0604020202020204" pitchFamily="34" charset="0"/>
              <a:cs typeface="Arial" panose="020B0604020202020204" pitchFamily="34"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pic>
        <p:nvPicPr>
          <p:cNvPr id="2050" name="Picture 2"/>
          <p:cNvPicPr>
            <a:picLocks noChangeAspect="1" noChangeArrowheads="1"/>
          </p:cNvPicPr>
          <p:nvPr/>
        </p:nvPicPr>
        <p:blipFill>
          <a:blip r:embed="rId2"/>
          <a:srcRect/>
          <a:stretch>
            <a:fillRect/>
          </a:stretch>
        </p:blipFill>
        <p:spPr bwMode="auto">
          <a:xfrm>
            <a:off x="70148" y="990600"/>
            <a:ext cx="8997652" cy="4800600"/>
          </a:xfrm>
          <a:prstGeom prst="rect">
            <a:avLst/>
          </a:prstGeom>
          <a:noFill/>
          <a:ln w="9525">
            <a:noFill/>
            <a:miter lim="800000"/>
            <a:headEnd/>
            <a:tailEnd/>
          </a:ln>
          <a:effec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24600"/>
            <a:ext cx="4876800" cy="365125"/>
          </a:xfrm>
        </p:spPr>
        <p:txBody>
          <a:bodyPr/>
          <a:lstStyle/>
          <a:p>
            <a:r>
              <a:rPr lang="en-US"/>
              <a:t>Dr. Meenu Chaudhary     AMBA 0401 (PM)                Unit-5</a:t>
            </a:r>
            <a:endParaRPr lang="en-US" dirty="0"/>
          </a:p>
        </p:txBody>
      </p:sp>
      <p:sp>
        <p:nvSpPr>
          <p:cNvPr id="7"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2800" b="1" i="0" u="none" strike="noStrike" kern="1200" cap="none" spc="0" normalizeH="0" baseline="0" noProof="0" dirty="0">
                <a:ln>
                  <a:noFill/>
                </a:ln>
                <a:solidFill>
                  <a:schemeClr val="dk1"/>
                </a:solidFill>
                <a:effectLst/>
                <a:uLnTx/>
                <a:uFillTx/>
                <a:latin typeface="Arial" panose="020B0604020202020204" pitchFamily="34" charset="0"/>
                <a:cs typeface="Arial" panose="020B0604020202020204" pitchFamily="34" charset="0"/>
              </a:rPr>
              <a:t>Old</a:t>
            </a:r>
            <a:r>
              <a:rPr kumimoji="0" lang="en-US" sz="2800" b="1" i="0" u="none" strike="noStrike" kern="1200" cap="none" spc="0" normalizeH="0" noProof="0" dirty="0">
                <a:ln>
                  <a:noFill/>
                </a:ln>
                <a:solidFill>
                  <a:schemeClr val="dk1"/>
                </a:solidFill>
                <a:effectLst/>
                <a:uLnTx/>
                <a:uFillTx/>
                <a:latin typeface="Arial" panose="020B0604020202020204" pitchFamily="34" charset="0"/>
                <a:cs typeface="Arial" panose="020B0604020202020204" pitchFamily="34" charset="0"/>
              </a:rPr>
              <a:t> Question Papers</a:t>
            </a:r>
            <a:endParaRPr kumimoji="0" lang="en-US" sz="2800" b="1" i="0" u="none" strike="noStrike" kern="1200" cap="none" spc="0" normalizeH="0" baseline="0" noProof="0" dirty="0">
              <a:ln>
                <a:noFill/>
              </a:ln>
              <a:solidFill>
                <a:schemeClr val="dk1"/>
              </a:solidFill>
              <a:effectLst/>
              <a:uLnTx/>
              <a:uFillTx/>
              <a:latin typeface="Arial" panose="020B0604020202020204" pitchFamily="34" charset="0"/>
              <a:cs typeface="Arial" panose="020B0604020202020204" pitchFamily="34"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pic>
        <p:nvPicPr>
          <p:cNvPr id="3074" name="Picture 2"/>
          <p:cNvPicPr>
            <a:picLocks noChangeAspect="1" noChangeArrowheads="1"/>
          </p:cNvPicPr>
          <p:nvPr/>
        </p:nvPicPr>
        <p:blipFill>
          <a:blip r:embed="rId2"/>
          <a:srcRect/>
          <a:stretch>
            <a:fillRect/>
          </a:stretch>
        </p:blipFill>
        <p:spPr bwMode="auto">
          <a:xfrm>
            <a:off x="120437" y="914400"/>
            <a:ext cx="8903124" cy="5257800"/>
          </a:xfrm>
          <a:prstGeom prst="rect">
            <a:avLst/>
          </a:prstGeom>
          <a:noFill/>
          <a:ln w="9525">
            <a:noFill/>
            <a:miter lim="800000"/>
            <a:headEnd/>
            <a:tailEnd/>
          </a:ln>
          <a:effec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24600"/>
            <a:ext cx="4876800" cy="365125"/>
          </a:xfrm>
        </p:spPr>
        <p:txBody>
          <a:bodyPr/>
          <a:lstStyle/>
          <a:p>
            <a:r>
              <a:rPr lang="en-US"/>
              <a:t>Dr. Meenu Chaudhary     AMBA 0401 (PM)                Unit-5</a:t>
            </a:r>
            <a:endParaRPr lang="en-US" dirty="0"/>
          </a:p>
        </p:txBody>
      </p:sp>
      <p:sp>
        <p:nvSpPr>
          <p:cNvPr id="7"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2800" b="1" i="0" u="none" strike="noStrike" kern="1200" cap="none" spc="0" normalizeH="0" baseline="0" noProof="0" dirty="0">
                <a:ln>
                  <a:noFill/>
                </a:ln>
                <a:solidFill>
                  <a:schemeClr val="dk1"/>
                </a:solidFill>
                <a:effectLst/>
                <a:uLnTx/>
                <a:uFillTx/>
                <a:latin typeface="Arial" panose="020B0604020202020204" pitchFamily="34" charset="0"/>
                <a:cs typeface="Arial" panose="020B0604020202020204" pitchFamily="34" charset="0"/>
              </a:rPr>
              <a:t>Old</a:t>
            </a:r>
            <a:r>
              <a:rPr kumimoji="0" lang="en-US" sz="2800" b="1" i="0" u="none" strike="noStrike" kern="1200" cap="none" spc="0" normalizeH="0" noProof="0" dirty="0">
                <a:ln>
                  <a:noFill/>
                </a:ln>
                <a:solidFill>
                  <a:schemeClr val="dk1"/>
                </a:solidFill>
                <a:effectLst/>
                <a:uLnTx/>
                <a:uFillTx/>
                <a:latin typeface="Arial" panose="020B0604020202020204" pitchFamily="34" charset="0"/>
                <a:cs typeface="Arial" panose="020B0604020202020204" pitchFamily="34" charset="0"/>
              </a:rPr>
              <a:t> Question Papers</a:t>
            </a:r>
            <a:endParaRPr kumimoji="0" lang="en-US" sz="2800" b="1" i="0" u="none" strike="noStrike" kern="1200" cap="none" spc="0" normalizeH="0" baseline="0" noProof="0" dirty="0">
              <a:ln>
                <a:noFill/>
              </a:ln>
              <a:solidFill>
                <a:schemeClr val="dk1"/>
              </a:solidFill>
              <a:effectLst/>
              <a:uLnTx/>
              <a:uFillTx/>
              <a:latin typeface="Arial" panose="020B0604020202020204" pitchFamily="34" charset="0"/>
              <a:cs typeface="Arial" panose="020B0604020202020204" pitchFamily="34" charset="0"/>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pic>
        <p:nvPicPr>
          <p:cNvPr id="4098" name="Picture 2"/>
          <p:cNvPicPr>
            <a:picLocks noChangeAspect="1" noChangeArrowheads="1"/>
          </p:cNvPicPr>
          <p:nvPr/>
        </p:nvPicPr>
        <p:blipFill>
          <a:blip r:embed="rId2"/>
          <a:srcRect/>
          <a:stretch>
            <a:fillRect/>
          </a:stretch>
        </p:blipFill>
        <p:spPr bwMode="auto">
          <a:xfrm>
            <a:off x="76200" y="743276"/>
            <a:ext cx="9067800" cy="5657524"/>
          </a:xfrm>
          <a:prstGeom prst="rect">
            <a:avLst/>
          </a:prstGeom>
          <a:noFill/>
          <a:ln w="9525">
            <a:noFill/>
            <a:miter lim="800000"/>
            <a:headEnd/>
            <a:tailEnd/>
          </a:ln>
          <a:effec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14400"/>
            <a:ext cx="8610600" cy="5334000"/>
          </a:xfrm>
        </p:spPr>
        <p:txBody>
          <a:bodyPr>
            <a:normAutofit/>
          </a:bodyPr>
          <a:lstStyle/>
          <a:p>
            <a:pPr algn="just">
              <a:buNone/>
            </a:pPr>
            <a:r>
              <a:rPr lang="en-US" sz="2800" dirty="0"/>
              <a:t>Q1. Discuss the project monitoring and control process.</a:t>
            </a:r>
            <a:endParaRPr lang="en-US" sz="2800" dirty="0"/>
          </a:p>
          <a:p>
            <a:pPr algn="just">
              <a:buNone/>
            </a:pPr>
            <a:endParaRPr lang="en-US" sz="2800" dirty="0"/>
          </a:p>
          <a:p>
            <a:pPr algn="just">
              <a:buNone/>
            </a:pPr>
            <a:r>
              <a:rPr lang="en-US" sz="2800" dirty="0"/>
              <a:t>Q2. Elaborate the project monitoring and control cycle. </a:t>
            </a:r>
            <a:endParaRPr lang="en-US" sz="2800" dirty="0"/>
          </a:p>
          <a:p>
            <a:pPr algn="just">
              <a:buNone/>
            </a:pPr>
            <a:endParaRPr lang="en-US" sz="2800" dirty="0"/>
          </a:p>
          <a:p>
            <a:pPr algn="just">
              <a:buNone/>
            </a:pPr>
            <a:r>
              <a:rPr lang="en-US" sz="2800" dirty="0"/>
              <a:t>Q3. Elaborate the earned value analysis with its components. </a:t>
            </a:r>
            <a:endParaRPr lang="en-US" sz="2800" dirty="0"/>
          </a:p>
          <a:p>
            <a:pPr algn="just">
              <a:buNone/>
            </a:pPr>
            <a:endParaRPr lang="en-US" sz="2800" dirty="0"/>
          </a:p>
          <a:p>
            <a:pPr algn="just">
              <a:buNone/>
            </a:pPr>
            <a:r>
              <a:rPr lang="en-US" sz="2800" dirty="0"/>
              <a:t>Q4. Explain the project termination and various types of terminations</a:t>
            </a:r>
            <a:endParaRPr lang="en-US" sz="2800" dirty="0"/>
          </a:p>
        </p:txBody>
      </p:sp>
      <p:sp>
        <p:nvSpPr>
          <p:cNvPr id="5" name="Footer Placeholder 4"/>
          <p:cNvSpPr>
            <a:spLocks noGrp="1"/>
          </p:cNvSpPr>
          <p:nvPr>
            <p:ph type="ftr" sz="quarter" idx="11"/>
          </p:nvPr>
        </p:nvSpPr>
        <p:spPr>
          <a:xfrm>
            <a:off x="2209800" y="6356350"/>
            <a:ext cx="5562600" cy="365125"/>
          </a:xfrm>
        </p:spPr>
        <p:txBody>
          <a:bodyPr/>
          <a:lstStyle/>
          <a:p>
            <a:pPr algn="just"/>
            <a:r>
              <a:rPr lang="en-US"/>
              <a:t>Dr. Meenu Chaudhary     AMBA 0401 (PM)                Unit-5</a:t>
            </a:r>
            <a:endParaRPr lang="en-US" dirty="0"/>
          </a:p>
        </p:txBody>
      </p:sp>
      <p:sp>
        <p:nvSpPr>
          <p:cNvPr id="7"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a:t>Expected Questions for University Exam </a:t>
            </a:r>
            <a:endParaRPr lang="en-US" sz="2800" b="1" dirty="0"/>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762000"/>
            <a:ext cx="8382000" cy="5638800"/>
          </a:xfrm>
        </p:spPr>
        <p:txBody>
          <a:bodyPr>
            <a:noAutofit/>
          </a:bodyPr>
          <a:lstStyle/>
          <a:p>
            <a:pPr algn="just">
              <a:buNone/>
            </a:pPr>
            <a:r>
              <a:rPr lang="en-US" sz="2800" dirty="0"/>
              <a:t>	The Monitoring and Control Process Group consists of those processes performed to observe project execution so that potential problems can be identified in a timely manner and corrective action can be taken, when necessary, to control the execution of the project.”</a:t>
            </a:r>
            <a:endParaRPr lang="en-US" sz="2800" dirty="0"/>
          </a:p>
          <a:p>
            <a:pPr algn="just">
              <a:buNone/>
            </a:pPr>
            <a:endParaRPr lang="en-US" sz="2800" dirty="0"/>
          </a:p>
          <a:p>
            <a:pPr algn="just">
              <a:buNone/>
            </a:pPr>
            <a:r>
              <a:rPr lang="en-US" sz="2800" dirty="0"/>
              <a:t>	The earned value analysis is a project controlling procedure that, along with the planned and actual costs, includes the earned value. </a:t>
            </a:r>
            <a:endParaRPr lang="en-US" sz="2800" dirty="0"/>
          </a:p>
          <a:p>
            <a:pPr algn="just">
              <a:buNone/>
            </a:pPr>
            <a:endParaRPr lang="en-US" sz="2800" dirty="0"/>
          </a:p>
        </p:txBody>
      </p:sp>
      <p:sp>
        <p:nvSpPr>
          <p:cNvPr id="5" name="Footer Placeholder 4"/>
          <p:cNvSpPr>
            <a:spLocks noGrp="1"/>
          </p:cNvSpPr>
          <p:nvPr>
            <p:ph type="ftr" sz="quarter" idx="11"/>
          </p:nvPr>
        </p:nvSpPr>
        <p:spPr>
          <a:xfrm>
            <a:off x="2209800" y="6356350"/>
            <a:ext cx="5562600" cy="365125"/>
          </a:xfrm>
        </p:spPr>
        <p:txBody>
          <a:bodyPr/>
          <a:lstStyle/>
          <a:p>
            <a:r>
              <a:rPr lang="en-US"/>
              <a:t>Dr. Meenu Chaudhary     AMBA 0401 (PM)                Unit-5</a:t>
            </a:r>
            <a:endParaRPr lang="en-US" dirty="0"/>
          </a:p>
        </p:txBody>
      </p:sp>
      <p:sp>
        <p:nvSpPr>
          <p:cNvPr id="7" name="Title 1"/>
          <p:cNvSpPr txBox="1"/>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noProof="0" dirty="0"/>
              <a:t>Summary</a:t>
            </a:r>
            <a:endParaRPr kumimoji="0" lang="en-US" sz="2800" b="1"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2800" b="1" i="0" u="none" strike="noStrike" kern="1200" cap="none" spc="0" normalizeH="0" baseline="0" noProof="0" dirty="0">
                <a:ln>
                  <a:noFill/>
                </a:ln>
                <a:solidFill>
                  <a:schemeClr val="dk1"/>
                </a:solidFill>
                <a:effectLst/>
                <a:uLnTx/>
                <a:uFillTx/>
                <a:latin typeface="+mn-lt"/>
                <a:ea typeface="+mn-ea"/>
                <a:cs typeface="+mn-cs"/>
              </a:rPr>
              <a:t>References</a:t>
            </a:r>
            <a:endParaRPr kumimoji="0" lang="en-US" sz="2800" b="1"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152400" y="838200"/>
            <a:ext cx="8686800" cy="5562600"/>
          </a:xfrm>
        </p:spPr>
        <p:txBody>
          <a:bodyPr>
            <a:normAutofit/>
          </a:bodyPr>
          <a:lstStyle/>
          <a:p>
            <a:pPr algn="just">
              <a:buNone/>
            </a:pPr>
            <a:r>
              <a:rPr lang="en-US" sz="1600" b="1" dirty="0"/>
              <a:t>Books:</a:t>
            </a:r>
            <a:endParaRPr lang="en-US" sz="1600" b="1" dirty="0"/>
          </a:p>
          <a:p>
            <a:pPr algn="just"/>
            <a:r>
              <a:rPr lang="en-US" sz="1600" dirty="0"/>
              <a:t>1. Project Management – Achieving Competitive Advantage: Jeffrey K. Pinto (Pearson)  </a:t>
            </a:r>
            <a:endParaRPr lang="en-US" sz="1600" dirty="0"/>
          </a:p>
          <a:p>
            <a:pPr algn="just"/>
            <a:r>
              <a:rPr lang="en-US" sz="1600" dirty="0"/>
              <a:t>2. Project Management- A Managerial Approach: Jack R. Meredith </a:t>
            </a:r>
            <a:r>
              <a:rPr lang="en-US" sz="1600" dirty="0" err="1"/>
              <a:t>Broyhill</a:t>
            </a:r>
            <a:r>
              <a:rPr lang="en-US" sz="1600" dirty="0"/>
              <a:t>  Samuel J. Mantel, </a:t>
            </a:r>
            <a:r>
              <a:rPr lang="en-US" sz="1600" dirty="0" err="1"/>
              <a:t>Jr</a:t>
            </a:r>
            <a:r>
              <a:rPr lang="en-US" sz="1600" dirty="0"/>
              <a:t> (John Wiley  &amp; Sons)</a:t>
            </a:r>
            <a:endParaRPr lang="en-US" sz="1600" dirty="0"/>
          </a:p>
          <a:p>
            <a:pPr algn="just"/>
            <a:r>
              <a:rPr lang="en-US" sz="1600" dirty="0"/>
              <a:t>4. Project- Preparation, Appraisal, Budgeting and Implementation: Chandra </a:t>
            </a:r>
            <a:r>
              <a:rPr lang="en-US" sz="1600" dirty="0" err="1"/>
              <a:t>Prasanna</a:t>
            </a:r>
            <a:r>
              <a:rPr lang="en-US" sz="1600" dirty="0"/>
              <a:t> -  (TMH)</a:t>
            </a:r>
            <a:endParaRPr lang="en-US" sz="1600" b="1" dirty="0"/>
          </a:p>
          <a:p>
            <a:pPr algn="just">
              <a:buNone/>
            </a:pPr>
            <a:r>
              <a:rPr lang="en-US" sz="1600" b="1" dirty="0"/>
              <a:t>Web-links: </a:t>
            </a:r>
            <a:endParaRPr lang="en-US" sz="1600" b="1" dirty="0"/>
          </a:p>
          <a:p>
            <a:pPr algn="just">
              <a:buNone/>
            </a:pPr>
            <a:endParaRPr lang="en-US" sz="1600" b="1" dirty="0"/>
          </a:p>
          <a:p>
            <a:pPr algn="just">
              <a:buNone/>
            </a:pPr>
            <a:r>
              <a:rPr lang="en-US" sz="1600" dirty="0">
                <a:hlinkClick r:id="rId2"/>
              </a:rPr>
              <a:t>https://www.projectplan365.com/articles/tracking-gantt/</a:t>
            </a:r>
            <a:endParaRPr lang="en-US" sz="1600" dirty="0"/>
          </a:p>
          <a:p>
            <a:pPr algn="just">
              <a:buNone/>
            </a:pPr>
            <a:r>
              <a:rPr lang="en-US" sz="1600" dirty="0">
                <a:hlinkClick r:id="rId3"/>
              </a:rPr>
              <a:t>https://www.google.com/search?q=project+termination+process+in+project+management&amp;sxsrf=ALeKk00XHUBeTKGmy4P_46lOCdOVVwx4qQ:1592294685524&amp;source=lnms&amp;tbm=isch&amp;sa=X&amp;ved=2ahUKEwjtwu7474XqAhUTT30KHe6sCzsQ_AUoAXoECA0QAw&amp;biw=1366&amp;bih=625#imgrc=M3vpROgkXZRujM</a:t>
            </a:r>
            <a:endParaRPr lang="en-US" sz="1600" dirty="0"/>
          </a:p>
          <a:p>
            <a:pPr algn="just">
              <a:buNone/>
            </a:pPr>
            <a:r>
              <a:rPr lang="en-US" sz="1600" dirty="0">
                <a:hlinkClick r:id="rId4"/>
              </a:rPr>
              <a:t>http://www.technologyuk.net/computing/software-development/project-management/project-termination.shtml#:~:text=Project%20termination%20(or%20close%2Dout,handed%20over%20to%20the%20client.</a:t>
            </a:r>
            <a:endParaRPr lang="en-US" sz="1600" dirty="0"/>
          </a:p>
          <a:p>
            <a:pPr algn="just">
              <a:buNone/>
            </a:pPr>
            <a:endParaRPr lang="en-US" sz="1600" b="1" dirty="0"/>
          </a:p>
          <a:p>
            <a:pPr algn="just">
              <a:buNone/>
            </a:pPr>
            <a:endParaRPr lang="en-US" sz="1600" dirty="0"/>
          </a:p>
          <a:p>
            <a:pPr algn="just"/>
            <a:endParaRPr lang="en-US" sz="1600" dirty="0"/>
          </a:p>
          <a:p>
            <a:pPr algn="just"/>
            <a:endParaRPr lang="en-US" sz="1600" dirty="0">
              <a:latin typeface="Arial" panose="020B0604020202020204" pitchFamily="34" charset="0"/>
              <a:cs typeface="Arial" panose="020B0604020202020204" pitchFamily="34"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Meenu Chaudhary     AMBA 0401 (PM)                Unit-5</a:t>
            </a:r>
            <a:endParaRPr lang="en-US" dirty="0"/>
          </a:p>
        </p:txBody>
      </p:sp>
      <p:sp>
        <p:nvSpPr>
          <p:cNvPr id="7" name="Title 1"/>
          <p:cNvSpPr txBox="1"/>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en-US" sz="2800" b="1"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1"/>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152400" y="838200"/>
            <a:ext cx="8686800" cy="5562600"/>
          </a:xfrm>
        </p:spPr>
        <p:txBody>
          <a:bodyPr>
            <a:normAutofit/>
          </a:bodyPr>
          <a:lstStyle/>
          <a:p>
            <a:pPr algn="ctr">
              <a:buNone/>
            </a:pPr>
            <a:r>
              <a:rPr lang="en-US" sz="4400" b="1" dirty="0">
                <a:latin typeface="Arial" panose="020B0604020202020204" pitchFamily="34" charset="0"/>
                <a:cs typeface="Arial" panose="020B0604020202020204" pitchFamily="34" charset="0"/>
              </a:rPr>
              <a:t>	</a:t>
            </a:r>
            <a:endParaRPr lang="en-US" sz="4400" b="1" dirty="0">
              <a:latin typeface="Arial" panose="020B0604020202020204" pitchFamily="34" charset="0"/>
              <a:cs typeface="Arial" panose="020B0604020202020204" pitchFamily="34" charset="0"/>
            </a:endParaRPr>
          </a:p>
          <a:p>
            <a:pPr algn="ctr">
              <a:buNone/>
            </a:pPr>
            <a:endParaRPr lang="en-US" sz="4400" b="1" dirty="0">
              <a:latin typeface="Arial" panose="020B0604020202020204" pitchFamily="34" charset="0"/>
              <a:cs typeface="Arial" panose="020B0604020202020204" pitchFamily="34" charset="0"/>
            </a:endParaRPr>
          </a:p>
          <a:p>
            <a:pPr algn="ctr">
              <a:buNone/>
            </a:pPr>
            <a:r>
              <a:rPr lang="en-US" sz="4400" b="1" dirty="0">
                <a:latin typeface="Arial" panose="020B0604020202020204" pitchFamily="34" charset="0"/>
                <a:cs typeface="Arial" panose="020B0604020202020204" pitchFamily="34" charset="0"/>
              </a:rPr>
              <a:t>Thank You</a:t>
            </a:r>
            <a:endParaRPr lang="en-US" sz="4400" b="1" dirty="0">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20439</Words>
  <Application>WPS Presentation</Application>
  <PresentationFormat>On-screen Show (4:3)</PresentationFormat>
  <Paragraphs>979</Paragraphs>
  <Slides>75</Slides>
  <Notes>10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75</vt:i4>
      </vt:variant>
    </vt:vector>
  </HeadingPairs>
  <TitlesOfParts>
    <vt:vector size="86" baseType="lpstr">
      <vt:lpstr>Arial</vt:lpstr>
      <vt:lpstr>SimSun</vt:lpstr>
      <vt:lpstr>Wingdings</vt:lpstr>
      <vt:lpstr>Times New Roman</vt:lpstr>
      <vt:lpstr>Calibri</vt:lpstr>
      <vt:lpstr>Microsoft YaHei</vt:lpstr>
      <vt:lpstr>Arial Unicode MS</vt:lpstr>
      <vt:lpstr>Times New Roman</vt:lpstr>
      <vt:lpstr>Mangal</vt:lpstr>
      <vt:lpstr>Segoe Print</vt:lpstr>
      <vt:lpstr>Office Theme</vt:lpstr>
      <vt:lpstr>Noida Institute of Engineering and Technology, Greater Noida</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tarun</cp:lastModifiedBy>
  <cp:revision>264</cp:revision>
  <dcterms:created xsi:type="dcterms:W3CDTF">2006-08-16T00:00:00Z</dcterms:created>
  <dcterms:modified xsi:type="dcterms:W3CDTF">2024-08-08T05:53:51Z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432ECA9C6D56497D8309F5E243D43DC3_12</vt:lpwstr>
  </property>
  <property fmtid="{D5CDD505-2E9C-101B-9397-08002B2CF9AE}" pid="3" name="KSOProductBuildVer">
    <vt:lpwstr>1033-12.2.0.17119</vt:lpwstr>
  </property>
</Properties>
</file>