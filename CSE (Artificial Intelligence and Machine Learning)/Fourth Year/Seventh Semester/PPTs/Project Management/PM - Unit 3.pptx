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0" r:id="rId4"/>
    <p:sldId id="264" r:id="rId5"/>
    <p:sldId id="261" r:id="rId6"/>
    <p:sldId id="262" r:id="rId7"/>
    <p:sldId id="265" r:id="rId8"/>
    <p:sldId id="366" r:id="rId9"/>
    <p:sldId id="266" r:id="rId10"/>
    <p:sldId id="267" r:id="rId11"/>
    <p:sldId id="268" r:id="rId12"/>
    <p:sldId id="269" r:id="rId13"/>
    <p:sldId id="270" r:id="rId14"/>
    <p:sldId id="271" r:id="rId15"/>
    <p:sldId id="272" r:id="rId16"/>
    <p:sldId id="273" r:id="rId17"/>
    <p:sldId id="367"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77" r:id="rId83"/>
    <p:sldId id="358" r:id="rId84"/>
    <p:sldId id="370" r:id="rId85"/>
    <p:sldId id="371" r:id="rId86"/>
    <p:sldId id="359" r:id="rId87"/>
    <p:sldId id="360" r:id="rId88"/>
    <p:sldId id="361" r:id="rId89"/>
    <p:sldId id="368" r:id="rId90"/>
    <p:sldId id="369" r:id="rId91"/>
    <p:sldId id="362" r:id="rId92"/>
    <p:sldId id="363" r:id="rId93"/>
    <p:sldId id="372" r:id="rId94"/>
    <p:sldId id="373" r:id="rId95"/>
    <p:sldId id="374" r:id="rId96"/>
    <p:sldId id="376" r:id="rId97"/>
    <p:sldId id="364" r:id="rId98"/>
    <p:sldId id="365"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1E26"/>
    <a:srgbClr val="D4222A"/>
    <a:srgbClr val="383A3C"/>
    <a:srgbClr val="FAC6C7"/>
    <a:srgbClr val="FFFFFF"/>
    <a:srgbClr val="D74349"/>
    <a:srgbClr val="D421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60"/>
  </p:normalViewPr>
  <p:slideViewPr>
    <p:cSldViewPr snapToGrid="0">
      <p:cViewPr varScale="1">
        <p:scale>
          <a:sx n="98" d="100"/>
          <a:sy n="98" d="100"/>
        </p:scale>
        <p:origin x="120"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17715" y="1175661"/>
            <a:ext cx="11727542" cy="5001302"/>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pic>
        <p:nvPicPr>
          <p:cNvPr id="8" name="Picture 7"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p:cNvCxnSpPr/>
          <p:nvPr userDrawn="1"/>
        </p:nvCxnSpPr>
        <p:spPr>
          <a:xfrm>
            <a:off x="0" y="958646"/>
            <a:ext cx="12206980" cy="0"/>
          </a:xfrm>
          <a:prstGeom prst="line">
            <a:avLst/>
          </a:prstGeom>
          <a:ln w="38100">
            <a:solidFill>
              <a:srgbClr val="D4222A"/>
            </a:solidFill>
          </a:ln>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a:xfrm>
            <a:off x="1984828" y="92983"/>
            <a:ext cx="10160001" cy="764041"/>
          </a:xfrm>
        </p:spPr>
        <p:txBody>
          <a:bodyPr/>
          <a:lstStyle>
            <a:lvl1pPr>
              <a:defRPr>
                <a:solidFill>
                  <a:srgbClr val="D4222A"/>
                </a:solidFill>
              </a:defRPr>
            </a:lvl1pPr>
          </a:lstStyle>
          <a:p>
            <a:r>
              <a:rPr lang="en-US"/>
              <a:t>Click to edit Master title style</a:t>
            </a:r>
            <a:endParaRPr lang="en-IN"/>
          </a:p>
        </p:txBody>
      </p:sp>
      <p:sp>
        <p:nvSpPr>
          <p:cNvPr id="11" name="Footer Placeholder 4"/>
          <p:cNvSpPr txBox="1"/>
          <p:nvPr userDrawn="1"/>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By:  </a:t>
            </a:r>
            <a:r>
              <a:rPr lang="en-IN" altLang="en-US" dirty="0">
                <a:latin typeface="Times New Roman" panose="02020603050405020304" pitchFamily="18" charset="0"/>
                <a:cs typeface="Times New Roman" panose="02020603050405020304" pitchFamily="18" charset="0"/>
              </a:rPr>
              <a:t>Tarun Maheshwari</a:t>
            </a:r>
            <a:endParaRPr lang="en-IN" altLang="en-US"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5448EA4-4DB1-4FEB-AECF-552EEDB1609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fld>
            <a:endParaRPr lang="en-IN"/>
          </a:p>
        </p:txBody>
      </p:sp>
      <p:pic>
        <p:nvPicPr>
          <p:cNvPr id="7" name="Picture 6"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75448EA4-4DB1-4FEB-AECF-552EEDB1609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fld>
            <a:endParaRPr lang="en-IN"/>
          </a:p>
        </p:txBody>
      </p:sp>
      <p:pic>
        <p:nvPicPr>
          <p:cNvPr id="8" name="Picture 7"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75448EA4-4DB1-4FEB-AECF-552EEDB16093}"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21E972-0DBC-4911-A10C-C7172303CA11}" type="slidenum">
              <a:rPr lang="en-IN" smtClean="0"/>
            </a:fld>
            <a:endParaRPr lang="en-IN"/>
          </a:p>
        </p:txBody>
      </p:sp>
      <p:pic>
        <p:nvPicPr>
          <p:cNvPr id="10" name="Picture 9"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5448EA4-4DB1-4FEB-AECF-552EEDB16093}"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21E972-0DBC-4911-A10C-C7172303CA11}" type="slidenum">
              <a:rPr lang="en-IN" smtClean="0"/>
            </a:fld>
            <a:endParaRPr lang="en-IN"/>
          </a:p>
        </p:txBody>
      </p:sp>
      <p:pic>
        <p:nvPicPr>
          <p:cNvPr id="6" name="Picture 5"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448EA4-4DB1-4FEB-AECF-552EEDB16093}"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21E972-0DBC-4911-A10C-C7172303CA11}" type="slidenum">
              <a:rPr lang="en-IN" smtClean="0"/>
            </a:fld>
            <a:endParaRPr lang="en-IN"/>
          </a:p>
        </p:txBody>
      </p:sp>
      <p:pic>
        <p:nvPicPr>
          <p:cNvPr id="5" name="Picture 4"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5448EA4-4DB1-4FEB-AECF-552EEDB1609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5448EA4-4DB1-4FEB-AECF-552EEDB1609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448EA4-4DB1-4FEB-AECF-552EEDB16093}"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1E972-0DBC-4911-A10C-C7172303CA1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youtube.com/watch?v=BOU1YP5NZVA" TargetMode="External"/><Relationship Id="rId1" Type="http://schemas.openxmlformats.org/officeDocument/2006/relationships/hyperlink" Target="https://www.youtube.com/watch?v=EyPFi0YO32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1.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www.youtube.com/watch?v=HY6tVBQXbOg" TargetMode="External"/><Relationship Id="rId3" Type="http://schemas.openxmlformats.org/officeDocument/2006/relationships/hyperlink" Target="https://www.youtube.com/watch?v=2HjrfMhvPFI" TargetMode="External"/><Relationship Id="rId2" Type="http://schemas.openxmlformats.org/officeDocument/2006/relationships/hyperlink" Target="https://www.youtube.com/watch?v=Ni95eCqOMhg" TargetMode="External"/><Relationship Id="rId1" Type="http://schemas.openxmlformats.org/officeDocument/2006/relationships/hyperlink" Target="https://www.youtube.com/watch?v=KBhREhTe82Q"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2952726" y="2911147"/>
            <a:ext cx="6286544" cy="9525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solidFill>
                  <a:srgbClr val="383A3C"/>
                </a:solidFill>
                <a:latin typeface="Times New Roman" panose="02020603050405020304" pitchFamily="18" charset="0"/>
                <a:cs typeface="Times New Roman" panose="02020603050405020304" pitchFamily="18" charset="0"/>
              </a:rPr>
              <a:t>MBA </a:t>
            </a:r>
            <a:br>
              <a:rPr lang="en-IN" sz="3200" b="1" dirty="0">
                <a:solidFill>
                  <a:srgbClr val="383A3C"/>
                </a:solidFill>
                <a:latin typeface="Times New Roman" panose="02020603050405020304" pitchFamily="18" charset="0"/>
                <a:cs typeface="Times New Roman" panose="02020603050405020304" pitchFamily="18" charset="0"/>
              </a:rPr>
            </a:br>
            <a:r>
              <a:rPr lang="en-IN" sz="3200" b="1" dirty="0">
                <a:solidFill>
                  <a:srgbClr val="383A3C"/>
                </a:solidFill>
                <a:latin typeface="Times New Roman" panose="02020603050405020304" pitchFamily="18" charset="0"/>
                <a:cs typeface="Times New Roman" panose="02020603050405020304" pitchFamily="18" charset="0"/>
              </a:rPr>
              <a:t>Project Management and AMBA0401</a:t>
            </a:r>
            <a:endParaRPr lang="en-US" sz="4400" b="1" dirty="0">
              <a:solidFill>
                <a:srgbClr val="383A3C"/>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p:cNvSpPr/>
          <p:nvPr/>
        </p:nvSpPr>
        <p:spPr>
          <a:xfrm>
            <a:off x="5810246" y="4882529"/>
            <a:ext cx="502064"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p:cNvSpPr/>
          <p:nvPr/>
        </p:nvSpPr>
        <p:spPr>
          <a:xfrm>
            <a:off x="4335461" y="5249658"/>
            <a:ext cx="3521075" cy="1322070"/>
          </a:xfrm>
          <a:prstGeom prst="rect">
            <a:avLst/>
          </a:prstGeom>
        </p:spPr>
        <p:txBody>
          <a:bodyPr wrap="none">
            <a:spAutoFit/>
          </a:bodyPr>
          <a:lstStyle/>
          <a:p>
            <a:pPr algn="ctr"/>
            <a:r>
              <a:rPr lang="en-IN" sz="3200" b="1" dirty="0">
                <a:solidFill>
                  <a:srgbClr val="383A3C"/>
                </a:solidFill>
                <a:latin typeface="Times New Roman" panose="02020603050405020304" pitchFamily="18" charset="0"/>
                <a:cs typeface="Times New Roman" panose="02020603050405020304" pitchFamily="18" charset="0"/>
              </a:rPr>
              <a:t>Tarun Maheshwari</a:t>
            </a:r>
            <a:endParaRPr lang="en-IN" sz="3200" b="1" dirty="0">
              <a:solidFill>
                <a:srgbClr val="383A3C"/>
              </a:solidFill>
              <a:latin typeface="Times New Roman" panose="02020603050405020304" pitchFamily="18" charset="0"/>
              <a:cs typeface="Times New Roman" panose="02020603050405020304" pitchFamily="18" charset="0"/>
            </a:endParaRPr>
          </a:p>
          <a:p>
            <a:pPr algn="ctr"/>
            <a:r>
              <a:rPr lang="en-IN" sz="1600" b="1" dirty="0">
                <a:solidFill>
                  <a:srgbClr val="383A3C"/>
                </a:solidFill>
                <a:latin typeface="Times New Roman" panose="02020603050405020304" pitchFamily="18" charset="0"/>
                <a:cs typeface="Times New Roman" panose="02020603050405020304" pitchFamily="18" charset="0"/>
              </a:rPr>
              <a:t>Assistant Professor</a:t>
            </a:r>
            <a:endParaRPr lang="en-IN" sz="1600" b="1" dirty="0">
              <a:solidFill>
                <a:srgbClr val="383A3C"/>
              </a:solidFill>
              <a:latin typeface="Times New Roman" panose="02020603050405020304" pitchFamily="18" charset="0"/>
              <a:cs typeface="Times New Roman" panose="02020603050405020304" pitchFamily="18" charset="0"/>
            </a:endParaRPr>
          </a:p>
          <a:p>
            <a:pPr algn="ctr"/>
            <a:r>
              <a:rPr lang="en-IN" sz="1600" b="1" dirty="0">
                <a:solidFill>
                  <a:srgbClr val="383A3C"/>
                </a:solidFill>
                <a:latin typeface="Times New Roman" panose="02020603050405020304" pitchFamily="18" charset="0"/>
                <a:cs typeface="Times New Roman" panose="02020603050405020304" pitchFamily="18" charset="0"/>
              </a:rPr>
              <a:t>MBA</a:t>
            </a:r>
            <a:endParaRPr lang="en-IN" sz="1600" b="1" dirty="0">
              <a:solidFill>
                <a:srgbClr val="383A3C"/>
              </a:solidFill>
              <a:latin typeface="Times New Roman" panose="02020603050405020304" pitchFamily="18" charset="0"/>
              <a:cs typeface="Times New Roman" panose="02020603050405020304" pitchFamily="18" charset="0"/>
            </a:endParaRPr>
          </a:p>
          <a:p>
            <a:pPr algn="ctr"/>
            <a:r>
              <a:rPr lang="en-IN" sz="1600" b="1" dirty="0">
                <a:solidFill>
                  <a:srgbClr val="383A3C"/>
                </a:solidFill>
                <a:latin typeface="Times New Roman" panose="02020603050405020304" pitchFamily="18" charset="0"/>
                <a:cs typeface="Times New Roman" panose="02020603050405020304" pitchFamily="18" charset="0"/>
              </a:rPr>
              <a:t>NIET, GREATER NOIDA </a:t>
            </a:r>
            <a:endParaRPr lang="en-US" sz="1600" dirty="0">
              <a:solidFill>
                <a:srgbClr val="383A3C"/>
              </a:solidFill>
              <a:latin typeface="Times New Roman" panose="02020603050405020304" pitchFamily="18" charset="0"/>
              <a:cs typeface="Times New Roman" panose="02020603050405020304" pitchFamily="18" charset="0"/>
            </a:endParaRPr>
          </a:p>
        </p:txBody>
      </p:sp>
      <p:sp>
        <p:nvSpPr>
          <p:cNvPr id="9" name="Rectangle 8"/>
          <p:cNvSpPr/>
          <p:nvPr/>
        </p:nvSpPr>
        <p:spPr>
          <a:xfrm>
            <a:off x="1714467" y="3930556"/>
            <a:ext cx="8763061" cy="923330"/>
          </a:xfrm>
          <a:prstGeom prst="rect">
            <a:avLst/>
          </a:prstGeom>
        </p:spPr>
        <p:txBody>
          <a:bodyPr wrap="square">
            <a:spAutoFit/>
          </a:bodyPr>
          <a:lstStyle/>
          <a:p>
            <a:pPr algn="ctr"/>
            <a:r>
              <a:rPr lang="en-IN" b="1" dirty="0">
                <a:solidFill>
                  <a:srgbClr val="383A3C"/>
                </a:solidFill>
                <a:latin typeface="Times New Roman" panose="02020603050405020304" pitchFamily="18" charset="0"/>
                <a:cs typeface="Times New Roman" panose="02020603050405020304" pitchFamily="18" charset="0"/>
              </a:rPr>
              <a:t>Lecture – 1</a:t>
            </a:r>
            <a:br>
              <a:rPr lang="en-IN" b="1" dirty="0">
                <a:solidFill>
                  <a:srgbClr val="A20000"/>
                </a:solidFill>
                <a:latin typeface="Times New Roman" panose="02020603050405020304" pitchFamily="18" charset="0"/>
                <a:cs typeface="Times New Roman" panose="02020603050405020304" pitchFamily="18" charset="0"/>
              </a:rPr>
            </a:br>
            <a:r>
              <a:rPr lang="en-IN" sz="3600" b="1" dirty="0">
                <a:solidFill>
                  <a:srgbClr val="D4222A"/>
                </a:solidFill>
                <a:latin typeface="Times New Roman" panose="02020603050405020304" pitchFamily="18" charset="0"/>
                <a:cs typeface="Times New Roman" panose="02020603050405020304" pitchFamily="18" charset="0"/>
              </a:rPr>
              <a:t>Topic: Budgeting the project</a:t>
            </a:r>
            <a:endParaRPr lang="en-US" sz="3600" dirty="0">
              <a:solidFill>
                <a:srgbClr val="D4222A"/>
              </a:solidFill>
              <a:latin typeface="Times New Roman" panose="02020603050405020304" pitchFamily="18" charset="0"/>
              <a:cs typeface="Times New Roman" panose="02020603050405020304" pitchFamily="18" charset="0"/>
            </a:endParaRPr>
          </a:p>
        </p:txBody>
      </p:sp>
      <p:pic>
        <p:nvPicPr>
          <p:cNvPr id="13" name="Picture 12" descr="A close-up of a logo&#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32313" y="1198019"/>
            <a:ext cx="3927373" cy="16814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33092" y="1060224"/>
          <a:ext cx="10725815" cy="5217160"/>
        </p:xfrm>
        <a:graphic>
          <a:graphicData uri="http://schemas.openxmlformats.org/drawingml/2006/table">
            <a:tbl>
              <a:tblPr firstRow="1" bandRow="1">
                <a:tableStyleId>{5C22544A-7EE6-4342-B048-85BDC9FD1C3A}</a:tableStyleId>
              </a:tblPr>
              <a:tblGrid>
                <a:gridCol w="1415022"/>
                <a:gridCol w="9310793"/>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Name of Subject with code, Course and Subject Teacher</a:t>
                      </a:r>
                      <a:endParaRPr lang="en-US" sz="2000" b="0" i="0" u="none" strike="noStrike" dirty="0">
                        <a:solidFill>
                          <a:srgbClr val="000000"/>
                        </a:solidFill>
                        <a:latin typeface="Times New Roman" panose="02020603050405020304" pitchFamily="18" charset="0"/>
                        <a:cs typeface="Times New Roman" panose="02020603050405020304" pitchFamily="18"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Brief Introduction of Faculty member with Photograph</a:t>
                      </a:r>
                      <a:endParaRPr lang="en-US" sz="2000" b="0" i="0" u="none" strike="noStrike" dirty="0">
                        <a:solidFill>
                          <a:srgbClr val="000000"/>
                        </a:solidFill>
                        <a:latin typeface="Times New Roman" panose="02020603050405020304" pitchFamily="18" charset="0"/>
                        <a:cs typeface="Times New Roman" panose="02020603050405020304" pitchFamily="18"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Evaluation Scheme</a:t>
                      </a:r>
                      <a:endParaRPr lang="en-US" sz="2000" b="0" i="0" u="none" strike="noStrike" dirty="0">
                        <a:solidFill>
                          <a:srgbClr val="000000"/>
                        </a:solidFill>
                        <a:latin typeface="Times New Roman" panose="02020603050405020304" pitchFamily="18" charset="0"/>
                        <a:cs typeface="Times New Roman" panose="02020603050405020304" pitchFamily="18"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Syllabus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Branch wise Application</a:t>
                      </a:r>
                      <a:endParaRPr lang="en-US" sz="20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Objective(s)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Outcome(s)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Program Outcomes (POs)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COs and POs Mapping</a:t>
                      </a:r>
                      <a:endParaRPr lang="en-US" sz="20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Program Educational Objectives (PEOs)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Result Analysis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End Semester Question paper Templates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Prequisite/Recap</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33092" y="1060224"/>
          <a:ext cx="10725815" cy="5224780"/>
        </p:xfrm>
        <a:graphic>
          <a:graphicData uri="http://schemas.openxmlformats.org/drawingml/2006/table">
            <a:tbl>
              <a:tblPr firstRow="1" bandRow="1">
                <a:tableStyleId>{5C22544A-7EE6-4342-B048-85BDC9FD1C3A}</a:tableStyleId>
              </a:tblPr>
              <a:tblGrid>
                <a:gridCol w="1415022"/>
                <a:gridCol w="9310793"/>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14</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Brief Indtroduction about the Subject with Videos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 Content</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a:t>
                      </a:r>
                      <a:r>
                        <a:rPr lang="en-US" sz="2000" b="0" baseline="0" dirty="0">
                          <a:latin typeface="Times New Roman" panose="02020603050405020304" pitchFamily="18" charset="0"/>
                          <a:cs typeface="Times New Roman" panose="02020603050405020304" pitchFamily="18" charset="0"/>
                        </a:rPr>
                        <a:t> Objectives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Objectives &amp; Topic Outcome</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Lecture related to topic</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Daily Quiz</a:t>
                      </a:r>
                      <a:endPar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Weekly Assignment</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21</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Links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22</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MCQs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23</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Glossary Questions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Old question papers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Expected Questions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26</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Recap of unit</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buNone/>
            </a:pPr>
            <a:r>
              <a:rPr lang="en-IN" dirty="0">
                <a:latin typeface="Times New Roman" panose="02020603050405020304" pitchFamily="18" charset="0"/>
                <a:cs typeface="Times New Roman" panose="02020603050405020304" pitchFamily="18" charset="0"/>
                <a:sym typeface="+mn-ea"/>
              </a:rPr>
              <a:t>Faculty Name: Tarun Maheshwari</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Designation: ASSISTANT PROFESSOR</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Department: PGDM</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Email ID: tarun.maheshwari@niet.co.in</a:t>
            </a:r>
            <a:endParaRPr lang="en-IN"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Qualification: MBA  PG Diploma in Training &amp; Development</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Specialization: Finance &amp; Human Resource Management</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Teaching Area: Management (Finance &amp; Core subjects)</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Total Experience: 11 years</a:t>
            </a:r>
            <a:endParaRPr lang="en-IN" dirty="0">
              <a:latin typeface="Times New Roman" panose="02020603050405020304" pitchFamily="18" charset="0"/>
              <a:cs typeface="Times New Roman" panose="02020603050405020304" pitchFamily="18" charset="0"/>
            </a:endParaRPr>
          </a:p>
          <a:p>
            <a:endParaRPr lang="en-IN" dirty="0"/>
          </a:p>
        </p:txBody>
      </p:sp>
      <p:sp>
        <p:nvSpPr>
          <p:cNvPr id="3" name="Title 2"/>
          <p:cNvSpPr>
            <a:spLocks noGrp="1"/>
          </p:cNvSpPr>
          <p:nvPr>
            <p:ph type="title"/>
          </p:nvPr>
        </p:nvSpPr>
        <p:spPr/>
        <p:txBody>
          <a:bodyPr>
            <a:normAutofit/>
          </a:bodyPr>
          <a:lstStyle/>
          <a:p>
            <a:r>
              <a:rPr lang="en-US" sz="3600" dirty="0">
                <a:solidFill>
                  <a:srgbClr val="D31E26"/>
                </a:solidFill>
                <a:latin typeface="Times New Roman" panose="02020603050405020304" pitchFamily="18" charset="0"/>
                <a:cs typeface="Times New Roman" panose="02020603050405020304" pitchFamily="18" charset="0"/>
              </a:rPr>
              <a:t>Brief Introduction of the Faculty Member </a:t>
            </a:r>
            <a:endParaRPr lang="en-IN" sz="3600" dirty="0">
              <a:solidFill>
                <a:srgbClr val="D31E26"/>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Evaluation Scheme</a:t>
            </a:r>
            <a:endParaRPr lang="en-IN" sz="3600" dirty="0">
              <a:latin typeface="Times New Roman" panose="02020603050405020304" pitchFamily="18" charset="0"/>
              <a:cs typeface="Times New Roman" panose="02020603050405020304" pitchFamily="18" charset="0"/>
            </a:endParaRPr>
          </a:p>
        </p:txBody>
      </p:sp>
      <p:pic>
        <p:nvPicPr>
          <p:cNvPr id="4" name="Picture 4" descr="D:\PROJECT MANAGEMENT PPT\Evaluation Scheme.png"/>
          <p:cNvPicPr>
            <a:picLocks noGrp="1" noChangeAspect="1" noChangeArrowheads="1"/>
          </p:cNvPicPr>
          <p:nvPr>
            <p:ph idx="1"/>
          </p:nvPr>
        </p:nvPicPr>
        <p:blipFill>
          <a:blip r:embed="rId1"/>
          <a:srcRect/>
          <a:stretch>
            <a:fillRect/>
          </a:stretch>
        </p:blipFill>
        <p:spPr bwMode="auto">
          <a:xfrm>
            <a:off x="889000" y="1095374"/>
            <a:ext cx="10160000" cy="5181601"/>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Syllabus</a:t>
            </a:r>
            <a:endParaRPr lang="en-IN" sz="3600" dirty="0">
              <a:latin typeface="Times New Roman" panose="02020603050405020304" pitchFamily="18" charset="0"/>
              <a:cs typeface="Times New Roman" panose="02020603050405020304" pitchFamily="18" charset="0"/>
            </a:endParaRPr>
          </a:p>
        </p:txBody>
      </p:sp>
      <p:graphicFrame>
        <p:nvGraphicFramePr>
          <p:cNvPr id="11" name="Content Placeholder 10"/>
          <p:cNvGraphicFramePr>
            <a:graphicFrameLocks noGrp="1"/>
          </p:cNvGraphicFramePr>
          <p:nvPr>
            <p:ph idx="1"/>
          </p:nvPr>
        </p:nvGraphicFramePr>
        <p:xfrm>
          <a:off x="638175" y="1276350"/>
          <a:ext cx="10544175" cy="4995479"/>
        </p:xfrm>
        <a:graphic>
          <a:graphicData uri="http://schemas.openxmlformats.org/drawingml/2006/table">
            <a:tbl>
              <a:tblPr firstRow="1" firstCol="1" lastRow="1" lastCol="1" bandRow="1" bandCol="1"/>
              <a:tblGrid>
                <a:gridCol w="2437902"/>
                <a:gridCol w="6394806"/>
                <a:gridCol w="1711467"/>
              </a:tblGrid>
              <a:tr h="325535">
                <a:tc gridSpan="3">
                  <a:txBody>
                    <a:bodyPr/>
                    <a:lstStyle/>
                    <a:p>
                      <a:pPr marL="2503170" marR="2493010" algn="ctr">
                        <a:spcBef>
                          <a:spcPts val="6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Course</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Contents</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 Syllabus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r h="310557">
                <a:tc>
                  <a:txBody>
                    <a:bodyPr/>
                    <a:lstStyle/>
                    <a:p>
                      <a:pPr marL="67945">
                        <a:spcBef>
                          <a:spcPts val="30"/>
                        </a:spcBef>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UNIT-I</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4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Introduction</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1120">
                        <a:spcBef>
                          <a:spcPts val="3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06</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122396">
                <a:tc gridSpan="3">
                  <a:txBody>
                    <a:bodyPr/>
                    <a:lstStyle/>
                    <a:p>
                      <a:pPr marL="67945">
                        <a:lnSpc>
                          <a:spcPts val="129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Objectives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Vs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General</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Roles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11125"/>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Responsibilities of Project Manager – Selection of Project Manager – Selection of Projects – Understanding</a:t>
                      </a:r>
                      <a:r>
                        <a:rPr lang="en-US" sz="18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Life Cycle. Project Team and Scope of Project Management: Characteristics of a Project Team &amp;</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Leader,</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Organization,</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Importance</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 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r h="325535">
                <a:tc>
                  <a:txBody>
                    <a:bodyPr/>
                    <a:lstStyle/>
                    <a:p>
                      <a:pPr marL="67945">
                        <a:spcBef>
                          <a:spcPts val="7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UNIT-II</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8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Identification</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Selection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7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122396">
                <a:tc gridSpan="3">
                  <a:txBody>
                    <a:bodyPr/>
                    <a:lstStyle/>
                    <a:p>
                      <a:pPr marL="67945" algn="just">
                        <a:lnSpc>
                          <a:spcPts val="129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gn="just">
                        <a:lnSpc>
                          <a:spcPts val="129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Identification &amp;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Selection: Identification, Generation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ideas,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Approaches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Screening</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532765"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Selection,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Rating</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Index.</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Market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Demand</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Survey</a:t>
                      </a:r>
                      <a:r>
                        <a:rPr lang="en-US" sz="18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Trend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Projection</a:t>
                      </a:r>
                      <a:r>
                        <a:rPr lang="en-US" sz="1800" spc="-2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Methods. Project Risk Management: Concepts and Types of Project Risks, Risk Identification, Risks</a:t>
                      </a:r>
                      <a:r>
                        <a:rPr lang="en-US" sz="18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Risks Mitigation Strategies.</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r h="325535">
                <a:tc>
                  <a:txBody>
                    <a:bodyPr/>
                    <a:lstStyle/>
                    <a:p>
                      <a:pPr marL="67945">
                        <a:spcBef>
                          <a:spcPts val="65"/>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UNIT-III</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9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Budgeting</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65"/>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401997">
                <a:tc gridSpan="3">
                  <a:txBody>
                    <a:bodyPr/>
                    <a:lstStyle/>
                    <a:p>
                      <a:pPr marL="67945">
                        <a:lnSpc>
                          <a:spcPts val="130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0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Fundamental components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Types of</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Direct, Indirect, Recurring,</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Non-Recurring,</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13665"/>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Fixed, Variable, Normal, Expedite costs Methods of budgeting – Project cost estimation – Improving 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estimates – Budget uncertainty and risk management – Scheduling the project – Gantt chart – Resource</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allocation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loading</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Social</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Benefit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(SCBA)</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Concept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significance</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SCBA,</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5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Approaches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SCBA.</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Syllabus</a:t>
            </a:r>
            <a:endParaRPr lang="en-IN" sz="3600"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nvPr>
        </p:nvGraphicFramePr>
        <p:xfrm>
          <a:off x="447675" y="1257301"/>
          <a:ext cx="10721976" cy="4392320"/>
        </p:xfrm>
        <a:graphic>
          <a:graphicData uri="http://schemas.openxmlformats.org/drawingml/2006/table">
            <a:tbl>
              <a:tblPr firstRow="1" firstCol="1" lastRow="1" lastCol="1" bandRow="1" bandCol="1"/>
              <a:tblGrid>
                <a:gridCol w="2479011"/>
                <a:gridCol w="6502638"/>
                <a:gridCol w="1740327"/>
              </a:tblGrid>
              <a:tr h="480951">
                <a:tc>
                  <a:txBody>
                    <a:bodyPr/>
                    <a:lstStyle/>
                    <a:p>
                      <a:pPr marL="67945">
                        <a:spcBef>
                          <a:spcPts val="30"/>
                        </a:spcBef>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UNIT-IV</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60"/>
                        </a:spcBef>
                        <a:spcAft>
                          <a:spcPts val="0"/>
                        </a:spcAft>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0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Network</a:t>
                      </a:r>
                      <a:r>
                        <a:rPr lang="en-US" sz="2000" b="1"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Analysis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3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376423">
                <a:tc gridSpan="3">
                  <a:txBody>
                    <a:bodyPr/>
                    <a:lstStyle/>
                    <a:p>
                      <a:pPr marL="67945">
                        <a:lnSpc>
                          <a:spcPts val="129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Steps</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0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and Network</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design,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Gantt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Chart,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Work</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Breakdown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Structure</a:t>
                      </a:r>
                      <a:r>
                        <a:rPr lang="en-US" sz="20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(WBS) &amp;</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73990"/>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Responsibility Assignment Matrix. Project Network Design: Identifying the Nodes and Activities, Activity</a:t>
                      </a:r>
                      <a:r>
                        <a:rPr lang="en-US" sz="20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on Arrow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AoA</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and Activities on Node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AoN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methods, Introduction to PERT and CPM, Crashing in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Projects.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r h="421214">
                <a:tc>
                  <a:txBody>
                    <a:bodyPr/>
                    <a:lstStyle/>
                    <a:p>
                      <a:pPr marL="67945">
                        <a:lnSpc>
                          <a:spcPts val="1280"/>
                        </a:lnSpc>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8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UNIT-V</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lnSpc>
                          <a:spcPts val="1280"/>
                        </a:lnSpc>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9850">
                        <a:lnSpc>
                          <a:spcPts val="128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controlling</a:t>
                      </a:r>
                      <a:r>
                        <a:rPr lang="en-US" sz="20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1120">
                        <a:lnSpc>
                          <a:spcPts val="1280"/>
                        </a:lnSpc>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6</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113732">
                <a:tc gridSpan="3">
                  <a:txBody>
                    <a:bodyPr/>
                    <a:lstStyle/>
                    <a:p>
                      <a:pPr marL="67945">
                        <a:lnSpc>
                          <a:spcPts val="129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0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Control cycle</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 control</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Designing</a:t>
                      </a:r>
                      <a:r>
                        <a:rPr lang="en-US" sz="20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control system</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Evaluation of</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07315"/>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 Milestone Analysis and Tracking Gantt chart. Earned Value Analysis (EVA): Planned Value (PV),</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Earned Value (EV), Cost Variance (CV), Schedule Variance (SV), Cost performance Index (CPI), Schedule</a:t>
                      </a:r>
                      <a:r>
                        <a:rPr lang="en-US" sz="20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performance Index (SPI) – Project auditing – Project termination: Types of Terminations, 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Termination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20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D31E26"/>
                </a:solidFill>
                <a:effectLst/>
                <a:uLnTx/>
                <a:uFillTx/>
                <a:latin typeface="Times New Roman" panose="02020603050405020304" pitchFamily="18" charset="0"/>
                <a:ea typeface="+mn-ea"/>
                <a:cs typeface="Times New Roman" panose="02020603050405020304" pitchFamily="18" charset="0"/>
              </a:rPr>
              <a:t>Branch Wise </a:t>
            </a:r>
            <a:r>
              <a:rPr kumimoji="0" lang="en-US" sz="3600" i="0" u="none" strike="noStrike" kern="1200" cap="none" spc="0" normalizeH="0" noProof="0" dirty="0">
                <a:ln>
                  <a:noFill/>
                </a:ln>
                <a:solidFill>
                  <a:srgbClr val="D31E26"/>
                </a:solidFill>
                <a:effectLst/>
                <a:uLnTx/>
                <a:uFillTx/>
                <a:latin typeface="Times New Roman" panose="02020603050405020304" pitchFamily="18" charset="0"/>
                <a:ea typeface="+mn-ea"/>
                <a:cs typeface="Times New Roman" panose="02020603050405020304" pitchFamily="18" charset="0"/>
              </a:rPr>
              <a:t>Application</a:t>
            </a:r>
            <a:endParaRPr lang="en-IN" sz="3600" dirty="0">
              <a:solidFill>
                <a:srgbClr val="D31E26"/>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17715" y="1175661"/>
            <a:ext cx="10983685" cy="4120239"/>
          </a:xfrm>
        </p:spPr>
        <p:txBody>
          <a:bodyPr/>
          <a:lstStyle/>
          <a:p>
            <a:pPr algn="just"/>
            <a:r>
              <a:rPr lang="en-US" sz="2400" dirty="0">
                <a:latin typeface="Times New Roman" panose="02020603050405020304" pitchFamily="18" charset="0"/>
                <a:cs typeface="Times New Roman" panose="02020603050405020304" pitchFamily="18" charset="0"/>
              </a:rPr>
              <a:t>Handling projects.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Evaluating &amp; Monitoring Project Process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Taking necessary and corrective action.</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Course objective(s)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To empower the students to get insights of basic concepts on project management.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create awareness on the roles and responsibilities of project manager.</a:t>
            </a:r>
            <a:endParaRPr lang="en-US" sz="2400" dirty="0">
              <a:latin typeface="Times New Roman" panose="02020603050405020304" pitchFamily="18" charset="0"/>
              <a:cs typeface="Times New Roman" panose="02020603050405020304" pitchFamily="18" charset="0"/>
            </a:endParaRPr>
          </a:p>
          <a:p>
            <a:pPr algn="just"/>
            <a:r>
              <a:rPr lang="x-none" sz="2400" dirty="0">
                <a:latin typeface="Times New Roman" panose="02020603050405020304" pitchFamily="18" charset="0"/>
                <a:cs typeface="Times New Roman" panose="02020603050405020304" pitchFamily="18" charset="0"/>
              </a:rPr>
              <a:t>To build the confident among the students to take up any kind of projects.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sharpen the planning, scheduling and controlling skills of the students with respect to individual projects.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understand the perspectives in which optimum decisions are to be taken in case of risks with planned activities in project.</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Course outcome(s) </a:t>
            </a: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685800" y="1343025"/>
          <a:ext cx="10601325" cy="4556321"/>
        </p:xfrm>
        <a:graphic>
          <a:graphicData uri="http://schemas.openxmlformats.org/drawingml/2006/table">
            <a:tbl>
              <a:tblPr firstRow="1" firstCol="1" lastRow="1" lastCol="1" bandRow="1" bandCol="1"/>
              <a:tblGrid>
                <a:gridCol w="933369"/>
                <a:gridCol w="7142603"/>
                <a:gridCol w="2525353"/>
              </a:tblGrid>
              <a:tr h="789391">
                <a:tc>
                  <a:txBody>
                    <a:bodyPr/>
                    <a:lstStyle/>
                    <a:p>
                      <a:pPr marL="67945">
                        <a:spcBef>
                          <a:spcPts val="35"/>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lnSpc>
                          <a:spcPts val="1150"/>
                        </a:lnSpc>
                        <a:spcBef>
                          <a:spcPts val="610"/>
                        </a:spcBef>
                        <a:spcAft>
                          <a:spcPts val="0"/>
                        </a:spcAf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150"/>
                        </a:lnSpc>
                        <a:spcBef>
                          <a:spcPts val="61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basic</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concepts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characteristics</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150"/>
                        </a:lnSpc>
                        <a:spcBef>
                          <a:spcPts val="61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manager,</a:t>
                      </a:r>
                      <a:r>
                        <a:rPr lang="en-US" sz="2400" spc="-2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1135"/>
                        </a:spcBef>
                        <a:spcAft>
                          <a:spcPts val="0"/>
                        </a:spcAft>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Understanding</a:t>
                      </a:r>
                      <a:r>
                        <a:rPr lang="en-US" sz="24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(K2)</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939996">
                <a:tc>
                  <a:txBody>
                    <a:bodyPr/>
                    <a:lstStyle/>
                    <a:p>
                      <a:pPr marL="67945">
                        <a:spcBef>
                          <a:spcPts val="109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marR="827405">
                        <a:lnSpc>
                          <a:spcPts val="1450"/>
                        </a:lnSpc>
                        <a:spcBef>
                          <a:spcPts val="620"/>
                        </a:spcBef>
                        <a:spcAft>
                          <a:spcPts val="0"/>
                        </a:spcAf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marR="827405" algn="just">
                        <a:lnSpc>
                          <a:spcPts val="1450"/>
                        </a:lnSpc>
                        <a:spcBef>
                          <a:spcPts val="62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 the roles and responsibilities along    with tools &amp;</a:t>
                      </a:r>
                      <a:r>
                        <a:rPr lang="en-US" sz="2400" spc="-2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used in Project Management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7945">
                        <a:spcBef>
                          <a:spcPts val="20"/>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Evaluating</a:t>
                      </a:r>
                      <a:r>
                        <a:rPr lang="en-US" sz="24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64771">
                <a:tc>
                  <a:txBody>
                    <a:bodyPr/>
                    <a:lstStyle/>
                    <a:p>
                      <a:pPr marL="67945">
                        <a:spcBef>
                          <a:spcPts val="36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69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Develop</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confident to take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up</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kind of projects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365"/>
                        </a:spcBef>
                        <a:spcAft>
                          <a:spcPts val="0"/>
                        </a:spcAft>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Evaluating</a:t>
                      </a:r>
                      <a:r>
                        <a:rPr lang="en-US" sz="24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241400">
                <a:tc>
                  <a:txBody>
                    <a:bodyPr/>
                    <a:lstStyle/>
                    <a:p>
                      <a:pPr marL="67945">
                        <a:spcBef>
                          <a:spcPts val="35"/>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marR="437515" algn="just">
                        <a:lnSpc>
                          <a:spcPct val="105000"/>
                        </a:lnSpc>
                        <a:spcBef>
                          <a:spcPts val="675"/>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 They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 be able</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 apply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PERT</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 CPM method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7945">
                        <a:spcBef>
                          <a:spcPts val="50"/>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Applying</a:t>
                      </a:r>
                      <a:r>
                        <a:rPr lang="en-US" sz="24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914121">
                <a:tc>
                  <a:txBody>
                    <a:bodyPr/>
                    <a:lstStyle/>
                    <a:p>
                      <a:pPr marL="67945">
                        <a:spcBef>
                          <a:spcPts val="65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lnSpc>
                          <a:spcPts val="1340"/>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perspectives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which</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endPar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optimum</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decisions</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be taken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case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risks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with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planned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activities in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1015"/>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Creating</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(K6)</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Program outcome (POs)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dirty="0">
                <a:solidFill>
                  <a:srgbClr val="000000"/>
                </a:solidFill>
                <a:effectLst/>
                <a:latin typeface="Times New Roman" panose="02020603050405020304" pitchFamily="18" charset="0"/>
                <a:ea typeface="Times New Roman" panose="02020603050405020304" pitchFamily="18" charset="0"/>
              </a:rPr>
              <a:t>PO1. Apply knowledge of management theories and practices to solve business problems.</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PO2. Foster analytical and critical thinking abilities for data-based decision-making.</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PO3. Ability to develop value-based leadership ability.</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PO4. Ability to understand, analyze, and communicate global, economic, legal, and ethical aspects of business.</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PO5. Ability to lead themselves and others in the achievement of organizational goals, contributing effectively to a team environment.</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COs and POs Mapping</a:t>
            </a:r>
            <a:endParaRPr lang="en-IN" sz="36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rotWithShape="1">
          <a:blip r:embed="rId1"/>
          <a:srcRect r="14532"/>
          <a:stretch>
            <a:fillRect/>
          </a:stretch>
        </p:blipFill>
        <p:spPr>
          <a:xfrm>
            <a:off x="2171700" y="1666875"/>
            <a:ext cx="7048499" cy="3809999"/>
          </a:xfrm>
          <a:prstGeom prst="rect">
            <a:avLst/>
          </a:prstGeom>
        </p:spPr>
      </p:pic>
      <p:sp>
        <p:nvSpPr>
          <p:cNvPr id="8" name="TextBox 7"/>
          <p:cNvSpPr txBox="1"/>
          <p:nvPr/>
        </p:nvSpPr>
        <p:spPr>
          <a:xfrm>
            <a:off x="2840831" y="5592246"/>
            <a:ext cx="6138862" cy="584775"/>
          </a:xfrm>
          <a:prstGeom prst="rect">
            <a:avLst/>
          </a:prstGeom>
          <a:noFill/>
        </p:spPr>
        <p:txBody>
          <a:bodyPr wrap="square">
            <a:spAutoFit/>
          </a:bodyPr>
          <a:lstStyle/>
          <a:p>
            <a:pPr algn="ctr">
              <a:buNone/>
            </a:pPr>
            <a:r>
              <a:rPr lang="en-US" sz="3200" dirty="0">
                <a:latin typeface="Times New Roman" panose="02020603050405020304" pitchFamily="18" charset="0"/>
                <a:cs typeface="Times New Roman" panose="02020603050405020304" pitchFamily="18" charset="0"/>
              </a:rPr>
              <a:t>*1=High, *2=Medium, *3=Low</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Program Educational Objectives (PEOs)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1: Graduates of the management program will have conceptual knowledge, to adapt to the rapidly changing environment, learn new skills and demonstrate application of management principles in a professional work setting.</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2: Graduates will apply appropriate tools for decision making required for solving complex managerial problems in the local or global context.</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3: Graduates of the management program will exhibit integrity, social responsibility, and teamwork.</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4: Graduates will exhibit ethics, communication skills, leadership qualities and entrepreneurial mindset using creativity and innovation.</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Result Analysis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End Semester Question paper Templates</a:t>
            </a:r>
            <a:endParaRPr lang="en-IN" sz="3600" dirty="0">
              <a:latin typeface="Times New Roman" panose="02020603050405020304" pitchFamily="18" charset="0"/>
              <a:cs typeface="Times New Roman" panose="02020603050405020304" pitchFamily="18" charset="0"/>
            </a:endParaRPr>
          </a:p>
        </p:txBody>
      </p:sp>
      <p:pic>
        <p:nvPicPr>
          <p:cNvPr id="2" name="Content Placeholder 9" descr="temp1.png"/>
          <p:cNvPicPr>
            <a:picLocks noGrp="1" noChangeAspect="1"/>
          </p:cNvPicPr>
          <p:nvPr>
            <p:ph idx="1"/>
          </p:nvPr>
        </p:nvPicPr>
        <p:blipFill>
          <a:blip r:embed="rId1"/>
          <a:stretch>
            <a:fillRect/>
          </a:stretch>
        </p:blipFill>
        <p:spPr>
          <a:xfrm>
            <a:off x="1343025" y="1222971"/>
            <a:ext cx="9544050" cy="4907359"/>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End Semester Question paper Templates</a:t>
            </a:r>
            <a:endParaRPr lang="en-IN" sz="3600" dirty="0">
              <a:latin typeface="Times New Roman" panose="02020603050405020304" pitchFamily="18" charset="0"/>
              <a:cs typeface="Times New Roman" panose="02020603050405020304" pitchFamily="18" charset="0"/>
            </a:endParaRPr>
          </a:p>
        </p:txBody>
      </p:sp>
      <p:pic>
        <p:nvPicPr>
          <p:cNvPr id="6" name="Content Placeholder 7" descr="temp3.png"/>
          <p:cNvPicPr>
            <a:picLocks noGrp="1" noChangeAspect="1"/>
          </p:cNvPicPr>
          <p:nvPr>
            <p:ph idx="1"/>
          </p:nvPr>
        </p:nvPicPr>
        <p:blipFill>
          <a:blip r:embed="rId1"/>
          <a:stretch>
            <a:fillRect/>
          </a:stretch>
        </p:blipFill>
        <p:spPr>
          <a:xfrm>
            <a:off x="1209676" y="1028700"/>
            <a:ext cx="9305924" cy="52959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 </a:t>
            </a:r>
            <a:r>
              <a:rPr lang="en-US" sz="3600" b="0" dirty="0">
                <a:latin typeface="Times New Roman" panose="02020603050405020304" pitchFamily="18" charset="0"/>
                <a:cs typeface="Times New Roman" panose="02020603050405020304" pitchFamily="18" charset="0"/>
              </a:rPr>
              <a:t>Prerequisite /Recap</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Autofit/>
          </a:bodyPr>
          <a:lstStyle/>
          <a:p>
            <a:pPr algn="just">
              <a:buNone/>
            </a:pPr>
            <a:r>
              <a:rPr lang="en-US" sz="2400" dirty="0">
                <a:latin typeface="Times New Roman" panose="02020603050405020304" pitchFamily="18" charset="0"/>
                <a:cs typeface="Times New Roman" panose="02020603050405020304" pitchFamily="18" charset="0"/>
              </a:rPr>
              <a:t>Prerequisites for this session are: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General understanding of project management.</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Moderate analytical skills.</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Recap: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Project Identification &amp; Selection</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Market &amp; Demand analysis techniques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Project Risk Management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Brief Introduction about the Subject with Videos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b="0" i="0" dirty="0">
                <a:solidFill>
                  <a:srgbClr val="0D0D0D"/>
                </a:solidFill>
                <a:effectLst/>
                <a:latin typeface="Times New Roman" panose="02020603050405020304" pitchFamily="18" charset="0"/>
                <a:cs typeface="Times New Roman" panose="02020603050405020304" pitchFamily="18" charset="0"/>
              </a:rPr>
              <a:t>Project management is the discipline of initiating, planning, executing, controlling, and closing the work of a team to achieve specific goals and meet specific success criteria. </a:t>
            </a:r>
            <a:endParaRPr lang="en-US" sz="2400" b="0" i="0" dirty="0">
              <a:solidFill>
                <a:srgbClr val="0D0D0D"/>
              </a:solidFill>
              <a:effectLst/>
              <a:latin typeface="Times New Roman" panose="02020603050405020304" pitchFamily="18" charset="0"/>
              <a:cs typeface="Times New Roman" panose="02020603050405020304" pitchFamily="18" charset="0"/>
            </a:endParaRPr>
          </a:p>
          <a:p>
            <a:r>
              <a:rPr lang="en-US" sz="2400" b="0" i="0" dirty="0">
                <a:solidFill>
                  <a:srgbClr val="0D0D0D"/>
                </a:solidFill>
                <a:effectLst/>
                <a:latin typeface="Times New Roman" panose="02020603050405020304" pitchFamily="18" charset="0"/>
                <a:cs typeface="Times New Roman" panose="02020603050405020304" pitchFamily="18" charset="0"/>
              </a:rPr>
              <a:t>It involves the application of knowledge, skills, tools, and techniques to project activities to meet project requirements. </a:t>
            </a:r>
            <a:endParaRPr lang="en-US" sz="2400" b="0" i="0" dirty="0">
              <a:solidFill>
                <a:srgbClr val="0D0D0D"/>
              </a:solidFill>
              <a:effectLst/>
              <a:latin typeface="Times New Roman" panose="02020603050405020304" pitchFamily="18" charset="0"/>
              <a:cs typeface="Times New Roman" panose="02020603050405020304" pitchFamily="18" charset="0"/>
            </a:endParaRPr>
          </a:p>
          <a:p>
            <a:r>
              <a:rPr lang="en-US" sz="2400" b="0" i="0" dirty="0">
                <a:solidFill>
                  <a:srgbClr val="0D0D0D"/>
                </a:solidFill>
                <a:effectLst/>
                <a:latin typeface="Times New Roman" panose="02020603050405020304" pitchFamily="18" charset="0"/>
                <a:cs typeface="Times New Roman" panose="02020603050405020304" pitchFamily="18" charset="0"/>
              </a:rPr>
              <a:t>Effective project management ensures that projects are completed within scope, on time, and within budget, while delivering the desired outcomes.</a:t>
            </a:r>
            <a:endParaRPr lang="en-US" sz="2400" b="0" i="0" dirty="0">
              <a:solidFill>
                <a:srgbClr val="0D0D0D"/>
              </a:solidFill>
              <a:effectLst/>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hlinkClick r:id="rId1"/>
              </a:rPr>
              <a:t>https://www.youtube.com/watch?v=EyPFi0YO32M</a:t>
            </a:r>
            <a:endParaRPr lang="en-US" sz="2400" dirty="0">
              <a:solidFill>
                <a:srgbClr val="0D0D0D"/>
              </a:solidFill>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hlinkClick r:id="rId2"/>
              </a:rPr>
              <a:t>https://www.youtube.com/watch?v=BOU1YP5NZVA</a:t>
            </a:r>
            <a:endParaRPr lang="en-US" sz="2400" dirty="0">
              <a:solidFill>
                <a:srgbClr val="0D0D0D"/>
              </a:solidFill>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Unit Content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99345" y="1794786"/>
            <a:ext cx="11793310" cy="4053564"/>
          </a:xfrm>
        </p:spPr>
        <p:txBody>
          <a:bodyPr>
            <a:normAutofit/>
          </a:bodyPr>
          <a:lstStyle/>
          <a:p>
            <a:pPr marL="67945">
              <a:lnSpc>
                <a:spcPts val="1305"/>
              </a:lnSpc>
            </a:pPr>
            <a:r>
              <a:rPr lang="en-US" sz="2400" dirty="0">
                <a:effectLst/>
                <a:latin typeface="Times New Roman" panose="02020603050405020304" pitchFamily="18" charset="0"/>
                <a:ea typeface="Times New Roman" panose="02020603050405020304" pitchFamily="18" charset="0"/>
              </a:rPr>
              <a:t>Fundamental components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Project</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Cost,</a:t>
            </a:r>
            <a:r>
              <a:rPr lang="en-US" sz="2400" spc="-5" dirty="0">
                <a:effectLst/>
                <a:latin typeface="Times New Roman" panose="02020603050405020304" pitchFamily="18" charset="0"/>
                <a:ea typeface="Times New Roman" panose="02020603050405020304" pitchFamily="18" charset="0"/>
              </a:rPr>
              <a:t> </a:t>
            </a:r>
            <a:endParaRPr lang="en-US" sz="2400" spc="-5" dirty="0">
              <a:effectLst/>
              <a:latin typeface="Times New Roman" panose="02020603050405020304" pitchFamily="18" charset="0"/>
              <a:ea typeface="Times New Roman" panose="02020603050405020304" pitchFamily="18" charset="0"/>
            </a:endParaRPr>
          </a:p>
          <a:p>
            <a:pPr marL="67945">
              <a:lnSpc>
                <a:spcPts val="1305"/>
              </a:lnSpc>
            </a:pPr>
            <a:r>
              <a:rPr lang="en-US" sz="2400" dirty="0">
                <a:effectLst/>
                <a:latin typeface="Times New Roman" panose="02020603050405020304" pitchFamily="18" charset="0"/>
                <a:ea typeface="Times New Roman" panose="02020603050405020304" pitchFamily="18" charset="0"/>
              </a:rPr>
              <a:t>Types of</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Costs: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Direct, Indirect, Recurring,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Non-Recurring,</a:t>
            </a:r>
            <a:r>
              <a:rPr lang="en-IN" sz="2400" dirty="0">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Fixed, Variable, Normal, </a:t>
            </a:r>
            <a:endParaRPr lang="en-US" sz="2400" dirty="0">
              <a:effectLst/>
              <a:latin typeface="Times New Roman" panose="02020603050405020304" pitchFamily="18" charset="0"/>
              <a:ea typeface="Times New Roman" panose="02020603050405020304" pitchFamily="18" charset="0"/>
            </a:endParaRPr>
          </a:p>
          <a:p>
            <a:pPr marL="0" indent="0">
              <a:lnSpc>
                <a:spcPts val="1305"/>
              </a:lnSpc>
              <a:buNone/>
            </a:pPr>
            <a:r>
              <a:rPr lang="en-US" sz="2400" dirty="0">
                <a:effectLst/>
                <a:latin typeface="Times New Roman" panose="02020603050405020304" pitchFamily="18" charset="0"/>
                <a:ea typeface="Times New Roman" panose="02020603050405020304" pitchFamily="18" charset="0"/>
              </a:rPr>
              <a:t>Expedite costs </a:t>
            </a:r>
            <a:endParaRPr lang="en-US" sz="2400" dirty="0">
              <a:effectLst/>
              <a:latin typeface="Times New Roman" panose="02020603050405020304" pitchFamily="18" charset="0"/>
              <a:ea typeface="Times New Roman" panose="02020603050405020304" pitchFamily="18" charset="0"/>
            </a:endParaRPr>
          </a:p>
          <a:p>
            <a:pPr marL="67945">
              <a:lnSpc>
                <a:spcPts val="1305"/>
              </a:lnSpc>
            </a:pPr>
            <a:r>
              <a:rPr lang="en-US" sz="2400" dirty="0">
                <a:effectLst/>
                <a:latin typeface="Times New Roman" panose="02020603050405020304" pitchFamily="18" charset="0"/>
                <a:ea typeface="Times New Roman" panose="02020603050405020304" pitchFamily="18" charset="0"/>
              </a:rPr>
              <a:t>Methods of budgeting – </a:t>
            </a:r>
            <a:endParaRPr lang="en-US" sz="2400" dirty="0">
              <a:effectLst/>
              <a:latin typeface="Times New Roman" panose="02020603050405020304" pitchFamily="18" charset="0"/>
              <a:ea typeface="Times New Roman" panose="02020603050405020304" pitchFamily="18" charset="0"/>
            </a:endParaRPr>
          </a:p>
          <a:p>
            <a:pPr marL="67945">
              <a:lnSpc>
                <a:spcPts val="1305"/>
              </a:lnSpc>
            </a:pPr>
            <a:r>
              <a:rPr lang="en-US" sz="2400" dirty="0">
                <a:effectLst/>
                <a:latin typeface="Times New Roman" panose="02020603050405020304" pitchFamily="18" charset="0"/>
                <a:ea typeface="Times New Roman" panose="02020603050405020304" pitchFamily="18" charset="0"/>
              </a:rPr>
              <a:t>Project cost estimation – </a:t>
            </a:r>
            <a:endParaRPr lang="en-US" sz="2400" dirty="0">
              <a:effectLst/>
              <a:latin typeface="Times New Roman" panose="02020603050405020304" pitchFamily="18" charset="0"/>
              <a:ea typeface="Times New Roman" panose="02020603050405020304" pitchFamily="18" charset="0"/>
            </a:endParaRPr>
          </a:p>
          <a:p>
            <a:pPr marL="67945">
              <a:lnSpc>
                <a:spcPts val="1305"/>
              </a:lnSpc>
            </a:pPr>
            <a:r>
              <a:rPr lang="en-US" sz="2400" dirty="0">
                <a:effectLst/>
                <a:latin typeface="Times New Roman" panose="02020603050405020304" pitchFamily="18" charset="0"/>
                <a:ea typeface="Times New Roman" panose="02020603050405020304" pitchFamily="18" charset="0"/>
              </a:rPr>
              <a:t>Improving cost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estimates – </a:t>
            </a:r>
            <a:endParaRPr lang="en-US" sz="2400" dirty="0">
              <a:effectLst/>
              <a:latin typeface="Times New Roman" panose="02020603050405020304" pitchFamily="18" charset="0"/>
              <a:ea typeface="Times New Roman" panose="02020603050405020304" pitchFamily="18" charset="0"/>
            </a:endParaRPr>
          </a:p>
          <a:p>
            <a:pPr marL="67945">
              <a:lnSpc>
                <a:spcPts val="1305"/>
              </a:lnSpc>
            </a:pPr>
            <a:r>
              <a:rPr lang="en-US" sz="2400" dirty="0">
                <a:effectLst/>
                <a:latin typeface="Times New Roman" panose="02020603050405020304" pitchFamily="18" charset="0"/>
                <a:ea typeface="Times New Roman" panose="02020603050405020304" pitchFamily="18" charset="0"/>
              </a:rPr>
              <a:t>Budget uncertainty and risk management – </a:t>
            </a:r>
            <a:endParaRPr lang="en-US" sz="2400" dirty="0">
              <a:effectLst/>
              <a:latin typeface="Times New Roman" panose="02020603050405020304" pitchFamily="18" charset="0"/>
              <a:ea typeface="Times New Roman" panose="02020603050405020304" pitchFamily="18" charset="0"/>
            </a:endParaRPr>
          </a:p>
          <a:p>
            <a:pPr marL="67945">
              <a:lnSpc>
                <a:spcPts val="1305"/>
              </a:lnSpc>
            </a:pPr>
            <a:r>
              <a:rPr lang="en-US" sz="2400" dirty="0">
                <a:effectLst/>
                <a:latin typeface="Times New Roman" panose="02020603050405020304" pitchFamily="18" charset="0"/>
                <a:ea typeface="Times New Roman" panose="02020603050405020304" pitchFamily="18" charset="0"/>
              </a:rPr>
              <a:t>Scheduling the project – Gantt chart – </a:t>
            </a:r>
            <a:endParaRPr lang="en-US" sz="2400" dirty="0">
              <a:effectLst/>
              <a:latin typeface="Times New Roman" panose="02020603050405020304" pitchFamily="18" charset="0"/>
              <a:ea typeface="Times New Roman" panose="02020603050405020304" pitchFamily="18" charset="0"/>
            </a:endParaRPr>
          </a:p>
          <a:p>
            <a:pPr marL="67945">
              <a:lnSpc>
                <a:spcPts val="1305"/>
              </a:lnSpc>
            </a:pPr>
            <a:r>
              <a:rPr lang="en-US" sz="2400" dirty="0">
                <a:effectLst/>
                <a:latin typeface="Times New Roman" panose="02020603050405020304" pitchFamily="18" charset="0"/>
                <a:ea typeface="Times New Roman" panose="02020603050405020304" pitchFamily="18" charset="0"/>
              </a:rPr>
              <a:t>Resource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allocation</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loading</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a:p>
            <a:pPr marL="67945">
              <a:lnSpc>
                <a:spcPts val="1305"/>
              </a:lnSpc>
            </a:pPr>
            <a:r>
              <a:rPr lang="en-US" sz="2400" dirty="0">
                <a:effectLst/>
                <a:latin typeface="Times New Roman" panose="02020603050405020304" pitchFamily="18" charset="0"/>
                <a:ea typeface="Times New Roman" panose="02020603050405020304" pitchFamily="18" charset="0"/>
              </a:rPr>
              <a:t>Social</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Cost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Benefit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Analysis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(SCBA)</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Project: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Concept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&amp;</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significance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SCBA,</a:t>
            </a:r>
            <a:r>
              <a:rPr lang="en-IN" sz="2400" dirty="0">
                <a:effectLst/>
                <a:latin typeface="Times New Roman" panose="02020603050405020304" pitchFamily="18" charset="0"/>
                <a:ea typeface="Times New Roman" panose="02020603050405020304" pitchFamily="18" charset="0"/>
              </a:rPr>
              <a:t> </a:t>
            </a:r>
            <a:endParaRPr lang="en-IN" sz="2400" dirty="0">
              <a:effectLst/>
              <a:latin typeface="Times New Roman" panose="02020603050405020304" pitchFamily="18" charset="0"/>
              <a:ea typeface="Times New Roman" panose="02020603050405020304" pitchFamily="18" charset="0"/>
            </a:endParaRPr>
          </a:p>
          <a:p>
            <a:pPr marL="0" indent="0">
              <a:lnSpc>
                <a:spcPts val="1305"/>
              </a:lnSpc>
              <a:buNone/>
            </a:pPr>
            <a:r>
              <a:rPr lang="en-IN" sz="2400" dirty="0">
                <a:effectLst/>
                <a:latin typeface="Times New Roman" panose="02020603050405020304" pitchFamily="18" charset="0"/>
                <a:ea typeface="Times New Roman" panose="02020603050405020304" pitchFamily="18" charset="0"/>
              </a:rPr>
              <a:t>approaches to SCBA</a:t>
            </a:r>
            <a:endParaRPr lang="en-US" sz="24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Unit objective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457200" indent="-457200" algn="just">
              <a:buNone/>
            </a:pPr>
            <a:r>
              <a:rPr lang="en-US" dirty="0">
                <a:latin typeface="Times New Roman" panose="02020603050405020304" pitchFamily="18" charset="0"/>
                <a:cs typeface="Times New Roman" panose="02020603050405020304" pitchFamily="18" charset="0"/>
              </a:rPr>
              <a:t>Objective of this unit are:</a:t>
            </a:r>
            <a:endParaRPr lang="en-US" dirty="0">
              <a:latin typeface="Times New Roman" panose="02020603050405020304" pitchFamily="18" charset="0"/>
              <a:cs typeface="Times New Roman" panose="02020603050405020304" pitchFamily="18" charset="0"/>
            </a:endParaRPr>
          </a:p>
          <a:p>
            <a:pPr marL="457200" indent="-45720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understand various aspects of Project Costing.</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learn about various Project Financing sources and preparing project budgets.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understand and conduct he Social Cost Benefit Analysis (SCBA) of a Project.</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Topic Objectives &amp;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811212" y="2652713"/>
          <a:ext cx="10569575" cy="1193800"/>
        </p:xfrm>
        <a:graphic>
          <a:graphicData uri="http://schemas.openxmlformats.org/drawingml/2006/table">
            <a:tbl>
              <a:tblPr firstRow="1" bandRow="1">
                <a:tableStyleId>{21E4AEA4-8DFA-4A89-87EB-49C32662AFE0}</a:tableStyleId>
              </a:tblPr>
              <a:tblGrid>
                <a:gridCol w="902734"/>
                <a:gridCol w="6143649"/>
                <a:gridCol w="3523192"/>
              </a:tblGrid>
              <a:tr h="370840">
                <a:tc>
                  <a:txBody>
                    <a:bodyPr/>
                    <a:lstStyle/>
                    <a:p>
                      <a:r>
                        <a:rPr lang="en-IN" dirty="0"/>
                        <a:t>S.NO</a:t>
                      </a:r>
                      <a:endParaRPr lang="en-IN" dirty="0"/>
                    </a:p>
                  </a:txBody>
                  <a:tcPr/>
                </a:tc>
                <a:tc>
                  <a:txBody>
                    <a:bodyPr/>
                    <a:lstStyle/>
                    <a:p>
                      <a:r>
                        <a:rPr lang="en-IN" dirty="0"/>
                        <a:t>TOPIC OBJECTIVE</a:t>
                      </a:r>
                      <a:endParaRPr lang="en-IN" dirty="0"/>
                    </a:p>
                  </a:txBody>
                  <a:tcPr/>
                </a:tc>
                <a:tc>
                  <a:txBody>
                    <a:bodyPr/>
                    <a:lstStyle/>
                    <a:p>
                      <a:r>
                        <a:rPr lang="en-IN" dirty="0"/>
                        <a:t>TOPIC OUTCOME</a:t>
                      </a:r>
                      <a:endParaRPr lang="en-IN" dirty="0"/>
                    </a:p>
                  </a:txBody>
                  <a:tcPr/>
                </a:tc>
              </a:tr>
              <a:tr h="370840">
                <a:tc>
                  <a:txBody>
                    <a:bodyPr/>
                    <a:lstStyle/>
                    <a:p>
                      <a:r>
                        <a:rPr lang="en-IN"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understand various aspects of Project Costing.</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CO3</a:t>
                      </a:r>
                      <a:endParaRPr lang="en-IN" sz="24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buNone/>
            </a:pPr>
            <a:r>
              <a:rPr lang="en-US" sz="2800" dirty="0"/>
              <a:t>	</a:t>
            </a:r>
            <a:r>
              <a:rPr lang="en-US" sz="2400" b="1" dirty="0">
                <a:latin typeface="Times New Roman" panose="02020603050405020304" pitchFamily="18" charset="0"/>
                <a:cs typeface="Times New Roman" panose="02020603050405020304" pitchFamily="18" charset="0"/>
              </a:rPr>
              <a:t>The project cost is a cost required to procure all the needed products, services and resources to deliver the project successfully.</a:t>
            </a:r>
            <a:endParaRPr lang="en-US" sz="2400" b="1" dirty="0">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Example: In an example of a construction project, the cost estimation starts from land acquisition cost, construction cost, materials cost, administration cost, labor cost and other direct and indirect costs</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Fundamental Components of Project Costing</a:t>
            </a:r>
            <a:endParaRPr lang="en-IN" sz="3600" dirty="0">
              <a:latin typeface="Times New Roman" panose="02020603050405020304" pitchFamily="18" charset="0"/>
              <a:cs typeface="Times New Roman" panose="02020603050405020304" pitchFamily="18" charset="0"/>
            </a:endParaRPr>
          </a:p>
        </p:txBody>
      </p:sp>
      <p:pic>
        <p:nvPicPr>
          <p:cNvPr id="2" name="Picture 2"/>
          <p:cNvPicPr>
            <a:picLocks noGrp="1" noChangeAspect="1" noChangeArrowheads="1"/>
          </p:cNvPicPr>
          <p:nvPr>
            <p:ph idx="1"/>
          </p:nvPr>
        </p:nvPicPr>
        <p:blipFill>
          <a:blip r:embed="rId1"/>
          <a:srcRect/>
          <a:stretch>
            <a:fillRect/>
          </a:stretch>
        </p:blipFill>
        <p:spPr bwMode="auto">
          <a:xfrm>
            <a:off x="3300413" y="1666875"/>
            <a:ext cx="5562600" cy="401955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1: resource planning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732065" y="1194711"/>
            <a:ext cx="10583635" cy="5001302"/>
          </a:xfrm>
        </p:spPr>
        <p:txBody>
          <a:bodyPr/>
          <a:lstStyle/>
          <a:p>
            <a:pPr algn="just">
              <a:buNone/>
            </a:pPr>
            <a:r>
              <a:rPr lang="en-US" sz="2400" dirty="0">
                <a:latin typeface="Times New Roman" panose="02020603050405020304" pitchFamily="18" charset="0"/>
                <a:cs typeface="Times New Roman" panose="02020603050405020304" pitchFamily="18" charset="0"/>
              </a:rPr>
              <a:t>   Resource planning is the process of ascertaining future resource requirements for an organization or a scope of work. This involves the evaluation and planning of the use of the physical, human, financial, and informational resources required to complete work activities and their tasks.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Most activities involve using people to perform work. Some activities involve materials and consumables. </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1: resource planning</a:t>
            </a:r>
            <a:endParaRPr lang="en-IN" sz="3600" dirty="0">
              <a:latin typeface="Times New Roman" panose="02020603050405020304" pitchFamily="18" charset="0"/>
              <a:cs typeface="Times New Roman" panose="02020603050405020304" pitchFamily="18" charset="0"/>
            </a:endParaRPr>
          </a:p>
        </p:txBody>
      </p:sp>
      <p:pic>
        <p:nvPicPr>
          <p:cNvPr id="2" name="Picture 2"/>
          <p:cNvPicPr>
            <a:picLocks noGrp="1" noChangeAspect="1" noChangeArrowheads="1"/>
          </p:cNvPicPr>
          <p:nvPr>
            <p:ph idx="1"/>
          </p:nvPr>
        </p:nvPicPr>
        <p:blipFill>
          <a:blip r:embed="rId1"/>
          <a:srcRect/>
          <a:stretch>
            <a:fillRect/>
          </a:stretch>
        </p:blipFill>
        <p:spPr bwMode="auto">
          <a:xfrm>
            <a:off x="2200276" y="1438275"/>
            <a:ext cx="7058024" cy="4467225"/>
          </a:xfrm>
          <a:prstGeom prst="rect">
            <a:avLst/>
          </a:prstGeom>
          <a:noFill/>
          <a:ln w="9525">
            <a:noFill/>
            <a:miter lim="800000"/>
            <a:headEnd/>
            <a:tailEnd/>
          </a:ln>
          <a:effectLst/>
        </p:spPr>
      </p:pic>
      <p:sp>
        <p:nvSpPr>
          <p:cNvPr id="4" name="TextBox 3"/>
          <p:cNvSpPr txBox="1"/>
          <p:nvPr/>
        </p:nvSpPr>
        <p:spPr>
          <a:xfrm>
            <a:off x="8562975" y="1752600"/>
            <a:ext cx="2819400" cy="3785652"/>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OBS: organizational breakdown structure.</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WBS : work breakdown structure.</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CBS: cost breakdown structure.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2: Cost estimation</a:t>
            </a:r>
            <a:endParaRPr lang="en-IN" sz="3600" dirty="0">
              <a:latin typeface="Times New Roman" panose="02020603050405020304" pitchFamily="18" charset="0"/>
              <a:cs typeface="Times New Roman" panose="02020603050405020304" pitchFamily="18" charset="0"/>
            </a:endParaRPr>
          </a:p>
        </p:txBody>
      </p:sp>
      <p:pic>
        <p:nvPicPr>
          <p:cNvPr id="2" name="Picture 2"/>
          <p:cNvPicPr>
            <a:picLocks noGrp="1" noChangeAspect="1" noChangeArrowheads="1"/>
          </p:cNvPicPr>
          <p:nvPr>
            <p:ph idx="1"/>
          </p:nvPr>
        </p:nvPicPr>
        <p:blipFill>
          <a:blip r:embed="rId1"/>
          <a:srcRect/>
          <a:stretch>
            <a:fillRect/>
          </a:stretch>
        </p:blipFill>
        <p:spPr bwMode="auto">
          <a:xfrm>
            <a:off x="1123950" y="2243138"/>
            <a:ext cx="9801225" cy="2695575"/>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3: Cost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961345" y="1632861"/>
            <a:ext cx="10269310" cy="5001302"/>
          </a:xfrm>
        </p:spPr>
        <p:txBody>
          <a:bodyPr/>
          <a:lstStyle/>
          <a:p>
            <a:pPr algn="just"/>
            <a:r>
              <a:rPr lang="en-US" sz="2400" dirty="0">
                <a:latin typeface="Times New Roman" panose="02020603050405020304" pitchFamily="18" charset="0"/>
                <a:cs typeface="Times New Roman" panose="02020603050405020304" pitchFamily="18" charset="0"/>
              </a:rPr>
              <a:t>Budgeting is a sub-process within estimating used for allocating the estimated cost of resources into cost accounts against which cost performance will be measured and assessed.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forms the baseline for cost control.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Cost accounts used from the chart of accounts must also support the cost accounting process.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Budgets are often time-phased in accordance with the schedule or to address budget and cash flow constraints.</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4: Cost control</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956582" y="1763715"/>
            <a:ext cx="10278835" cy="5001302"/>
          </a:xfrm>
        </p:spPr>
        <p:txBody>
          <a:bodyPr/>
          <a:lstStyle/>
          <a:p>
            <a:pPr algn="just"/>
            <a:r>
              <a:rPr lang="en-US" sz="2400" dirty="0">
                <a:latin typeface="Times New Roman" panose="02020603050405020304" pitchFamily="18" charset="0"/>
                <a:cs typeface="Times New Roman" panose="02020603050405020304" pitchFamily="18" charset="0"/>
              </a:rPr>
              <a:t>Cost control is concerned with measuring variances from the cost baseline and taking effective corrective action to achieve minimum costs.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Procedures are applied to monitor expenditures and performance against the progress of a project.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All changes to the cost baseline need to be recorded and the expected final total costs are continuously forecasted. </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Elements of 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85825" y="1175661"/>
            <a:ext cx="11059432" cy="5001302"/>
          </a:xfrm>
        </p:spPr>
        <p:txBody>
          <a:bodyPr>
            <a:normAutofit/>
          </a:bodyPr>
          <a:lstStyle/>
          <a:p>
            <a:pPr marL="0" indent="0">
              <a:buNone/>
            </a:pP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Materials= Direct Materials+ Indirect Materials</a:t>
            </a:r>
            <a:endParaRPr lang="en-US" altLang="en-US" sz="2400" dirty="0">
              <a:latin typeface="Times New Roman" panose="02020603050405020304" pitchFamily="18" charset="0"/>
              <a:cs typeface="Times New Roman" panose="02020603050405020304" pitchFamily="18" charset="0"/>
            </a:endParaRPr>
          </a:p>
          <a:p>
            <a:r>
              <a:rPr lang="en-US" altLang="en-US" sz="2400" dirty="0" err="1">
                <a:latin typeface="Times New Roman" panose="02020603050405020304" pitchFamily="18" charset="0"/>
                <a:cs typeface="Times New Roman" panose="02020603050405020304" pitchFamily="18" charset="0"/>
              </a:rPr>
              <a:t>Labour</a:t>
            </a:r>
            <a:r>
              <a:rPr lang="en-US" altLang="en-US" sz="2400" dirty="0">
                <a:latin typeface="Times New Roman" panose="02020603050405020304" pitchFamily="18" charset="0"/>
                <a:cs typeface="Times New Roman" panose="02020603050405020304" pitchFamily="18" charset="0"/>
              </a:rPr>
              <a:t> = Direct </a:t>
            </a:r>
            <a:r>
              <a:rPr lang="en-US" altLang="en-US" sz="2400" dirty="0" err="1">
                <a:latin typeface="Times New Roman" panose="02020603050405020304" pitchFamily="18" charset="0"/>
                <a:cs typeface="Times New Roman" panose="02020603050405020304" pitchFamily="18" charset="0"/>
              </a:rPr>
              <a:t>Labour</a:t>
            </a:r>
            <a:r>
              <a:rPr lang="en-US" altLang="en-US" sz="2400" dirty="0">
                <a:latin typeface="Times New Roman" panose="02020603050405020304" pitchFamily="18" charset="0"/>
                <a:cs typeface="Times New Roman" panose="02020603050405020304" pitchFamily="18" charset="0"/>
              </a:rPr>
              <a:t> + Indirect </a:t>
            </a:r>
            <a:r>
              <a:rPr lang="en-US" altLang="en-US" sz="2400" dirty="0" err="1">
                <a:latin typeface="Times New Roman" panose="02020603050405020304" pitchFamily="18" charset="0"/>
                <a:cs typeface="Times New Roman" panose="02020603050405020304" pitchFamily="18" charset="0"/>
              </a:rPr>
              <a:t>Labour</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Expenses= Direct Expenses + Indirect Expenses</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Total Cost= Prime Cost + Overheads</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buNone/>
              <a:defRPr/>
            </a:pPr>
            <a:r>
              <a:rPr lang="en-US" sz="2800" dirty="0"/>
              <a:t>	The term ‘cost’ refers to the amount of expenditure incurred on, or attributable to a given things.</a:t>
            </a:r>
            <a:endParaRPr lang="en-US" sz="2800" dirty="0"/>
          </a:p>
          <a:p>
            <a:pPr marL="514350" indent="-514350" algn="just">
              <a:buFont typeface="Arial" panose="020B0604020202020204" pitchFamily="34" charset="0"/>
              <a:buAutoNum type="arabicPeriod"/>
              <a:defRPr/>
            </a:pPr>
            <a:endParaRPr lang="en-US" sz="2800" dirty="0"/>
          </a:p>
          <a:p>
            <a:pPr marL="514350" indent="-514350" algn="just">
              <a:buFont typeface="Arial" panose="020B0604020202020204" pitchFamily="34" charset="0"/>
              <a:buAutoNum type="arabicPeriod"/>
              <a:defRPr/>
            </a:pPr>
            <a:r>
              <a:rPr lang="en-US" sz="2800" dirty="0"/>
              <a:t>Cost of materials</a:t>
            </a:r>
            <a:endParaRPr lang="en-US" sz="2800" dirty="0"/>
          </a:p>
          <a:p>
            <a:pPr marL="514350" indent="-514350" algn="just">
              <a:buFont typeface="Arial" panose="020B0604020202020204" pitchFamily="34" charset="0"/>
              <a:buAutoNum type="arabicPeriod"/>
              <a:defRPr/>
            </a:pPr>
            <a:r>
              <a:rPr lang="en-US" sz="2800" dirty="0"/>
              <a:t>Cost of </a:t>
            </a:r>
            <a:r>
              <a:rPr lang="en-US" sz="2800" dirty="0" err="1"/>
              <a:t>labour</a:t>
            </a:r>
            <a:endParaRPr lang="en-US" sz="2800" dirty="0"/>
          </a:p>
          <a:p>
            <a:pPr marL="514350" indent="-514350" algn="just">
              <a:buFont typeface="Arial" panose="020B0604020202020204" pitchFamily="34" charset="0"/>
              <a:buAutoNum type="arabicPeriod"/>
              <a:defRPr/>
            </a:pPr>
            <a:r>
              <a:rPr lang="en-US" sz="2800" dirty="0"/>
              <a:t>Cost of overheads</a:t>
            </a:r>
            <a:endParaRPr lang="en-US" sz="2800" dirty="0"/>
          </a:p>
          <a:p>
            <a:pPr marL="514350" indent="-514350" algn="just">
              <a:buFont typeface="Arial" panose="020B0604020202020204" pitchFamily="34" charset="0"/>
              <a:buAutoNum type="arabicPeriod"/>
              <a:defRPr/>
            </a:pPr>
            <a:r>
              <a:rPr lang="en-US" sz="2800" dirty="0"/>
              <a:t>Other expenses</a:t>
            </a:r>
            <a:endParaRPr lang="en-US" sz="2800" dirty="0"/>
          </a:p>
          <a:p>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altLang="en-US" sz="3600" dirty="0">
                <a:latin typeface="Times New Roman" panose="02020603050405020304" pitchFamily="18" charset="0"/>
                <a:cs typeface="Times New Roman" panose="02020603050405020304" pitchFamily="18" charset="0"/>
              </a:rPr>
              <a:t>Total Cost= Prime Cost+ Overheads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buNone/>
            </a:pPr>
            <a:r>
              <a:rPr lang="en-US" altLang="en-US" b="1" dirty="0">
                <a:latin typeface="Times New Roman" panose="02020603050405020304" pitchFamily="18" charset="0"/>
                <a:cs typeface="Times New Roman" panose="02020603050405020304" pitchFamily="18" charset="0"/>
              </a:rPr>
              <a:t>Prime Cost:</a:t>
            </a:r>
            <a:endParaRPr lang="en-US" altLang="en-US" b="1" dirty="0">
              <a:latin typeface="Times New Roman" panose="02020603050405020304" pitchFamily="18" charset="0"/>
              <a:cs typeface="Times New Roman" panose="02020603050405020304" pitchFamily="18" charset="0"/>
            </a:endParaRPr>
          </a:p>
          <a:p>
            <a:pPr algn="just">
              <a:buNone/>
            </a:pPr>
            <a:endParaRPr lang="en-US" altLang="en-US" sz="2400" b="1" dirty="0">
              <a:latin typeface="Times New Roman" panose="02020603050405020304" pitchFamily="18" charset="0"/>
              <a:cs typeface="Times New Roman" panose="02020603050405020304" pitchFamily="18" charset="0"/>
            </a:endParaRPr>
          </a:p>
          <a:p>
            <a:pPr algn="just">
              <a:defRPr/>
            </a:pPr>
            <a:r>
              <a:rPr lang="en-US" sz="2400" b="1" dirty="0">
                <a:latin typeface="Times New Roman" panose="02020603050405020304" pitchFamily="18" charset="0"/>
                <a:cs typeface="Times New Roman" panose="02020603050405020304" pitchFamily="18" charset="0"/>
              </a:rPr>
              <a:t>Direct Materials </a:t>
            </a:r>
            <a:r>
              <a:rPr lang="en-US" sz="2400" dirty="0">
                <a:latin typeface="Times New Roman" panose="02020603050405020304" pitchFamily="18" charset="0"/>
                <a:cs typeface="Times New Roman" panose="02020603050405020304" pitchFamily="18" charset="0"/>
              </a:rPr>
              <a:t>(Prime material, process material, production material, requisitioned material)</a:t>
            </a:r>
            <a:endParaRPr lang="en-US" sz="2400" dirty="0">
              <a:latin typeface="Times New Roman" panose="02020603050405020304" pitchFamily="18" charset="0"/>
              <a:cs typeface="Times New Roman" panose="02020603050405020304" pitchFamily="18" charset="0"/>
            </a:endParaRPr>
          </a:p>
          <a:p>
            <a:pPr algn="just">
              <a:defRPr/>
            </a:pPr>
            <a:endParaRPr lang="en-US" sz="2400" dirty="0">
              <a:latin typeface="Times New Roman" panose="02020603050405020304" pitchFamily="18" charset="0"/>
              <a:cs typeface="Times New Roman" panose="02020603050405020304" pitchFamily="18" charset="0"/>
            </a:endParaRPr>
          </a:p>
          <a:p>
            <a:pPr algn="just">
              <a:defRPr/>
            </a:pPr>
            <a:r>
              <a:rPr lang="en-US" sz="2400" b="1" dirty="0">
                <a:latin typeface="Times New Roman" panose="02020603050405020304" pitchFamily="18" charset="0"/>
                <a:cs typeface="Times New Roman" panose="02020603050405020304" pitchFamily="18" charset="0"/>
              </a:rPr>
              <a:t>Direct </a:t>
            </a:r>
            <a:r>
              <a:rPr lang="en-US" sz="2400" b="1" dirty="0" err="1">
                <a:latin typeface="Times New Roman" panose="02020603050405020304" pitchFamily="18" charset="0"/>
                <a:cs typeface="Times New Roman" panose="02020603050405020304" pitchFamily="18" charset="0"/>
              </a:rPr>
              <a:t>Labour</a:t>
            </a:r>
            <a:r>
              <a:rPr lang="en-US" sz="2400" b="1" dirty="0">
                <a:latin typeface="Times New Roman" panose="02020603050405020304" pitchFamily="18" charset="0"/>
                <a:cs typeface="Times New Roman" panose="02020603050405020304" pitchFamily="18" charset="0"/>
              </a:rPr>
              <a:t> or Wages </a:t>
            </a:r>
            <a:r>
              <a:rPr lang="en-US" sz="2400" dirty="0">
                <a:latin typeface="Times New Roman" panose="02020603050405020304" pitchFamily="18" charset="0"/>
                <a:cs typeface="Times New Roman" panose="02020603050405020304" pitchFamily="18" charset="0"/>
              </a:rPr>
              <a:t>(wages of </a:t>
            </a:r>
            <a:r>
              <a:rPr lang="en-US" sz="2400" dirty="0" err="1">
                <a:latin typeface="Times New Roman" panose="02020603050405020304" pitchFamily="18" charset="0"/>
                <a:cs typeface="Times New Roman" panose="02020603050405020304" pitchFamily="18" charset="0"/>
              </a:rPr>
              <a:t>labour</a:t>
            </a:r>
            <a:r>
              <a:rPr lang="en-US" sz="2400" dirty="0">
                <a:latin typeface="Times New Roman" panose="02020603050405020304" pitchFamily="18" charset="0"/>
                <a:cs typeface="Times New Roman" panose="02020603050405020304" pitchFamily="18" charset="0"/>
              </a:rPr>
              <a:t>, foreman </a:t>
            </a:r>
            <a:r>
              <a:rPr lang="en-US" sz="2400" dirty="0" err="1">
                <a:latin typeface="Times New Roman" panose="02020603050405020304" pitchFamily="18" charset="0"/>
                <a:cs typeface="Times New Roman" panose="02020603050405020304" pitchFamily="18" charset="0"/>
              </a:rPr>
              <a:t>etc</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defRPr/>
            </a:pPr>
            <a:endParaRPr lang="en-US" sz="2400" b="1" dirty="0">
              <a:latin typeface="Times New Roman" panose="02020603050405020304" pitchFamily="18" charset="0"/>
              <a:cs typeface="Times New Roman" panose="02020603050405020304" pitchFamily="18" charset="0"/>
            </a:endParaRPr>
          </a:p>
          <a:p>
            <a:pPr algn="just">
              <a:defRPr/>
            </a:pPr>
            <a:r>
              <a:rPr lang="en-US" sz="2400" b="1" dirty="0">
                <a:latin typeface="Times New Roman" panose="02020603050405020304" pitchFamily="18" charset="0"/>
                <a:cs typeface="Times New Roman" panose="02020603050405020304" pitchFamily="18" charset="0"/>
              </a:rPr>
              <a:t>Direct Expenses </a:t>
            </a:r>
            <a:r>
              <a:rPr lang="en-US" sz="2400" dirty="0">
                <a:latin typeface="Times New Roman" panose="02020603050405020304" pitchFamily="18" charset="0"/>
                <a:cs typeface="Times New Roman" panose="02020603050405020304" pitchFamily="18" charset="0"/>
              </a:rPr>
              <a:t>(chargeable expenses, process expenses, productive expenses and prime cost expenses)</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altLang="en-US" sz="3600" dirty="0">
                <a:latin typeface="Times New Roman" panose="02020603050405020304" pitchFamily="18" charset="0"/>
                <a:cs typeface="Times New Roman" panose="02020603050405020304" pitchFamily="18" charset="0"/>
              </a:rPr>
              <a:t>Total Cost= Prime Cost+ Overheads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buNone/>
            </a:pPr>
            <a:r>
              <a:rPr lang="en-US" altLang="en-US" b="1" dirty="0">
                <a:latin typeface="Times New Roman" panose="02020603050405020304" pitchFamily="18" charset="0"/>
                <a:cs typeface="Times New Roman" panose="02020603050405020304" pitchFamily="18" charset="0"/>
              </a:rPr>
              <a:t>Overheads:</a:t>
            </a:r>
            <a:endParaRPr lang="en-US" altLang="en-US" b="1" dirty="0">
              <a:latin typeface="Times New Roman" panose="02020603050405020304" pitchFamily="18" charset="0"/>
              <a:cs typeface="Times New Roman" panose="02020603050405020304" pitchFamily="18" charset="0"/>
            </a:endParaRPr>
          </a:p>
          <a:p>
            <a:pPr algn="just">
              <a:buNone/>
            </a:pPr>
            <a:endParaRPr lang="en-US" altLang="en-US" sz="2400" dirty="0">
              <a:latin typeface="Times New Roman" panose="02020603050405020304" pitchFamily="18" charset="0"/>
              <a:cs typeface="Times New Roman" panose="02020603050405020304" pitchFamily="18" charset="0"/>
            </a:endParaRPr>
          </a:p>
          <a:p>
            <a:pPr algn="just">
              <a:defRPr/>
            </a:pPr>
            <a:r>
              <a:rPr lang="en-US" sz="2400" b="1" dirty="0">
                <a:latin typeface="Times New Roman" panose="02020603050405020304" pitchFamily="18" charset="0"/>
                <a:cs typeface="Times New Roman" panose="02020603050405020304" pitchFamily="18" charset="0"/>
              </a:rPr>
              <a:t>Indirect Materials </a:t>
            </a:r>
            <a:r>
              <a:rPr lang="en-US" sz="2400" dirty="0">
                <a:latin typeface="Times New Roman" panose="02020603050405020304" pitchFamily="18" charset="0"/>
                <a:cs typeface="Times New Roman" panose="02020603050405020304" pitchFamily="18" charset="0"/>
              </a:rPr>
              <a:t>(oil, grease, waste for machine, brooms, rags and cleaning materials)</a:t>
            </a:r>
            <a:endParaRPr lang="en-US" sz="2400" dirty="0">
              <a:latin typeface="Times New Roman" panose="02020603050405020304" pitchFamily="18" charset="0"/>
              <a:cs typeface="Times New Roman" panose="02020603050405020304" pitchFamily="18" charset="0"/>
            </a:endParaRPr>
          </a:p>
          <a:p>
            <a:pPr algn="just">
              <a:defRPr/>
            </a:pPr>
            <a:endParaRPr lang="en-US" sz="2400" dirty="0">
              <a:latin typeface="Times New Roman" panose="02020603050405020304" pitchFamily="18" charset="0"/>
              <a:cs typeface="Times New Roman" panose="02020603050405020304" pitchFamily="18" charset="0"/>
            </a:endParaRPr>
          </a:p>
          <a:p>
            <a:pPr algn="just">
              <a:defRPr/>
            </a:pPr>
            <a:r>
              <a:rPr lang="en-US" sz="2400" b="1" dirty="0">
                <a:latin typeface="Times New Roman" panose="02020603050405020304" pitchFamily="18" charset="0"/>
                <a:cs typeface="Times New Roman" panose="02020603050405020304" pitchFamily="18" charset="0"/>
              </a:rPr>
              <a:t>Indirect Wages </a:t>
            </a:r>
            <a:r>
              <a:rPr lang="en-US" sz="2400" dirty="0">
                <a:latin typeface="Times New Roman" panose="02020603050405020304" pitchFamily="18" charset="0"/>
                <a:cs typeface="Times New Roman" panose="02020603050405020304" pitchFamily="18" charset="0"/>
              </a:rPr>
              <a:t>(wage of indirect </a:t>
            </a:r>
            <a:r>
              <a:rPr lang="en-US" sz="2400" dirty="0" err="1">
                <a:latin typeface="Times New Roman" panose="02020603050405020304" pitchFamily="18" charset="0"/>
                <a:cs typeface="Times New Roman" panose="02020603050405020304" pitchFamily="18" charset="0"/>
              </a:rPr>
              <a:t>labours</a:t>
            </a:r>
            <a:r>
              <a:rPr lang="en-US" sz="2400" dirty="0">
                <a:latin typeface="Times New Roman" panose="02020603050405020304" pitchFamily="18" charset="0"/>
                <a:cs typeface="Times New Roman" panose="02020603050405020304" pitchFamily="18" charset="0"/>
              </a:rPr>
              <a:t> like cleaners, store keeper time keepers, over time </a:t>
            </a:r>
            <a:r>
              <a:rPr lang="en-US" sz="2400" dirty="0" err="1">
                <a:latin typeface="Times New Roman" panose="02020603050405020304" pitchFamily="18" charset="0"/>
                <a:cs typeface="Times New Roman" panose="02020603050405020304" pitchFamily="18" charset="0"/>
              </a:rPr>
              <a:t>etc</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defRPr/>
            </a:pPr>
            <a:endParaRPr lang="en-US" sz="2400" b="1" dirty="0">
              <a:latin typeface="Times New Roman" panose="02020603050405020304" pitchFamily="18" charset="0"/>
              <a:cs typeface="Times New Roman" panose="02020603050405020304" pitchFamily="18" charset="0"/>
            </a:endParaRPr>
          </a:p>
          <a:p>
            <a:pPr algn="just">
              <a:defRPr/>
            </a:pPr>
            <a:r>
              <a:rPr lang="en-US" sz="2400" b="1" dirty="0">
                <a:latin typeface="Times New Roman" panose="02020603050405020304" pitchFamily="18" charset="0"/>
                <a:cs typeface="Times New Roman" panose="02020603050405020304" pitchFamily="18" charset="0"/>
              </a:rPr>
              <a:t>Indirect Expenses </a:t>
            </a:r>
            <a:r>
              <a:rPr lang="en-US" sz="2400" dirty="0">
                <a:latin typeface="Times New Roman" panose="02020603050405020304" pitchFamily="18" charset="0"/>
                <a:cs typeface="Times New Roman" panose="02020603050405020304" pitchFamily="18" charset="0"/>
              </a:rPr>
              <a:t>(rent, rates and taxes, insurance, canteen expenses, dispensary, hospital, power &amp; lighting etc.</a:t>
            </a:r>
            <a:endParaRPr lang="en-US" sz="2400" b="1"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Other overheads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514350" indent="-514350" algn="just">
              <a:buFont typeface="Arial" panose="020B0604020202020204" pitchFamily="34" charset="0"/>
              <a:buAutoNum type="alphaLcPeriod"/>
              <a:defRPr/>
            </a:pPr>
            <a:r>
              <a:rPr lang="en-US" sz="2400" b="1" dirty="0">
                <a:latin typeface="Times New Roman" panose="02020603050405020304" pitchFamily="18" charset="0"/>
                <a:cs typeface="Times New Roman" panose="02020603050405020304" pitchFamily="18" charset="0"/>
              </a:rPr>
              <a:t>Factory or manufacturing or works or production overheads- </a:t>
            </a:r>
            <a:r>
              <a:rPr lang="en-US" sz="2400" dirty="0">
                <a:latin typeface="Times New Roman" panose="02020603050405020304" pitchFamily="18" charset="0"/>
                <a:cs typeface="Times New Roman" panose="02020603050405020304" pitchFamily="18" charset="0"/>
              </a:rPr>
              <a:t>(rent and rates of factory building, salary of production manager, supervisors, foreman, storekeeper etc.)</a:t>
            </a:r>
            <a:endParaRPr lang="en-US" sz="2400"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AutoNum type="alphaLcPeriod"/>
              <a:defRPr/>
            </a:pPr>
            <a:endParaRPr lang="en-US" sz="2400"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AutoNum type="alphaLcPeriod"/>
              <a:defRPr/>
            </a:pPr>
            <a:r>
              <a:rPr lang="en-US" sz="2400" b="1" dirty="0">
                <a:latin typeface="Times New Roman" panose="02020603050405020304" pitchFamily="18" charset="0"/>
                <a:cs typeface="Times New Roman" panose="02020603050405020304" pitchFamily="18" charset="0"/>
              </a:rPr>
              <a:t>Administrative or office or general overheads- </a:t>
            </a:r>
            <a:r>
              <a:rPr lang="en-US" sz="2400" dirty="0">
                <a:latin typeface="Times New Roman" panose="02020603050405020304" pitchFamily="18" charset="0"/>
                <a:cs typeface="Times New Roman" panose="02020603050405020304" pitchFamily="18" charset="0"/>
              </a:rPr>
              <a:t>(rent and taxes of office building, staff salaries, postage and stationery, directors’ fee, bank charges etc.)</a:t>
            </a:r>
            <a:endParaRPr lang="en-US" sz="2400" dirty="0">
              <a:latin typeface="Times New Roman" panose="02020603050405020304" pitchFamily="18" charset="0"/>
              <a:cs typeface="Times New Roman" panose="02020603050405020304" pitchFamily="18" charset="0"/>
            </a:endParaRPr>
          </a:p>
          <a:p>
            <a:pPr marL="514350" indent="-514350" algn="just">
              <a:buNone/>
              <a:defRPr/>
            </a:pPr>
            <a:endParaRPr lang="en-US" sz="2400" dirty="0">
              <a:latin typeface="Times New Roman" panose="02020603050405020304" pitchFamily="18" charset="0"/>
              <a:cs typeface="Times New Roman" panose="02020603050405020304" pitchFamily="18" charset="0"/>
            </a:endParaRPr>
          </a:p>
          <a:p>
            <a:pPr marL="514350" indent="-514350" algn="just">
              <a:buNone/>
              <a:defRPr/>
            </a:pPr>
            <a:r>
              <a:rPr lang="en-US" sz="2400" b="1" dirty="0">
                <a:latin typeface="Times New Roman" panose="02020603050405020304" pitchFamily="18" charset="0"/>
                <a:cs typeface="Times New Roman" panose="02020603050405020304" pitchFamily="18" charset="0"/>
              </a:rPr>
              <a:t>c. Selling and distribution overheads- </a:t>
            </a:r>
            <a:r>
              <a:rPr lang="en-US" sz="2400" dirty="0">
                <a:latin typeface="Times New Roman" panose="02020603050405020304" pitchFamily="18" charset="0"/>
                <a:cs typeface="Times New Roman" panose="02020603050405020304" pitchFamily="18" charset="0"/>
              </a:rPr>
              <a:t>(advertising expenses, salaries and commission to statement, market research expenses etc.)</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514350" indent="-514350" algn="just">
              <a:buFont typeface="Arial" panose="020B0604020202020204" pitchFamily="34" charset="0"/>
              <a:buAutoNum type="arabicPeriod"/>
              <a:defRPr/>
            </a:pPr>
            <a:r>
              <a:rPr lang="en-US" sz="2400" dirty="0">
                <a:latin typeface="Times New Roman" panose="02020603050405020304" pitchFamily="18" charset="0"/>
                <a:cs typeface="Times New Roman" panose="02020603050405020304" pitchFamily="18" charset="0"/>
              </a:rPr>
              <a:t>Prime cost= Direct material+ Direct </a:t>
            </a:r>
            <a:r>
              <a:rPr lang="en-US" sz="2400" dirty="0" err="1">
                <a:latin typeface="Times New Roman" panose="02020603050405020304" pitchFamily="18" charset="0"/>
                <a:cs typeface="Times New Roman" panose="02020603050405020304" pitchFamily="18" charset="0"/>
              </a:rPr>
              <a:t>labour</a:t>
            </a:r>
            <a:r>
              <a:rPr lang="en-US" sz="2400" dirty="0">
                <a:latin typeface="Times New Roman" panose="02020603050405020304" pitchFamily="18" charset="0"/>
                <a:cs typeface="Times New Roman" panose="02020603050405020304" pitchFamily="18" charset="0"/>
              </a:rPr>
              <a:t>+ Direct expenses.</a:t>
            </a:r>
            <a:endParaRPr lang="en-US" sz="2400"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AutoNum type="arabicPeriod"/>
              <a:defRPr/>
            </a:pPr>
            <a:r>
              <a:rPr lang="en-US" sz="2400" dirty="0">
                <a:latin typeface="Times New Roman" panose="02020603050405020304" pitchFamily="18" charset="0"/>
                <a:cs typeface="Times New Roman" panose="02020603050405020304" pitchFamily="18" charset="0"/>
              </a:rPr>
              <a:t>Works or Factory Cost= Prime cost+ Works or Factory Overheads.</a:t>
            </a:r>
            <a:endParaRPr lang="en-US" sz="2400"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AutoNum type="arabicPeriod"/>
              <a:defRPr/>
            </a:pPr>
            <a:r>
              <a:rPr lang="en-US" sz="2400" dirty="0">
                <a:latin typeface="Times New Roman" panose="02020603050405020304" pitchFamily="18" charset="0"/>
                <a:cs typeface="Times New Roman" panose="02020603050405020304" pitchFamily="18" charset="0"/>
              </a:rPr>
              <a:t>Cost of Production= Works cost+ Administrative overheads</a:t>
            </a:r>
            <a:endParaRPr lang="en-US" sz="2400"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AutoNum type="arabicPeriod"/>
              <a:defRPr/>
            </a:pPr>
            <a:r>
              <a:rPr lang="en-US" sz="2400" dirty="0">
                <a:latin typeface="Times New Roman" panose="02020603050405020304" pitchFamily="18" charset="0"/>
                <a:cs typeface="Times New Roman" panose="02020603050405020304" pitchFamily="18" charset="0"/>
              </a:rPr>
              <a:t>Total Cost or Cost of Sales= Cost of production+ Selling and distribution overheads.</a:t>
            </a:r>
            <a:endParaRPr lang="en-US" sz="2400" dirty="0">
              <a:latin typeface="Times New Roman" panose="02020603050405020304" pitchFamily="18" charset="0"/>
              <a:cs typeface="Times New Roman" panose="02020603050405020304" pitchFamily="18" charset="0"/>
            </a:endParaRPr>
          </a:p>
          <a:p>
            <a:pPr marL="514350" indent="-514350" algn="just">
              <a:buFont typeface="Arial" panose="020B0604020202020204" pitchFamily="34" charset="0"/>
              <a:buAutoNum type="arabicPeriod"/>
              <a:defRPr/>
            </a:pPr>
            <a:r>
              <a:rPr lang="en-US" sz="2400" dirty="0">
                <a:latin typeface="Times New Roman" panose="02020603050405020304" pitchFamily="18" charset="0"/>
                <a:cs typeface="Times New Roman" panose="02020603050405020304" pitchFamily="18" charset="0"/>
              </a:rPr>
              <a:t>Profit/Loss= Selling Price- Cost of Sales</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Classification of cost based on (Function)</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514350" indent="-514350">
              <a:buFont typeface="Arial" panose="020B0604020202020204" pitchFamily="34" charset="0"/>
              <a:buAutoNum type="arabicPeriod"/>
            </a:pPr>
            <a:endParaRPr lang="en-US" altLang="en-US" sz="24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rabicPeriod"/>
            </a:pPr>
            <a:r>
              <a:rPr lang="en-US" altLang="en-US" sz="2400" dirty="0">
                <a:latin typeface="Times New Roman" panose="02020603050405020304" pitchFamily="18" charset="0"/>
                <a:cs typeface="Times New Roman" panose="02020603050405020304" pitchFamily="18" charset="0"/>
              </a:rPr>
              <a:t>Production Cost</a:t>
            </a:r>
            <a:endParaRPr lang="en-US" altLang="en-US" sz="24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rabicPeriod"/>
            </a:pPr>
            <a:r>
              <a:rPr lang="en-US" altLang="en-US" sz="2400" dirty="0">
                <a:latin typeface="Times New Roman" panose="02020603050405020304" pitchFamily="18" charset="0"/>
                <a:cs typeface="Times New Roman" panose="02020603050405020304" pitchFamily="18" charset="0"/>
              </a:rPr>
              <a:t>Administrative Cost</a:t>
            </a:r>
            <a:endParaRPr lang="en-US" altLang="en-US" sz="24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rabicPeriod"/>
            </a:pPr>
            <a:r>
              <a:rPr lang="en-US" altLang="en-US" sz="2400" dirty="0">
                <a:latin typeface="Times New Roman" panose="02020603050405020304" pitchFamily="18" charset="0"/>
                <a:cs typeface="Times New Roman" panose="02020603050405020304" pitchFamily="18" charset="0"/>
              </a:rPr>
              <a:t>Selling and Distribution Costs</a:t>
            </a:r>
            <a:endParaRPr lang="en-US" altLang="en-US" sz="2400"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rabicPeriod"/>
            </a:pPr>
            <a:r>
              <a:rPr lang="en-US" altLang="en-US" sz="2400" dirty="0">
                <a:latin typeface="Times New Roman" panose="02020603050405020304" pitchFamily="18" charset="0"/>
                <a:cs typeface="Times New Roman" panose="02020603050405020304" pitchFamily="18" charset="0"/>
              </a:rPr>
              <a:t>Research and Development Cost (optional)</a:t>
            </a:r>
            <a:endParaRPr lang="en-US" alt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Classification of cost based on (</a:t>
            </a:r>
            <a:r>
              <a:rPr lang="en-US" dirty="0" err="1">
                <a:latin typeface="Times New Roman" panose="02020603050405020304" pitchFamily="18" charset="0"/>
                <a:cs typeface="Times New Roman" panose="02020603050405020304" pitchFamily="18" charset="0"/>
              </a:rPr>
              <a:t>B</a:t>
            </a:r>
            <a:r>
              <a:rPr lang="en-US" sz="4400" dirty="0" err="1">
                <a:latin typeface="Times New Roman" panose="02020603050405020304" pitchFamily="18" charset="0"/>
                <a:cs typeface="Times New Roman" panose="02020603050405020304" pitchFamily="18" charset="0"/>
              </a:rPr>
              <a:t>ehaviour</a:t>
            </a:r>
            <a:r>
              <a:rPr lang="en-US" sz="440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242332" y="1166136"/>
            <a:ext cx="9707335" cy="5001302"/>
          </a:xfrm>
        </p:spPr>
        <p:txBody>
          <a:bodyPr/>
          <a:lstStyle/>
          <a:p>
            <a:pPr marL="514350" indent="-514350">
              <a:buFont typeface="Arial" panose="020B0604020202020204" pitchFamily="34" charset="0"/>
              <a:buAutoNum type="arabicPeriod"/>
            </a:pPr>
            <a:endParaRPr lang="en-US" altLang="en-US" sz="2400" b="1"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rabicPeriod"/>
            </a:pPr>
            <a:r>
              <a:rPr lang="en-US" altLang="en-US" sz="2400" b="1" dirty="0">
                <a:latin typeface="Times New Roman" panose="02020603050405020304" pitchFamily="18" charset="0"/>
                <a:cs typeface="Times New Roman" panose="02020603050405020304" pitchFamily="18" charset="0"/>
              </a:rPr>
              <a:t>Fixed Cost ( </a:t>
            </a:r>
            <a:r>
              <a:rPr lang="en-US" altLang="en-US" sz="2400" dirty="0">
                <a:latin typeface="Times New Roman" panose="02020603050405020304" pitchFamily="18" charset="0"/>
                <a:cs typeface="Times New Roman" panose="02020603050405020304" pitchFamily="18" charset="0"/>
              </a:rPr>
              <a:t>rent, salaries, lease costs, insurance and loan repayment.)</a:t>
            </a:r>
            <a:endParaRPr lang="en-US" altLang="en-US" sz="2400" b="1"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rabicPeriod"/>
            </a:pPr>
            <a:r>
              <a:rPr lang="en-US" altLang="en-US" sz="2400" b="1" dirty="0">
                <a:latin typeface="Times New Roman" panose="02020603050405020304" pitchFamily="18" charset="0"/>
                <a:cs typeface="Times New Roman" panose="02020603050405020304" pitchFamily="18" charset="0"/>
              </a:rPr>
              <a:t>Variable Cost (</a:t>
            </a:r>
            <a:r>
              <a:rPr lang="en-US" altLang="en-US" sz="2400" dirty="0">
                <a:latin typeface="Times New Roman" panose="02020603050405020304" pitchFamily="18" charset="0"/>
                <a:cs typeface="Times New Roman" panose="02020603050405020304" pitchFamily="18" charset="0"/>
              </a:rPr>
              <a:t> raw material, piece-rate labor, delivery costs, packaging supplies, and credit card fees.)</a:t>
            </a:r>
            <a:endParaRPr lang="en-US" altLang="en-US" sz="2400" b="1" dirty="0">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arabicPeriod"/>
            </a:pPr>
            <a:r>
              <a:rPr lang="en-US" altLang="en-US" sz="2400" b="1" dirty="0">
                <a:latin typeface="Times New Roman" panose="02020603050405020304" pitchFamily="18" charset="0"/>
                <a:cs typeface="Times New Roman" panose="02020603050405020304" pitchFamily="18" charset="0"/>
              </a:rPr>
              <a:t>Semi variable cost </a:t>
            </a:r>
            <a:r>
              <a:rPr lang="en-US" altLang="en-US" sz="2400" dirty="0">
                <a:latin typeface="Times New Roman" panose="02020603050405020304" pitchFamily="18" charset="0"/>
                <a:cs typeface="Times New Roman" panose="02020603050405020304" pitchFamily="18" charset="0"/>
              </a:rPr>
              <a:t>(Normal maintenance of building and plant, depreciation of plant and machinery, service department wages.)</a:t>
            </a:r>
            <a:endParaRPr lang="en-US" alt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Direct and Indirect 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360715" y="1737636"/>
            <a:ext cx="9031060" cy="3605889"/>
          </a:xfrm>
        </p:spPr>
        <p:txBody>
          <a:bodyPr>
            <a:normAutofit/>
          </a:bodyPr>
          <a:lstStyle/>
          <a:p>
            <a:pPr algn="just"/>
            <a:r>
              <a:rPr lang="en-US" sz="2400" b="1" dirty="0">
                <a:latin typeface="Times New Roman" panose="02020603050405020304" pitchFamily="18" charset="0"/>
                <a:cs typeface="Times New Roman" panose="02020603050405020304" pitchFamily="18" charset="0"/>
              </a:rPr>
              <a:t>Directs Costs: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Which can be traces with the level of activity completion.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Indirect Costs: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Which can not be traced with the level of activity completion</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Recurring and non- recurring 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08265" y="1594761"/>
            <a:ext cx="10431235" cy="3520164"/>
          </a:xfrm>
        </p:spPr>
        <p:txBody>
          <a:bodyPr/>
          <a:lstStyle/>
          <a:p>
            <a:pPr algn="just"/>
            <a:r>
              <a:rPr lang="en-US" sz="2400" dirty="0">
                <a:latin typeface="Times New Roman" panose="02020603050405020304" pitchFamily="18" charset="0"/>
                <a:cs typeface="Times New Roman" panose="02020603050405020304" pitchFamily="18" charset="0"/>
              </a:rPr>
              <a:t>Recurring cost : A recurring cost is one that occurs at regular intervals and is anticipated. The cost to provide electricity to a production facility is a recurring cost. </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Non recurring cost : A non-recurring cost is one that occurs at irregular intervals and is not generally anticipated.</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Normal and Expedite 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685799" y="1602243"/>
            <a:ext cx="10421257" cy="3653514"/>
          </a:xfrm>
        </p:spPr>
        <p:txBody>
          <a:bodyPr/>
          <a:lstStyle/>
          <a:p>
            <a:pPr algn="just">
              <a:buNone/>
            </a:pPr>
            <a:r>
              <a:rPr lang="en-US" sz="2400" b="1" dirty="0">
                <a:latin typeface="Times New Roman" panose="02020603050405020304" pitchFamily="18" charset="0"/>
                <a:cs typeface="Times New Roman" panose="02020603050405020304" pitchFamily="18" charset="0"/>
              </a:rPr>
              <a:t>Normal Costs:</a:t>
            </a:r>
            <a:endParaRPr lang="en-US" sz="2400" b="1"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Are incurred when project tasks are completed according to actual plan duration.</a:t>
            </a:r>
            <a:endParaRPr lang="en-US" sz="2400" dirty="0">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Expedite Cost:</a:t>
            </a:r>
            <a:endParaRPr lang="en-US" sz="2400" b="1"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Unplanned cost incurred as result of steps taken to accelerate project completion.</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Topic objective and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231775" y="1985963"/>
          <a:ext cx="11728449" cy="1280160"/>
        </p:xfrm>
        <a:graphic>
          <a:graphicData uri="http://schemas.openxmlformats.org/drawingml/2006/table">
            <a:tbl>
              <a:tblPr firstRow="1" bandRow="1">
                <a:tableStyleId>{21E4AEA4-8DFA-4A89-87EB-49C32662AFE0}</a:tableStyleId>
              </a:tblPr>
              <a:tblGrid>
                <a:gridCol w="1420812"/>
                <a:gridCol w="6398154"/>
                <a:gridCol w="3909483"/>
              </a:tblGrid>
              <a:tr h="370840">
                <a:tc>
                  <a:txBody>
                    <a:bodyPr/>
                    <a:lstStyle/>
                    <a:p>
                      <a:r>
                        <a:rPr lang="en-IN" sz="2400" dirty="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topic</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a:t>
                      </a:r>
                      <a:endParaRPr lang="en-IN" sz="2400" dirty="0">
                        <a:latin typeface="Times New Roman" panose="02020603050405020304" pitchFamily="18" charset="0"/>
                        <a:cs typeface="Times New Roman" panose="02020603050405020304" pitchFamily="18" charset="0"/>
                      </a:endParaRPr>
                    </a:p>
                  </a:txBody>
                  <a:tcPr/>
                </a:tc>
              </a:tr>
              <a:tr h="510222">
                <a:tc>
                  <a:txBody>
                    <a:bodyPr/>
                    <a:lstStyle/>
                    <a:p>
                      <a:r>
                        <a:rPr lang="en-IN"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learn about various Project Financing sources and preparing project budgets.</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CO3</a:t>
                      </a:r>
                      <a:endParaRPr lang="en-IN" sz="24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Financing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17740" y="1690011"/>
            <a:ext cx="11107510" cy="3243939"/>
          </a:xfrm>
        </p:spPr>
        <p:txBody>
          <a:bodyPr/>
          <a:lstStyle/>
          <a:p>
            <a:pPr algn="just">
              <a:buNone/>
            </a:pPr>
            <a:r>
              <a:rPr lang="en-US" sz="2800" dirty="0"/>
              <a:t>   </a:t>
            </a:r>
            <a:r>
              <a:rPr lang="en-US" sz="2400" dirty="0">
                <a:latin typeface="Times New Roman" panose="02020603050405020304" pitchFamily="18" charset="0"/>
                <a:cs typeface="Times New Roman" panose="02020603050405020304" pitchFamily="18" charset="0"/>
              </a:rPr>
              <a:t>Project financing is the funding (financing) of long-term infrastructure, industrial projects, and public services using a non-recourse or limited recourse financial structure.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debt and equity used to finance the project are paid back from the cash flow generated by the project.</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Key Features of Project Financing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Capital Intensive Financing Scheme</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Risk Allocation</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Multiple Participants Applicable</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Asset Ownership is Decided at the Completion of Project</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Asset Ownership is Decided at the Completion of Project</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Loan Repayment With Project Cash Flow</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Better Tax Treatment</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Sponsor Credit Has No Impact on Project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Stages of project financing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35862" y="1685799"/>
            <a:ext cx="7578748" cy="2029552"/>
          </a:xfrm>
        </p:spPr>
        <p:txBody>
          <a:bodyPr/>
          <a:lstStyle/>
          <a:p>
            <a:pPr marL="514350" indent="-514350" algn="just">
              <a:buAutoNum type="arabicPeriod"/>
            </a:pPr>
            <a:r>
              <a:rPr lang="en-US" sz="2400" dirty="0">
                <a:latin typeface="Times New Roman" panose="02020603050405020304" pitchFamily="18" charset="0"/>
                <a:cs typeface="Times New Roman" panose="02020603050405020304" pitchFamily="18" charset="0"/>
              </a:rPr>
              <a:t>Pre- Financing Stage</a:t>
            </a:r>
            <a:endParaRPr lang="en-US" sz="2400" dirty="0">
              <a:latin typeface="Times New Roman" panose="02020603050405020304" pitchFamily="18" charset="0"/>
              <a:cs typeface="Times New Roman" panose="02020603050405020304" pitchFamily="18" charset="0"/>
            </a:endParaRPr>
          </a:p>
          <a:p>
            <a:pPr marL="514350" indent="-514350" algn="just">
              <a:buAutoNum type="arabicPeriod"/>
            </a:pPr>
            <a:r>
              <a:rPr lang="en-US" sz="2400" dirty="0">
                <a:latin typeface="Times New Roman" panose="02020603050405020304" pitchFamily="18" charset="0"/>
                <a:cs typeface="Times New Roman" panose="02020603050405020304" pitchFamily="18" charset="0"/>
              </a:rPr>
              <a:t>Financing Stage</a:t>
            </a:r>
            <a:endParaRPr lang="en-US" sz="2400" dirty="0">
              <a:latin typeface="Times New Roman" panose="02020603050405020304" pitchFamily="18" charset="0"/>
              <a:cs typeface="Times New Roman" panose="02020603050405020304" pitchFamily="18" charset="0"/>
            </a:endParaRPr>
          </a:p>
          <a:p>
            <a:pPr marL="514350" indent="-514350" algn="just">
              <a:buAutoNum type="arabicPeriod"/>
            </a:pPr>
            <a:r>
              <a:rPr lang="en-US" sz="2400" dirty="0">
                <a:latin typeface="Times New Roman" panose="02020603050405020304" pitchFamily="18" charset="0"/>
                <a:cs typeface="Times New Roman" panose="02020603050405020304" pitchFamily="18" charset="0"/>
              </a:rPr>
              <a:t>Post-Financing stage</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1. Pre-financing stage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411248" y="1743552"/>
            <a:ext cx="7896382" cy="2924701"/>
          </a:xfrm>
        </p:spPr>
        <p:txBody>
          <a:bodyPr/>
          <a:lstStyle/>
          <a:p>
            <a:pPr algn="just">
              <a:buNone/>
            </a:pPr>
            <a:r>
              <a:rPr lang="en-US" sz="2400" dirty="0">
                <a:latin typeface="Times New Roman" panose="02020603050405020304" pitchFamily="18" charset="0"/>
                <a:cs typeface="Times New Roman" panose="02020603050405020304" pitchFamily="18" charset="0"/>
              </a:rPr>
              <a:t>1.1 - Identification of the Project Plan</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1.2 - </a:t>
            </a:r>
            <a:r>
              <a:rPr lang="en-US" sz="2400" dirty="0" err="1">
                <a:latin typeface="Times New Roman" panose="02020603050405020304" pitchFamily="18" charset="0"/>
                <a:cs typeface="Times New Roman" panose="02020603050405020304" pitchFamily="18" charset="0"/>
              </a:rPr>
              <a:t>Recognising</a:t>
            </a:r>
            <a:r>
              <a:rPr lang="en-US" sz="2400" dirty="0">
                <a:latin typeface="Times New Roman" panose="02020603050405020304" pitchFamily="18" charset="0"/>
                <a:cs typeface="Times New Roman" panose="02020603050405020304" pitchFamily="18" charset="0"/>
              </a:rPr>
              <a:t> and Minimizing the Risk</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1.3 - Checking Project Feasibility</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2. Financing stage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546001" y="1522170"/>
            <a:ext cx="8223641" cy="3136457"/>
          </a:xfrm>
        </p:spPr>
        <p:txBody>
          <a:bodyPr/>
          <a:lstStyle/>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2.1 - Arrangement of Finances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2.2 - Loan or Equity Negotiation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2.3 - Documentation and Verification</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2.4 - Payment</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3. Post-financing stage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949235" y="2041934"/>
            <a:ext cx="9744432" cy="1644541"/>
          </a:xfrm>
        </p:spPr>
        <p:txBody>
          <a:bodyPr/>
          <a:lstStyle/>
          <a:p>
            <a:pPr algn="just">
              <a:buNone/>
            </a:pPr>
            <a:r>
              <a:rPr lang="en-US" sz="2400" dirty="0">
                <a:latin typeface="Times New Roman" panose="02020603050405020304" pitchFamily="18" charset="0"/>
                <a:cs typeface="Times New Roman" panose="02020603050405020304" pitchFamily="18" charset="0"/>
              </a:rPr>
              <a:t>3.1 - Timely Project Monitoring</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3.2 - Project Closure</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3.3 - Loan Repayment </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Sources of Finance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81858" y="1791677"/>
            <a:ext cx="9956188" cy="3011328"/>
          </a:xfrm>
        </p:spPr>
        <p:txBody>
          <a:bodyPr>
            <a:normAutofit/>
          </a:bodyPr>
          <a:lstStyle/>
          <a:p>
            <a:r>
              <a:rPr lang="en-US" sz="2400" dirty="0">
                <a:latin typeface="Times New Roman" panose="02020603050405020304" pitchFamily="18" charset="0"/>
                <a:cs typeface="Times New Roman" panose="02020603050405020304" pitchFamily="18" charset="0"/>
              </a:rPr>
              <a:t>Equity Capital</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Preference Capital</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Debentures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Rupees term loans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Foreign currency term loans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Euro issues</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Sources of Finance cont..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16612" y="1397042"/>
            <a:ext cx="8406521" cy="4445493"/>
          </a:xfrm>
        </p:spPr>
        <p:txBody>
          <a:bodyPr>
            <a:normAutofit/>
          </a:bodyPr>
          <a:lstStyle/>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Unsecured loans and deposits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Lease and hire purchase finance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Public Deposit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Bank Credit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Deferred credit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Bill rediscounting scheme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Suppliers line of credit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Seed capital assistance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Government Financing Schemes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fontAlgn="base">
              <a:buNone/>
            </a:pPr>
            <a:r>
              <a:rPr lang="en-US" sz="2400" b="1" dirty="0">
                <a:latin typeface="Times New Roman" panose="02020603050405020304" pitchFamily="18" charset="0"/>
                <a:cs typeface="Times New Roman" panose="02020603050405020304" pitchFamily="18" charset="0"/>
              </a:rPr>
              <a:t>1. The Venture Capital Assistance Scheme</a:t>
            </a:r>
            <a:endParaRPr lang="en-US" sz="2400" b="1" dirty="0">
              <a:latin typeface="Times New Roman" panose="02020603050405020304" pitchFamily="18" charset="0"/>
              <a:cs typeface="Times New Roman" panose="02020603050405020304" pitchFamily="18" charset="0"/>
            </a:endParaRPr>
          </a:p>
          <a:p>
            <a:pPr algn="just" fontAlgn="base">
              <a:buNone/>
            </a:pPr>
            <a:r>
              <a:rPr lang="en-US" sz="2400" dirty="0">
                <a:latin typeface="Times New Roman" panose="02020603050405020304" pitchFamily="18" charset="0"/>
                <a:cs typeface="Times New Roman" panose="02020603050405020304" pitchFamily="18" charset="0"/>
              </a:rPr>
              <a:t>	Ministry of Agriculture and Farmers Welfare</a:t>
            </a:r>
            <a:endParaRPr lang="en-US" sz="2400" dirty="0">
              <a:latin typeface="Times New Roman" panose="02020603050405020304" pitchFamily="18" charset="0"/>
              <a:cs typeface="Times New Roman" panose="02020603050405020304" pitchFamily="18" charset="0"/>
            </a:endParaRPr>
          </a:p>
          <a:p>
            <a:pPr algn="just" fontAlgn="base">
              <a:buNone/>
            </a:pPr>
            <a:endParaRPr lang="en-US" sz="2400" dirty="0">
              <a:latin typeface="Times New Roman" panose="02020603050405020304" pitchFamily="18" charset="0"/>
              <a:cs typeface="Times New Roman" panose="02020603050405020304" pitchFamily="18" charset="0"/>
            </a:endParaRPr>
          </a:p>
          <a:p>
            <a:pPr algn="just" fontAlgn="base">
              <a:buNone/>
            </a:pPr>
            <a:r>
              <a:rPr lang="en-US" sz="2400" b="1" dirty="0">
                <a:latin typeface="Times New Roman" panose="02020603050405020304" pitchFamily="18" charset="0"/>
                <a:cs typeface="Times New Roman" panose="02020603050405020304" pitchFamily="18" charset="0"/>
              </a:rPr>
              <a:t>2. Stand-Up India for Financing SC/ST and/or Women Entrepreneurs</a:t>
            </a:r>
            <a:endParaRPr lang="en-US" sz="2400" b="1" dirty="0">
              <a:latin typeface="Times New Roman" panose="02020603050405020304" pitchFamily="18" charset="0"/>
              <a:cs typeface="Times New Roman" panose="02020603050405020304" pitchFamily="18" charset="0"/>
            </a:endParaRPr>
          </a:p>
          <a:p>
            <a:pPr algn="just" fontAlgn="base">
              <a:buNone/>
            </a:pPr>
            <a:r>
              <a:rPr lang="en-US" sz="2400" dirty="0">
                <a:latin typeface="Times New Roman" panose="02020603050405020304" pitchFamily="18" charset="0"/>
                <a:cs typeface="Times New Roman" panose="02020603050405020304" pitchFamily="18" charset="0"/>
              </a:rPr>
              <a:t>	Small Industries Development Bank of India (SIDBI)</a:t>
            </a:r>
            <a:endParaRPr lang="en-US" sz="2400" dirty="0">
              <a:latin typeface="Times New Roman" panose="02020603050405020304" pitchFamily="18" charset="0"/>
              <a:cs typeface="Times New Roman" panose="02020603050405020304" pitchFamily="18" charset="0"/>
            </a:endParaRPr>
          </a:p>
          <a:p>
            <a:pPr algn="just" fontAlgn="base">
              <a:buNone/>
            </a:pPr>
            <a:endParaRPr lang="en-US" sz="2400" dirty="0">
              <a:latin typeface="Times New Roman" panose="02020603050405020304" pitchFamily="18" charset="0"/>
              <a:cs typeface="Times New Roman" panose="02020603050405020304" pitchFamily="18" charset="0"/>
            </a:endParaRPr>
          </a:p>
          <a:p>
            <a:pPr algn="just" fontAlgn="base">
              <a:buNone/>
            </a:pPr>
            <a:r>
              <a:rPr lang="en-US" sz="2400" b="1" dirty="0">
                <a:latin typeface="Times New Roman" panose="02020603050405020304" pitchFamily="18" charset="0"/>
                <a:cs typeface="Times New Roman" panose="02020603050405020304" pitchFamily="18" charset="0"/>
              </a:rPr>
              <a:t>3.Dairy Entrepreneurship Development Scheme</a:t>
            </a:r>
            <a:endParaRPr lang="en-US" sz="2400" b="1" dirty="0">
              <a:latin typeface="Times New Roman" panose="02020603050405020304" pitchFamily="18" charset="0"/>
              <a:cs typeface="Times New Roman" panose="02020603050405020304" pitchFamily="18" charset="0"/>
            </a:endParaRPr>
          </a:p>
          <a:p>
            <a:pPr algn="just" fontAlgn="base">
              <a:buNone/>
            </a:pPr>
            <a:r>
              <a:rPr lang="en-US" sz="2400" dirty="0">
                <a:latin typeface="Times New Roman" panose="02020603050405020304" pitchFamily="18" charset="0"/>
                <a:cs typeface="Times New Roman" panose="02020603050405020304" pitchFamily="18" charset="0"/>
              </a:rPr>
              <a:t>	National Bank for Agriculture and Rural Development (NABARD)</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Budgeting- Project Budget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Project Budget is a tool used by project managers to estimate the total cost of a project.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 project budget template includes a detailed estimate of all costs that are likely to be incurred before the project is completed.</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Need of project budget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14196" y="1793394"/>
            <a:ext cx="11563607" cy="3271211"/>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There are many components necessary to build a budget, including direct and indirect costs, fixed and variable costs, labor and materials, travel, equipment and space, licenses and whatever else may impact your project expenses.</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To meet all the financial needs of your project, a project budget must be created thoroughly, not missing any aspect that requires funding. </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in Project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1. Use Historical Data</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2. Reference Lessons Learned</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3. Leverage Your Experts</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4. Confirm Accuracy</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5. Baseline and Re-Baseline the Budget</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6. Update in Real Time</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7. Get on Track</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Types of Project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212783" y="1945682"/>
            <a:ext cx="10068026" cy="1586790"/>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1. Top-down budgeting</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2. Bottom-up budgeting </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Top-down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21463" y="1068405"/>
            <a:ext cx="5798074" cy="4832570"/>
          </a:xfrm>
        </p:spPr>
        <p:txBody>
          <a:bodyPr>
            <a:normAutofit/>
          </a:bodyPr>
          <a:lstStyle/>
          <a:p>
            <a:pPr algn="just"/>
            <a:r>
              <a:rPr lang="en-US" sz="2400" dirty="0">
                <a:latin typeface="Times New Roman" panose="02020603050405020304" pitchFamily="18" charset="0"/>
                <a:cs typeface="Times New Roman" panose="02020603050405020304" pitchFamily="18" charset="0"/>
              </a:rPr>
              <a:t>Sometimes, the managers may put forward suggestions for the budget before the budget preparation.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Whether their contribution to the budgeting process will be used or not is at the management’s discretion.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After the budget is created, the management makes specific allocations to the different departments, which must then create their own budgets based on their budget allocation and goals.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2" name="Picture 2"/>
          <p:cNvPicPr>
            <a:picLocks noChangeAspect="1" noChangeArrowheads="1"/>
          </p:cNvPicPr>
          <p:nvPr/>
        </p:nvPicPr>
        <p:blipFill>
          <a:blip r:embed="rId1"/>
          <a:srcRect/>
          <a:stretch>
            <a:fillRect/>
          </a:stretch>
        </p:blipFill>
        <p:spPr bwMode="auto">
          <a:xfrm>
            <a:off x="6362298" y="1309725"/>
            <a:ext cx="5515277" cy="4591250"/>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Advantages of top-down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48721" y="1512545"/>
            <a:ext cx="11014967" cy="4108608"/>
          </a:xfrm>
        </p:spPr>
        <p:txBody>
          <a:bodyPr>
            <a:normAutofit/>
          </a:bodyPr>
          <a:lstStyle/>
          <a:p>
            <a:pPr marL="514350" indent="-514350" algn="just">
              <a:buAutoNum type="arabicPeriod"/>
            </a:pPr>
            <a:r>
              <a:rPr lang="en-US" sz="2400" dirty="0">
                <a:latin typeface="Times New Roman" panose="02020603050405020304" pitchFamily="18" charset="0"/>
                <a:cs typeface="Times New Roman" panose="02020603050405020304" pitchFamily="18" charset="0"/>
              </a:rPr>
              <a:t>It allows management to allocate resources to departments to propel the growth of the company, starting with the most critical departments.</a:t>
            </a:r>
            <a:endParaRPr lang="en-US" sz="2400" dirty="0">
              <a:latin typeface="Times New Roman" panose="02020603050405020304" pitchFamily="18" charset="0"/>
              <a:cs typeface="Times New Roman" panose="02020603050405020304" pitchFamily="18" charset="0"/>
            </a:endParaRPr>
          </a:p>
          <a:p>
            <a:pPr marL="514350" indent="-514350" algn="just">
              <a:buAutoNum type="arabicPeriod"/>
            </a:pPr>
            <a:r>
              <a:rPr lang="en-US" sz="2400" dirty="0">
                <a:latin typeface="Times New Roman" panose="02020603050405020304" pitchFamily="18" charset="0"/>
                <a:cs typeface="Times New Roman" panose="02020603050405020304" pitchFamily="18" charset="0"/>
              </a:rPr>
              <a:t>Saves time for lower management. Rather than spending time creating a budget from scratch, lower-level managers are given an already-formulated budget to implement. </a:t>
            </a:r>
            <a:endParaRPr lang="en-US" sz="2400" dirty="0">
              <a:latin typeface="Times New Roman" panose="02020603050405020304" pitchFamily="18" charset="0"/>
              <a:cs typeface="Times New Roman" panose="02020603050405020304" pitchFamily="18" charset="0"/>
            </a:endParaRPr>
          </a:p>
          <a:p>
            <a:pPr marL="514350" indent="-514350" algn="just">
              <a:buAutoNum type="arabicPeriod"/>
            </a:pPr>
            <a:r>
              <a:rPr lang="en-US" sz="2400" dirty="0">
                <a:latin typeface="Times New Roman" panose="02020603050405020304" pitchFamily="18" charset="0"/>
                <a:cs typeface="Times New Roman" panose="02020603050405020304" pitchFamily="18" charset="0"/>
              </a:rPr>
              <a:t>Creates one budget at a time, rather than allowing departments to develop their budgets and later combine them. As a result, the budgeting process will be less tedious.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Disadvantages of top-down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14482" y="1570297"/>
            <a:ext cx="10610705" cy="2443438"/>
          </a:xfrm>
        </p:spPr>
        <p:txBody>
          <a:bodyPr>
            <a:normAutofit/>
          </a:bodyPr>
          <a:lstStyle/>
          <a:p>
            <a:pPr marL="514350" indent="-514350" algn="just">
              <a:buAutoNum type="arabicPeriod"/>
            </a:pPr>
            <a:r>
              <a:rPr lang="en-US" sz="2400" dirty="0">
                <a:latin typeface="Times New Roman" panose="02020603050405020304" pitchFamily="18" charset="0"/>
                <a:cs typeface="Times New Roman" panose="02020603050405020304" pitchFamily="18" charset="0"/>
              </a:rPr>
              <a:t>The level of motivation decreases since the managers who are required to implement the budget do not own the budget-making process.</a:t>
            </a:r>
            <a:endParaRPr lang="en-US" sz="2400" dirty="0">
              <a:latin typeface="Times New Roman" panose="02020603050405020304" pitchFamily="18" charset="0"/>
              <a:cs typeface="Times New Roman" panose="02020603050405020304" pitchFamily="18" charset="0"/>
            </a:endParaRPr>
          </a:p>
          <a:p>
            <a:pPr marL="514350" indent="-514350" algn="just">
              <a:buNone/>
            </a:pP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2. Senior managers are not involved in the day-to-day operations of individual departments, so they may not have realistic expectations of the expenses related to each department. </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Bottom-up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17715" y="2109311"/>
            <a:ext cx="6847113" cy="2895825"/>
          </a:xfrm>
        </p:spPr>
        <p:txBody>
          <a:bodyPr>
            <a:normAutofit lnSpcReduction="10000"/>
          </a:bodyPr>
          <a:lstStyle/>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Bottom-up budgeting starts at the department level and moves up to the top management.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departmental heads/managers prepare their budgets based on present information and past experiences and present them to senior management for approval.</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2" name="Content Placeholder 3"/>
          <p:cNvPicPr>
            <a:picLocks noChangeAspect="1" noChangeArrowheads="1"/>
          </p:cNvPicPr>
          <p:nvPr/>
        </p:nvPicPr>
        <p:blipFill>
          <a:blip r:embed="rId1"/>
          <a:srcRect/>
          <a:stretch>
            <a:fillRect/>
          </a:stretch>
        </p:blipFill>
        <p:spPr bwMode="auto">
          <a:xfrm>
            <a:off x="7478485" y="1193534"/>
            <a:ext cx="4495800" cy="4745254"/>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Advantages of Bottom-up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17715" y="1175661"/>
            <a:ext cx="11727542" cy="2924701"/>
          </a:xfrm>
        </p:spPr>
        <p:txBody>
          <a:bodyPr>
            <a:normAutofit/>
          </a:bodyPr>
          <a:lstStyle/>
          <a:p>
            <a:pPr algn="just"/>
            <a:r>
              <a:rPr lang="en-US" sz="2400" dirty="0">
                <a:latin typeface="Times New Roman" panose="02020603050405020304" pitchFamily="18" charset="0"/>
                <a:cs typeface="Times New Roman" panose="02020603050405020304" pitchFamily="18" charset="0"/>
              </a:rPr>
              <a:t>Typically very accurate because each department uses its specialized knowledge to create the individual line items of its budget.</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Improves company morale and employee motivation since the whole team gets involved in formulating the budget and takes more ownership over achieving budgeted targets.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Helps management gain a deeper understanding and commitment to the business goals.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Disadvantages of Bottom-up budgeting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516098" y="1528700"/>
            <a:ext cx="11313350" cy="3800600"/>
          </a:xfrm>
        </p:spPr>
        <p:txBody>
          <a:bodyPr>
            <a:normAutofit/>
          </a:bodyPr>
          <a:lstStyle/>
          <a:p>
            <a:pPr marL="514350" indent="-514350" algn="just">
              <a:buAutoNum type="arabicPeriod"/>
            </a:pPr>
            <a:r>
              <a:rPr lang="en-US" sz="2400" dirty="0">
                <a:latin typeface="Times New Roman" panose="02020603050405020304" pitchFamily="18" charset="0"/>
                <a:cs typeface="Times New Roman" panose="02020603050405020304" pitchFamily="18" charset="0"/>
              </a:rPr>
              <a:t>Departments can become guilty of over-budgeting, getting too buried in detail and trying to budget for every single staple and pencil.</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2. A department may set budget targets that are too easily achievable, and inexperienced managers could make poor decisions when estimating and calculating budget numbers.</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3. The budgeting process may also take significantly longer because of all the people and departments involved.</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159737" y="2100363"/>
          <a:ext cx="11728449" cy="1010920"/>
        </p:xfrm>
        <a:graphic>
          <a:graphicData uri="http://schemas.openxmlformats.org/drawingml/2006/table">
            <a:tbl>
              <a:tblPr firstRow="1" bandRow="1">
                <a:tableStyleId>{21E4AEA4-8DFA-4A89-87EB-49C32662AFE0}</a:tableStyleId>
              </a:tblPr>
              <a:tblGrid>
                <a:gridCol w="1207050"/>
                <a:gridCol w="6611916"/>
                <a:gridCol w="3909483"/>
              </a:tblGrid>
              <a:tr h="370840">
                <a:tc>
                  <a:txBody>
                    <a:bodyPr/>
                    <a:lstStyle/>
                    <a:p>
                      <a:r>
                        <a:rPr lang="en-IN" dirty="0"/>
                        <a:t>s.no.</a:t>
                      </a:r>
                      <a:endParaRPr lang="en-IN" dirty="0"/>
                    </a:p>
                  </a:txBody>
                  <a:tcPr/>
                </a:tc>
                <a:tc>
                  <a:txBody>
                    <a:bodyPr/>
                    <a:lstStyle/>
                    <a:p>
                      <a:r>
                        <a:rPr lang="en-IN" dirty="0"/>
                        <a:t>topic</a:t>
                      </a:r>
                      <a:endParaRPr lang="en-IN" dirty="0"/>
                    </a:p>
                  </a:txBody>
                  <a:tcPr/>
                </a:tc>
                <a:tc>
                  <a:txBody>
                    <a:bodyPr/>
                    <a:lstStyle/>
                    <a:p>
                      <a:r>
                        <a:rPr lang="en-IN" dirty="0"/>
                        <a:t>outcomes</a:t>
                      </a:r>
                      <a:endParaRPr lang="en-IN" dirty="0"/>
                    </a:p>
                  </a:txBody>
                  <a:tcPr/>
                </a:tc>
              </a:tr>
              <a:tr h="370840">
                <a:tc>
                  <a:txBody>
                    <a:bodyPr/>
                    <a:lstStyle/>
                    <a:p>
                      <a:r>
                        <a:rPr lang="en-IN" dirty="0"/>
                        <a:t>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dirty="0">
                          <a:latin typeface="Times New Roman" panose="02020603050405020304" pitchFamily="18" charset="0"/>
                          <a:cs typeface="Times New Roman" panose="02020603050405020304" pitchFamily="18" charset="0"/>
                        </a:rPr>
                        <a:t>To learn about the social cost benefit analysis of projects and doing SCBA for projects using different methods.</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IN" dirty="0"/>
                        <a:t>CO3</a:t>
                      </a:r>
                      <a:endParaRPr lang="en-IN" dirty="0"/>
                    </a:p>
                  </a:txBody>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Social Cost Benefit Analysis (SCBA)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The social cost-benefit analysis is a tool for evaluating the value of money, particularly of public investments in many economies.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It aids in making decisions concerning the various aspects of a project and the design programs of closely interrelated projects.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Cost-benefit analysis has become important among economists and consultants in recent years.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Rationale Behind SCBA</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56135" y="1366787"/>
            <a:ext cx="11636943" cy="4456497"/>
          </a:xfrm>
        </p:spPr>
        <p:txBody>
          <a:bodyPr>
            <a:noAutofit/>
          </a:bodyPr>
          <a:lstStyle/>
          <a:p>
            <a:pPr algn="just">
              <a:buNone/>
            </a:pPr>
            <a:r>
              <a:rPr lang="en-US" sz="2400" dirty="0">
                <a:latin typeface="Times New Roman" panose="02020603050405020304" pitchFamily="18" charset="0"/>
                <a:cs typeface="Times New Roman" panose="02020603050405020304" pitchFamily="18" charset="0"/>
              </a:rPr>
              <a:t>	In Social-Cost Benefit Analysis (SCBA) the focus is on social costs and benefits of a project. These often tend to differ from the costs incurred in monetary terms and benefits earned in monetary terms by the project.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The principal reasons for the discrepancy are: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Market imperfections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Externalities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Taxes and subsidies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Concern for savings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Concern for redistribution</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Merit wants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UNIDO Approach to SCBA</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Calculation of financial profitability of the project measured at market prices.</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Obtaining the net benefit of project measured in terms of economic (efficiency) prices.</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Adjustment for the impact of the project on savings and investment.</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Adjustment for the impact of the project on income distribution.</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Adjustment for the impact of project on merit goods and demerit goods whose social values differ from their economic values.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UNIDO Approach</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Stage 1</a:t>
            </a:r>
            <a:endParaRPr lang="en-US" sz="2400"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financial profitability of the projects is calculated by taking the projected financial statements that serve as a focus for future earnings and sustainability of the projects </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UNIDO Approach</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Stage 2</a:t>
            </a:r>
            <a:endParaRPr lang="en-US" sz="2400"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Stage two of the UNIDO approach is  Concerned with the determination of the net benefit of the project in terms of economic (efficiency) prices, also referred to as shadow prices.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Shadow Pricing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The UNIDO approach suggests following sources of shadow pricing,  depending on the impact of the project on national economy. A project as it uses and produces resources may for any given input or output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increase or decrease the total consumption in the economy,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 decrease or increase production in the economy,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(iii) decrease imports or increase 	imports, or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(iv) increase exports or decrease exports.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NON-TRADABLE INPUTS AND OUTPUTS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A good is non-tradable when the following conditions are satisfied: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 its import price  is greater than its domestic cost of production and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 its export price is less than its domestic cost of production.</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Externalities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An externality, also referred to as an external effect, is a special class of good which has the following characteristics: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It is not deliberately created by the project sponsor but is an incidental outcome of legitimate economic activity,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 It is beyond the control of the persons who are affected by it, for better or for worse.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(iii) It is not traded in the marketplace.</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An external effect may be beneficial or harmful.</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UNIDO Approach</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Stage 3 &amp; 4</a:t>
            </a:r>
            <a:endParaRPr lang="en-US" sz="2400" b="1" dirty="0">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Stages three and four of the UNIDO method are concerned with measuring the value of a project in terms of its contribution to savings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and income redistribution.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To facilitate such assessments we must first measure the income gained or lost by  individual groups within the society.</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How to distribute society?</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For income distribution analysis, the society may be divided into various groups. The UNIDO approach seeks to identify income gains and losses by the following: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Project,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 Other private business,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(iii) Government,</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(iv) Workers,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(v) Consumers,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(vi) External sector.</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Stage 3 Savings impact and its value</a:t>
            </a:r>
            <a:endParaRPr lang="en-IN" sz="3600" dirty="0">
              <a:latin typeface="Times New Roman" panose="02020603050405020304" pitchFamily="18" charset="0"/>
              <a:cs typeface="Times New Roman" panose="02020603050405020304" pitchFamily="18" charset="0"/>
            </a:endParaRPr>
          </a:p>
        </p:txBody>
      </p:sp>
      <p:sp>
        <p:nvSpPr>
          <p:cNvPr id="2" name="Content Placeholder 8"/>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Stage three of the UNIDO method, concerned with this, seeks to answer the following questions: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Given the income distribution impact of the project what would be its effect on savings?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 What is the value of such savings to the society?</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Impact on savings of a project = </a:t>
            </a:r>
            <a:r>
              <a:rPr lang="el-GR" sz="2400" b="1" dirty="0">
                <a:latin typeface="Times New Roman" panose="02020603050405020304" pitchFamily="18" charset="0"/>
                <a:cs typeface="Times New Roman" panose="02020603050405020304" pitchFamily="18" charset="0"/>
              </a:rPr>
              <a:t>ΣΔ</a:t>
            </a:r>
            <a:r>
              <a:rPr lang="en-US" sz="2400" b="1" dirty="0" err="1">
                <a:latin typeface="Times New Roman" panose="02020603050405020304" pitchFamily="18" charset="0"/>
                <a:cs typeface="Times New Roman" panose="02020603050405020304" pitchFamily="18" charset="0"/>
              </a:rPr>
              <a:t>YiMPSi</a:t>
            </a:r>
            <a:endParaRPr lang="en-US" sz="2400" b="1"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where, </a:t>
            </a:r>
            <a:r>
              <a:rPr lang="en-US" sz="2400" dirty="0" err="1">
                <a:latin typeface="Times New Roman" panose="02020603050405020304" pitchFamily="18" charset="0"/>
                <a:cs typeface="Times New Roman" panose="02020603050405020304" pitchFamily="18" charset="0"/>
              </a:rPr>
              <a:t>ΔYi</a:t>
            </a:r>
            <a:r>
              <a:rPr lang="en-US" sz="2400" dirty="0">
                <a:latin typeface="Times New Roman" panose="02020603050405020304" pitchFamily="18" charset="0"/>
                <a:cs typeface="Times New Roman" panose="02020603050405020304" pitchFamily="18" charset="0"/>
              </a:rPr>
              <a:t> = change in income of group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as a result of the project</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MPSi</a:t>
            </a:r>
            <a:r>
              <a:rPr lang="en-US" sz="2400" dirty="0">
                <a:latin typeface="Times New Roman" panose="02020603050405020304" pitchFamily="18" charset="0"/>
                <a:cs typeface="Times New Roman" panose="02020603050405020304" pitchFamily="18" charset="0"/>
              </a:rPr>
              <a:t> = marginal propensity to save of group </a:t>
            </a:r>
            <a:r>
              <a:rPr lang="en-US" sz="2400" dirty="0" err="1">
                <a:latin typeface="Times New Roman" panose="02020603050405020304" pitchFamily="18" charset="0"/>
                <a:cs typeface="Times New Roman" panose="02020603050405020304" pitchFamily="18" charset="0"/>
              </a:rPr>
              <a:t>i</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Stage 3 Savings impact and its value</a:t>
            </a:r>
            <a:endParaRPr lang="en-IN" sz="3600" dirty="0">
              <a:latin typeface="Times New Roman" panose="02020603050405020304" pitchFamily="18" charset="0"/>
              <a:cs typeface="Times New Roman" panose="02020603050405020304" pitchFamily="18" charset="0"/>
            </a:endParaRPr>
          </a:p>
        </p:txBody>
      </p:sp>
      <p:sp>
        <p:nvSpPr>
          <p:cNvPr id="2" name="Content Placeholder 8"/>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If the marginal productivity of capital is r and the rate of reinvestment from additional income a, the additional stream of  consumption generated by a rupee of investment can be worked out.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consumption stream starts with r (1 – a) and grows annually at the rate of </a:t>
            </a:r>
            <a:r>
              <a:rPr lang="en-US" sz="2400" b="1" dirty="0" err="1">
                <a:latin typeface="Times New Roman" panose="02020603050405020304" pitchFamily="18" charset="0"/>
                <a:cs typeface="Times New Roman" panose="02020603050405020304" pitchFamily="18" charset="0"/>
              </a:rPr>
              <a:t>ar</a:t>
            </a:r>
            <a:r>
              <a:rPr lang="en-US" sz="2400" dirty="0">
                <a:latin typeface="Times New Roman" panose="02020603050405020304" pitchFamily="18" charset="0"/>
                <a:cs typeface="Times New Roman" panose="02020603050405020304" pitchFamily="18" charset="0"/>
              </a:rPr>
              <a:t> forever.</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Stage 3 Savings impact and its value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ctr">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 = r(1-a) / (k-</a:t>
            </a:r>
            <a:r>
              <a:rPr lang="en-US" sz="2400" b="1" dirty="0" err="1">
                <a:latin typeface="Times New Roman" panose="02020603050405020304" pitchFamily="18" charset="0"/>
                <a:cs typeface="Times New Roman" panose="02020603050405020304" pitchFamily="18" charset="0"/>
              </a:rPr>
              <a:t>ar</a:t>
            </a:r>
            <a:r>
              <a:rPr lang="en-US" sz="2400" b="1" dirty="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where, </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I = social value of a rupee of savings (investment)</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r = marginal productivity of capital</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a = reinvestment rate on additional income arising from investment</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k = social discount rate.</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Income Distribution Impact</a:t>
            </a:r>
            <a:endParaRPr lang="en-IN" sz="3600" dirty="0">
              <a:latin typeface="Times New Roman" panose="02020603050405020304" pitchFamily="18" charset="0"/>
              <a:cs typeface="Times New Roman" panose="02020603050405020304" pitchFamily="18" charset="0"/>
            </a:endParaRPr>
          </a:p>
        </p:txBody>
      </p:sp>
      <p:sp>
        <p:nvSpPr>
          <p:cNvPr id="2" name="Content Placeholder 8"/>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Many Governments regard redistribution of income in favor of economically weaker sections or economically backward regions as a socially desirable objective.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Due to practical difficulties in pursuing the objective of redistribution entirely through the tax, subsidy, and transfer measures of the government, investment projects are also considered as instruments for income redistribution, and their contribution toward this goal is considered in their evaluation.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Adjustment for Merit and Demerit Goods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In some cases, the analysis has to be extended beyond stage four to reflect the difference between the economic value and social value of resources. This difference exists in the case of merit goods and demerit goods.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 merit good is one for which the social value exceeds the economic value.</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In the case of a demerit good, the social value of the good is less than its economic value</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600" dirty="0">
                <a:latin typeface="Times New Roman" panose="02020603050405020304" pitchFamily="18" charset="0"/>
                <a:cs typeface="Times New Roman" panose="02020603050405020304" pitchFamily="18" charset="0"/>
              </a:rPr>
              <a:t>Adjusting for the difference between social value and economic value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Estimate the economic value.</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 Calculate the adjustment factor as a difference between the ratio of social value to economic value and unity.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(iii) Multiply the economic value by the adjustment factor to obtain the adjustment.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(iv) Add the adjustment to the net present value of the project as calculated in stage four.</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Little-</a:t>
            </a:r>
            <a:r>
              <a:rPr kumimoji="0" lang="en-US" sz="3600"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Mirrlee’s</a:t>
            </a:r>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Approach</a:t>
            </a:r>
            <a:r>
              <a:rPr kumimoji="0" lang="en-US" sz="3600" i="0" u="none" strike="noStrike" kern="1200" cap="none" spc="0" normalizeH="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to SCBA</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LM Approach provides a comprehensive framework for SCBA in developing countries.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approach has been named on the basis of their developers i.e. L. M. D. Little and J. A. </a:t>
            </a:r>
            <a:r>
              <a:rPr lang="en-US" sz="2400" dirty="0" err="1">
                <a:latin typeface="Times New Roman" panose="02020603050405020304" pitchFamily="18" charset="0"/>
                <a:cs typeface="Times New Roman" panose="02020603050405020304" pitchFamily="18" charset="0"/>
              </a:rPr>
              <a:t>Mirrlee’s</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Little-</a:t>
            </a:r>
            <a:r>
              <a:rPr kumimoji="0" lang="en-US" sz="3600"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Mirrlee’s</a:t>
            </a:r>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Approach</a:t>
            </a:r>
            <a:r>
              <a:rPr kumimoji="0" lang="en-US" sz="3600" i="0" u="none" strike="noStrike" kern="1200" cap="none" spc="0" normalizeH="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to SCBA</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Under the LM approach costs and benefits are measured in terms of international prices, also referred to as border prices. The following are the provisions related to traded goods:</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1. FOB Price(MOVEMENT BORNE BY SELLER): if a good is exported, its shadow price is its FOB price.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2. CIF Price(SELLER’S RESPONSIBILITY FOR THE COST, INSURANCE, FREIGHT): If a good is imported its shadow price is it CIF price.</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Little-Merrilee's Approach</a:t>
            </a:r>
            <a:r>
              <a:rPr kumimoji="0" lang="en-US" sz="3600" i="0" u="none" strike="noStrike" kern="1200" cap="none" spc="0" normalizeH="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to SCBA</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Shadow Prices of Non-Traded Goods:</a:t>
            </a:r>
            <a:endParaRPr lang="en-US" sz="2400"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Shadow prices of non-traded goods are defined in terms of marginal social cost and benefit. The resource used to produce an extra unit of a good is the marginal cost of a good. The value of an extra unit of the good from social point of view is the marginal social benefit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Little-</a:t>
            </a:r>
            <a:r>
              <a:rPr kumimoji="0" lang="en-US" sz="3600" i="0" u="none" strike="noStrike" kern="1200" cap="none" spc="0" normalizeH="0" baseline="0" noProof="0" dirty="0" err="1">
                <a:ln>
                  <a:noFill/>
                </a:ln>
                <a:solidFill>
                  <a:srgbClr val="C00000"/>
                </a:solidFill>
                <a:effectLst/>
                <a:uLnTx/>
                <a:uFillTx/>
                <a:latin typeface="Times New Roman" panose="02020603050405020304" pitchFamily="18" charset="0"/>
                <a:ea typeface="+mn-ea"/>
                <a:cs typeface="Times New Roman" panose="02020603050405020304" pitchFamily="18" charset="0"/>
              </a:rPr>
              <a:t>Mirrlee’s</a:t>
            </a:r>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Approach</a:t>
            </a:r>
            <a:r>
              <a:rPr kumimoji="0" lang="en-US" sz="3600" i="0" u="none" strike="noStrike" kern="1200" cap="none" spc="0" normalizeH="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 to SCBA</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Shadow Prices of Non-Traded Goods:</a:t>
            </a:r>
            <a:endParaRPr lang="en-US" sz="2400"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When a good is not taxed and is consumed by only one income group, then its marginal social benefit is equal to its market price multiplied by a factor that represents the value assigned to an increase in the income of that group vis-vis a consumption is 2:1,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ctr">
              <a:buNone/>
            </a:pPr>
            <a:r>
              <a:rPr lang="en-US" sz="2400" dirty="0">
                <a:latin typeface="Times New Roman" panose="02020603050405020304" pitchFamily="18" charset="0"/>
                <a:cs typeface="Times New Roman" panose="02020603050405020304" pitchFamily="18" charset="0"/>
              </a:rPr>
              <a:t>	then the shadow price of the non-traded output will be: </a:t>
            </a:r>
            <a:endParaRPr lang="en-US" sz="2400" dirty="0">
              <a:latin typeface="Times New Roman" panose="02020603050405020304" pitchFamily="18" charset="0"/>
              <a:cs typeface="Times New Roman" panose="02020603050405020304" pitchFamily="18" charset="0"/>
            </a:endParaRPr>
          </a:p>
          <a:p>
            <a:pPr algn="ctr">
              <a:buNone/>
            </a:pPr>
            <a:r>
              <a:rPr lang="en-US" sz="2400" b="1" dirty="0">
                <a:latin typeface="Times New Roman" panose="02020603050405020304" pitchFamily="18" charset="0"/>
                <a:cs typeface="Times New Roman" panose="02020603050405020304" pitchFamily="18" charset="0"/>
              </a:rPr>
              <a:t>2/3 marginal social cost + 1/3 marginal social benefit</a:t>
            </a:r>
            <a:endParaRPr lang="en-US" sz="2400" b="1"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Case Study</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4251569" y="2090367"/>
          <a:ext cx="2287344" cy="1981572"/>
        </p:xfrm>
        <a:graphic>
          <a:graphicData uri="http://schemas.openxmlformats.org/presentationml/2006/ole">
            <mc:AlternateContent xmlns:mc="http://schemas.openxmlformats.org/markup-compatibility/2006">
              <mc:Choice xmlns:v="urn:schemas-microsoft-com:vml" Requires="v">
                <p:oleObj spid="_x0000_s4" name="Acrobat Document" showAsIcon="1" r:id="rId1" imgW="666750" imgH="578485" progId="Acrobat.Document.DC">
                  <p:embed/>
                </p:oleObj>
              </mc:Choice>
              <mc:Fallback>
                <p:oleObj name="Acrobat Document" showAsIcon="1" r:id="rId1" imgW="666750" imgH="578485" progId="Acrobat.Document.DC">
                  <p:embed/>
                  <p:pic>
                    <p:nvPicPr>
                      <p:cNvPr id="0" name="Picture 3"/>
                      <p:cNvPicPr/>
                      <p:nvPr/>
                    </p:nvPicPr>
                    <p:blipFill>
                      <a:blip r:embed="rId2"/>
                      <a:stretch>
                        <a:fillRect/>
                      </a:stretch>
                    </p:blipFill>
                    <p:spPr>
                      <a:xfrm>
                        <a:off x="4251569" y="2090367"/>
                        <a:ext cx="2287344" cy="1981572"/>
                      </a:xfrm>
                      <a:prstGeom prst="rect">
                        <a:avLst/>
                      </a:prstGeom>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Daily quiz</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514350" indent="-514350" algn="just">
              <a:buNone/>
            </a:pPr>
            <a:r>
              <a:rPr lang="en-US" sz="2400" dirty="0">
                <a:latin typeface="Times New Roman" panose="02020603050405020304" pitchFamily="18" charset="0"/>
                <a:cs typeface="Times New Roman" panose="02020603050405020304" pitchFamily="18" charset="0"/>
              </a:rPr>
              <a:t>Q1. Discuss the fixed cost. </a:t>
            </a: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Q2. Describe the variable cost. </a:t>
            </a: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Q3. Explain the normal and expedite cost. </a:t>
            </a: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Q4. Explain the top down budgeting. </a:t>
            </a: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Q5. Discuss the bottom of budgeting. </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Daily quiz</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514350" indent="-514350" algn="just">
              <a:lnSpc>
                <a:spcPct val="120000"/>
              </a:lnSpc>
              <a:spcBef>
                <a:spcPts val="0"/>
              </a:spcBef>
              <a:buNone/>
            </a:pPr>
            <a:r>
              <a:rPr lang="en-US" sz="2400" b="1" dirty="0">
                <a:latin typeface="Times New Roman" panose="02020603050405020304" pitchFamily="18" charset="0"/>
                <a:cs typeface="Times New Roman" panose="02020603050405020304" pitchFamily="18" charset="0"/>
              </a:rPr>
              <a:t>Q6.</a:t>
            </a:r>
            <a:r>
              <a:rPr lang="en-US" sz="2400" dirty="0">
                <a:latin typeface="Times New Roman" panose="02020603050405020304" pitchFamily="18" charset="0"/>
                <a:cs typeface="Times New Roman" panose="02020603050405020304" pitchFamily="18" charset="0"/>
              </a:rPr>
              <a:t> The cost of project represents the_______ of all items of outlet associated. </a:t>
            </a:r>
            <a:endParaRPr lang="en-US" sz="2400" dirty="0">
              <a:latin typeface="Times New Roman" panose="02020603050405020304" pitchFamily="18" charset="0"/>
              <a:cs typeface="Times New Roman" panose="02020603050405020304" pitchFamily="18" charset="0"/>
            </a:endParaRPr>
          </a:p>
          <a:p>
            <a:pPr lvl="0" algn="just">
              <a:lnSpc>
                <a:spcPct val="120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Total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Partial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Both the above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20000"/>
              </a:lnSpc>
              <a:spcBef>
                <a:spcPts val="0"/>
              </a:spcBef>
              <a:buFont typeface="+mj-lt"/>
              <a:buAutoNum type="alphaUcPeriod"/>
            </a:pPr>
            <a:endParaRPr lang="en-US" sz="2400" dirty="0">
              <a:latin typeface="Times New Roman" panose="02020603050405020304" pitchFamily="18" charset="0"/>
              <a:cs typeface="Times New Roman" panose="02020603050405020304" pitchFamily="18" charset="0"/>
            </a:endParaRPr>
          </a:p>
          <a:p>
            <a:pPr algn="just">
              <a:lnSpc>
                <a:spcPct val="120000"/>
              </a:lnSpc>
              <a:spcBef>
                <a:spcPts val="0"/>
              </a:spcBef>
              <a:buNone/>
            </a:pPr>
            <a:r>
              <a:rPr lang="en-US" sz="2400" b="1" dirty="0">
                <a:latin typeface="Times New Roman" panose="02020603050405020304" pitchFamily="18" charset="0"/>
                <a:cs typeface="Times New Roman" panose="02020603050405020304" pitchFamily="18" charset="0"/>
              </a:rPr>
              <a:t>Q7.</a:t>
            </a:r>
            <a:r>
              <a:rPr lang="en-US" sz="2400" dirty="0">
                <a:latin typeface="Times New Roman" panose="02020603050405020304" pitchFamily="18" charset="0"/>
                <a:cs typeface="Times New Roman" panose="02020603050405020304" pitchFamily="18" charset="0"/>
              </a:rPr>
              <a:t> The cost of land at a given time varies considerably from one_______ to another. </a:t>
            </a:r>
            <a:endParaRPr lang="en-US" sz="2400" dirty="0">
              <a:latin typeface="Times New Roman" panose="02020603050405020304" pitchFamily="18" charset="0"/>
              <a:cs typeface="Times New Roman" panose="02020603050405020304" pitchFamily="18" charset="0"/>
            </a:endParaRPr>
          </a:p>
          <a:p>
            <a:pPr lvl="0" algn="just">
              <a:lnSpc>
                <a:spcPct val="120000"/>
              </a:lnSpc>
              <a:spcBef>
                <a:spcPts val="0"/>
              </a:spcBef>
              <a:buNone/>
            </a:pPr>
            <a:r>
              <a:rPr lang="en-US" sz="2400" b="1" dirty="0">
                <a:latin typeface="Times New Roman" panose="02020603050405020304" pitchFamily="18" charset="0"/>
                <a:cs typeface="Times New Roman" panose="02020603050405020304" pitchFamily="18" charset="0"/>
              </a:rPr>
              <a:t>A. Location </a:t>
            </a:r>
            <a:endParaRPr lang="en-US" sz="2400" dirty="0">
              <a:latin typeface="Times New Roman" panose="02020603050405020304" pitchFamily="18" charset="0"/>
              <a:cs typeface="Times New Roman" panose="02020603050405020304" pitchFamily="18" charset="0"/>
            </a:endParaRPr>
          </a:p>
          <a:p>
            <a:pPr lvl="0" algn="just">
              <a:lnSpc>
                <a:spcPct val="120000"/>
              </a:lnSpc>
              <a:spcBef>
                <a:spcPts val="0"/>
              </a:spcBef>
              <a:buNone/>
            </a:pPr>
            <a:r>
              <a:rPr lang="en-US" sz="2400" dirty="0">
                <a:latin typeface="Times New Roman" panose="02020603050405020304" pitchFamily="18" charset="0"/>
                <a:cs typeface="Times New Roman" panose="02020603050405020304" pitchFamily="18" charset="0"/>
              </a:rPr>
              <a:t>B. Seller </a:t>
            </a:r>
            <a:endParaRPr lang="en-US" sz="2400" dirty="0">
              <a:latin typeface="Times New Roman" panose="02020603050405020304" pitchFamily="18" charset="0"/>
              <a:cs typeface="Times New Roman" panose="02020603050405020304" pitchFamily="18" charset="0"/>
            </a:endParaRPr>
          </a:p>
          <a:p>
            <a:pPr lvl="0" algn="just">
              <a:lnSpc>
                <a:spcPct val="120000"/>
              </a:lnSpc>
              <a:spcBef>
                <a:spcPts val="0"/>
              </a:spcBef>
              <a:buNone/>
            </a:pPr>
            <a:r>
              <a:rPr lang="en-US" sz="2400" dirty="0">
                <a:latin typeface="Times New Roman" panose="02020603050405020304" pitchFamily="18" charset="0"/>
                <a:cs typeface="Times New Roman" panose="02020603050405020304" pitchFamily="18" charset="0"/>
              </a:rPr>
              <a:t>C. Buyer </a:t>
            </a:r>
            <a:endParaRPr lang="en-US" sz="2400" dirty="0">
              <a:latin typeface="Times New Roman" panose="02020603050405020304" pitchFamily="18" charset="0"/>
              <a:cs typeface="Times New Roman" panose="02020603050405020304" pitchFamily="18" charset="0"/>
            </a:endParaRPr>
          </a:p>
          <a:p>
            <a:pPr algn="just">
              <a:lnSpc>
                <a:spcPct val="120000"/>
              </a:lnSpc>
              <a:spcBef>
                <a:spcPts val="0"/>
              </a:spcBef>
              <a:buNone/>
            </a:pPr>
            <a:r>
              <a:rPr lang="en-US" sz="2400" dirty="0">
                <a:latin typeface="Times New Roman" panose="02020603050405020304" pitchFamily="18" charset="0"/>
                <a:cs typeface="Times New Roman" panose="02020603050405020304" pitchFamily="18" charset="0"/>
              </a:rPr>
              <a:t>D. None of these</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Daily quiz</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0" marR="0" algn="just">
              <a:lnSpc>
                <a:spcPct val="120000"/>
              </a:lnSpc>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Q8. From the private point of view, taxes are. </a:t>
            </a:r>
            <a:endParaRPr lang="en-US" sz="2400" dirty="0">
              <a:latin typeface="Times New Roman" panose="02020603050405020304" pitchFamily="18" charset="0"/>
              <a:ea typeface="Times New Roman" panose="02020603050405020304"/>
              <a:cs typeface="Times New Roman" panose="02020603050405020304" pitchFamily="18" charset="0"/>
            </a:endParaRPr>
          </a:p>
          <a:p>
            <a:pPr marL="171450" marR="0" indent="-514350" algn="just">
              <a:lnSpc>
                <a:spcPct val="120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Definite monetary costs</a:t>
            </a:r>
            <a:endParaRPr lang="en-US" sz="2400" dirty="0">
              <a:latin typeface="Times New Roman" panose="02020603050405020304" pitchFamily="18" charset="0"/>
              <a:ea typeface="Times New Roman" panose="02020603050405020304"/>
              <a:cs typeface="Times New Roman" panose="02020603050405020304" pitchFamily="18" charset="0"/>
            </a:endParaRPr>
          </a:p>
          <a:p>
            <a:pPr marL="171450" marR="0" indent="-51435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Definite monetary gains</a:t>
            </a:r>
            <a:endParaRPr lang="en-US" sz="2400" dirty="0">
              <a:latin typeface="Times New Roman" panose="02020603050405020304" pitchFamily="18" charset="0"/>
              <a:ea typeface="Times New Roman" panose="02020603050405020304"/>
              <a:cs typeface="Times New Roman" panose="02020603050405020304" pitchFamily="18" charset="0"/>
            </a:endParaRPr>
          </a:p>
          <a:p>
            <a:pPr marL="171450" marR="0" indent="-51435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Definite monetary losses</a:t>
            </a:r>
            <a:endParaRPr lang="en-US" sz="2400" dirty="0">
              <a:latin typeface="Times New Roman" panose="02020603050405020304" pitchFamily="18" charset="0"/>
              <a:ea typeface="Times New Roman" panose="02020603050405020304"/>
              <a:cs typeface="Times New Roman" panose="02020603050405020304" pitchFamily="18" charset="0"/>
            </a:endParaRPr>
          </a:p>
          <a:p>
            <a:pPr marL="514350" indent="-51435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a:t>
            </a:r>
            <a:endParaRPr lang="en-US" sz="2400" dirty="0">
              <a:latin typeface="Times New Roman" panose="02020603050405020304" pitchFamily="18" charset="0"/>
              <a:ea typeface="Times New Roman" panose="02020603050405020304"/>
              <a:cs typeface="Times New Roman" panose="02020603050405020304" pitchFamily="18" charset="0"/>
            </a:endParaRPr>
          </a:p>
          <a:p>
            <a:pPr algn="just">
              <a:lnSpc>
                <a:spcPct val="120000"/>
              </a:lnSpc>
              <a:spcBef>
                <a:spcPts val="0"/>
              </a:spcBef>
            </a:pPr>
            <a:endParaRPr lang="en-US" sz="2400" dirty="0">
              <a:latin typeface="Times New Roman" panose="02020603050405020304" pitchFamily="18" charset="0"/>
              <a:cs typeface="Times New Roman" panose="02020603050405020304" pitchFamily="18" charset="0"/>
            </a:endParaRPr>
          </a:p>
          <a:p>
            <a:pPr marL="0" marR="0" algn="just">
              <a:lnSpc>
                <a:spcPct val="120000"/>
              </a:lnSpc>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Q9. The common market imperfections found in developing countries are: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Rationing,</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Prescription of minimum wage rates</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2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Foreign exchange regulation.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20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All of the above</a:t>
            </a:r>
            <a:endParaRPr lang="en-US" sz="2400" dirty="0">
              <a:latin typeface="Times New Roman" panose="02020603050405020304" pitchFamily="18" charset="0"/>
              <a:ea typeface="Times New Roman" panose="02020603050405020304"/>
              <a:cs typeface="Times New Roman" panose="02020603050405020304" pitchFamily="18" charset="0"/>
            </a:endParaRPr>
          </a:p>
          <a:p>
            <a:endParaRPr lang="en-I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Weekly assignment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Describe various costs associated with project management.</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Enumerate various project financing sources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Discuss the Social Cost Benefit Analysis (SCBA). Describe the UNIDO approach to SCBA</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Discuss various approaches of project budgeting</a:t>
            </a:r>
            <a:r>
              <a:rPr lang="en-US" sz="2800" dirty="0">
                <a:cs typeface="Arial" panose="020B0604020202020204" pitchFamily="34" charset="0"/>
              </a:rPr>
              <a:t>.</a:t>
            </a:r>
            <a:endParaRPr lang="en-US" sz="2800" dirty="0">
              <a:cs typeface="Arial" panose="020B0604020202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links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hlinkClick r:id="rId1"/>
              </a:rPr>
              <a:t>https://www.youtube.com/watch?v=KBhREhTe82Q</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hlinkClick r:id="rId2"/>
              </a:rPr>
              <a:t>https://www.youtube.com/watch?v=Ni95eCqOMhg</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hlinkClick r:id="rId3"/>
              </a:rPr>
              <a:t>https://www.youtube.com/watch?v=2HjrfMhvPFI</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hlinkClick r:id="rId4"/>
              </a:rPr>
              <a:t>https://www.youtube.com/watch?v=HY6tVBQXbOg</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0" marR="0" algn="just">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Q1. Most of the projects incur cash losses in the________.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Initial years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During the peak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Later years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these</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endParaRPr lang="en-US" sz="2400" dirty="0">
              <a:latin typeface="Times New Roman" panose="02020603050405020304" pitchFamily="18" charset="0"/>
              <a:ea typeface="Times New Roman" panose="02020603050405020304"/>
              <a:cs typeface="Times New Roman" panose="02020603050405020304" pitchFamily="18" charset="0"/>
            </a:endParaRPr>
          </a:p>
          <a:p>
            <a:pPr marL="0" marR="0" algn="just">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Q2. Equity shareholders are the________ of the business.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Debtors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Owners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Borrowers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0" marR="0" algn="just">
              <a:lnSpc>
                <a:spcPct val="110000"/>
              </a:lnSpc>
              <a:spcBef>
                <a:spcPts val="0"/>
              </a:spcBef>
              <a:buNone/>
            </a:pPr>
            <a:r>
              <a:rPr lang="en-US" sz="2600" dirty="0">
                <a:latin typeface="Times New Roman" panose="02020603050405020304" pitchFamily="18" charset="0"/>
                <a:ea typeface="Times New Roman" panose="02020603050405020304"/>
                <a:cs typeface="Times New Roman" panose="02020603050405020304" pitchFamily="18" charset="0"/>
              </a:rPr>
              <a:t>Q3. Debentures are the instrument for raising the_______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Equity capital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b="1" dirty="0">
                <a:latin typeface="Times New Roman" panose="02020603050405020304" pitchFamily="18" charset="0"/>
                <a:ea typeface="Times New Roman" panose="02020603050405020304"/>
                <a:cs typeface="Times New Roman" panose="02020603050405020304" pitchFamily="18" charset="0"/>
              </a:rPr>
              <a:t>Debt capital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Preference capital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All of the above</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endParaRPr lang="en-US" sz="2600" dirty="0">
              <a:latin typeface="Times New Roman" panose="02020603050405020304" pitchFamily="18" charset="0"/>
              <a:ea typeface="Times New Roman" panose="02020603050405020304"/>
              <a:cs typeface="Times New Roman" panose="02020603050405020304" pitchFamily="18" charset="0"/>
            </a:endParaRPr>
          </a:p>
          <a:p>
            <a:pPr marL="0" marR="0" algn="just">
              <a:lnSpc>
                <a:spcPct val="110000"/>
              </a:lnSpc>
              <a:spcBef>
                <a:spcPts val="0"/>
              </a:spcBef>
              <a:buNone/>
            </a:pPr>
            <a:r>
              <a:rPr lang="en-US" sz="2600" dirty="0">
                <a:latin typeface="Times New Roman" panose="02020603050405020304" pitchFamily="18" charset="0"/>
                <a:ea typeface="Times New Roman" panose="02020603050405020304"/>
                <a:cs typeface="Times New Roman" panose="02020603050405020304" pitchFamily="18" charset="0"/>
              </a:rPr>
              <a:t>Q4. The cost which does not change with the level of activity in short run is known as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Variable cost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b="1" dirty="0">
                <a:latin typeface="Times New Roman" panose="02020603050405020304" pitchFamily="18" charset="0"/>
                <a:ea typeface="Times New Roman" panose="02020603050405020304"/>
                <a:cs typeface="Times New Roman" panose="02020603050405020304" pitchFamily="18" charset="0"/>
              </a:rPr>
              <a:t>Fixed cost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Average cost</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None of the above</a:t>
            </a:r>
            <a:endParaRPr lang="en-US" sz="26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0" marR="0" algn="just">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Q5. SCBA stands for.</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Social cost benefit analysis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Society contribution for beta analysis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Singular characteristic beta aggregation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a:t>
            </a:r>
            <a:endParaRPr lang="en-US" sz="2400" dirty="0">
              <a:latin typeface="Times New Roman" panose="02020603050405020304" pitchFamily="18" charset="0"/>
              <a:ea typeface="Times New Roman" panose="02020603050405020304"/>
              <a:cs typeface="Times New Roman" panose="02020603050405020304" pitchFamily="18" charset="0"/>
            </a:endParaRPr>
          </a:p>
          <a:p>
            <a:pPr algn="just">
              <a:spcBef>
                <a:spcPts val="0"/>
              </a:spcBef>
            </a:pPr>
            <a:endParaRPr lang="en-US" sz="2400" dirty="0">
              <a:latin typeface="Times New Roman" panose="02020603050405020304" pitchFamily="18" charset="0"/>
              <a:cs typeface="Times New Roman" panose="02020603050405020304" pitchFamily="18" charset="0"/>
            </a:endParaRPr>
          </a:p>
          <a:p>
            <a:pPr marL="0" marR="0" algn="just">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Q6.  When imperfections obtain, market prices do not reflect.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Economic value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Social value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Financial value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Intrinsic value</a:t>
            </a:r>
            <a:endParaRPr lang="en-US" sz="2400" dirty="0">
              <a:latin typeface="Times New Roman" panose="02020603050405020304" pitchFamily="18" charset="0"/>
              <a:ea typeface="Times New Roman" panose="02020603050405020304"/>
              <a:cs typeface="Times New Roman" panose="02020603050405020304" pitchFamily="18" charset="0"/>
            </a:endParaRPr>
          </a:p>
          <a:p>
            <a:pPr marL="0" indent="0">
              <a:buNone/>
            </a:pPr>
            <a:endParaRPr lang="en-I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stretch>
            <a:fillRect/>
          </a:stretch>
        </p:blipFill>
        <p:spPr>
          <a:xfrm>
            <a:off x="673768" y="1282589"/>
            <a:ext cx="10289407" cy="4752451"/>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8" name="Content Placeholder 7"/>
          <p:cNvPicPr>
            <a:picLocks noGrp="1" noChangeAspect="1"/>
          </p:cNvPicPr>
          <p:nvPr>
            <p:ph idx="1"/>
          </p:nvPr>
        </p:nvPicPr>
        <p:blipFill>
          <a:blip r:embed="rId1"/>
          <a:stretch>
            <a:fillRect/>
          </a:stretch>
        </p:blipFill>
        <p:spPr>
          <a:xfrm>
            <a:off x="1029903" y="1176338"/>
            <a:ext cx="9490510" cy="5000625"/>
          </a:xfr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1"/>
          <a:stretch>
            <a:fillRect/>
          </a:stretch>
        </p:blipFill>
        <p:spPr>
          <a:xfrm>
            <a:off x="1386038" y="1177797"/>
            <a:ext cx="9509760" cy="4997707"/>
          </a:xfr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1366787" y="1068404"/>
            <a:ext cx="8941869" cy="5059472"/>
          </a:xfr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1135781" y="1180972"/>
            <a:ext cx="9827394" cy="4991357"/>
          </a:xfr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895149" y="1195589"/>
            <a:ext cx="10160001" cy="5176336"/>
          </a:xfr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Expected Questions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buNone/>
            </a:pPr>
            <a:r>
              <a:rPr lang="en-US" sz="2800" dirty="0"/>
              <a:t>Q1. Discuss the various types of cost associated with the project management. </a:t>
            </a:r>
            <a:endParaRPr lang="en-US" sz="2800" dirty="0"/>
          </a:p>
          <a:p>
            <a:pPr algn="just">
              <a:buNone/>
            </a:pPr>
            <a:r>
              <a:rPr lang="en-US" sz="2800" dirty="0"/>
              <a:t>Q2. Elaborate the Little-</a:t>
            </a:r>
            <a:r>
              <a:rPr lang="en-US" sz="2800" dirty="0" err="1"/>
              <a:t>Mirrlees</a:t>
            </a:r>
            <a:r>
              <a:rPr lang="en-US" sz="2800" dirty="0"/>
              <a:t> approach of social cost benefit analysis. </a:t>
            </a:r>
            <a:endParaRPr lang="en-US" sz="2800" dirty="0"/>
          </a:p>
          <a:p>
            <a:pPr algn="just">
              <a:buNone/>
            </a:pPr>
            <a:r>
              <a:rPr lang="en-US" sz="2800" dirty="0"/>
              <a:t>Q3. Explain social cost benefit analysis. Discuss the UNIDO approach of this analysis. </a:t>
            </a:r>
            <a:endParaRPr lang="en-US" sz="2800" dirty="0"/>
          </a:p>
          <a:p>
            <a:pPr algn="just">
              <a:buNone/>
            </a:pPr>
            <a:r>
              <a:rPr lang="en-US" sz="2800" dirty="0"/>
              <a:t>Q4. Differentiate between the top-down and bottom-up budgeting. </a:t>
            </a:r>
            <a:endParaRPr lang="en-US" sz="2800" dirty="0"/>
          </a:p>
          <a:p>
            <a:pPr algn="just">
              <a:buNone/>
            </a:pPr>
            <a:r>
              <a:rPr lang="en-US" sz="2800" dirty="0"/>
              <a:t>Q5. Explain the various sources of project financing in India.</a:t>
            </a:r>
            <a:endParaRPr lang="en-US" sz="2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Recap of unit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Resource planning is the process of ascertaining future resource requirements for an organization or a scope of work.</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Budgeting is a sub-process within estimating used for allocating the estimated cost of resources into cost accounts against which cost performance will be measured and assessed. This forms the baseline for cost control.</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Under LM approach costs and benefits are measured in terms of international prices, also referred as border prices.</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31574</Words>
  <Application>WPS Presentation</Application>
  <PresentationFormat>Widescreen</PresentationFormat>
  <Paragraphs>1018</Paragraphs>
  <Slides>97</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97</vt:i4>
      </vt:variant>
    </vt:vector>
  </HeadingPairs>
  <TitlesOfParts>
    <vt:vector size="110" baseType="lpstr">
      <vt:lpstr>Arial</vt:lpstr>
      <vt:lpstr>SimSun</vt:lpstr>
      <vt:lpstr>Wingdings</vt:lpstr>
      <vt:lpstr>Times New Roman</vt:lpstr>
      <vt:lpstr>Microsoft YaHei</vt:lpstr>
      <vt:lpstr>Arial Unicode MS</vt:lpstr>
      <vt:lpstr>Aptos Display</vt:lpstr>
      <vt:lpstr>Segoe Print</vt:lpstr>
      <vt:lpstr>Aptos</vt:lpstr>
      <vt:lpstr>Calibri</vt:lpstr>
      <vt:lpstr>Times New Roman</vt:lpstr>
      <vt:lpstr>Office Theme</vt:lpstr>
      <vt:lpstr>Acrobat.Document.DC</vt:lpstr>
      <vt:lpstr>PowerPoint 演示文稿</vt:lpstr>
      <vt:lpstr>Index</vt:lpstr>
      <vt:lpstr>Index</vt:lpstr>
      <vt:lpstr>Brief Introduction of the Faculty Member </vt:lpstr>
      <vt:lpstr>Evaluation Scheme</vt:lpstr>
      <vt:lpstr>Syllabus</vt:lpstr>
      <vt:lpstr>Syllabus</vt:lpstr>
      <vt:lpstr>Branch Wise Application</vt:lpstr>
      <vt:lpstr>Course objective(s)</vt:lpstr>
      <vt:lpstr>Course outcome(s) </vt:lpstr>
      <vt:lpstr>Program outcome (POs)</vt:lpstr>
      <vt:lpstr>COs and POs Mapping</vt:lpstr>
      <vt:lpstr>Program Educational Objectives (PEOs)</vt:lpstr>
      <vt:lpstr>Result Analysis</vt:lpstr>
      <vt:lpstr>End Semester Question paper Templates</vt:lpstr>
      <vt:lpstr>End Semester Question paper Templates</vt:lpstr>
      <vt:lpstr> Prerequisite /Recap</vt:lpstr>
      <vt:lpstr>Brief Introduction about the Subject with Videos</vt:lpstr>
      <vt:lpstr>Unit Content</vt:lpstr>
      <vt:lpstr>Unit objective</vt:lpstr>
      <vt:lpstr>Topic Objectives &amp; Topic Outcome</vt:lpstr>
      <vt:lpstr>Project cost</vt:lpstr>
      <vt:lpstr>Fundamental Components of Project Costing</vt:lpstr>
      <vt:lpstr>Step 1: resource planning</vt:lpstr>
      <vt:lpstr>Step 1: resource planning</vt:lpstr>
      <vt:lpstr>Step 2: Cost estimation</vt:lpstr>
      <vt:lpstr>Step 3: Cost budgeting</vt:lpstr>
      <vt:lpstr>Step 4: Cost control</vt:lpstr>
      <vt:lpstr>Elements of cost</vt:lpstr>
      <vt:lpstr>COST</vt:lpstr>
      <vt:lpstr>Total Cost= Prime Cost+ Overheads</vt:lpstr>
      <vt:lpstr>Total Cost= Prime Cost+ Overheads</vt:lpstr>
      <vt:lpstr>Other overheads</vt:lpstr>
      <vt:lpstr>Cost</vt:lpstr>
      <vt:lpstr>Classification of cost based on (Function)</vt:lpstr>
      <vt:lpstr>Classification of cost based on (Behaviour)</vt:lpstr>
      <vt:lpstr>Direct and Indirect cost</vt:lpstr>
      <vt:lpstr>Recurring and non- recurring cost</vt:lpstr>
      <vt:lpstr>Normal and Expedite Cost</vt:lpstr>
      <vt:lpstr>Topic objective and topic outcome</vt:lpstr>
      <vt:lpstr>Project Financing</vt:lpstr>
      <vt:lpstr>Key Features of Project Financing</vt:lpstr>
      <vt:lpstr>Stages of project financing </vt:lpstr>
      <vt:lpstr>1. Pre-financing stage</vt:lpstr>
      <vt:lpstr>2. Financing stage</vt:lpstr>
      <vt:lpstr>3. Post-financing stage</vt:lpstr>
      <vt:lpstr>Sources of Finance</vt:lpstr>
      <vt:lpstr>Sources of Finance cont..</vt:lpstr>
      <vt:lpstr>Government Financing Schemes</vt:lpstr>
      <vt:lpstr>Project Budgeting- Project Budget</vt:lpstr>
      <vt:lpstr>Need of project budget</vt:lpstr>
      <vt:lpstr>Steps in Project Budgeting</vt:lpstr>
      <vt:lpstr>Types of Project Budgeting</vt:lpstr>
      <vt:lpstr>Top-down budgeting</vt:lpstr>
      <vt:lpstr>Advantages of top-down budgeting</vt:lpstr>
      <vt:lpstr>Disadvantages of top-down budgeting</vt:lpstr>
      <vt:lpstr>Bottom-up budgeting</vt:lpstr>
      <vt:lpstr>Advantages of Bottom-up budgeting</vt:lpstr>
      <vt:lpstr>Disadvantages of Bottom-up budgeting</vt:lpstr>
      <vt:lpstr>Topic Objectives &amp; Outcome</vt:lpstr>
      <vt:lpstr>Social Cost Benefit Analysis (SCBA) </vt:lpstr>
      <vt:lpstr>Rationale Behind SCBA</vt:lpstr>
      <vt:lpstr>UNIDO Approach to SCBA</vt:lpstr>
      <vt:lpstr>UNIDO Approach</vt:lpstr>
      <vt:lpstr>UNIDO Approach</vt:lpstr>
      <vt:lpstr>Shadow Pricing</vt:lpstr>
      <vt:lpstr>NON-TRADABLE INPUTS AND OUTPUTS</vt:lpstr>
      <vt:lpstr>Externalities</vt:lpstr>
      <vt:lpstr>UNIDO Approach</vt:lpstr>
      <vt:lpstr>How to distribute society?</vt:lpstr>
      <vt:lpstr>Stage 3 Savings impact and its value</vt:lpstr>
      <vt:lpstr>Stage 3 Savings impact and its value</vt:lpstr>
      <vt:lpstr>Stage 3 Savings impact and its value</vt:lpstr>
      <vt:lpstr>Income Distribution Impact</vt:lpstr>
      <vt:lpstr>Adjustment for Merit and Demerit Goods</vt:lpstr>
      <vt:lpstr>Adjusting for the difference between social value and economic value </vt:lpstr>
      <vt:lpstr>Little-Mirrlee’s Approach to SCBA</vt:lpstr>
      <vt:lpstr>Little-Mirrlee’s Approach to SCBA</vt:lpstr>
      <vt:lpstr>Little-Merrilee's Approach to SCBA</vt:lpstr>
      <vt:lpstr>Little-Mirrlee’s Approach to SCBA</vt:lpstr>
      <vt:lpstr>Case Study</vt:lpstr>
      <vt:lpstr>Daily quiz</vt:lpstr>
      <vt:lpstr>Daily quiz</vt:lpstr>
      <vt:lpstr>Daily quiz</vt:lpstr>
      <vt:lpstr>Weekly assignment </vt:lpstr>
      <vt:lpstr>Topic links</vt:lpstr>
      <vt:lpstr>MCQs</vt:lpstr>
      <vt:lpstr>MCQs</vt:lpstr>
      <vt:lpstr>MCQs</vt:lpstr>
      <vt:lpstr>Old question paper</vt:lpstr>
      <vt:lpstr>Old question paper</vt:lpstr>
      <vt:lpstr>Old question paper</vt:lpstr>
      <vt:lpstr>Old question paper</vt:lpstr>
      <vt:lpstr>Old question paper</vt:lpstr>
      <vt:lpstr>Old question paper</vt:lpstr>
      <vt:lpstr>Expected Questions</vt:lpstr>
      <vt:lpstr>Recap of unit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Kaushik</dc:creator>
  <cp:lastModifiedBy>tarun</cp:lastModifiedBy>
  <cp:revision>29</cp:revision>
  <dcterms:created xsi:type="dcterms:W3CDTF">2024-03-22T08:16:00Z</dcterms:created>
  <dcterms:modified xsi:type="dcterms:W3CDTF">2024-08-08T05:41:08Z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21A2F3C8102648A98387C2112522F6B0_12</vt:lpwstr>
  </property>
  <property fmtid="{D5CDD505-2E9C-101B-9397-08002B2CF9AE}" pid="3" name="KSOProductBuildVer">
    <vt:lpwstr>1033-12.2.0.17119</vt:lpwstr>
  </property>
</Properties>
</file>