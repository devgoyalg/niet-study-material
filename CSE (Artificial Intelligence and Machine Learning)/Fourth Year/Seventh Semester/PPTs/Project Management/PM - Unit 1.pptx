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4" r:id="rId4"/>
    <p:sldId id="266" r:id="rId5"/>
    <p:sldId id="267" r:id="rId6"/>
    <p:sldId id="268" r:id="rId7"/>
    <p:sldId id="269" r:id="rId8"/>
    <p:sldId id="270" r:id="rId9"/>
    <p:sldId id="271" r:id="rId10"/>
    <p:sldId id="272" r:id="rId11"/>
    <p:sldId id="273" r:id="rId12"/>
    <p:sldId id="274" r:id="rId13"/>
    <p:sldId id="275" r:id="rId14"/>
    <p:sldId id="276" r:id="rId15"/>
    <p:sldId id="277" r:id="rId16"/>
    <p:sldId id="279" r:id="rId17"/>
    <p:sldId id="280" r:id="rId18"/>
    <p:sldId id="281" r:id="rId19"/>
    <p:sldId id="278" r:id="rId20"/>
    <p:sldId id="282" r:id="rId21"/>
    <p:sldId id="284" r:id="rId22"/>
    <p:sldId id="285" r:id="rId23"/>
    <p:sldId id="316" r:id="rId24"/>
    <p:sldId id="307" r:id="rId25"/>
    <p:sldId id="283" r:id="rId26"/>
    <p:sldId id="294" r:id="rId27"/>
    <p:sldId id="286" r:id="rId28"/>
    <p:sldId id="287" r:id="rId29"/>
    <p:sldId id="288" r:id="rId30"/>
    <p:sldId id="317" r:id="rId31"/>
    <p:sldId id="318" r:id="rId32"/>
    <p:sldId id="319" r:id="rId33"/>
    <p:sldId id="324" r:id="rId34"/>
    <p:sldId id="320" r:id="rId35"/>
    <p:sldId id="321" r:id="rId36"/>
    <p:sldId id="289" r:id="rId37"/>
    <p:sldId id="290" r:id="rId38"/>
    <p:sldId id="291" r:id="rId39"/>
    <p:sldId id="292" r:id="rId40"/>
    <p:sldId id="293" r:id="rId41"/>
    <p:sldId id="295" r:id="rId42"/>
    <p:sldId id="296" r:id="rId43"/>
    <p:sldId id="325" r:id="rId44"/>
    <p:sldId id="297" r:id="rId45"/>
    <p:sldId id="298" r:id="rId46"/>
    <p:sldId id="299" r:id="rId47"/>
    <p:sldId id="300" r:id="rId48"/>
    <p:sldId id="301" r:id="rId49"/>
    <p:sldId id="302" r:id="rId50"/>
    <p:sldId id="303" r:id="rId51"/>
    <p:sldId id="304" r:id="rId52"/>
    <p:sldId id="322" r:id="rId53"/>
    <p:sldId id="323" r:id="rId54"/>
    <p:sldId id="326" r:id="rId55"/>
    <p:sldId id="337" r:id="rId56"/>
    <p:sldId id="336" r:id="rId57"/>
    <p:sldId id="327" r:id="rId58"/>
    <p:sldId id="330" r:id="rId59"/>
    <p:sldId id="305" r:id="rId60"/>
    <p:sldId id="306" r:id="rId61"/>
    <p:sldId id="308" r:id="rId62"/>
    <p:sldId id="309" r:id="rId63"/>
    <p:sldId id="310" r:id="rId64"/>
    <p:sldId id="311" r:id="rId65"/>
    <p:sldId id="312" r:id="rId66"/>
    <p:sldId id="313" r:id="rId67"/>
    <p:sldId id="314" r:id="rId68"/>
    <p:sldId id="328" r:id="rId69"/>
    <p:sldId id="329" r:id="rId70"/>
    <p:sldId id="31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un"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383A3C"/>
    <a:srgbClr val="FAC6C7"/>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260"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n Sharma" userId="d07fcb967d2fbce9" providerId="LiveId" clId="{FF76FD26-9F56-4503-A586-339F2520BCD7}"/>
    <pc:docChg chg="undo custSel addSld delSld modSld modMainMaster">
      <pc:chgData name="Ritin Sharma" userId="d07fcb967d2fbce9" providerId="LiveId" clId="{FF76FD26-9F56-4503-A586-339F2520BCD7}" dt="2025-08-25T06:42:55.878" v="409" actId="1076"/>
      <pc:docMkLst>
        <pc:docMk/>
      </pc:docMkLst>
      <pc:sldChg chg="modSp mod">
        <pc:chgData name="Ritin Sharma" userId="d07fcb967d2fbce9" providerId="LiveId" clId="{FF76FD26-9F56-4503-A586-339F2520BCD7}" dt="2025-07-28T05:00:26.015" v="32" actId="20577"/>
        <pc:sldMkLst>
          <pc:docMk/>
          <pc:sldMk cId="0" sldId="256"/>
        </pc:sldMkLst>
        <pc:spChg chg="mod">
          <ac:chgData name="Ritin Sharma" userId="d07fcb967d2fbce9" providerId="LiveId" clId="{FF76FD26-9F56-4503-A586-339F2520BCD7}" dt="2025-07-28T05:00:26.015" v="32" actId="20577"/>
          <ac:spMkLst>
            <pc:docMk/>
            <pc:sldMk cId="0" sldId="256"/>
            <ac:spMk id="8" creationId="{00000000-0000-0000-0000-000000000000}"/>
          </ac:spMkLst>
        </pc:spChg>
      </pc:sldChg>
      <pc:sldChg chg="modSp mod">
        <pc:chgData name="Ritin Sharma" userId="d07fcb967d2fbce9" providerId="LiveId" clId="{FF76FD26-9F56-4503-A586-339F2520BCD7}" dt="2025-07-28T05:08:12.591" v="314" actId="20577"/>
        <pc:sldMkLst>
          <pc:docMk/>
          <pc:sldMk cId="0" sldId="266"/>
        </pc:sldMkLst>
        <pc:spChg chg="mod">
          <ac:chgData name="Ritin Sharma" userId="d07fcb967d2fbce9" providerId="LiveId" clId="{FF76FD26-9F56-4503-A586-339F2520BCD7}" dt="2025-07-28T05:08:12.591" v="314" actId="20577"/>
          <ac:spMkLst>
            <pc:docMk/>
            <pc:sldMk cId="0" sldId="266"/>
            <ac:spMk id="3" creationId="{00000000-0000-0000-0000-000000000000}"/>
          </ac:spMkLst>
        </pc:spChg>
        <pc:spChg chg="mod">
          <ac:chgData name="Ritin Sharma" userId="d07fcb967d2fbce9" providerId="LiveId" clId="{FF76FD26-9F56-4503-A586-339F2520BCD7}" dt="2025-07-28T05:04:16.590" v="97" actId="20577"/>
          <ac:spMkLst>
            <pc:docMk/>
            <pc:sldMk cId="0" sldId="266"/>
            <ac:spMk id="14" creationId="{00000000-0000-0000-0000-000000000000}"/>
          </ac:spMkLst>
        </pc:spChg>
      </pc:sldChg>
      <pc:sldChg chg="modSp mod">
        <pc:chgData name="Ritin Sharma" userId="d07fcb967d2fbce9" providerId="LiveId" clId="{FF76FD26-9F56-4503-A586-339F2520BCD7}" dt="2025-07-28T05:26:25.844" v="346"/>
        <pc:sldMkLst>
          <pc:docMk/>
          <pc:sldMk cId="0" sldId="267"/>
        </pc:sldMkLst>
        <pc:spChg chg="mod">
          <ac:chgData name="Ritin Sharma" userId="d07fcb967d2fbce9" providerId="LiveId" clId="{FF76FD26-9F56-4503-A586-339F2520BCD7}" dt="2025-07-28T05:26:25.844" v="346"/>
          <ac:spMkLst>
            <pc:docMk/>
            <pc:sldMk cId="0" sldId="267"/>
            <ac:spMk id="14" creationId="{00000000-0000-0000-0000-000000000000}"/>
          </ac:spMkLst>
        </pc:spChg>
      </pc:sldChg>
      <pc:sldChg chg="modSp mod">
        <pc:chgData name="Ritin Sharma" userId="d07fcb967d2fbce9" providerId="LiveId" clId="{FF76FD26-9F56-4503-A586-339F2520BCD7}" dt="2025-07-28T05:08:56.691" v="345" actId="20577"/>
        <pc:sldMkLst>
          <pc:docMk/>
          <pc:sldMk cId="0" sldId="268"/>
        </pc:sldMkLst>
        <pc:spChg chg="mod">
          <ac:chgData name="Ritin Sharma" userId="d07fcb967d2fbce9" providerId="LiveId" clId="{FF76FD26-9F56-4503-A586-339F2520BCD7}" dt="2025-07-28T05:08:56.691" v="345" actId="20577"/>
          <ac:spMkLst>
            <pc:docMk/>
            <pc:sldMk cId="0" sldId="268"/>
            <ac:spMk id="14" creationId="{00000000-0000-0000-0000-000000000000}"/>
          </ac:spMkLst>
        </pc:spChg>
      </pc:sldChg>
      <pc:sldChg chg="modSp mod">
        <pc:chgData name="Ritin Sharma" userId="d07fcb967d2fbce9" providerId="LiveId" clId="{FF76FD26-9F56-4503-A586-339F2520BCD7}" dt="2025-07-28T05:26:25.889" v="347" actId="27636"/>
        <pc:sldMkLst>
          <pc:docMk/>
          <pc:sldMk cId="0" sldId="270"/>
        </pc:sldMkLst>
        <pc:spChg chg="mod">
          <ac:chgData name="Ritin Sharma" userId="d07fcb967d2fbce9" providerId="LiveId" clId="{FF76FD26-9F56-4503-A586-339F2520BCD7}" dt="2025-07-28T05:26:25.889" v="347" actId="27636"/>
          <ac:spMkLst>
            <pc:docMk/>
            <pc:sldMk cId="0" sldId="270"/>
            <ac:spMk id="3" creationId="{00000000-0000-0000-0000-000000000000}"/>
          </ac:spMkLst>
        </pc:spChg>
      </pc:sldChg>
      <pc:sldChg chg="modSp mod">
        <pc:chgData name="Ritin Sharma" userId="d07fcb967d2fbce9" providerId="LiveId" clId="{FF76FD26-9F56-4503-A586-339F2520BCD7}" dt="2025-07-28T05:30:00.700" v="376" actId="20577"/>
        <pc:sldMkLst>
          <pc:docMk/>
          <pc:sldMk cId="0" sldId="271"/>
        </pc:sldMkLst>
        <pc:spChg chg="mod">
          <ac:chgData name="Ritin Sharma" userId="d07fcb967d2fbce9" providerId="LiveId" clId="{FF76FD26-9F56-4503-A586-339F2520BCD7}" dt="2025-07-28T05:30:00.700" v="376" actId="20577"/>
          <ac:spMkLst>
            <pc:docMk/>
            <pc:sldMk cId="0" sldId="271"/>
            <ac:spMk id="14" creationId="{00000000-0000-0000-0000-000000000000}"/>
          </ac:spMkLst>
        </pc:spChg>
      </pc:sldChg>
      <pc:sldChg chg="modSp mod">
        <pc:chgData name="Ritin Sharma" userId="d07fcb967d2fbce9" providerId="LiveId" clId="{FF76FD26-9F56-4503-A586-339F2520BCD7}" dt="2025-08-12T05:17:52.908" v="385" actId="1076"/>
        <pc:sldMkLst>
          <pc:docMk/>
          <pc:sldMk cId="0" sldId="288"/>
        </pc:sldMkLst>
        <pc:spChg chg="mod">
          <ac:chgData name="Ritin Sharma" userId="d07fcb967d2fbce9" providerId="LiveId" clId="{FF76FD26-9F56-4503-A586-339F2520BCD7}" dt="2025-08-12T05:17:52.908" v="385" actId="1076"/>
          <ac:spMkLst>
            <pc:docMk/>
            <pc:sldMk cId="0" sldId="288"/>
            <ac:spMk id="2" creationId="{00000000-0000-0000-0000-000000000000}"/>
          </ac:spMkLst>
        </pc:spChg>
      </pc:sldChg>
      <pc:sldChg chg="modSp mod">
        <pc:chgData name="Ritin Sharma" userId="d07fcb967d2fbce9" providerId="LiveId" clId="{FF76FD26-9F56-4503-A586-339F2520BCD7}" dt="2025-08-25T06:42:55.878" v="409" actId="1076"/>
        <pc:sldMkLst>
          <pc:docMk/>
          <pc:sldMk cId="0" sldId="303"/>
        </pc:sldMkLst>
        <pc:picChg chg="mod">
          <ac:chgData name="Ritin Sharma" userId="d07fcb967d2fbce9" providerId="LiveId" clId="{FF76FD26-9F56-4503-A586-339F2520BCD7}" dt="2025-08-25T06:42:55.878" v="409" actId="1076"/>
          <ac:picMkLst>
            <pc:docMk/>
            <pc:sldMk cId="0" sldId="303"/>
            <ac:picMk id="2" creationId="{00000000-0000-0000-0000-000000000000}"/>
          </ac:picMkLst>
        </pc:picChg>
      </pc:sldChg>
      <pc:sldChg chg="new del">
        <pc:chgData name="Ritin Sharma" userId="d07fcb967d2fbce9" providerId="LiveId" clId="{FF76FD26-9F56-4503-A586-339F2520BCD7}" dt="2025-08-13T04:23:38.705" v="390" actId="47"/>
        <pc:sldMkLst>
          <pc:docMk/>
          <pc:sldMk cId="1020536737" sldId="331"/>
        </pc:sldMkLst>
      </pc:sldChg>
      <pc:sldChg chg="new add del">
        <pc:chgData name="Ritin Sharma" userId="d07fcb967d2fbce9" providerId="LiveId" clId="{FF76FD26-9F56-4503-A586-339F2520BCD7}" dt="2025-08-13T04:20:19.890" v="386" actId="47"/>
        <pc:sldMkLst>
          <pc:docMk/>
          <pc:sldMk cId="1626155733" sldId="331"/>
        </pc:sldMkLst>
      </pc:sldChg>
      <pc:sldChg chg="new del">
        <pc:chgData name="Ritin Sharma" userId="d07fcb967d2fbce9" providerId="LiveId" clId="{FF76FD26-9F56-4503-A586-339F2520BCD7}" dt="2025-08-21T04:51:14.009" v="401" actId="47"/>
        <pc:sldMkLst>
          <pc:docMk/>
          <pc:sldMk cId="3245120586" sldId="331"/>
        </pc:sldMkLst>
      </pc:sldChg>
      <pc:sldChg chg="new del">
        <pc:chgData name="Ritin Sharma" userId="d07fcb967d2fbce9" providerId="LiveId" clId="{FF76FD26-9F56-4503-A586-339F2520BCD7}" dt="2025-08-13T04:23:36.344" v="389" actId="47"/>
        <pc:sldMkLst>
          <pc:docMk/>
          <pc:sldMk cId="240732299" sldId="332"/>
        </pc:sldMkLst>
      </pc:sldChg>
      <pc:sldChg chg="new del">
        <pc:chgData name="Ritin Sharma" userId="d07fcb967d2fbce9" providerId="LiveId" clId="{FF76FD26-9F56-4503-A586-339F2520BCD7}" dt="2025-08-06T04:10:43.575" v="381" actId="47"/>
        <pc:sldMkLst>
          <pc:docMk/>
          <pc:sldMk cId="656488294" sldId="332"/>
        </pc:sldMkLst>
      </pc:sldChg>
      <pc:sldChg chg="new del">
        <pc:chgData name="Ritin Sharma" userId="d07fcb967d2fbce9" providerId="LiveId" clId="{FF76FD26-9F56-4503-A586-339F2520BCD7}" dt="2025-08-21T04:51:15.790" v="402" actId="47"/>
        <pc:sldMkLst>
          <pc:docMk/>
          <pc:sldMk cId="3166651624" sldId="332"/>
        </pc:sldMkLst>
      </pc:sldChg>
      <pc:sldChg chg="new del">
        <pc:chgData name="Ritin Sharma" userId="d07fcb967d2fbce9" providerId="LiveId" clId="{FF76FD26-9F56-4503-A586-339F2520BCD7}" dt="2025-08-06T03:55:09.215" v="379" actId="47"/>
        <pc:sldMkLst>
          <pc:docMk/>
          <pc:sldMk cId="3744950839" sldId="332"/>
        </pc:sldMkLst>
      </pc:sldChg>
      <pc:sldChg chg="new del">
        <pc:chgData name="Ritin Sharma" userId="d07fcb967d2fbce9" providerId="LiveId" clId="{FF76FD26-9F56-4503-A586-339F2520BCD7}" dt="2025-08-25T06:42:32.714" v="406" actId="47"/>
        <pc:sldMkLst>
          <pc:docMk/>
          <pc:sldMk cId="2388694236" sldId="333"/>
        </pc:sldMkLst>
      </pc:sldChg>
      <pc:sldChg chg="new del">
        <pc:chgData name="Ritin Sharma" userId="d07fcb967d2fbce9" providerId="LiveId" clId="{FF76FD26-9F56-4503-A586-339F2520BCD7}" dt="2025-08-25T06:42:38.929" v="408" actId="47"/>
        <pc:sldMkLst>
          <pc:docMk/>
          <pc:sldMk cId="3295962412" sldId="334"/>
        </pc:sldMkLst>
      </pc:sldChg>
      <pc:sldChg chg="new del">
        <pc:chgData name="Ritin Sharma" userId="d07fcb967d2fbce9" providerId="LiveId" clId="{FF76FD26-9F56-4503-A586-339F2520BCD7}" dt="2025-08-25T06:42:34.253" v="407" actId="47"/>
        <pc:sldMkLst>
          <pc:docMk/>
          <pc:sldMk cId="3542978614" sldId="335"/>
        </pc:sldMkLst>
      </pc:sldChg>
      <pc:sldChg chg="new">
        <pc:chgData name="Ritin Sharma" userId="d07fcb967d2fbce9" providerId="LiveId" clId="{FF76FD26-9F56-4503-A586-339F2520BCD7}" dt="2025-08-20T04:43:19.173" v="399" actId="680"/>
        <pc:sldMkLst>
          <pc:docMk/>
          <pc:sldMk cId="3229938963" sldId="336"/>
        </pc:sldMkLst>
      </pc:sldChg>
      <pc:sldChg chg="new">
        <pc:chgData name="Ritin Sharma" userId="d07fcb967d2fbce9" providerId="LiveId" clId="{FF76FD26-9F56-4503-A586-339F2520BCD7}" dt="2025-08-20T04:46:19.434" v="400" actId="680"/>
        <pc:sldMkLst>
          <pc:docMk/>
          <pc:sldMk cId="4254119249" sldId="337"/>
        </pc:sldMkLst>
      </pc:sldChg>
      <pc:sldMasterChg chg="modSldLayout">
        <pc:chgData name="Ritin Sharma" userId="d07fcb967d2fbce9" providerId="LiveId" clId="{FF76FD26-9F56-4503-A586-339F2520BCD7}" dt="2025-07-28T05:00:52.069" v="68" actId="20577"/>
        <pc:sldMasterMkLst>
          <pc:docMk/>
          <pc:sldMasterMk cId="0" sldId="2147483648"/>
        </pc:sldMasterMkLst>
        <pc:sldLayoutChg chg="modSp mod">
          <pc:chgData name="Ritin Sharma" userId="d07fcb967d2fbce9" providerId="LiveId" clId="{FF76FD26-9F56-4503-A586-339F2520BCD7}" dt="2025-07-28T05:00:52.069" v="68" actId="20577"/>
          <pc:sldLayoutMkLst>
            <pc:docMk/>
            <pc:sldMasterMk cId="0" sldId="2147483648"/>
            <pc:sldLayoutMk cId="0" sldId="2147483650"/>
          </pc:sldLayoutMkLst>
          <pc:spChg chg="mod">
            <ac:chgData name="Ritin Sharma" userId="d07fcb967d2fbce9" providerId="LiveId" clId="{FF76FD26-9F56-4503-A586-339F2520BCD7}" dt="2025-07-28T05:00:52.069" v="68" actId="20577"/>
            <ac:spMkLst>
              <pc:docMk/>
              <pc:sldMasterMk cId="0" sldId="2147483648"/>
              <pc:sldLayoutMk cId="0" sldId="2147483650"/>
              <ac:spMk id="11" creationId="{00000000-0000-0000-0000-000000000000}"/>
            </ac:spMkLst>
          </pc:spChg>
        </pc:sldLayoutChg>
      </pc:sldMaster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4-08-08T10:51:37.804" idx="1">
    <p:pos x="7660" y="68"/>
    <p:tex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715" y="1175661"/>
            <a:ext cx="11727542" cy="5001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p:cNvSpPr txBox="1"/>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a:t>
            </a:r>
            <a:r>
              <a:rPr lang="en-IN" dirty="0">
                <a:latin typeface="Times New Roman" panose="02020603050405020304" pitchFamily="18" charset="0"/>
                <a:cs typeface="Times New Roman" panose="02020603050405020304" pitchFamily="18" charset="0"/>
              </a:rPr>
              <a:t>by Sonali Sharma</a:t>
            </a:r>
          </a:p>
          <a:p>
            <a:endParaRPr lang="en-IN" alt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48EA4-4DB1-4FEB-AECF-552EEDB16093}" type="datetimeFigureOut">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pic>
        <p:nvPicPr>
          <p:cNvPr id="7" name="Picture 6"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5448EA4-4DB1-4FEB-AECF-552EEDB16093}" type="datetimeFigureOut">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5448EA4-4DB1-4FEB-AECF-552EEDB16093}" type="datetimeFigureOut">
              <a:rPr lang="en-IN" smtClean="0"/>
              <a:t>25-08-2025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21E972-0DBC-4911-A10C-C7172303CA11}" type="slidenum">
              <a:rPr lang="en-IN" smtClean="0"/>
              <a:t>‹#›</a:t>
            </a:fld>
            <a:endParaRPr lang="en-IN"/>
          </a:p>
        </p:txBody>
      </p:sp>
      <p:pic>
        <p:nvPicPr>
          <p:cNvPr id="10" name="Picture 9"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5448EA4-4DB1-4FEB-AECF-552EEDB16093}" type="datetimeFigureOut">
              <a:rPr lang="en-IN" smtClean="0"/>
              <a:t>25-08-2025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21E972-0DBC-4911-A10C-C7172303CA11}" type="slidenum">
              <a:rPr lang="en-IN" smtClean="0"/>
              <a:t>‹#›</a:t>
            </a:fld>
            <a:endParaRPr lang="en-IN"/>
          </a:p>
        </p:txBody>
      </p:sp>
      <p:pic>
        <p:nvPicPr>
          <p:cNvPr id="6" name="Picture 5"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48EA4-4DB1-4FEB-AECF-552EEDB16093}" type="datetimeFigureOut">
              <a:rPr lang="en-IN" smtClean="0"/>
              <a:t>25-08-2025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21E972-0DBC-4911-A10C-C7172303CA11}" type="slidenum">
              <a:rPr lang="en-IN" smtClean="0"/>
              <a:t>‹#›</a:t>
            </a:fld>
            <a:endParaRPr lang="en-IN"/>
          </a:p>
        </p:txBody>
      </p:sp>
      <p:pic>
        <p:nvPicPr>
          <p:cNvPr id="5" name="Picture 4"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48EA4-4DB1-4FEB-AECF-552EEDB16093}" type="datetimeFigureOut">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48EA4-4DB1-4FEB-AECF-552EEDB16093}" type="datetimeFigureOut">
              <a:rPr lang="en-IN" smtClean="0"/>
              <a:t>25-08-2025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25-08-2025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t>25-08-2025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ewhTgzIQG84&amp;list=PLLy_2iUCG87CBuNhvti0h6W54ZmqrSDMJ&amp;index=5" TargetMode="External"/><Relationship Id="rId2" Type="http://schemas.openxmlformats.org/officeDocument/2006/relationships/hyperlink" Target="https://www.youtube.com/watch?v=uEREF70j-yI" TargetMode="External"/><Relationship Id="rId1" Type="http://schemas.openxmlformats.org/officeDocument/2006/relationships/slideLayout" Target="../slideLayouts/slideLayout2.xml"/><Relationship Id="rId4" Type="http://schemas.openxmlformats.org/officeDocument/2006/relationships/hyperlink" Target="https://www.youtube.com/watch?v=fDh0K3SYT6A&amp;list=PLLy_2iUCG87CBuNhvti0h6W54ZmqrSDMJ&amp;index=2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hyperlink" Target="https://www.simplilearn.com/what-is-a-deliverable-article" TargetMode="External"/><Relationship Id="rId13" Type="http://schemas.openxmlformats.org/officeDocument/2006/relationships/hyperlink" Target="https://www.projectsmart.co.uk/top-10-qualities-project-manager.php" TargetMode="External"/><Relationship Id="rId3" Type="http://schemas.openxmlformats.org/officeDocument/2006/relationships/hyperlink" Target="https://www.youtube.com/watch?v=BOU1YP5NZVA" TargetMode="External"/><Relationship Id="rId7" Type="http://schemas.openxmlformats.org/officeDocument/2006/relationships/hyperlink" Target="https://www.youtube.com/watch?v=1Fqe_7rn3Vs" TargetMode="External"/><Relationship Id="rId12" Type="http://schemas.openxmlformats.org/officeDocument/2006/relationships/hyperlink" Target="https://www.teamgantt.com/blog/the-how-and-why-of-using-milestones-in-your-project-plan" TargetMode="External"/><Relationship Id="rId2" Type="http://schemas.openxmlformats.org/officeDocument/2006/relationships/hyperlink" Target="https://www.youtube.com/watch?v=39_O-AnzTQg" TargetMode="External"/><Relationship Id="rId1" Type="http://schemas.openxmlformats.org/officeDocument/2006/relationships/slideLayout" Target="../slideLayouts/slideLayout2.xml"/><Relationship Id="rId6" Type="http://schemas.openxmlformats.org/officeDocument/2006/relationships/hyperlink" Target="https://www.youtube.com/watch?v=xzkgMVDRHi4&amp;t=1s" TargetMode="External"/><Relationship Id="rId11" Type="http://schemas.openxmlformats.org/officeDocument/2006/relationships/hyperlink" Target="https://www.projectmanager.com/blog/milestones-project-management" TargetMode="External"/><Relationship Id="rId5" Type="http://schemas.openxmlformats.org/officeDocument/2006/relationships/hyperlink" Target="https://www.youtube.com/watch?v=RjOA7AxOVj8&amp;list=PLPjSqITyvDeX77O9g4E_lgJbAmLK5SFu6" TargetMode="External"/><Relationship Id="rId15" Type="http://schemas.openxmlformats.org/officeDocument/2006/relationships/hyperlink" Target="https://www.sinnaps.com/en/project-management-blog/importance-of-project-management" TargetMode="External"/><Relationship Id="rId10" Type="http://schemas.openxmlformats.org/officeDocument/2006/relationships/hyperlink" Target="https://plan.io/blog/scope-of-work/" TargetMode="External"/><Relationship Id="rId4" Type="http://schemas.openxmlformats.org/officeDocument/2006/relationships/hyperlink" Target="https://www.youtube.com/watch?v=ZKOL-rZ79gs" TargetMode="External"/><Relationship Id="rId9" Type="http://schemas.openxmlformats.org/officeDocument/2006/relationships/hyperlink" Target="https://www.projectmanager.com/training/write-scope-work" TargetMode="External"/><Relationship Id="rId14" Type="http://schemas.openxmlformats.org/officeDocument/2006/relationships/hyperlink" Target="https://pmtips.net/article/10-characteristics-of-successful-project-teams"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2952726" y="2911147"/>
            <a:ext cx="628654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383A3C"/>
                </a:solidFill>
                <a:latin typeface="Times New Roman" panose="02020603050405020304" pitchFamily="18" charset="0"/>
                <a:cs typeface="Times New Roman" panose="02020603050405020304" pitchFamily="18" charset="0"/>
              </a:rPr>
              <a:t>Course &amp; Branch</a:t>
            </a:r>
            <a:br>
              <a:rPr lang="en-IN" sz="3200" b="1" dirty="0">
                <a:solidFill>
                  <a:srgbClr val="383A3C"/>
                </a:solidFill>
                <a:latin typeface="Times New Roman" panose="02020603050405020304" pitchFamily="18" charset="0"/>
                <a:cs typeface="Times New Roman" panose="02020603050405020304" pitchFamily="18" charset="0"/>
              </a:rPr>
            </a:br>
            <a:r>
              <a:rPr lang="en-IN" sz="3200" b="1" dirty="0">
                <a:solidFill>
                  <a:srgbClr val="383A3C"/>
                </a:solidFill>
                <a:latin typeface="Times New Roman" panose="02020603050405020304" pitchFamily="18" charset="0"/>
                <a:cs typeface="Times New Roman" panose="02020603050405020304" pitchFamily="18" charset="0"/>
              </a:rPr>
              <a:t>Project Management (AOE0761)</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p:cNvSpPr/>
          <p:nvPr/>
        </p:nvSpPr>
        <p:spPr>
          <a:xfrm>
            <a:off x="5810246" y="4882529"/>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p:cNvSpPr/>
          <p:nvPr/>
        </p:nvSpPr>
        <p:spPr>
          <a:xfrm>
            <a:off x="4710845" y="5221083"/>
            <a:ext cx="2770310" cy="1323439"/>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Sonali Sharma</a:t>
            </a:r>
          </a:p>
          <a:p>
            <a:pPr algn="ctr"/>
            <a:r>
              <a:rPr lang="en-IN" sz="16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1600" b="1" dirty="0">
                <a:solidFill>
                  <a:srgbClr val="383A3C"/>
                </a:solidFill>
                <a:latin typeface="Times New Roman" panose="02020603050405020304" pitchFamily="18" charset="0"/>
                <a:cs typeface="Times New Roman" panose="02020603050405020304" pitchFamily="18" charset="0"/>
              </a:rPr>
              <a:t>Department of PGDM</a:t>
            </a: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p:cNvSpPr/>
          <p:nvPr/>
        </p:nvSpPr>
        <p:spPr>
          <a:xfrm>
            <a:off x="1714467" y="3930556"/>
            <a:ext cx="8763061" cy="646331"/>
          </a:xfrm>
          <a:prstGeom prst="rect">
            <a:avLst/>
          </a:prstGeom>
        </p:spPr>
        <p:txBody>
          <a:bodyPr wrap="square">
            <a:spAutoFit/>
          </a:bodyPr>
          <a:lstStyle/>
          <a:p>
            <a:pPr algn="ctr"/>
            <a:r>
              <a:rPr lang="en-US" sz="3600" dirty="0">
                <a:solidFill>
                  <a:srgbClr val="D4222A"/>
                </a:solidFill>
                <a:latin typeface="Times New Roman" panose="02020603050405020304" pitchFamily="18" charset="0"/>
                <a:cs typeface="Times New Roman" panose="02020603050405020304" pitchFamily="18" charset="0"/>
              </a:rPr>
              <a:t>Unit 1: Introduction of Project</a:t>
            </a:r>
          </a:p>
        </p:txBody>
      </p:sp>
      <p:pic>
        <p:nvPicPr>
          <p:cNvPr id="13" name="Picture 12" descr="A close-up of a logo&#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1908" y="1198019"/>
            <a:ext cx="3737778" cy="16002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20000"/>
                    </a:ext>
                  </a:extLst>
                </a:gridCol>
                <a:gridCol w="9310793">
                  <a:extLst>
                    <a:ext uri="{9D8B030D-6E8A-4147-A177-3AD203B41FA5}">
                      <a16:colId xmlns:a16="http://schemas.microsoft.com/office/drawing/2014/main" val="20001"/>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Program Educational Objectives (PEOs)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Prequisite/Recap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942749"/>
          <a:ext cx="10725815" cy="522478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20000"/>
                    </a:ext>
                  </a:extLst>
                </a:gridCol>
                <a:gridCol w="9310793">
                  <a:extLst>
                    <a:ext uri="{9D8B030D-6E8A-4147-A177-3AD203B41FA5}">
                      <a16:colId xmlns:a16="http://schemas.microsoft.com/office/drawing/2014/main" val="20001"/>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Introduction about the Subject with Videos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Weekly Assignment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Glossary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50373"/>
            <a:ext cx="10913805" cy="4500149"/>
          </a:xfrm>
        </p:spPr>
        <p:txBody>
          <a:bodyPr>
            <a:noAutofit/>
          </a:bodyPr>
          <a:lstStyle/>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Faculty Name: Sonali Sharma</a:t>
            </a:r>
          </a:p>
          <a:p>
            <a:pPr>
              <a:buNone/>
            </a:pPr>
            <a:r>
              <a:rPr lang="en-IN" dirty="0">
                <a:latin typeface="Times New Roman" panose="02020603050405020304" pitchFamily="18" charset="0"/>
                <a:cs typeface="Times New Roman" panose="02020603050405020304" pitchFamily="18" charset="0"/>
              </a:rPr>
              <a:t>Designation: Assistant Professor</a:t>
            </a:r>
          </a:p>
          <a:p>
            <a:pPr>
              <a:buNone/>
            </a:pPr>
            <a:r>
              <a:rPr lang="en-IN" dirty="0">
                <a:latin typeface="Times New Roman" panose="02020603050405020304" pitchFamily="18" charset="0"/>
                <a:cs typeface="Times New Roman" panose="02020603050405020304" pitchFamily="18" charset="0"/>
              </a:rPr>
              <a:t>Department: MBA</a:t>
            </a:r>
          </a:p>
          <a:p>
            <a:pPr>
              <a:buNone/>
            </a:pPr>
            <a:r>
              <a:rPr lang="en-IN" dirty="0">
                <a:latin typeface="Times New Roman" panose="02020603050405020304" pitchFamily="18" charset="0"/>
                <a:cs typeface="Times New Roman" panose="02020603050405020304" pitchFamily="18" charset="0"/>
              </a:rPr>
              <a:t>Email ID: sonali.sharma@niet.co.in</a:t>
            </a:r>
          </a:p>
          <a:p>
            <a:pPr>
              <a:buNone/>
            </a:pPr>
            <a:r>
              <a:rPr lang="en-IN" dirty="0">
                <a:latin typeface="Times New Roman" panose="02020603050405020304" pitchFamily="18" charset="0"/>
                <a:cs typeface="Times New Roman" panose="02020603050405020304" pitchFamily="18" charset="0"/>
              </a:rPr>
              <a:t>Qualification: M.com, MBA, UGC NET, PhD(</a:t>
            </a:r>
            <a:r>
              <a:rPr lang="en-IN" dirty="0" err="1">
                <a:latin typeface="Times New Roman" panose="02020603050405020304" pitchFamily="18" charset="0"/>
                <a:cs typeface="Times New Roman" panose="02020603050405020304" pitchFamily="18" charset="0"/>
              </a:rPr>
              <a:t>Persuing</a:t>
            </a:r>
            <a:r>
              <a:rPr lang="en-IN" dirty="0">
                <a:latin typeface="Times New Roman" panose="02020603050405020304" pitchFamily="18" charset="0"/>
                <a:cs typeface="Times New Roman" panose="02020603050405020304" pitchFamily="18" charset="0"/>
              </a:rPr>
              <a:t> HRM)</a:t>
            </a:r>
          </a:p>
          <a:p>
            <a:pPr>
              <a:buNone/>
            </a:pPr>
            <a:r>
              <a:rPr lang="en-IN" dirty="0">
                <a:latin typeface="Times New Roman" panose="02020603050405020304" pitchFamily="18" charset="0"/>
                <a:cs typeface="Times New Roman" panose="02020603050405020304" pitchFamily="18" charset="0"/>
              </a:rPr>
              <a:t>Specialization: Human Resource</a:t>
            </a:r>
          </a:p>
          <a:p>
            <a:pPr>
              <a:buNone/>
            </a:pPr>
            <a:r>
              <a:rPr lang="en-IN" dirty="0">
                <a:latin typeface="Times New Roman" panose="02020603050405020304" pitchFamily="18" charset="0"/>
                <a:cs typeface="Times New Roman" panose="02020603050405020304" pitchFamily="18" charset="0"/>
              </a:rPr>
              <a:t>Teaching Area: HR, Finance, Marketing</a:t>
            </a:r>
          </a:p>
          <a:p>
            <a:pPr>
              <a:buNone/>
            </a:pPr>
            <a:r>
              <a:rPr lang="en-IN" dirty="0">
                <a:latin typeface="Times New Roman" panose="02020603050405020304" pitchFamily="18" charset="0"/>
                <a:cs typeface="Times New Roman" panose="02020603050405020304" pitchFamily="18" charset="0"/>
              </a:rPr>
              <a:t>Total Experience: 6.5 years</a:t>
            </a:r>
          </a:p>
        </p:txBody>
      </p:sp>
      <p:sp>
        <p:nvSpPr>
          <p:cNvPr id="8" name="Title 1"/>
          <p:cNvSpPr txBox="1"/>
          <p:nvPr/>
        </p:nvSpPr>
        <p:spPr>
          <a:xfrm>
            <a:off x="2119083" y="0"/>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Faculty Profile</a:t>
            </a:r>
          </a:p>
        </p:txBody>
      </p:sp>
      <p:sp>
        <p:nvSpPr>
          <p:cNvPr id="14" name="Footer Placeholder 4"/>
          <p:cNvSpPr txBox="1"/>
          <p:nvPr/>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IN" dirty="0">
                <a:latin typeface="Times New Roman" panose="02020603050405020304" pitchFamily="18" charset="0"/>
                <a:cs typeface="Times New Roman" panose="02020603050405020304" pitchFamily="18" charset="0"/>
              </a:rPr>
              <a:t>Sonali Sharma</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298467" y="-51593"/>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Evaluation Scheme</a:t>
            </a:r>
          </a:p>
        </p:txBody>
      </p:sp>
      <p:sp>
        <p:nvSpPr>
          <p:cNvPr id="14" name="Footer Placeholder 4"/>
          <p:cNvSpPr txBox="1"/>
          <p:nvPr/>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Tarun Maheshwari	</a:t>
            </a:r>
            <a:endParaRPr lang="en-IN" dirty="0">
              <a:latin typeface="Times New Roman" panose="02020603050405020304" pitchFamily="18" charset="0"/>
              <a:cs typeface="Times New Roman" panose="02020603050405020304" pitchFamily="18" charset="0"/>
            </a:endParaRPr>
          </a:p>
        </p:txBody>
      </p:sp>
      <p:pic>
        <p:nvPicPr>
          <p:cNvPr id="4" name="Picture 4" descr="D:\PROJECT MANAGEMENT PPT\Evaluation Scheme.png"/>
          <p:cNvPicPr>
            <a:picLocks noGrp="1" noChangeAspect="1" noChangeArrowheads="1"/>
          </p:cNvPicPr>
          <p:nvPr>
            <p:ph idx="1"/>
          </p:nvPr>
        </p:nvPicPr>
        <p:blipFill>
          <a:blip r:embed="rId2"/>
          <a:srcRect/>
          <a:stretch>
            <a:fillRect/>
          </a:stretch>
        </p:blipFill>
        <p:spPr bwMode="auto">
          <a:xfrm>
            <a:off x="2063262" y="1614237"/>
            <a:ext cx="7447095" cy="4237725"/>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298467" y="-51593"/>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Syllabus</a:t>
            </a:r>
          </a:p>
        </p:txBody>
      </p:sp>
      <p:sp>
        <p:nvSpPr>
          <p:cNvPr id="14" name="Footer Placeholder 4"/>
          <p:cNvSpPr txBox="1"/>
          <p:nvPr/>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IN" dirty="0">
                <a:latin typeface="Times New Roman" panose="02020603050405020304" pitchFamily="18" charset="0"/>
                <a:cs typeface="Times New Roman" panose="02020603050405020304" pitchFamily="18" charset="0"/>
              </a:rPr>
              <a:t>Sonali Sharma</a:t>
            </a:r>
          </a:p>
          <a:p>
            <a:r>
              <a:rPr lang="en-IN" altLang="en-US">
                <a:latin typeface="Times New Roman" panose="02020603050405020304" pitchFamily="18" charset="0"/>
                <a:cs typeface="Times New Roman" panose="02020603050405020304" pitchFamily="18" charset="0"/>
              </a:rPr>
              <a:t>s</a:t>
            </a:r>
            <a:endParaRPr lang="en-IN" altLang="en-US"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2157046" y="1007180"/>
            <a:ext cx="7659077" cy="5376259"/>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298467" y="-51593"/>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Branch wise Application</a:t>
            </a:r>
          </a:p>
        </p:txBody>
      </p:sp>
      <p:sp>
        <p:nvSpPr>
          <p:cNvPr id="14" name="Footer Placeholder 4"/>
          <p:cNvSpPr txBox="1"/>
          <p:nvPr/>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IN" altLang="en-US" dirty="0">
                <a:latin typeface="Times New Roman" panose="02020603050405020304" pitchFamily="18" charset="0"/>
                <a:cs typeface="Times New Roman" panose="02020603050405020304" pitchFamily="18" charset="0"/>
              </a:rPr>
              <a:t>Tarun Maheshwari</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Handling projects.</a:t>
            </a:r>
          </a:p>
          <a:p>
            <a:pPr algn="just"/>
            <a:r>
              <a:rPr lang="en-US" sz="3200" dirty="0">
                <a:latin typeface="Times New Roman" panose="02020603050405020304" pitchFamily="18" charset="0"/>
                <a:cs typeface="Times New Roman" panose="02020603050405020304" pitchFamily="18" charset="0"/>
              </a:rPr>
              <a:t>Evaluating &amp; Monitoring Project Process</a:t>
            </a:r>
          </a:p>
          <a:p>
            <a:pPr algn="just"/>
            <a:r>
              <a:rPr lang="en-US" sz="3200" dirty="0">
                <a:latin typeface="Times New Roman" panose="02020603050405020304" pitchFamily="18" charset="0"/>
                <a:cs typeface="Times New Roman" panose="02020603050405020304" pitchFamily="18" charset="0"/>
              </a:rPr>
              <a:t>Taking necessary and corrective action.</a:t>
            </a:r>
          </a:p>
          <a:p>
            <a:endParaRPr lang="en-IN"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298467" y="-51593"/>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Course Objectives</a:t>
            </a:r>
          </a:p>
        </p:txBody>
      </p:sp>
      <p:sp>
        <p:nvSpPr>
          <p:cNvPr id="3" name="Content Placeholder 2"/>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To empower the students to get insights into basic concepts of project management.</a:t>
            </a:r>
          </a:p>
          <a:p>
            <a:pPr algn="just"/>
            <a:r>
              <a:rPr lang="en-US" sz="3200" dirty="0">
                <a:latin typeface="Times New Roman" panose="02020603050405020304" pitchFamily="18" charset="0"/>
                <a:cs typeface="Times New Roman" panose="02020603050405020304" pitchFamily="18" charset="0"/>
              </a:rPr>
              <a:t>To create awareness of the roles and responsibilities of the project manager.</a:t>
            </a:r>
          </a:p>
          <a:p>
            <a:pPr algn="just"/>
            <a:r>
              <a:rPr lang="en-US" sz="3200" dirty="0">
                <a:latin typeface="Times New Roman" panose="02020603050405020304" pitchFamily="18" charset="0"/>
                <a:cs typeface="Times New Roman" panose="02020603050405020304" pitchFamily="18" charset="0"/>
              </a:rPr>
              <a:t>To build confident among the students to take up any kind of project.</a:t>
            </a:r>
          </a:p>
          <a:p>
            <a:pPr algn="just"/>
            <a:r>
              <a:rPr lang="en-US" sz="3200" dirty="0">
                <a:latin typeface="Times New Roman" panose="02020603050405020304" pitchFamily="18" charset="0"/>
                <a:cs typeface="Times New Roman" panose="02020603050405020304" pitchFamily="18" charset="0"/>
              </a:rPr>
              <a:t>To sharpen the planning, scheduling, and controlling skills of the students concerning individual projects.</a:t>
            </a:r>
          </a:p>
          <a:p>
            <a:pPr algn="just"/>
            <a:r>
              <a:rPr lang="en-US" sz="3200" dirty="0">
                <a:latin typeface="Times New Roman" panose="02020603050405020304" pitchFamily="18" charset="0"/>
                <a:cs typeface="Times New Roman" panose="02020603050405020304" pitchFamily="18" charset="0"/>
              </a:rPr>
              <a:t>To understand the perspectives in which optimum decisions are to be taken in case of risks with planned activities in the project.</a:t>
            </a:r>
          </a:p>
          <a:p>
            <a:pPr marL="0" indent="0" algn="just">
              <a:buNone/>
            </a:pPr>
            <a:endParaRPr lang="en-IN"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298467" y="-51593"/>
            <a:ext cx="10087897" cy="958646"/>
          </a:xfrm>
          <a:prstGeom prst="rect">
            <a:avLst/>
          </a:prstGeom>
          <a:no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D31E26"/>
                </a:solidFill>
                <a:latin typeface="Times New Roman" panose="02020603050405020304" pitchFamily="18" charset="0"/>
                <a:cs typeface="Times New Roman" panose="02020603050405020304" pitchFamily="18" charset="0"/>
              </a:rPr>
              <a:t>Course Outcomes</a:t>
            </a:r>
          </a:p>
        </p:txBody>
      </p:sp>
      <p:sp>
        <p:nvSpPr>
          <p:cNvPr id="14" name="Footer Placeholder 4"/>
          <p:cNvSpPr txBox="1"/>
          <p:nvPr/>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US" dirty="0">
                <a:latin typeface="Times New Roman" panose="02020603050405020304" pitchFamily="18" charset="0"/>
                <a:cs typeface="Times New Roman" panose="02020603050405020304" pitchFamily="18" charset="0"/>
                <a:sym typeface="+mn-ea"/>
              </a:rPr>
              <a:t> </a:t>
            </a:r>
            <a:r>
              <a:rPr lang="en-IN">
                <a:latin typeface="Times New Roman" panose="02020603050405020304" pitchFamily="18" charset="0"/>
                <a:cs typeface="Times New Roman" panose="02020603050405020304" pitchFamily="18" charset="0"/>
                <a:sym typeface="+mn-ea"/>
              </a:rPr>
              <a:t>Sonali Sharma</a:t>
            </a:r>
            <a:r>
              <a:rPr lang="en-US"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2" name="Picture 2"/>
          <p:cNvPicPr>
            <a:picLocks noChangeAspect="1" noChangeArrowheads="1"/>
          </p:cNvPicPr>
          <p:nvPr/>
        </p:nvPicPr>
        <p:blipFill>
          <a:blip r:embed="rId2"/>
          <a:srcRect/>
          <a:stretch>
            <a:fillRect/>
          </a:stretch>
        </p:blipFill>
        <p:spPr bwMode="auto">
          <a:xfrm>
            <a:off x="998415" y="1314770"/>
            <a:ext cx="9067800" cy="4419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fontAlgn="base">
              <a:buNone/>
            </a:pPr>
            <a:r>
              <a:rPr lang="en-US" sz="3200" dirty="0">
                <a:latin typeface="Times New Roman" panose="02020603050405020304" pitchFamily="18" charset="0"/>
                <a:cs typeface="Times New Roman" panose="02020603050405020304" pitchFamily="18" charset="0"/>
              </a:rPr>
              <a:t>1. Apply knowledge of management theories and practices to solve business problems.</a:t>
            </a:r>
          </a:p>
          <a:p>
            <a:pPr algn="just" fontAlgn="base">
              <a:buNone/>
            </a:pPr>
            <a:r>
              <a:rPr lang="en-US" sz="3200" dirty="0">
                <a:latin typeface="Times New Roman" panose="02020603050405020304" pitchFamily="18" charset="0"/>
                <a:cs typeface="Times New Roman" panose="02020603050405020304" pitchFamily="18" charset="0"/>
              </a:rPr>
              <a:t>2. Foster analytical and critical thinking abilities for data-based decision-making.</a:t>
            </a:r>
          </a:p>
          <a:p>
            <a:pPr algn="just" fontAlgn="base">
              <a:buNone/>
            </a:pPr>
            <a:r>
              <a:rPr lang="en-US" sz="3200" dirty="0">
                <a:latin typeface="Times New Roman" panose="02020603050405020304" pitchFamily="18" charset="0"/>
                <a:cs typeface="Times New Roman" panose="02020603050405020304" pitchFamily="18" charset="0"/>
              </a:rPr>
              <a:t>3. Ability to develop value-based leadership ability.</a:t>
            </a:r>
          </a:p>
          <a:p>
            <a:pPr algn="just" fontAlgn="base">
              <a:buNone/>
            </a:pPr>
            <a:r>
              <a:rPr lang="en-US" sz="3200" dirty="0">
                <a:latin typeface="Times New Roman" panose="02020603050405020304" pitchFamily="18" charset="0"/>
                <a:cs typeface="Times New Roman" panose="02020603050405020304" pitchFamily="18" charset="0"/>
              </a:rPr>
              <a:t>4. Ability to understand, analyze, and communicate global, economic, legal, and ethical aspects of business.</a:t>
            </a:r>
          </a:p>
          <a:p>
            <a:pPr algn="just">
              <a:buNone/>
            </a:pPr>
            <a:r>
              <a:rPr lang="en-US" sz="3200" dirty="0">
                <a:latin typeface="Times New Roman" panose="02020603050405020304" pitchFamily="18" charset="0"/>
                <a:cs typeface="Times New Roman" panose="02020603050405020304" pitchFamily="18" charset="0"/>
              </a:rPr>
              <a:t>5. Ability to lead themselves and others in the achievement of organizational goals, contributing effectively to a team environment.</a:t>
            </a:r>
          </a:p>
          <a:p>
            <a:pPr algn="just"/>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Program Outcome(s)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65956" y="1171016"/>
            <a:ext cx="5340559" cy="2322777"/>
          </a:xfrm>
        </p:spPr>
      </p:pic>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COs and POs mapping</a:t>
            </a:r>
          </a:p>
        </p:txBody>
      </p:sp>
      <p:sp>
        <p:nvSpPr>
          <p:cNvPr id="7" name="TextBox 6"/>
          <p:cNvSpPr txBox="1"/>
          <p:nvPr/>
        </p:nvSpPr>
        <p:spPr>
          <a:xfrm>
            <a:off x="2280139" y="3807785"/>
            <a:ext cx="6138984" cy="461665"/>
          </a:xfrm>
          <a:prstGeom prst="rect">
            <a:avLst/>
          </a:prstGeom>
          <a:noFill/>
        </p:spPr>
        <p:txBody>
          <a:bodyPr wrap="square">
            <a:spAutoFit/>
          </a:bodyPr>
          <a:lstStyle/>
          <a:p>
            <a:pPr algn="ctr">
              <a:buNone/>
            </a:pPr>
            <a:r>
              <a:rPr lang="en-US" sz="2400" dirty="0"/>
              <a:t>*1=High, *2=Medium, *3=Low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fontAlgn="base">
              <a:buNone/>
            </a:pPr>
            <a:r>
              <a:rPr lang="en-US" b="1" dirty="0">
                <a:latin typeface="Times New Roman" panose="02020603050405020304" pitchFamily="18" charset="0"/>
                <a:cs typeface="Times New Roman" panose="02020603050405020304" pitchFamily="18" charset="0"/>
              </a:rPr>
              <a:t>PEO 1</a:t>
            </a:r>
            <a:r>
              <a:rPr lang="en-US" dirty="0">
                <a:latin typeface="Times New Roman" panose="02020603050405020304" pitchFamily="18" charset="0"/>
                <a:cs typeface="Times New Roman" panose="02020603050405020304" pitchFamily="18" charset="0"/>
              </a:rPr>
              <a:t>: Graduates of the Management program will have conceptual knowledge, to adapt to the rapidly changing environment, learn new skills and demonstrate application of management principles in a professional work setting.</a:t>
            </a:r>
          </a:p>
          <a:p>
            <a:pPr algn="just" fontAlgn="base">
              <a:buNone/>
            </a:pPr>
            <a:r>
              <a:rPr lang="en-US" b="1" dirty="0">
                <a:latin typeface="Times New Roman" panose="02020603050405020304" pitchFamily="18" charset="0"/>
                <a:cs typeface="Times New Roman" panose="02020603050405020304" pitchFamily="18" charset="0"/>
              </a:rPr>
              <a:t>PEO 2</a:t>
            </a:r>
            <a:r>
              <a:rPr lang="en-US" dirty="0">
                <a:latin typeface="Times New Roman" panose="02020603050405020304" pitchFamily="18" charset="0"/>
                <a:cs typeface="Times New Roman" panose="02020603050405020304" pitchFamily="18" charset="0"/>
              </a:rPr>
              <a:t>: Graduates will apply appropriate tools for decision making required for solving complex managerial problems in the local or global context.</a:t>
            </a:r>
          </a:p>
          <a:p>
            <a:pPr algn="just" fontAlgn="base">
              <a:buNone/>
            </a:pPr>
            <a:r>
              <a:rPr lang="en-US" b="1" dirty="0">
                <a:latin typeface="Times New Roman" panose="02020603050405020304" pitchFamily="18" charset="0"/>
                <a:cs typeface="Times New Roman" panose="02020603050405020304" pitchFamily="18" charset="0"/>
              </a:rPr>
              <a:t>PEO 3</a:t>
            </a:r>
            <a:r>
              <a:rPr lang="en-US" dirty="0">
                <a:latin typeface="Times New Roman" panose="02020603050405020304" pitchFamily="18" charset="0"/>
                <a:cs typeface="Times New Roman" panose="02020603050405020304" pitchFamily="18" charset="0"/>
              </a:rPr>
              <a:t>: Graduates of the Management program will exhibit integrity, social responsibility and teamwork.</a:t>
            </a:r>
          </a:p>
          <a:p>
            <a:pPr algn="just" fontAlgn="base">
              <a:buNone/>
            </a:pPr>
            <a:r>
              <a:rPr lang="en-US" b="1" dirty="0">
                <a:latin typeface="Times New Roman" panose="02020603050405020304" pitchFamily="18" charset="0"/>
                <a:cs typeface="Times New Roman" panose="02020603050405020304" pitchFamily="18" charset="0"/>
              </a:rPr>
              <a:t>PEO 4</a:t>
            </a:r>
            <a:r>
              <a:rPr lang="en-US" dirty="0">
                <a:latin typeface="Times New Roman" panose="02020603050405020304" pitchFamily="18" charset="0"/>
                <a:cs typeface="Times New Roman" panose="02020603050405020304" pitchFamily="18" charset="0"/>
              </a:rPr>
              <a:t>: Graduates will exhibit ethics, communication skills, leadership qualities and entrepreneurial mindset using creativity and innovation.</a:t>
            </a:r>
          </a:p>
        </p:txBody>
      </p:sp>
      <p:sp>
        <p:nvSpPr>
          <p:cNvPr id="3" name="Title 2"/>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Program Educational Objectives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Result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End Semester Question Paper Template</a:t>
            </a:r>
          </a:p>
        </p:txBody>
      </p:sp>
      <p:pic>
        <p:nvPicPr>
          <p:cNvPr id="4" name="Content Placeholder 9" descr="temp1.png"/>
          <p:cNvPicPr>
            <a:picLocks noGrp="1" noChangeAspect="1"/>
          </p:cNvPicPr>
          <p:nvPr>
            <p:ph idx="1"/>
          </p:nvPr>
        </p:nvPicPr>
        <p:blipFill>
          <a:blip r:embed="rId2"/>
          <a:stretch>
            <a:fillRect/>
          </a:stretch>
        </p:blipFill>
        <p:spPr>
          <a:xfrm>
            <a:off x="2182083" y="1047262"/>
            <a:ext cx="7774786" cy="5275383"/>
          </a:xfrm>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End Semester Question Paper Template</a:t>
            </a:r>
            <a:endParaRPr lang="en-IN" b="1" dirty="0"/>
          </a:p>
        </p:txBody>
      </p:sp>
      <p:pic>
        <p:nvPicPr>
          <p:cNvPr id="6" name="Content Placeholder 7" descr="temp3.png"/>
          <p:cNvPicPr>
            <a:picLocks noChangeAspect="1"/>
          </p:cNvPicPr>
          <p:nvPr/>
        </p:nvPicPr>
        <p:blipFill>
          <a:blip r:embed="rId2"/>
          <a:stretch>
            <a:fillRect/>
          </a:stretch>
        </p:blipFill>
        <p:spPr>
          <a:xfrm>
            <a:off x="2192215" y="1047262"/>
            <a:ext cx="7086600" cy="53951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Understanding of general management</a:t>
            </a:r>
          </a:p>
          <a:p>
            <a:pPr marL="0" indent="0">
              <a:buNone/>
            </a:pP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Perquisite/Recap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Projects are all around us. Virtually every organization runs projects, either formally or informally. Across settings, planning principles and execution methodologies can offer ways in which projects can be run more effectively and efficiently. Project management provides organizations (and individuals) with the language and the frameworks for scoping projects, sequencing activities, utilizing resources, and minimizing risks.</a:t>
            </a:r>
          </a:p>
          <a:p>
            <a:pPr algn="just"/>
            <a:endParaRPr lang="en-US"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hlinkClick r:id="rId2"/>
              </a:rPr>
              <a:t>https://www.youtube.com/watch?v=uEREF70j-yI</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hlinkClick r:id="rId3"/>
              </a:rPr>
              <a:t>https://www.youtube.com/watch?v=ewhTgzIQG84&amp;list=PLLy_2iUCG87CBuNhvti0h6W54ZmqrSDMJ&amp;index=5</a:t>
            </a:r>
            <a:endParaRPr lang="en-US"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hlinkClick r:id="rId4"/>
              </a:rPr>
              <a:t>https://www.youtube.com/watch?v=fDh0K3SYT6A&amp;list=PLLy_2iUCG87CBuNhvti0h6W54ZmqrSDMJ&amp;index=21</a:t>
            </a:r>
            <a:r>
              <a:rPr lang="en-IN" dirty="0">
                <a:latin typeface="Times New Roman" panose="02020603050405020304" pitchFamily="18" charset="0"/>
                <a:cs typeface="Times New Roman" panose="02020603050405020304" pitchFamily="18" charset="0"/>
              </a:rPr>
              <a:t> </a:t>
            </a:r>
          </a:p>
        </p:txBody>
      </p:sp>
      <p:sp>
        <p:nvSpPr>
          <p:cNvPr id="3" name="Title 2"/>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Brief Introduction about the Subject with Videos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Projects – Definition and Objectives – Project Management Vs General Management – Roles and Responsibilities of Project Manager – Selection of Project Manager – Selection of Projects – Understanding Project Life Cycle. Project Team and Scope of Project Management: Characteristics of a Project Team &amp; Project Leader, Project Organization, and Importance of Project Management</a:t>
            </a: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sz="4400" b="1" dirty="0">
                <a:latin typeface="Times New Roman" panose="02020603050405020304" pitchFamily="18" charset="0"/>
                <a:cs typeface="Times New Roman" panose="02020603050405020304" pitchFamily="18" charset="0"/>
              </a:rPr>
              <a:t>Unit Content</a:t>
            </a:r>
            <a:endParaRPr lang="en-IN"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eaLnBrk="1" hangingPunct="1">
              <a:lnSpc>
                <a:spcPct val="150000"/>
              </a:lnSpc>
              <a:buFont typeface="Arial" panose="020B0604020202020204" pitchFamily="34" charset="0"/>
              <a:buAutoNum type="arabicPeriod"/>
            </a:pPr>
            <a:r>
              <a:rPr lang="en-US" altLang="en-US" sz="3200" dirty="0">
                <a:latin typeface="Times New Roman" panose="02020603050405020304" pitchFamily="18" charset="0"/>
                <a:cs typeface="Times New Roman" panose="02020603050405020304" pitchFamily="18" charset="0"/>
              </a:rPr>
              <a:t> Understand the meaning of Project and Criteria of Good Project in Project Management.</a:t>
            </a:r>
          </a:p>
          <a:p>
            <a:pPr algn="just" eaLnBrk="1" hangingPunct="1">
              <a:lnSpc>
                <a:spcPct val="150000"/>
              </a:lnSpc>
              <a:buFont typeface="Arial" panose="020B0604020202020204" pitchFamily="34" charset="0"/>
              <a:buAutoNum type="arabicPeriod"/>
            </a:pPr>
            <a:r>
              <a:rPr lang="en-US" altLang="en-US" sz="3200" dirty="0">
                <a:latin typeface="Times New Roman" panose="02020603050405020304" pitchFamily="18" charset="0"/>
                <a:cs typeface="Times New Roman" panose="02020603050405020304" pitchFamily="18" charset="0"/>
              </a:rPr>
              <a:t> Identify the various Characteristics of project.</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Objective of Unit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715" y="1175661"/>
            <a:ext cx="6110896" cy="5001302"/>
          </a:xfrm>
        </p:spPr>
        <p:txBody>
          <a:bodyPr>
            <a:normAutofit/>
          </a:bodyPr>
          <a:lstStyle/>
          <a:p>
            <a:pPr algn="just"/>
            <a:r>
              <a:rPr lang="en-IN" sz="3200" dirty="0">
                <a:latin typeface="Times New Roman" panose="02020603050405020304" pitchFamily="18" charset="0"/>
                <a:cs typeface="Times New Roman" panose="02020603050405020304" pitchFamily="18" charset="0"/>
              </a:rPr>
              <a:t>A project is a temporary endeavour that produces a unique product, service, or result. </a:t>
            </a:r>
          </a:p>
          <a:p>
            <a:pPr algn="just"/>
            <a:r>
              <a:rPr lang="en-IN" sz="3200" dirty="0">
                <a:latin typeface="Times New Roman" panose="02020603050405020304" pitchFamily="18" charset="0"/>
                <a:cs typeface="Times New Roman" panose="02020603050405020304" pitchFamily="18" charset="0"/>
              </a:rPr>
              <a:t>Definitive start and finish dates.</a:t>
            </a:r>
          </a:p>
          <a:p>
            <a:pPr algn="just"/>
            <a:r>
              <a:rPr lang="en-IN" sz="3200" dirty="0">
                <a:latin typeface="Times New Roman" panose="02020603050405020304" pitchFamily="18" charset="0"/>
                <a:cs typeface="Times New Roman" panose="02020603050405020304" pitchFamily="18" charset="0"/>
              </a:rPr>
              <a:t>Project management is the application of tools and techniques to organize the project activities to successfully meet the project goals.</a:t>
            </a:r>
          </a:p>
          <a:p>
            <a:pPr algn="just"/>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8610" y="1447771"/>
            <a:ext cx="6064813" cy="370825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5011" y="1175661"/>
            <a:ext cx="6079957" cy="5001302"/>
          </a:xfrm>
        </p:spPr>
        <p:txBody>
          <a:bodyPr>
            <a:normAutofit/>
          </a:bodyPr>
          <a:lstStyle/>
          <a:p>
            <a:pPr algn="just"/>
            <a:r>
              <a:rPr lang="en-US" sz="3200" dirty="0">
                <a:latin typeface="Times New Roman" panose="02020603050405020304" pitchFamily="18" charset="0"/>
                <a:cs typeface="Times New Roman" panose="02020603050405020304" pitchFamily="18" charset="0"/>
              </a:rPr>
              <a:t> A project is defined as an effort to create or modify a specific product or service. </a:t>
            </a:r>
          </a:p>
          <a:p>
            <a:pPr algn="just"/>
            <a:r>
              <a:rPr lang="en-US" sz="3200" dirty="0">
                <a:latin typeface="Times New Roman" panose="02020603050405020304" pitchFamily="18" charset="0"/>
                <a:cs typeface="Times New Roman" panose="02020603050405020304" pitchFamily="18" charset="0"/>
              </a:rPr>
              <a:t>Projects are temporary work efforts with a clear beginning and end. </a:t>
            </a:r>
          </a:p>
          <a:p>
            <a:pPr algn="just"/>
            <a:r>
              <a:rPr lang="en-US" sz="3200" dirty="0">
                <a:latin typeface="Times New Roman" panose="02020603050405020304" pitchFamily="18" charset="0"/>
                <a:cs typeface="Times New Roman" panose="02020603050405020304" pitchFamily="18" charset="0"/>
              </a:rPr>
              <a:t>Projects can be completely contained within a specific unit or department, or include other organizations and vendors.</a:t>
            </a: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a:t>
            </a:r>
          </a:p>
        </p:txBody>
      </p:sp>
      <p:pic>
        <p:nvPicPr>
          <p:cNvPr id="2050" name="Picture 2" descr="Five Tips For Launching A Disciplined Project Management Approach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6681" y="1851610"/>
            <a:ext cx="4514850" cy="2962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Project Management Institute </a:t>
            </a:r>
            <a:r>
              <a:rPr lang="en-US" dirty="0">
                <a:latin typeface="Times New Roman" panose="02020603050405020304" pitchFamily="18" charset="0"/>
                <a:cs typeface="Times New Roman" panose="02020603050405020304" pitchFamily="18" charset="0"/>
              </a:rPr>
              <a:t>- 'A project is a temporary endeavor undertaken to create a unique product, service or result.’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Association for Project Management (APM) </a:t>
            </a:r>
            <a:r>
              <a:rPr lang="en-US" dirty="0">
                <a:latin typeface="Times New Roman" panose="02020603050405020304" pitchFamily="18" charset="0"/>
                <a:cs typeface="Times New Roman" panose="02020603050405020304" pitchFamily="18" charset="0"/>
              </a:rPr>
              <a:t>- 'An endeavor in which human material and financial resources are organized in a novel way to deliver a unique scope of work of given specification often within constraints of cost and time to achieve beneficial changes defined by quantitative and qualitative objectives.‘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More definitions of project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What is Project Management_ _ Introduction to Project Management - Zoho Projects">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433513" y="1059107"/>
            <a:ext cx="8890000" cy="5000625"/>
          </a:xfrm>
        </p:spPr>
      </p:pic>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Video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380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More about project management</a:t>
            </a:r>
          </a:p>
        </p:txBody>
      </p:sp>
      <p:pic>
        <p:nvPicPr>
          <p:cNvPr id="1026" name="Picture 2" descr="Project Management | Translational Research Office (TRO) - UCL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99692" y="998122"/>
            <a:ext cx="5185593" cy="51788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5011" y="1175661"/>
            <a:ext cx="11560246" cy="5001302"/>
          </a:xfrm>
        </p:spPr>
        <p:txBody>
          <a:bodyPr>
            <a:normAutofit/>
          </a:bodyPr>
          <a:lstStyle/>
          <a:p>
            <a:endParaRPr lang="en-US"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Project Management</a:t>
            </a:r>
          </a:p>
        </p:txBody>
      </p:sp>
      <p:pic>
        <p:nvPicPr>
          <p:cNvPr id="1026" name="Picture 2" descr="INSIGHTS: The Guthrie-Jensen Blog Top Project Management Approache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175661"/>
            <a:ext cx="10926762" cy="47163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715" y="1414585"/>
            <a:ext cx="11727542" cy="4762378"/>
          </a:xfrm>
        </p:spPr>
        <p:txBody>
          <a:bodyPr>
            <a:normAutofit/>
          </a:bodyPr>
          <a:lstStyle/>
          <a:p>
            <a:pPr algn="just"/>
            <a:r>
              <a:rPr lang="en-US" sz="3200" dirty="0">
                <a:latin typeface="Times New Roman" panose="02020603050405020304" pitchFamily="18" charset="0"/>
                <a:cs typeface="Times New Roman" panose="02020603050405020304" pitchFamily="18" charset="0"/>
              </a:rPr>
              <a:t>Scope Management</a:t>
            </a:r>
          </a:p>
          <a:p>
            <a:pPr algn="just"/>
            <a:r>
              <a:rPr lang="en-US" sz="3200" dirty="0">
                <a:latin typeface="Times New Roman" panose="02020603050405020304" pitchFamily="18" charset="0"/>
                <a:cs typeface="Times New Roman" panose="02020603050405020304" pitchFamily="18" charset="0"/>
              </a:rPr>
              <a:t>Issue Management</a:t>
            </a:r>
          </a:p>
          <a:p>
            <a:pPr algn="just"/>
            <a:r>
              <a:rPr lang="en-US" sz="3200" dirty="0">
                <a:latin typeface="Times New Roman" panose="02020603050405020304" pitchFamily="18" charset="0"/>
                <a:cs typeface="Times New Roman" panose="02020603050405020304" pitchFamily="18" charset="0"/>
              </a:rPr>
              <a:t>Cost Management</a:t>
            </a:r>
          </a:p>
          <a:p>
            <a:pPr algn="just"/>
            <a:r>
              <a:rPr lang="en-US" sz="3200" dirty="0">
                <a:latin typeface="Times New Roman" panose="02020603050405020304" pitchFamily="18" charset="0"/>
                <a:cs typeface="Times New Roman" panose="02020603050405020304" pitchFamily="18" charset="0"/>
              </a:rPr>
              <a:t>Quality Management</a:t>
            </a:r>
          </a:p>
          <a:p>
            <a:pPr algn="just"/>
            <a:r>
              <a:rPr lang="en-US" sz="3200" dirty="0">
                <a:latin typeface="Times New Roman" panose="02020603050405020304" pitchFamily="18" charset="0"/>
                <a:cs typeface="Times New Roman" panose="02020603050405020304" pitchFamily="18" charset="0"/>
              </a:rPr>
              <a:t>Communications Management</a:t>
            </a:r>
          </a:p>
          <a:p>
            <a:pPr algn="just"/>
            <a:r>
              <a:rPr lang="en-US" sz="3200" dirty="0">
                <a:latin typeface="Times New Roman" panose="02020603050405020304" pitchFamily="18" charset="0"/>
                <a:cs typeface="Times New Roman" panose="02020603050405020304" pitchFamily="18" charset="0"/>
              </a:rPr>
              <a:t>Risk Management</a:t>
            </a:r>
          </a:p>
          <a:p>
            <a:pPr algn="just"/>
            <a:r>
              <a:rPr lang="en-US" sz="3200" dirty="0">
                <a:latin typeface="Times New Roman" panose="02020603050405020304" pitchFamily="18" charset="0"/>
                <a:cs typeface="Times New Roman" panose="02020603050405020304" pitchFamily="18" charset="0"/>
              </a:rPr>
              <a:t>Change Control Management</a:t>
            </a:r>
          </a:p>
        </p:txBody>
      </p:sp>
      <p:sp>
        <p:nvSpPr>
          <p:cNvPr id="3" name="Title 2"/>
          <p:cNvSpPr>
            <a:spLocks noGrp="1"/>
          </p:cNvSpPr>
          <p:nvPr>
            <p:ph type="title"/>
          </p:nvPr>
        </p:nvSpPr>
        <p:spPr/>
        <p:txBody>
          <a:bodyPr/>
          <a:lstStyle/>
          <a:p>
            <a:pPr algn="ctr"/>
            <a:r>
              <a:rPr lang="en-US" altLang="en-US" sz="4800" b="1" dirty="0">
                <a:latin typeface="Times New Roman" panose="02020603050405020304" pitchFamily="18" charset="0"/>
                <a:cs typeface="Times New Roman" panose="02020603050405020304" pitchFamily="18" charset="0"/>
                <a:sym typeface="Calibri" panose="020F0502020204030204" charset="0"/>
              </a:rPr>
              <a:t> </a:t>
            </a:r>
            <a:r>
              <a:rPr lang="en-US" altLang="en-US" sz="4400" b="1" dirty="0">
                <a:latin typeface="Times New Roman" panose="02020603050405020304" pitchFamily="18" charset="0"/>
                <a:cs typeface="Times New Roman" panose="02020603050405020304" pitchFamily="18" charset="0"/>
                <a:sym typeface="Calibri" panose="020F0502020204030204" charset="0"/>
              </a:rPr>
              <a:t>Key Areas Of Project Management</a:t>
            </a:r>
            <a:endParaRPr lang="en-IN" b="1" dirty="0">
              <a:latin typeface="Times New Roman" panose="02020603050405020304" pitchFamily="18" charset="0"/>
              <a:cs typeface="Times New Roman" panose="02020603050405020304" pitchFamily="18" charset="0"/>
            </a:endParaRPr>
          </a:p>
        </p:txBody>
      </p:sp>
      <p:pic>
        <p:nvPicPr>
          <p:cNvPr id="2050" name="Picture 2" descr="7 Tips to Choosing Best Hardware Design Company In In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5540" y="1243868"/>
            <a:ext cx="5619750" cy="4667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Scope</a:t>
            </a:r>
          </a:p>
          <a:p>
            <a:pPr algn="just"/>
            <a:r>
              <a:rPr lang="en-US" b="1" dirty="0">
                <a:latin typeface="Times New Roman" panose="02020603050405020304" pitchFamily="18" charset="0"/>
                <a:cs typeface="Times New Roman" panose="02020603050405020304" pitchFamily="18" charset="0"/>
              </a:rPr>
              <a:t>Time</a:t>
            </a:r>
          </a:p>
          <a:p>
            <a:pPr algn="just"/>
            <a:r>
              <a:rPr lang="en-US" b="1" dirty="0">
                <a:latin typeface="Times New Roman" panose="02020603050405020304" pitchFamily="18" charset="0"/>
                <a:cs typeface="Times New Roman" panose="02020603050405020304" pitchFamily="18" charset="0"/>
              </a:rPr>
              <a:t>Budget</a:t>
            </a:r>
          </a:p>
          <a:p>
            <a:pPr algn="just"/>
            <a:r>
              <a:rPr lang="en-US" b="1" dirty="0">
                <a:latin typeface="Times New Roman" panose="02020603050405020304" pitchFamily="18" charset="0"/>
                <a:cs typeface="Times New Roman" panose="02020603050405020304" pitchFamily="18" charset="0"/>
              </a:rPr>
              <a:t>Schedule</a:t>
            </a:r>
          </a:p>
          <a:p>
            <a:pPr algn="just"/>
            <a:r>
              <a:rPr lang="en-US" b="1" dirty="0">
                <a:latin typeface="Times New Roman" panose="02020603050405020304" pitchFamily="18" charset="0"/>
                <a:cs typeface="Times New Roman" panose="02020603050405020304" pitchFamily="18" charset="0"/>
              </a:rPr>
              <a:t>Resources</a:t>
            </a:r>
          </a:p>
          <a:p>
            <a:pPr algn="just"/>
            <a:r>
              <a:rPr lang="en-US" b="1" dirty="0">
                <a:latin typeface="Times New Roman" panose="02020603050405020304" pitchFamily="18" charset="0"/>
                <a:cs typeface="Times New Roman" panose="02020603050405020304" pitchFamily="18" charset="0"/>
              </a:rPr>
              <a:t>Procurement</a:t>
            </a:r>
          </a:p>
          <a:p>
            <a:pPr algn="just"/>
            <a:r>
              <a:rPr lang="en-US" b="1" dirty="0">
                <a:latin typeface="Times New Roman" panose="02020603050405020304" pitchFamily="18" charset="0"/>
                <a:cs typeface="Times New Roman" panose="02020603050405020304" pitchFamily="18" charset="0"/>
              </a:rPr>
              <a:t>Risk</a:t>
            </a:r>
          </a:p>
          <a:p>
            <a:pPr algn="just"/>
            <a:r>
              <a:rPr lang="en-US" b="1" dirty="0">
                <a:latin typeface="Times New Roman" panose="02020603050405020304" pitchFamily="18" charset="0"/>
                <a:cs typeface="Times New Roman" panose="02020603050405020304" pitchFamily="18" charset="0"/>
              </a:rPr>
              <a:t>Stakeholders</a:t>
            </a:r>
          </a:p>
          <a:p>
            <a:pPr algn="just"/>
            <a:endParaRPr lang="en-US"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Autofit/>
          </a:bodyPr>
          <a:lstStyle/>
          <a:p>
            <a:pPr algn="ctr"/>
            <a:r>
              <a:rPr lang="en-US" b="1" dirty="0">
                <a:latin typeface="Times New Roman" panose="02020603050405020304" pitchFamily="18" charset="0"/>
                <a:cs typeface="Times New Roman" panose="02020603050405020304" pitchFamily="18" charset="0"/>
              </a:rPr>
              <a:t>Features/Characteristics/Components of Project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Project Stakeholders</a:t>
            </a:r>
          </a:p>
        </p:txBody>
      </p:sp>
      <p:pic>
        <p:nvPicPr>
          <p:cNvPr id="4" name="Content Placeholder 3"/>
          <p:cNvPicPr>
            <a:picLocks noGrp="1" noChangeAspect="1"/>
          </p:cNvPicPr>
          <p:nvPr>
            <p:ph idx="1"/>
          </p:nvPr>
        </p:nvPicPr>
        <p:blipFill>
          <a:blip r:embed="rId2"/>
          <a:stretch>
            <a:fillRect/>
          </a:stretch>
        </p:blipFill>
        <p:spPr>
          <a:xfrm>
            <a:off x="3037715" y="1016000"/>
            <a:ext cx="5423370" cy="525193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3200" b="1" u="sng" dirty="0">
                <a:latin typeface="Times New Roman" panose="02020603050405020304" pitchFamily="18" charset="0"/>
                <a:cs typeface="Times New Roman" panose="02020603050405020304" pitchFamily="18" charset="0"/>
              </a:rPr>
              <a:t>Engineering projects </a:t>
            </a:r>
            <a:r>
              <a:rPr lang="en-US" sz="3200" dirty="0">
                <a:latin typeface="Times New Roman" panose="02020603050405020304" pitchFamily="18" charset="0"/>
                <a:cs typeface="Times New Roman" panose="02020603050405020304" pitchFamily="18" charset="0"/>
              </a:rPr>
              <a:t>encompass civil, electrical, and mechanical engineering, and the final deliverables are physical objects, </a:t>
            </a:r>
          </a:p>
          <a:p>
            <a:pPr algn="just"/>
            <a:r>
              <a:rPr lang="en-US" sz="3200" dirty="0">
                <a:latin typeface="Times New Roman" panose="02020603050405020304" pitchFamily="18" charset="0"/>
                <a:cs typeface="Times New Roman" panose="02020603050405020304" pitchFamily="18" charset="0"/>
              </a:rPr>
              <a:t>Examples: a building, reservoir, bridge, refinery, or pre-production sample. Specialist companies or consortia invariably undertake these types of projects.</a:t>
            </a:r>
          </a:p>
          <a:p>
            <a:pPr algn="just"/>
            <a:r>
              <a:rPr lang="en-US" sz="3200" b="1" u="sng" dirty="0">
                <a:latin typeface="Times New Roman" panose="02020603050405020304" pitchFamily="18" charset="0"/>
                <a:cs typeface="Times New Roman" panose="02020603050405020304" pitchFamily="18" charset="0"/>
              </a:rPr>
              <a:t>Management projects</a:t>
            </a:r>
            <a:r>
              <a:rPr lang="en-US" sz="3200" dirty="0">
                <a:latin typeface="Times New Roman" panose="02020603050405020304" pitchFamily="18" charset="0"/>
                <a:cs typeface="Times New Roman" panose="02020603050405020304" pitchFamily="18" charset="0"/>
              </a:rPr>
              <a:t> include things like restructuring the organization, preparing for an exhibition, developing an IT system, launching a new marketing campaign, moving offices, or indeed anything where the objective is to produce a result that is not identifiable as a physical item</a:t>
            </a:r>
          </a:p>
          <a:p>
            <a:pPr algn="just"/>
            <a:endParaRPr lang="en-US" sz="32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Types of project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b="1" u="sng" dirty="0">
                <a:latin typeface="Times New Roman" panose="02020603050405020304" pitchFamily="18" charset="0"/>
                <a:cs typeface="Times New Roman" panose="02020603050405020304" pitchFamily="18" charset="0"/>
              </a:rPr>
              <a:t>Portfolio: </a:t>
            </a:r>
            <a:r>
              <a:rPr lang="en-US" dirty="0">
                <a:latin typeface="Times New Roman" panose="02020603050405020304" pitchFamily="18" charset="0"/>
                <a:cs typeface="Times New Roman" panose="02020603050405020304" pitchFamily="18" charset="0"/>
              </a:rPr>
              <a:t>Projects, programs, subsidiary portfolios, and operations managed as a group to achieve strategic objectives. </a:t>
            </a:r>
          </a:p>
          <a:p>
            <a:pPr algn="just"/>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Product: </a:t>
            </a:r>
            <a:r>
              <a:rPr lang="en-US" dirty="0">
                <a:latin typeface="Times New Roman" panose="02020603050405020304" pitchFamily="18" charset="0"/>
                <a:cs typeface="Times New Roman" panose="02020603050405020304" pitchFamily="18" charset="0"/>
              </a:rPr>
              <a:t>An artifact that is produced, is quantifiable, and can be either an end item in itself or a component item. </a:t>
            </a:r>
          </a:p>
          <a:p>
            <a:pPr algn="just"/>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Program: </a:t>
            </a:r>
            <a:r>
              <a:rPr lang="en-US" dirty="0">
                <a:latin typeface="Times New Roman" panose="02020603050405020304" pitchFamily="18" charset="0"/>
                <a:cs typeface="Times New Roman" panose="02020603050405020304" pitchFamily="18" charset="0"/>
              </a:rPr>
              <a:t>Related projects, subsidiary programs, and program activities that are managed in a coordinated manner to obtain benefits not available from managing them individually. </a:t>
            </a:r>
          </a:p>
          <a:p>
            <a:pPr algn="just"/>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Basic Terminologies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b="1" u="sng" dirty="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A temporary endeavor undertaken to create a unique product, service, or result. The temporary nature of projects indicates a beginning and an end to the project work or a phase of the project work. Projects can stand alone or be part of a program or portfolio.</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Project manager: </a:t>
            </a:r>
            <a:r>
              <a:rPr lang="en-US" dirty="0">
                <a:latin typeface="Times New Roman" panose="02020603050405020304" pitchFamily="18" charset="0"/>
                <a:cs typeface="Times New Roman" panose="02020603050405020304" pitchFamily="18" charset="0"/>
              </a:rPr>
              <a:t>The person assigned by the performing organization to lead the project team that is responsible for achieving the project objectives. Project managers perform a variety of functions, such as facilitating the project team work to achieve the outcomes and managing the processes to deliver intended outcomes.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Basic Terminologies</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Project management: </a:t>
            </a:r>
            <a:r>
              <a:rPr lang="en-US" dirty="0">
                <a:latin typeface="Times New Roman" panose="02020603050405020304" pitchFamily="18" charset="0"/>
                <a:cs typeface="Times New Roman" panose="02020603050405020304" pitchFamily="18" charset="0"/>
              </a:rPr>
              <a:t>The application of knowledge, skills, tools, and techniques to project activities to meet project requirements. Project management refers to guiding the project work to deliver the intended outcomes.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Value: </a:t>
            </a:r>
            <a:r>
              <a:rPr lang="en-US" dirty="0">
                <a:latin typeface="Times New Roman" panose="02020603050405020304" pitchFamily="18" charset="0"/>
                <a:cs typeface="Times New Roman" panose="02020603050405020304" pitchFamily="18" charset="0"/>
              </a:rPr>
              <a:t>The worth, importance, or usefulness of something. Different stakeholders perceive value in different ways. </a:t>
            </a:r>
          </a:p>
          <a:p>
            <a:pPr lvl="1" algn="just"/>
            <a:r>
              <a:rPr lang="en-US" dirty="0">
                <a:latin typeface="Times New Roman" panose="02020603050405020304" pitchFamily="18" charset="0"/>
                <a:cs typeface="Times New Roman" panose="02020603050405020304" pitchFamily="18" charset="0"/>
              </a:rPr>
              <a:t>Customers can define value as the ability to use specific features or functions of a product. </a:t>
            </a:r>
          </a:p>
          <a:p>
            <a:pPr lvl="1" algn="just"/>
            <a:r>
              <a:rPr lang="en-US" dirty="0">
                <a:latin typeface="Times New Roman" panose="02020603050405020304" pitchFamily="18" charset="0"/>
                <a:cs typeface="Times New Roman" panose="02020603050405020304" pitchFamily="18" charset="0"/>
              </a:rPr>
              <a:t>Organizations can focus on business value as determined with financial metrics, such as the benefits less the cost of achieving those benefits. </a:t>
            </a:r>
          </a:p>
          <a:p>
            <a:pPr lvl="1" algn="just"/>
            <a:r>
              <a:rPr lang="en-US" dirty="0">
                <a:latin typeface="Times New Roman" panose="02020603050405020304" pitchFamily="18" charset="0"/>
                <a:cs typeface="Times New Roman" panose="02020603050405020304" pitchFamily="18" charset="0"/>
              </a:rPr>
              <a:t>Societal value can include the contribution to groups of people, communities, or the environment.</a:t>
            </a:r>
          </a:p>
          <a:p>
            <a:pPr algn="just"/>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Basic Terminologies</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Hierarchy</a:t>
            </a:r>
          </a:p>
        </p:txBody>
      </p:sp>
      <p:pic>
        <p:nvPicPr>
          <p:cNvPr id="7" name="Content Placeholder 6"/>
          <p:cNvPicPr>
            <a:picLocks noGrp="1" noChangeAspect="1"/>
          </p:cNvPicPr>
          <p:nvPr>
            <p:ph idx="1"/>
          </p:nvPr>
        </p:nvPicPr>
        <p:blipFill>
          <a:blip r:embed="rId2"/>
          <a:stretch>
            <a:fillRect/>
          </a:stretch>
        </p:blipFill>
        <p:spPr>
          <a:xfrm>
            <a:off x="1156677" y="975789"/>
            <a:ext cx="9461414" cy="5331225"/>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Sample System for value delivery</a:t>
            </a:r>
          </a:p>
        </p:txBody>
      </p:sp>
      <p:pic>
        <p:nvPicPr>
          <p:cNvPr id="4" name="Content Placeholder 4"/>
          <p:cNvPicPr>
            <a:picLocks noChangeAspect="1"/>
          </p:cNvPicPr>
          <p:nvPr/>
        </p:nvPicPr>
        <p:blipFill>
          <a:blip r:embed="rId2"/>
          <a:stretch>
            <a:fillRect/>
          </a:stretch>
        </p:blipFill>
        <p:spPr>
          <a:xfrm>
            <a:off x="1581286" y="783633"/>
            <a:ext cx="9407950" cy="568436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Information Flow</a:t>
            </a:r>
          </a:p>
        </p:txBody>
      </p:sp>
      <p:pic>
        <p:nvPicPr>
          <p:cNvPr id="2" name="Content Placeholder 4"/>
          <p:cNvPicPr>
            <a:picLocks noGrp="1" noChangeAspect="1"/>
          </p:cNvPicPr>
          <p:nvPr>
            <p:ph idx="1"/>
          </p:nvPr>
        </p:nvPicPr>
        <p:blipFill>
          <a:blip r:embed="rId2"/>
          <a:stretch>
            <a:fillRect/>
          </a:stretch>
        </p:blipFill>
        <p:spPr>
          <a:xfrm>
            <a:off x="1830491" y="1342554"/>
            <a:ext cx="9153427" cy="4883084"/>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Define Project Management. </a:t>
            </a:r>
          </a:p>
          <a:p>
            <a:r>
              <a:rPr lang="en-US" dirty="0">
                <a:latin typeface="Times New Roman" panose="02020603050405020304" pitchFamily="18" charset="0"/>
                <a:cs typeface="Times New Roman" panose="02020603050405020304" pitchFamily="18" charset="0"/>
              </a:rPr>
              <a:t>Identify the various Characteristics of project.</a:t>
            </a:r>
          </a:p>
          <a:p>
            <a:r>
              <a:rPr lang="en-US" dirty="0">
                <a:latin typeface="Times New Roman" panose="02020603050405020304" pitchFamily="18" charset="0"/>
                <a:cs typeface="Times New Roman" panose="02020603050405020304" pitchFamily="18" charset="0"/>
              </a:rPr>
              <a:t>Discuss the types of Project.</a:t>
            </a:r>
          </a:p>
          <a:p>
            <a:r>
              <a:rPr lang="en-US" dirty="0">
                <a:latin typeface="Times New Roman" panose="02020603050405020304" pitchFamily="18" charset="0"/>
                <a:cs typeface="Times New Roman" panose="02020603050405020304" pitchFamily="18" charset="0"/>
              </a:rPr>
              <a:t>Discuss the project team.</a:t>
            </a:r>
          </a:p>
          <a:p>
            <a:r>
              <a:rPr lang="en-US" dirty="0">
                <a:latin typeface="Times New Roman" panose="02020603050405020304" pitchFamily="18" charset="0"/>
                <a:cs typeface="Times New Roman" panose="02020603050405020304" pitchFamily="18" charset="0"/>
              </a:rPr>
              <a:t>Explain the scope of Project Management.</a:t>
            </a:r>
          </a:p>
          <a:p>
            <a:r>
              <a:rPr lang="en-US" dirty="0">
                <a:latin typeface="Times New Roman" panose="02020603050405020304" pitchFamily="18" charset="0"/>
                <a:cs typeface="Times New Roman" panose="02020603050405020304" pitchFamily="18" charset="0"/>
              </a:rPr>
              <a:t>Who leads the team of project- a project manager or a leader?</a:t>
            </a:r>
          </a:p>
          <a:p>
            <a:r>
              <a:rPr lang="en-US" dirty="0">
                <a:latin typeface="Times New Roman" panose="02020603050405020304" pitchFamily="18" charset="0"/>
                <a:cs typeface="Times New Roman" panose="02020603050405020304" pitchFamily="18" charset="0"/>
              </a:rPr>
              <a:t>Is the idea a project?</a:t>
            </a:r>
          </a:p>
          <a:p>
            <a:r>
              <a:rPr lang="en-US" dirty="0">
                <a:latin typeface="Times New Roman" panose="02020603050405020304" pitchFamily="18" charset="0"/>
                <a:cs typeface="Times New Roman" panose="02020603050405020304" pitchFamily="18" charset="0"/>
              </a:rPr>
              <a:t>List the various types of projects.</a:t>
            </a:r>
          </a:p>
          <a:p>
            <a:r>
              <a:rPr lang="en-US" dirty="0">
                <a:latin typeface="Times New Roman" panose="02020603050405020304" pitchFamily="18" charset="0"/>
                <a:cs typeface="Times New Roman" panose="02020603050405020304" pitchFamily="18" charset="0"/>
              </a:rPr>
              <a:t>Define a project.</a:t>
            </a:r>
          </a:p>
          <a:p>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Daily Quiz</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The Meaning of Project Involved in Project Management.</a:t>
            </a:r>
          </a:p>
          <a:p>
            <a:r>
              <a:rPr lang="en-US" sz="3200" dirty="0">
                <a:latin typeface="Times New Roman" panose="02020603050405020304" pitchFamily="18" charset="0"/>
                <a:cs typeface="Times New Roman" panose="02020603050405020304" pitchFamily="18" charset="0"/>
              </a:rPr>
              <a:t>Project Team</a:t>
            </a:r>
          </a:p>
          <a:p>
            <a:r>
              <a:rPr lang="en-US" sz="3200" dirty="0">
                <a:latin typeface="Times New Roman" panose="02020603050405020304" pitchFamily="18" charset="0"/>
                <a:cs typeface="Times New Roman" panose="02020603050405020304" pitchFamily="18" charset="0"/>
              </a:rPr>
              <a:t>Project Manager</a:t>
            </a:r>
          </a:p>
          <a:p>
            <a:r>
              <a:rPr lang="en-US" sz="3200" dirty="0">
                <a:latin typeface="Times New Roman" panose="02020603050405020304" pitchFamily="18" charset="0"/>
                <a:cs typeface="Times New Roman" panose="02020603050405020304" pitchFamily="18" charset="0"/>
              </a:rPr>
              <a:t>The Various Characteristics of Project.</a:t>
            </a:r>
          </a:p>
          <a:p>
            <a:r>
              <a:rPr lang="en-US" sz="3200" dirty="0">
                <a:latin typeface="Times New Roman" panose="02020603050405020304" pitchFamily="18" charset="0"/>
                <a:cs typeface="Times New Roman" panose="02020603050405020304" pitchFamily="18" charset="0"/>
              </a:rPr>
              <a:t>The Formulation of Types of Project.</a:t>
            </a:r>
          </a:p>
          <a:p>
            <a:r>
              <a:rPr lang="en-US" sz="3200" dirty="0">
                <a:latin typeface="Times New Roman" panose="02020603050405020304" pitchFamily="18" charset="0"/>
                <a:cs typeface="Times New Roman" panose="02020603050405020304" pitchFamily="18" charset="0"/>
              </a:rPr>
              <a:t>The Project Team.</a:t>
            </a:r>
          </a:p>
          <a:p>
            <a:r>
              <a:rPr lang="en-US" sz="3200" dirty="0">
                <a:latin typeface="Times New Roman" panose="02020603050405020304" pitchFamily="18" charset="0"/>
                <a:cs typeface="Times New Roman" panose="02020603050405020304" pitchFamily="18" charset="0"/>
              </a:rPr>
              <a:t>The Scope of Project Management.</a:t>
            </a:r>
          </a:p>
          <a:p>
            <a:endParaRPr lang="en-IN" sz="32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Recap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7565" y="1097506"/>
            <a:ext cx="11356870" cy="5001302"/>
          </a:xfrm>
        </p:spPr>
        <p:txBody>
          <a:bodyPr>
            <a:normAutofit fontScale="92500"/>
          </a:bodyPr>
          <a:lstStyle/>
          <a:p>
            <a:pPr marL="285750" indent="-28575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Set Expectations</a:t>
            </a:r>
            <a:r>
              <a:rPr lang="en-IN" sz="3200" dirty="0">
                <a:latin typeface="Times New Roman" panose="02020603050405020304" pitchFamily="18" charset="0"/>
                <a:cs typeface="Times New Roman" panose="02020603050405020304" pitchFamily="18" charset="0"/>
              </a:rPr>
              <a:t>: Define the Project</a:t>
            </a:r>
          </a:p>
          <a:p>
            <a:pPr marL="285750" indent="-28575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Get Organized</a:t>
            </a:r>
            <a:r>
              <a:rPr lang="en-IN" sz="3200" dirty="0">
                <a:latin typeface="Times New Roman" panose="02020603050405020304" pitchFamily="18" charset="0"/>
                <a:cs typeface="Times New Roman" panose="02020603050405020304" pitchFamily="18" charset="0"/>
              </a:rPr>
              <a:t>: Create the Project Plan</a:t>
            </a:r>
          </a:p>
          <a:p>
            <a:pPr marL="285750" indent="-28575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Start at the Top</a:t>
            </a:r>
            <a:r>
              <a:rPr lang="en-IN" sz="3200" dirty="0">
                <a:latin typeface="Times New Roman" panose="02020603050405020304" pitchFamily="18" charset="0"/>
                <a:cs typeface="Times New Roman" panose="02020603050405020304" pitchFamily="18" charset="0"/>
              </a:rPr>
              <a:t>: Gain Executive Support</a:t>
            </a:r>
          </a:p>
          <a:p>
            <a:pPr marL="285750" indent="-28575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The Best Teams Deliver the Best Results</a:t>
            </a:r>
            <a:r>
              <a:rPr lang="en-IN" sz="3200" dirty="0">
                <a:latin typeface="Times New Roman" panose="02020603050405020304" pitchFamily="18" charset="0"/>
                <a:cs typeface="Times New Roman" panose="02020603050405020304" pitchFamily="18" charset="0"/>
              </a:rPr>
              <a:t>: Project Team Management</a:t>
            </a:r>
          </a:p>
          <a:p>
            <a:pPr marL="285750" indent="-28575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Prepare for the Inevitable</a:t>
            </a:r>
            <a:r>
              <a:rPr lang="en-IN" sz="3200" dirty="0">
                <a:latin typeface="Times New Roman" panose="02020603050405020304" pitchFamily="18" charset="0"/>
                <a:cs typeface="Times New Roman" panose="02020603050405020304" pitchFamily="18" charset="0"/>
              </a:rPr>
              <a:t>: Risk Management</a:t>
            </a:r>
          </a:p>
          <a:p>
            <a:endParaRPr lang="en-IN" dirty="0"/>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 Success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9938" y="1206922"/>
            <a:ext cx="9995878" cy="5001302"/>
          </a:xfrm>
        </p:spPr>
        <p:txBody>
          <a:bodyPr>
            <a:normAutofit lnSpcReduction="10000"/>
          </a:bodyPr>
          <a:lstStyle/>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Stick to the Plan</a:t>
            </a:r>
            <a:r>
              <a:rPr lang="en-US" sz="3200" dirty="0">
                <a:latin typeface="Times New Roman" panose="02020603050405020304" pitchFamily="18" charset="0"/>
                <a:cs typeface="Times New Roman" panose="02020603050405020304" pitchFamily="18" charset="0"/>
              </a:rPr>
              <a:t>: Scope Management</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Deliver on the Plan</a:t>
            </a:r>
            <a:r>
              <a:rPr lang="en-US" sz="3200" dirty="0">
                <a:latin typeface="Times New Roman" panose="02020603050405020304" pitchFamily="18" charset="0"/>
                <a:cs typeface="Times New Roman" panose="02020603050405020304" pitchFamily="18" charset="0"/>
              </a:rPr>
              <a:t>: Quality Assurance</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Spread the News</a:t>
            </a:r>
            <a:r>
              <a:rPr lang="en-US" sz="3200" dirty="0">
                <a:latin typeface="Times New Roman" panose="02020603050405020304" pitchFamily="18" charset="0"/>
                <a:cs typeface="Times New Roman" panose="02020603050405020304" pitchFamily="18" charset="0"/>
              </a:rPr>
              <a:t>: Communicate Early and Often</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Gain User Acceptance</a:t>
            </a:r>
            <a:r>
              <a:rPr lang="en-US" sz="3200" dirty="0">
                <a:latin typeface="Times New Roman" panose="02020603050405020304" pitchFamily="18" charset="0"/>
                <a:cs typeface="Times New Roman" panose="02020603050405020304" pitchFamily="18" charset="0"/>
              </a:rPr>
              <a:t>: Change Management</a:t>
            </a:r>
          </a:p>
          <a:p>
            <a:pPr marL="285750" indent="-28575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Quantify Results</a:t>
            </a:r>
            <a:r>
              <a:rPr lang="en-US" sz="3200" dirty="0">
                <a:latin typeface="Times New Roman" panose="02020603050405020304" pitchFamily="18" charset="0"/>
                <a:cs typeface="Times New Roman" panose="02020603050405020304" pitchFamily="18" charset="0"/>
              </a:rPr>
              <a:t>: Measure Project Success</a:t>
            </a: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a:t>
            </a:r>
            <a:r>
              <a:rPr lang="en-IN" dirty="0"/>
              <a:t> </a:t>
            </a:r>
            <a:r>
              <a:rPr lang="en-IN" b="1" dirty="0">
                <a:latin typeface="Times New Roman" panose="02020603050405020304" pitchFamily="18" charset="0"/>
                <a:cs typeface="Times New Roman" panose="02020603050405020304" pitchFamily="18" charset="0"/>
              </a:rPr>
              <a:t>Success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9938" y="1206922"/>
            <a:ext cx="9995878" cy="5001302"/>
          </a:xfrm>
        </p:spPr>
        <p:txBody>
          <a:bodyPr>
            <a:normAutofit/>
          </a:bodyPr>
          <a:lstStyle/>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Lack of resource planning</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Unclear Goals and Objectives</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Lack of project visibility</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Communication gaps</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Scope creep</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Unrealistic expectations</a:t>
            </a:r>
          </a:p>
          <a:p>
            <a:pPr marL="285750" indent="-285750">
              <a:buFont typeface="Arial" panose="020B0604020202020204" pitchFamily="34" charset="0"/>
              <a:buChar char="•"/>
            </a:pPr>
            <a:endParaRPr lang="en-US" sz="32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altLang="en-US" sz="4800" dirty="0">
                <a:latin typeface="Calibri" panose="020F0502020204030204" charset="0"/>
                <a:cs typeface="Calibri" panose="020F0502020204030204" charset="0"/>
                <a:sym typeface="Calibri" panose="020F0502020204030204" charset="0"/>
              </a:rPr>
              <a:t> </a:t>
            </a:r>
            <a:r>
              <a:rPr lang="en-US" altLang="en-US" b="1" dirty="0">
                <a:latin typeface="Times New Roman" panose="02020603050405020304" pitchFamily="18" charset="0"/>
                <a:cs typeface="Times New Roman" panose="02020603050405020304" pitchFamily="18" charset="0"/>
                <a:sym typeface="Calibri" panose="020F0502020204030204" charset="0"/>
              </a:rPr>
              <a:t>Project can fail due to:</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Categories of Project</a:t>
            </a:r>
          </a:p>
        </p:txBody>
      </p:sp>
      <p:graphicFrame>
        <p:nvGraphicFramePr>
          <p:cNvPr id="6" name="Content Placeholder 5"/>
          <p:cNvGraphicFramePr>
            <a:graphicFrameLocks noGrp="1"/>
          </p:cNvGraphicFramePr>
          <p:nvPr>
            <p:ph idx="1"/>
          </p:nvPr>
        </p:nvGraphicFramePr>
        <p:xfrm>
          <a:off x="217488" y="1176338"/>
          <a:ext cx="11513404" cy="4806296"/>
        </p:xfrm>
        <a:graphic>
          <a:graphicData uri="http://schemas.openxmlformats.org/drawingml/2006/table">
            <a:tbl>
              <a:tblPr/>
              <a:tblGrid>
                <a:gridCol w="1082856">
                  <a:extLst>
                    <a:ext uri="{9D8B030D-6E8A-4147-A177-3AD203B41FA5}">
                      <a16:colId xmlns:a16="http://schemas.microsoft.com/office/drawing/2014/main" val="20000"/>
                    </a:ext>
                  </a:extLst>
                </a:gridCol>
                <a:gridCol w="4553379">
                  <a:extLst>
                    <a:ext uri="{9D8B030D-6E8A-4147-A177-3AD203B41FA5}">
                      <a16:colId xmlns:a16="http://schemas.microsoft.com/office/drawing/2014/main" val="20001"/>
                    </a:ext>
                  </a:extLst>
                </a:gridCol>
                <a:gridCol w="5877169">
                  <a:extLst>
                    <a:ext uri="{9D8B030D-6E8A-4147-A177-3AD203B41FA5}">
                      <a16:colId xmlns:a16="http://schemas.microsoft.com/office/drawing/2014/main" val="20002"/>
                    </a:ext>
                  </a:extLst>
                </a:gridCol>
              </a:tblGrid>
              <a:tr h="386793">
                <a:tc>
                  <a:txBody>
                    <a:bodyPr/>
                    <a:lstStyle/>
                    <a:p>
                      <a:pPr algn="r"/>
                      <a:r>
                        <a:rPr lang="en-IN" sz="2400" i="0" dirty="0">
                          <a:effectLst/>
                          <a:latin typeface="Times New Roman" panose="02020603050405020304" pitchFamily="18" charset="0"/>
                          <a:cs typeface="Times New Roman" panose="02020603050405020304" pitchFamily="18" charset="0"/>
                        </a:rPr>
                        <a:t>1.</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Administrative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Installing a new accounting system</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793">
                <a:tc>
                  <a:txBody>
                    <a:bodyPr/>
                    <a:lstStyle/>
                    <a:p>
                      <a:pPr algn="r"/>
                      <a:r>
                        <a:rPr lang="en-IN" sz="2400" i="0">
                          <a:effectLst/>
                          <a:latin typeface="Times New Roman" panose="02020603050405020304" pitchFamily="18" charset="0"/>
                          <a:cs typeface="Times New Roman" panose="02020603050405020304" pitchFamily="18" charset="0"/>
                        </a:rPr>
                        <a:t>2.</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Construction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Building or road</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9796">
                <a:tc>
                  <a:txBody>
                    <a:bodyPr/>
                    <a:lstStyle/>
                    <a:p>
                      <a:pPr algn="r"/>
                      <a:r>
                        <a:rPr lang="en-IN" sz="2400" i="0">
                          <a:effectLst/>
                          <a:latin typeface="Times New Roman" panose="02020603050405020304" pitchFamily="18" charset="0"/>
                          <a:cs typeface="Times New Roman" panose="02020603050405020304" pitchFamily="18" charset="0"/>
                        </a:rPr>
                        <a:t>3.</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Computer Software Development</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New computer program</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793">
                <a:tc>
                  <a:txBody>
                    <a:bodyPr/>
                    <a:lstStyle/>
                    <a:p>
                      <a:pPr algn="r"/>
                      <a:r>
                        <a:rPr lang="en-IN" sz="2400" i="0">
                          <a:effectLst/>
                          <a:latin typeface="Times New Roman" panose="02020603050405020304" pitchFamily="18" charset="0"/>
                          <a:cs typeface="Times New Roman" panose="02020603050405020304" pitchFamily="18" charset="0"/>
                        </a:rPr>
                        <a:t>4.</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Design of Plans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Architectural or engineering plans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45574">
                <a:tc>
                  <a:txBody>
                    <a:bodyPr/>
                    <a:lstStyle/>
                    <a:p>
                      <a:pPr algn="r"/>
                      <a:r>
                        <a:rPr lang="en-IN" sz="2400" i="0">
                          <a:effectLst/>
                          <a:latin typeface="Times New Roman" panose="02020603050405020304" pitchFamily="18" charset="0"/>
                          <a:cs typeface="Times New Roman" panose="02020603050405020304" pitchFamily="18" charset="0"/>
                        </a:rPr>
                        <a:t>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Equipment or System Installation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Telephone system or IT system</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6793">
                <a:tc>
                  <a:txBody>
                    <a:bodyPr/>
                    <a:lstStyle/>
                    <a:p>
                      <a:pPr algn="r"/>
                      <a:r>
                        <a:rPr lang="en-IN" sz="2400" i="0">
                          <a:effectLst/>
                          <a:latin typeface="Times New Roman" panose="02020603050405020304" pitchFamily="18" charset="0"/>
                          <a:cs typeface="Times New Roman" panose="02020603050405020304" pitchFamily="18" charset="0"/>
                        </a:rPr>
                        <a:t>6.</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a:effectLst/>
                          <a:latin typeface="Times New Roman" panose="02020603050405020304" pitchFamily="18" charset="0"/>
                          <a:cs typeface="Times New Roman" panose="02020603050405020304" pitchFamily="18" charset="0"/>
                        </a:rPr>
                        <a:t>Event or Relocation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Olympiads or a move into a new building</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693670">
                <a:tc>
                  <a:txBody>
                    <a:bodyPr/>
                    <a:lstStyle/>
                    <a:p>
                      <a:pPr algn="r"/>
                      <a:r>
                        <a:rPr lang="en-IN" sz="2400" i="0">
                          <a:effectLst/>
                          <a:latin typeface="Times New Roman" panose="02020603050405020304" pitchFamily="18" charset="0"/>
                          <a:cs typeface="Times New Roman" panose="02020603050405020304" pitchFamily="18" charset="0"/>
                        </a:rPr>
                        <a:t>7.</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a:effectLst/>
                          <a:latin typeface="Times New Roman" panose="02020603050405020304" pitchFamily="18" charset="0"/>
                          <a:cs typeface="Times New Roman" panose="02020603050405020304" pitchFamily="18" charset="0"/>
                        </a:rPr>
                        <a:t>Maintenance of Process Industries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Petro-chemical plant or electric generating station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86793">
                <a:tc>
                  <a:txBody>
                    <a:bodyPr/>
                    <a:lstStyle/>
                    <a:p>
                      <a:pPr algn="r"/>
                      <a:r>
                        <a:rPr lang="en-IN" sz="2400" i="0">
                          <a:effectLst/>
                          <a:latin typeface="Times New Roman" panose="02020603050405020304" pitchFamily="18" charset="0"/>
                          <a:cs typeface="Times New Roman" panose="02020603050405020304" pitchFamily="18" charset="0"/>
                        </a:rPr>
                        <a:t>8.</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a:effectLst/>
                          <a:latin typeface="Times New Roman" panose="02020603050405020304" pitchFamily="18" charset="0"/>
                          <a:cs typeface="Times New Roman" panose="02020603050405020304" pitchFamily="18" charset="0"/>
                        </a:rPr>
                        <a:t>New Product Development</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New drug or aerospace/</a:t>
                      </a:r>
                      <a:r>
                        <a:rPr lang="en-IN" sz="2400" i="0" dirty="0" err="1">
                          <a:effectLst/>
                          <a:latin typeface="Times New Roman" panose="02020603050405020304" pitchFamily="18" charset="0"/>
                          <a:cs typeface="Times New Roman" panose="02020603050405020304" pitchFamily="18" charset="0"/>
                        </a:rPr>
                        <a:t>defense</a:t>
                      </a:r>
                      <a:r>
                        <a:rPr lang="en-IN" sz="2400" i="0" dirty="0">
                          <a:effectLst/>
                          <a:latin typeface="Times New Roman" panose="02020603050405020304" pitchFamily="18" charset="0"/>
                          <a:cs typeface="Times New Roman" panose="02020603050405020304" pitchFamily="18" charset="0"/>
                        </a:rPr>
                        <a:t> product</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693670">
                <a:tc>
                  <a:txBody>
                    <a:bodyPr/>
                    <a:lstStyle/>
                    <a:p>
                      <a:pPr algn="r"/>
                      <a:r>
                        <a:rPr lang="en-IN" sz="2400" i="0">
                          <a:effectLst/>
                          <a:latin typeface="Times New Roman" panose="02020603050405020304" pitchFamily="18" charset="0"/>
                          <a:cs typeface="Times New Roman" panose="02020603050405020304" pitchFamily="18" charset="0"/>
                        </a:rPr>
                        <a:t>9.</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a:effectLst/>
                          <a:latin typeface="Times New Roman" panose="02020603050405020304" pitchFamily="18" charset="0"/>
                          <a:cs typeface="Times New Roman" panose="02020603050405020304" pitchFamily="18" charset="0"/>
                        </a:rPr>
                        <a:t>Research</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i="0" dirty="0">
                          <a:effectLst/>
                          <a:latin typeface="Times New Roman" panose="02020603050405020304" pitchFamily="18" charset="0"/>
                          <a:cs typeface="Times New Roman" panose="02020603050405020304" pitchFamily="18" charset="0"/>
                        </a:rPr>
                        <a:t>Feasibility study or investigating a chemical</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 vs. Regular Operations</a:t>
            </a:r>
          </a:p>
        </p:txBody>
      </p:sp>
      <p:sp>
        <p:nvSpPr>
          <p:cNvPr id="4" name="Content Placeholder 3"/>
          <p:cNvSpPr>
            <a:spLocks noGrp="1"/>
          </p:cNvSpPr>
          <p:nvPr>
            <p:ph idx="1"/>
          </p:nvPr>
        </p:nvSpPr>
        <p:spPr/>
        <p:txBody>
          <a:bodyPr>
            <a:normAutofit/>
          </a:bodyPr>
          <a:lstStyle/>
          <a:p>
            <a:r>
              <a:rPr lang="en-IN" sz="3200" b="1" u="sng" dirty="0">
                <a:latin typeface="Times New Roman" panose="02020603050405020304" pitchFamily="18" charset="0"/>
                <a:cs typeface="Times New Roman" panose="02020603050405020304" pitchFamily="18" charset="0"/>
              </a:rPr>
              <a:t>Project</a:t>
            </a:r>
          </a:p>
          <a:p>
            <a:pPr lvl="1"/>
            <a:r>
              <a:rPr lang="en-US" sz="3200" dirty="0">
                <a:latin typeface="Times New Roman" panose="02020603050405020304" pitchFamily="18" charset="0"/>
                <a:cs typeface="Times New Roman" panose="02020603050405020304" pitchFamily="18" charset="0"/>
              </a:rPr>
              <a:t>temporary - they have a definitive beginning and end</a:t>
            </a:r>
          </a:p>
          <a:p>
            <a:pPr lvl="1"/>
            <a:r>
              <a:rPr lang="en-US" sz="3200" dirty="0">
                <a:latin typeface="Times New Roman" panose="02020603050405020304" pitchFamily="18" charset="0"/>
                <a:cs typeface="Times New Roman" panose="02020603050405020304" pitchFamily="18" charset="0"/>
              </a:rPr>
              <a:t>unique - they are a new undertaking, unexplored ground</a:t>
            </a:r>
          </a:p>
          <a:p>
            <a:pPr lvl="1"/>
            <a:endParaRPr lang="en-IN" sz="3200" dirty="0">
              <a:latin typeface="Times New Roman" panose="02020603050405020304" pitchFamily="18" charset="0"/>
              <a:cs typeface="Times New Roman" panose="02020603050405020304" pitchFamily="18" charset="0"/>
            </a:endParaRPr>
          </a:p>
          <a:p>
            <a:pPr marL="228600" lvl="1">
              <a:spcBef>
                <a:spcPts val="1000"/>
              </a:spcBef>
            </a:pPr>
            <a:r>
              <a:rPr lang="en-IN" sz="3200" b="1" u="sng" dirty="0">
                <a:latin typeface="Times New Roman" panose="02020603050405020304" pitchFamily="18" charset="0"/>
                <a:cs typeface="Times New Roman" panose="02020603050405020304" pitchFamily="18" charset="0"/>
              </a:rPr>
              <a:t>Regular Operations</a:t>
            </a:r>
          </a:p>
          <a:p>
            <a:pPr marL="685800" lvl="2">
              <a:spcBef>
                <a:spcPts val="1000"/>
              </a:spcBef>
            </a:pPr>
            <a:r>
              <a:rPr lang="en-US" sz="3200" dirty="0">
                <a:latin typeface="Times New Roman" panose="02020603050405020304" pitchFamily="18" charset="0"/>
                <a:cs typeface="Times New Roman" panose="02020603050405020304" pitchFamily="18" charset="0"/>
              </a:rPr>
              <a:t>repetitive - they have expected inputs and outputs every time</a:t>
            </a:r>
          </a:p>
          <a:p>
            <a:pPr marL="685800" lvl="2">
              <a:spcBef>
                <a:spcPts val="1000"/>
              </a:spcBef>
            </a:pPr>
            <a:r>
              <a:rPr lang="en-US" sz="3200" dirty="0">
                <a:latin typeface="Times New Roman" panose="02020603050405020304" pitchFamily="18" charset="0"/>
                <a:cs typeface="Times New Roman" panose="02020603050405020304" pitchFamily="18" charset="0"/>
              </a:rPr>
              <a:t>ongoing - they have a continuous cycle of execution</a:t>
            </a:r>
          </a:p>
          <a:p>
            <a:pPr marL="685800" lvl="2">
              <a:spcBef>
                <a:spcPts val="1000"/>
              </a:spcBef>
            </a:pPr>
            <a:endParaRPr lang="en-IN" sz="3200" dirty="0">
              <a:latin typeface="Times New Roman" panose="02020603050405020304" pitchFamily="18" charset="0"/>
              <a:cs typeface="Times New Roman" panose="02020603050405020304" pitchFamily="18" charset="0"/>
            </a:endParaRPr>
          </a:p>
          <a:p>
            <a:pPr marL="457200" lvl="1" indent="0">
              <a:buNone/>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Daily Quiz</a:t>
            </a:r>
          </a:p>
        </p:txBody>
      </p:sp>
      <p:sp>
        <p:nvSpPr>
          <p:cNvPr id="4" name="Content Placeholder 3"/>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State the difference between project and regular operations. </a:t>
            </a:r>
          </a:p>
          <a:p>
            <a:r>
              <a:rPr lang="en-IN" sz="3200" dirty="0">
                <a:latin typeface="Times New Roman" panose="02020603050405020304" pitchFamily="18" charset="0"/>
                <a:cs typeface="Times New Roman" panose="02020603050405020304" pitchFamily="18" charset="0"/>
              </a:rPr>
              <a:t>Illustrate the factors that lead to failure of the project.</a:t>
            </a:r>
          </a:p>
          <a:p>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 Life Cycle</a:t>
            </a: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3908" y="1578603"/>
            <a:ext cx="9362830" cy="40775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Step 1: Definition</a:t>
            </a:r>
          </a:p>
        </p:txBody>
      </p:sp>
      <p:sp>
        <p:nvSpPr>
          <p:cNvPr id="5" name="Content Placeholder 4"/>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Project manager must prove that the project has value and is feasible.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project charter, which is a document that conveys what the project is going to deliver, is created. A project brief serves a similar purpose.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This project management stage culminates in a project kickoff meeting, where the team, stakeholders, and other relevant parties are brought together to lay out the project goals, schedule, processes, and the chain of communication.</a:t>
            </a:r>
          </a:p>
          <a:p>
            <a:pPr algn="just"/>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Step 2: Planning (Generating Concepts)</a:t>
            </a:r>
          </a:p>
        </p:txBody>
      </p:sp>
      <p:sp>
        <p:nvSpPr>
          <p:cNvPr id="5" name="Content Placeholder 4"/>
          <p:cNvSpPr>
            <a:spLocks noGrp="1"/>
          </p:cNvSpPr>
          <p:nvPr>
            <p:ph idx="1"/>
          </p:nvPr>
        </p:nvSpPr>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The project plan must include every component associated with the execution of the project, including the costs, risks, resources and timeline.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project scope (the work required to complete the project) is defined using a work breakdown structure (WBS).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Project managers often lay out their project plan using a Gantt chart, which provides a visual representation of the entire project. This provides a roadmap for the work until the project reaches its conclusion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Step 3: Executing (Develop A Solution)</a:t>
            </a:r>
          </a:p>
        </p:txBody>
      </p:sp>
      <p:sp>
        <p:nvSpPr>
          <p:cNvPr id="5" name="Content Placeholder 4"/>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tasks and milestones outlined in the plan are tackled to produce the deliverable to the client’s or stakeholder’s satisfaction.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Along the way, the project manager will reallocate resources as needed to keep the team working. In addition, they will identify and mitigate risks, deal with problems and incorporate any changes.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IN" b="1" dirty="0">
                <a:latin typeface="Times New Roman" panose="02020603050405020304" pitchFamily="18" charset="0"/>
                <a:cs typeface="Times New Roman" panose="02020603050405020304" pitchFamily="18" charset="0"/>
              </a:rPr>
              <a:t>Step 4: </a:t>
            </a:r>
            <a:r>
              <a:rPr lang="en-US" b="1" dirty="0">
                <a:latin typeface="Times New Roman" panose="02020603050405020304" pitchFamily="18" charset="0"/>
                <a:cs typeface="Times New Roman" panose="02020603050405020304" pitchFamily="18" charset="0"/>
              </a:rPr>
              <a:t>Monitoring And Controlling (Construct and Test Prototype)</a:t>
            </a:r>
            <a:endParaRPr lang="en-IN"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Monitoring the progress and performance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Quality control procedures are applied to guarantee quality assurance.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biggest issues in a project are typically related to three factors—time, cost and scope, which collectively are referred to as the triple constraint.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IN" b="1" dirty="0">
                <a:latin typeface="Times New Roman" panose="02020603050405020304" pitchFamily="18" charset="0"/>
                <a:cs typeface="Times New Roman" panose="02020603050405020304" pitchFamily="18" charset="0"/>
              </a:rPr>
              <a:t>Step 5: </a:t>
            </a:r>
            <a:r>
              <a:rPr lang="en-US" b="1" dirty="0">
                <a:latin typeface="Times New Roman" panose="02020603050405020304" pitchFamily="18" charset="0"/>
                <a:cs typeface="Times New Roman" panose="02020603050405020304" pitchFamily="18" charset="0"/>
              </a:rPr>
              <a:t>Closing (Evaluate And Present Solution)</a:t>
            </a:r>
            <a:endParaRPr lang="en-IN"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fifth project management phase is project closure, in which the final deliverables are presented to the client or stakeholder. </a:t>
            </a:r>
          </a:p>
          <a:p>
            <a:pPr algn="just"/>
            <a:r>
              <a:rPr lang="en-US" sz="3200" dirty="0">
                <a:latin typeface="Times New Roman" panose="02020603050405020304" pitchFamily="18" charset="0"/>
                <a:cs typeface="Times New Roman" panose="02020603050405020304" pitchFamily="18" charset="0"/>
              </a:rPr>
              <a:t>At this point the project manager and team can conduct a post-mortem to evaluate the lessons learned from the project.</a:t>
            </a:r>
          </a:p>
          <a:p>
            <a:pPr algn="just"/>
            <a:r>
              <a:rPr lang="en-US" sz="3200" dirty="0">
                <a:latin typeface="Times New Roman" panose="02020603050405020304" pitchFamily="18" charset="0"/>
                <a:cs typeface="Times New Roman" panose="02020603050405020304" pitchFamily="18" charset="0"/>
              </a:rPr>
              <a:t>Depending on the project, the closure phase may include handing over control to a different team, such as an operations management team. </a:t>
            </a:r>
          </a:p>
          <a:p>
            <a:pPr algn="just"/>
            <a:r>
              <a:rPr lang="en-US" sz="3200" dirty="0">
                <a:latin typeface="Times New Roman" panose="02020603050405020304" pitchFamily="18" charset="0"/>
                <a:cs typeface="Times New Roman" panose="02020603050405020304" pitchFamily="18" charset="0"/>
              </a:rPr>
              <a:t>In this case, it is the job of the project manager to ensure such a transition occurs smoothly.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Product and Project Life Cycle</a:t>
            </a:r>
          </a:p>
        </p:txBody>
      </p:sp>
      <p:pic>
        <p:nvPicPr>
          <p:cNvPr id="2" name="Content Placeholder 1"/>
          <p:cNvPicPr>
            <a:picLocks noGrp="1" noChangeAspect="1"/>
          </p:cNvPicPr>
          <p:nvPr>
            <p:ph idx="1"/>
          </p:nvPr>
        </p:nvPicPr>
        <p:blipFill>
          <a:blip r:embed="rId2"/>
          <a:stretch>
            <a:fillRect/>
          </a:stretch>
        </p:blipFill>
        <p:spPr>
          <a:xfrm>
            <a:off x="2092778" y="1022103"/>
            <a:ext cx="7860676" cy="502016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dirty="0">
                <a:latin typeface="Times New Roman" panose="02020603050405020304" pitchFamily="18" charset="0"/>
                <a:cs typeface="Times New Roman" panose="02020603050405020304" pitchFamily="18" charset="0"/>
              </a:rPr>
              <a:t>Building a deck (Yes/No)</a:t>
            </a:r>
          </a:p>
          <a:p>
            <a:r>
              <a:rPr lang="en-US" dirty="0">
                <a:latin typeface="Times New Roman" panose="02020603050405020304" pitchFamily="18" charset="0"/>
                <a:cs typeface="Times New Roman" panose="02020603050405020304" pitchFamily="18" charset="0"/>
              </a:rPr>
              <a:t>Implementing a new system (Yes/No)</a:t>
            </a:r>
          </a:p>
          <a:p>
            <a:r>
              <a:rPr lang="en-US" dirty="0">
                <a:latin typeface="Times New Roman" panose="02020603050405020304" pitchFamily="18" charset="0"/>
                <a:cs typeface="Times New Roman" panose="02020603050405020304" pitchFamily="18" charset="0"/>
              </a:rPr>
              <a:t>Mowing the lawn (Yes/No)</a:t>
            </a:r>
          </a:p>
          <a:p>
            <a:r>
              <a:rPr lang="en-US" dirty="0">
                <a:latin typeface="Times New Roman" panose="02020603050405020304" pitchFamily="18" charset="0"/>
                <a:cs typeface="Times New Roman" panose="02020603050405020304" pitchFamily="18" charset="0"/>
              </a:rPr>
              <a:t>Planning a wedding (Yes/No)</a:t>
            </a:r>
          </a:p>
          <a:p>
            <a:r>
              <a:rPr lang="en-US" dirty="0">
                <a:latin typeface="Times New Roman" panose="02020603050405020304" pitchFamily="18" charset="0"/>
                <a:cs typeface="Times New Roman" panose="02020603050405020304" pitchFamily="18" charset="0"/>
              </a:rPr>
              <a:t>Planning a fundraiser (Yes/No)</a:t>
            </a:r>
          </a:p>
          <a:p>
            <a:r>
              <a:rPr lang="en-US" dirty="0">
                <a:latin typeface="Times New Roman" panose="02020603050405020304" pitchFamily="18" charset="0"/>
                <a:cs typeface="Times New Roman" panose="02020603050405020304" pitchFamily="18" charset="0"/>
              </a:rPr>
              <a:t>Planning a student graduation (Yes/No)</a:t>
            </a:r>
          </a:p>
          <a:p>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Quiz: Are these Projects?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716" y="1175661"/>
            <a:ext cx="5424992" cy="5001302"/>
          </a:xfrm>
        </p:spPr>
        <p:txBody>
          <a:bodyPr>
            <a:noAutofit/>
          </a:bodyPr>
          <a:lstStyle/>
          <a:p>
            <a:pPr algn="just"/>
            <a:r>
              <a:rPr lang="en-US" dirty="0">
                <a:latin typeface="Times New Roman" panose="02020603050405020304" pitchFamily="18" charset="0"/>
                <a:cs typeface="Times New Roman" panose="02020603050405020304" pitchFamily="18" charset="0"/>
              </a:rPr>
              <a:t>Project organization refers to the style of coordination, communication, and management the project team uses throughout a project lifecycle.</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Create an environment that encourages the development of interactions between team members with very less amount of disruptions, overlaps, and conflicts.</a:t>
            </a: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Project Organization</a:t>
            </a:r>
          </a:p>
        </p:txBody>
      </p:sp>
      <p:pic>
        <p:nvPicPr>
          <p:cNvPr id="5122" name="Picture 2" descr="Project Organization - Definition, Types and Chart | Marketing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7158" y="1328614"/>
            <a:ext cx="5522871" cy="31066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688016" y="4906819"/>
            <a:ext cx="5152013" cy="830997"/>
          </a:xfrm>
          <a:prstGeom prst="rect">
            <a:avLst/>
          </a:prstGeom>
          <a:noFill/>
        </p:spPr>
        <p:txBody>
          <a:bodyPr wrap="square">
            <a:spAutoFit/>
          </a:bodyPr>
          <a:lstStyle/>
          <a:p>
            <a:pPr algn="ctr"/>
            <a:r>
              <a:rPr lang="en-US" sz="2400" b="0" i="1" dirty="0">
                <a:solidFill>
                  <a:srgbClr val="5E6D55"/>
                </a:solidFill>
                <a:effectLst/>
                <a:latin typeface="Times New Roman" panose="02020603050405020304" pitchFamily="18" charset="0"/>
                <a:cs typeface="Times New Roman" panose="02020603050405020304" pitchFamily="18" charset="0"/>
              </a:rPr>
              <a:t>“Project organization is all about thinking ahead.”</a:t>
            </a:r>
            <a:endParaRPr lang="en-IN" sz="24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r>
              <a:rPr lang="en-US" dirty="0">
                <a:latin typeface="Times New Roman" panose="02020603050405020304" pitchFamily="18" charset="0"/>
                <a:cs typeface="Times New Roman" panose="02020603050405020304" pitchFamily="18" charset="0"/>
              </a:rPr>
              <a:t>Definition of process even maintenance of project process</a:t>
            </a:r>
          </a:p>
          <a:p>
            <a:pPr algn="just"/>
            <a:r>
              <a:rPr lang="en-IN" dirty="0">
                <a:latin typeface="Times New Roman" panose="02020603050405020304" pitchFamily="18" charset="0"/>
                <a:cs typeface="Times New Roman" panose="02020603050405020304" pitchFamily="18" charset="0"/>
              </a:rPr>
              <a:t>Process automation</a:t>
            </a:r>
          </a:p>
          <a:p>
            <a:pPr algn="just"/>
            <a:r>
              <a:rPr lang="en-US" dirty="0">
                <a:latin typeface="Times New Roman" panose="02020603050405020304" pitchFamily="18" charset="0"/>
                <a:cs typeface="Times New Roman" panose="02020603050405020304" pitchFamily="18" charset="0"/>
              </a:rPr>
              <a:t> The organization’s role or role of process automation is taken and achieved by a single individual or various other teams.</a:t>
            </a: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Responsibility of Project Organization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lnSpc>
                <a:spcPct val="100000"/>
              </a:lnSpc>
              <a:buFont typeface="Arial" panose="020B0604020202020204" pitchFamily="34" charset="0"/>
              <a:buChar char="•"/>
            </a:pPr>
            <a:r>
              <a:rPr lang="en-US" b="1" i="0" dirty="0">
                <a:solidFill>
                  <a:srgbClr val="101423"/>
                </a:solidFill>
                <a:effectLst/>
                <a:latin typeface="Times New Roman" panose="02020603050405020304" pitchFamily="18" charset="0"/>
                <a:cs typeface="Times New Roman" panose="02020603050405020304" pitchFamily="18" charset="0"/>
              </a:rPr>
              <a:t>Functional</a:t>
            </a:r>
            <a:r>
              <a:rPr lang="en-US" b="0" i="0" dirty="0">
                <a:solidFill>
                  <a:srgbClr val="101423"/>
                </a:solidFill>
                <a:effectLst/>
                <a:latin typeface="Times New Roman" panose="02020603050405020304" pitchFamily="18" charset="0"/>
                <a:cs typeface="Times New Roman" panose="02020603050405020304" pitchFamily="18" charset="0"/>
              </a:rPr>
              <a:t> is when the organizational departments are grouped by areas of specialization. In this case, the project is usually executed in a silo environment.</a:t>
            </a:r>
          </a:p>
          <a:p>
            <a:pPr algn="just">
              <a:lnSpc>
                <a:spcPct val="100000"/>
              </a:lnSpc>
              <a:buFont typeface="Arial" panose="020B0604020202020204" pitchFamily="34" charset="0"/>
              <a:buChar char="•"/>
            </a:pPr>
            <a:r>
              <a:rPr lang="en-US" b="1" i="0" dirty="0">
                <a:solidFill>
                  <a:srgbClr val="101423"/>
                </a:solidFill>
                <a:effectLst/>
                <a:latin typeface="Times New Roman" panose="02020603050405020304" pitchFamily="18" charset="0"/>
                <a:cs typeface="Times New Roman" panose="02020603050405020304" pitchFamily="18" charset="0"/>
              </a:rPr>
              <a:t>Projectized</a:t>
            </a:r>
            <a:r>
              <a:rPr lang="en-US" b="0" i="0" dirty="0">
                <a:solidFill>
                  <a:srgbClr val="101423"/>
                </a:solidFill>
                <a:effectLst/>
                <a:latin typeface="Times New Roman" panose="02020603050405020304" pitchFamily="18" charset="0"/>
                <a:cs typeface="Times New Roman" panose="02020603050405020304" pitchFamily="18" charset="0"/>
              </a:rPr>
              <a:t> is when the entire organization is organized by the project.</a:t>
            </a:r>
          </a:p>
          <a:p>
            <a:pPr algn="just">
              <a:lnSpc>
                <a:spcPct val="100000"/>
              </a:lnSpc>
              <a:buFont typeface="Arial" panose="020B0604020202020204" pitchFamily="34" charset="0"/>
              <a:buChar char="•"/>
            </a:pPr>
            <a:r>
              <a:rPr lang="en-US" b="1" dirty="0">
                <a:solidFill>
                  <a:srgbClr val="101423"/>
                </a:solidFill>
                <a:latin typeface="Times New Roman" panose="02020603050405020304" pitchFamily="18" charset="0"/>
                <a:cs typeface="Times New Roman" panose="02020603050405020304" pitchFamily="18" charset="0"/>
              </a:rPr>
              <a:t>Matrix </a:t>
            </a:r>
            <a:r>
              <a:rPr lang="en-US" b="0" i="0" dirty="0">
                <a:solidFill>
                  <a:srgbClr val="101423"/>
                </a:solidFill>
                <a:effectLst/>
                <a:latin typeface="Times New Roman" panose="02020603050405020304" pitchFamily="18" charset="0"/>
                <a:cs typeface="Times New Roman" panose="02020603050405020304" pitchFamily="18" charset="0"/>
              </a:rPr>
              <a:t>has teams report to both a functional manager and project manager, sort of a hybrid of the previous two structures.</a:t>
            </a:r>
          </a:p>
          <a:p>
            <a:pPr algn="just">
              <a:lnSpc>
                <a:spcPct val="100000"/>
              </a:lnSpc>
              <a:buFont typeface="Arial" panose="020B0604020202020204" pitchFamily="34" charset="0"/>
              <a:buChar char="•"/>
            </a:pPr>
            <a:r>
              <a:rPr lang="en-US" b="1" i="0" dirty="0">
                <a:solidFill>
                  <a:srgbClr val="101423"/>
                </a:solidFill>
                <a:effectLst/>
                <a:latin typeface="Times New Roman" panose="02020603050405020304" pitchFamily="18" charset="0"/>
                <a:cs typeface="Times New Roman" panose="02020603050405020304" pitchFamily="18" charset="0"/>
              </a:rPr>
              <a:t>Organic</a:t>
            </a:r>
            <a:r>
              <a:rPr lang="en-US" b="0" i="0" dirty="0">
                <a:solidFill>
                  <a:srgbClr val="101423"/>
                </a:solidFill>
                <a:effectLst/>
                <a:latin typeface="Times New Roman" panose="02020603050405020304" pitchFamily="18" charset="0"/>
                <a:cs typeface="Times New Roman" panose="02020603050405020304" pitchFamily="18" charset="0"/>
              </a:rPr>
              <a:t> project organization embraces flexibility.</a:t>
            </a:r>
          </a:p>
          <a:p>
            <a:pPr algn="just">
              <a:lnSpc>
                <a:spcPct val="100000"/>
              </a:lnSpc>
              <a:buFont typeface="Arial" panose="020B0604020202020204" pitchFamily="34" charset="0"/>
              <a:buChar char="•"/>
            </a:pPr>
            <a:r>
              <a:rPr lang="en-US" b="1" i="0" dirty="0">
                <a:solidFill>
                  <a:srgbClr val="101423"/>
                </a:solidFill>
                <a:effectLst/>
                <a:latin typeface="Times New Roman" panose="02020603050405020304" pitchFamily="18" charset="0"/>
                <a:cs typeface="Times New Roman" panose="02020603050405020304" pitchFamily="18" charset="0"/>
              </a:rPr>
              <a:t>Virtual</a:t>
            </a:r>
            <a:r>
              <a:rPr lang="en-US" b="0" i="0" dirty="0">
                <a:solidFill>
                  <a:srgbClr val="101423"/>
                </a:solidFill>
                <a:effectLst/>
                <a:latin typeface="Times New Roman" panose="02020603050405020304" pitchFamily="18" charset="0"/>
                <a:cs typeface="Times New Roman" panose="02020603050405020304" pitchFamily="18" charset="0"/>
              </a:rPr>
              <a:t> is when the project manager is the hub in the network.</a:t>
            </a:r>
          </a:p>
          <a:p>
            <a:pPr algn="just">
              <a:lnSpc>
                <a:spcPct val="100000"/>
              </a:lnSpc>
              <a:buFont typeface="Arial" panose="020B0604020202020204" pitchFamily="34" charset="0"/>
              <a:buChar char="•"/>
            </a:pPr>
            <a:r>
              <a:rPr lang="en-US" b="1" i="0" dirty="0">
                <a:solidFill>
                  <a:srgbClr val="101423"/>
                </a:solidFill>
                <a:effectLst/>
                <a:latin typeface="Times New Roman" panose="02020603050405020304" pitchFamily="18" charset="0"/>
                <a:cs typeface="Times New Roman" panose="02020603050405020304" pitchFamily="18" charset="0"/>
              </a:rPr>
              <a:t>Multi-division</a:t>
            </a:r>
            <a:r>
              <a:rPr lang="en-US" b="0" i="0" dirty="0">
                <a:solidFill>
                  <a:srgbClr val="101423"/>
                </a:solidFill>
                <a:effectLst/>
                <a:latin typeface="Times New Roman" panose="02020603050405020304" pitchFamily="18" charset="0"/>
                <a:cs typeface="Times New Roman" panose="02020603050405020304" pitchFamily="18" charset="0"/>
              </a:rPr>
              <a:t> means that functional groups are decentralized.</a:t>
            </a:r>
          </a:p>
        </p:txBody>
      </p:sp>
      <p:sp>
        <p:nvSpPr>
          <p:cNvPr id="3" name="Title 2"/>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Types of Project Organizational Structures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A85143-51F3-DFAF-CF6F-D5C71AE67DDF}"/>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57CF6148-F70B-583C-4A25-04EA4E184A49}"/>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42541192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FCCCF6-BB43-553B-B0C5-4AB95C226246}"/>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DE6F1497-7039-1F35-0B33-86FB1F48E46A}"/>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32299389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lgn="just">
              <a:lnSpc>
                <a:spcPct val="100000"/>
              </a:lnSpc>
              <a:buNone/>
            </a:pPr>
            <a:r>
              <a:rPr lang="en-US" b="0" i="0" dirty="0">
                <a:solidFill>
                  <a:srgbClr val="101423"/>
                </a:solidFill>
                <a:effectLst/>
                <a:latin typeface="Times New Roman" panose="02020603050405020304" pitchFamily="18" charset="0"/>
                <a:cs typeface="Times New Roman" panose="02020603050405020304" pitchFamily="18" charset="0"/>
              </a:rPr>
              <a:t>1. Clear project requirements</a:t>
            </a:r>
          </a:p>
          <a:p>
            <a:pPr marL="0" indent="0" algn="just">
              <a:lnSpc>
                <a:spcPct val="100000"/>
              </a:lnSpc>
              <a:buNone/>
            </a:pPr>
            <a:r>
              <a:rPr lang="en-IN" b="0" i="0" dirty="0">
                <a:solidFill>
                  <a:srgbClr val="001E00"/>
                </a:solidFill>
                <a:effectLst/>
                <a:latin typeface="Times New Roman" panose="02020603050405020304" pitchFamily="18" charset="0"/>
                <a:cs typeface="Times New Roman" panose="02020603050405020304" pitchFamily="18" charset="0"/>
              </a:rPr>
              <a:t>2. Alignment among stakeholders</a:t>
            </a:r>
          </a:p>
          <a:p>
            <a:pPr marL="0" indent="0" algn="just">
              <a:lnSpc>
                <a:spcPct val="100000"/>
              </a:lnSpc>
              <a:buNone/>
            </a:pPr>
            <a:r>
              <a:rPr lang="en-US" b="0" i="0" dirty="0">
                <a:solidFill>
                  <a:srgbClr val="001E00"/>
                </a:solidFill>
                <a:effectLst/>
                <a:latin typeface="Times New Roman" panose="02020603050405020304" pitchFamily="18" charset="0"/>
                <a:cs typeface="Times New Roman" panose="02020603050405020304" pitchFamily="18" charset="0"/>
              </a:rPr>
              <a:t>3. Resources available and needed</a:t>
            </a:r>
          </a:p>
          <a:p>
            <a:pPr marL="0" indent="0" algn="just">
              <a:lnSpc>
                <a:spcPct val="100000"/>
              </a:lnSpc>
              <a:buNone/>
            </a:pPr>
            <a:r>
              <a:rPr lang="en-IN" b="0" i="0" dirty="0">
                <a:solidFill>
                  <a:srgbClr val="001E00"/>
                </a:solidFill>
                <a:effectLst/>
                <a:latin typeface="Times New Roman" panose="02020603050405020304" pitchFamily="18" charset="0"/>
                <a:cs typeface="Times New Roman" panose="02020603050405020304" pitchFamily="18" charset="0"/>
              </a:rPr>
              <a:t>4. Communication planning</a:t>
            </a:r>
          </a:p>
          <a:p>
            <a:pPr marL="0" indent="0" algn="just">
              <a:lnSpc>
                <a:spcPct val="100000"/>
              </a:lnSpc>
              <a:buNone/>
            </a:pPr>
            <a:r>
              <a:rPr lang="en-US" b="0" i="0" dirty="0">
                <a:solidFill>
                  <a:srgbClr val="001E00"/>
                </a:solidFill>
                <a:effectLst/>
                <a:latin typeface="Times New Roman" panose="02020603050405020304" pitchFamily="18" charset="0"/>
                <a:cs typeface="Times New Roman" panose="02020603050405020304" pitchFamily="18" charset="0"/>
              </a:rPr>
              <a:t>5. Review and feedback process</a:t>
            </a:r>
          </a:p>
          <a:p>
            <a:pPr marL="0" indent="0" algn="just">
              <a:lnSpc>
                <a:spcPct val="100000"/>
              </a:lnSpc>
              <a:buNone/>
            </a:pPr>
            <a:r>
              <a:rPr lang="en-US" b="0" i="0" dirty="0">
                <a:solidFill>
                  <a:srgbClr val="001E00"/>
                </a:solidFill>
                <a:effectLst/>
                <a:latin typeface="Times New Roman" panose="02020603050405020304" pitchFamily="18" charset="0"/>
                <a:cs typeface="Times New Roman" panose="02020603050405020304" pitchFamily="18" charset="0"/>
              </a:rPr>
              <a:t>6. What could go wrong and possible corrections</a:t>
            </a:r>
          </a:p>
          <a:p>
            <a:pPr algn="just">
              <a:lnSpc>
                <a:spcPct val="100000"/>
              </a:lnSpc>
              <a:buFont typeface="Arial" panose="020B0604020202020204" pitchFamily="34" charset="0"/>
              <a:buChar char="•"/>
            </a:pPr>
            <a:endParaRPr lang="en-US" b="0" i="0" dirty="0">
              <a:solidFill>
                <a:srgbClr val="101423"/>
              </a:solidFill>
              <a:effectLst/>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1984828" y="92983"/>
            <a:ext cx="10160001" cy="89175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Six Considerations Can Help Lend Project Success to Any Organizational Setup</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algn="ctr"/>
            <a:r>
              <a:rPr lang="en-IN" b="1" dirty="0">
                <a:latin typeface="Times New Roman" panose="02020603050405020304" pitchFamily="18" charset="0"/>
                <a:cs typeface="Times New Roman" panose="02020603050405020304" pitchFamily="18" charset="0"/>
              </a:rPr>
              <a:t>Case Study: The Enterprise Resource Planning Project</a:t>
            </a:r>
            <a:endParaRPr lang="en-IN" b="1" dirty="0"/>
          </a:p>
        </p:txBody>
      </p:sp>
      <p:graphicFrame>
        <p:nvGraphicFramePr>
          <p:cNvPr id="4" name="Content Placeholder 3"/>
          <p:cNvGraphicFramePr>
            <a:graphicFrameLocks noGrp="1" noChangeAspect="1"/>
          </p:cNvGraphicFramePr>
          <p:nvPr>
            <p:ph idx="1"/>
          </p:nvPr>
        </p:nvGraphicFramePr>
        <p:xfrm>
          <a:off x="1352550" y="1843088"/>
          <a:ext cx="2482850" cy="2151062"/>
        </p:xfrm>
        <a:graphic>
          <a:graphicData uri="http://schemas.openxmlformats.org/presentationml/2006/ole">
            <mc:AlternateContent xmlns:mc="http://schemas.openxmlformats.org/markup-compatibility/2006">
              <mc:Choice xmlns:v="urn:schemas-microsoft-com:vml" Requires="v">
                <p:oleObj name="Acrobat Document" showAsIcon="1" r:id="rId2" imgW="666750" imgH="578485" progId="Acrobat.Document.DC">
                  <p:embed/>
                </p:oleObj>
              </mc:Choice>
              <mc:Fallback>
                <p:oleObj name="Acrobat Document" showAsIcon="1" r:id="rId2" imgW="666750" imgH="578485" progId="Acrobat.Document.DC">
                  <p:embed/>
                  <p:pic>
                    <p:nvPicPr>
                      <p:cNvPr id="4" name="Content Placeholder 3"/>
                      <p:cNvPicPr/>
                      <p:nvPr/>
                    </p:nvPicPr>
                    <p:blipFill>
                      <a:blip r:embed="rId3"/>
                      <a:stretch>
                        <a:fillRect/>
                      </a:stretch>
                    </p:blipFill>
                    <p:spPr>
                      <a:xfrm>
                        <a:off x="1352550" y="1843088"/>
                        <a:ext cx="2482850" cy="2151062"/>
                      </a:xfrm>
                      <a:prstGeom prst="rect">
                        <a:avLst/>
                      </a:prstGeom>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114300" indent="-457200" algn="just">
              <a:lnSpc>
                <a:spcPct val="110000"/>
              </a:lnSpc>
              <a:spcBef>
                <a:spcPts val="0"/>
              </a:spcBef>
              <a:buAutoNum type="arabicPeriod"/>
            </a:pPr>
            <a:r>
              <a:rPr lang="en-US" sz="3000" dirty="0">
                <a:latin typeface="Times New Roman" panose="02020603050405020304" pitchFamily="18" charset="0"/>
                <a:ea typeface="Times New Roman" panose="02020603050405020304"/>
                <a:cs typeface="Times New Roman" panose="02020603050405020304" pitchFamily="18" charset="0"/>
              </a:rPr>
              <a:t>Which of the following is not a project management goal?</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 Keeping overall costs within budget</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Delivering the software to the customer at the agreed time</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Maintaining a happy and well-functioning development team</a:t>
            </a:r>
          </a:p>
          <a:p>
            <a:pPr algn="just">
              <a:lnSpc>
                <a:spcPct val="110000"/>
              </a:lnSpc>
              <a:spcBef>
                <a:spcPts val="0"/>
              </a:spcBef>
              <a:buFont typeface="+mj-lt"/>
              <a:buAutoNum type="alphaUcPeriod"/>
            </a:pPr>
            <a:r>
              <a:rPr lang="en-US" sz="3000" b="1" dirty="0">
                <a:latin typeface="Times New Roman" panose="02020603050405020304" pitchFamily="18" charset="0"/>
                <a:ea typeface="Times New Roman" panose="02020603050405020304"/>
                <a:cs typeface="Times New Roman" panose="02020603050405020304" pitchFamily="18" charset="0"/>
              </a:rPr>
              <a:t>All of the above</a:t>
            </a:r>
          </a:p>
          <a:p>
            <a:pPr algn="just">
              <a:lnSpc>
                <a:spcPct val="110000"/>
              </a:lnSpc>
              <a:spcBef>
                <a:spcPts val="0"/>
              </a:spcBef>
              <a:buFont typeface="+mj-lt"/>
              <a:buAutoNum type="alphaUcPeriod"/>
            </a:pPr>
            <a:endParaRPr lang="en-US" sz="3000" b="1" dirty="0">
              <a:latin typeface="Times New Roman" panose="02020603050405020304" pitchFamily="18" charset="0"/>
              <a:cs typeface="Times New Roman" panose="02020603050405020304" pitchFamily="18" charset="0"/>
            </a:endParaRPr>
          </a:p>
          <a:p>
            <a:pPr marL="0" algn="just">
              <a:lnSpc>
                <a:spcPct val="110000"/>
              </a:lnSpc>
              <a:spcBef>
                <a:spcPts val="0"/>
              </a:spcBef>
              <a:buNone/>
            </a:pPr>
            <a:r>
              <a:rPr lang="en-US" sz="3000" dirty="0">
                <a:latin typeface="Times New Roman" panose="02020603050405020304" pitchFamily="18" charset="0"/>
                <a:ea typeface="Times New Roman" panose="02020603050405020304"/>
                <a:cs typeface="Times New Roman" panose="02020603050405020304" pitchFamily="18" charset="0"/>
              </a:rPr>
              <a:t>2. The process each manager follows during the life cycle  of a project is known as:</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Project Management</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Manager life cycle</a:t>
            </a:r>
          </a:p>
          <a:p>
            <a:pPr algn="just">
              <a:lnSpc>
                <a:spcPct val="110000"/>
              </a:lnSpc>
              <a:spcBef>
                <a:spcPts val="0"/>
              </a:spcBef>
              <a:buFont typeface="+mj-lt"/>
              <a:buAutoNum type="alphaUcPeriod"/>
            </a:pPr>
            <a:r>
              <a:rPr lang="en-US" sz="3000" b="1" dirty="0">
                <a:latin typeface="Times New Roman" panose="02020603050405020304" pitchFamily="18" charset="0"/>
                <a:ea typeface="Times New Roman" panose="02020603050405020304"/>
                <a:cs typeface="Times New Roman" panose="02020603050405020304" pitchFamily="18" charset="0"/>
              </a:rPr>
              <a:t>Project Management Life Cycle</a:t>
            </a:r>
          </a:p>
          <a:p>
            <a:pPr algn="just">
              <a:lnSpc>
                <a:spcPct val="110000"/>
              </a:lnSpc>
              <a:spcBef>
                <a:spcPts val="0"/>
              </a:spcBef>
              <a:buFont typeface="+mj-lt"/>
              <a:buAutoNum type="alphaUcPeriod"/>
            </a:pPr>
            <a:r>
              <a:rPr lang="en-US" sz="3000" dirty="0">
                <a:latin typeface="Times New Roman" panose="02020603050405020304" pitchFamily="18" charset="0"/>
                <a:ea typeface="Times New Roman" panose="02020603050405020304"/>
                <a:cs typeface="Times New Roman" panose="02020603050405020304" pitchFamily="18" charset="0"/>
              </a:rPr>
              <a:t>All of the mentioned</a:t>
            </a:r>
            <a:endParaRPr lang="en-US" sz="3000"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MCQs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a:spcBef>
                <a:spcPts val="0"/>
              </a:spcBef>
              <a:buNone/>
            </a:pPr>
            <a:r>
              <a:rPr lang="en-US" dirty="0">
                <a:latin typeface="Times New Roman" panose="02020603050405020304" pitchFamily="18" charset="0"/>
                <a:ea typeface="Times New Roman" panose="02020603050405020304"/>
                <a:cs typeface="Times New Roman" panose="02020603050405020304" pitchFamily="18" charset="0"/>
              </a:rPr>
              <a:t>3. Quality planning is the process of developing a quality plan applicable for.</a:t>
            </a:r>
          </a:p>
          <a:p>
            <a:pPr>
              <a:spcBef>
                <a:spcPts val="0"/>
              </a:spcBef>
              <a:buFont typeface="+mj-lt"/>
              <a:buAutoNum type="alphaUcPeriod"/>
            </a:pPr>
            <a:r>
              <a:rPr lang="en-US" dirty="0">
                <a:latin typeface="Times New Roman" panose="02020603050405020304" pitchFamily="18" charset="0"/>
                <a:ea typeface="Times New Roman" panose="02020603050405020304"/>
                <a:cs typeface="Times New Roman" panose="02020603050405020304" pitchFamily="18" charset="0"/>
              </a:rPr>
              <a:t>Team</a:t>
            </a:r>
          </a:p>
          <a:p>
            <a:pPr>
              <a:spcBef>
                <a:spcPts val="0"/>
              </a:spcBef>
              <a:buFont typeface="+mj-lt"/>
              <a:buAutoNum type="alphaUcPeriod"/>
            </a:pPr>
            <a:r>
              <a:rPr lang="en-US" b="1" dirty="0">
                <a:latin typeface="Times New Roman" panose="02020603050405020304" pitchFamily="18" charset="0"/>
                <a:ea typeface="Times New Roman" panose="02020603050405020304"/>
                <a:cs typeface="Times New Roman" panose="02020603050405020304" pitchFamily="18" charset="0"/>
              </a:rPr>
              <a:t> Project</a:t>
            </a:r>
            <a:endParaRPr lang="en-US" dirty="0">
              <a:latin typeface="Times New Roman" panose="02020603050405020304" pitchFamily="18" charset="0"/>
              <a:ea typeface="Times New Roman" panose="02020603050405020304"/>
              <a:cs typeface="Times New Roman" panose="02020603050405020304" pitchFamily="18" charset="0"/>
            </a:endParaRPr>
          </a:p>
          <a:p>
            <a:pPr>
              <a:spcBef>
                <a:spcPts val="0"/>
              </a:spcBef>
              <a:buFont typeface="+mj-lt"/>
              <a:buAutoNum type="alphaUcPeriod"/>
            </a:pPr>
            <a:r>
              <a:rPr lang="en-US" dirty="0">
                <a:latin typeface="Times New Roman" panose="02020603050405020304" pitchFamily="18" charset="0"/>
                <a:ea typeface="Times New Roman" panose="02020603050405020304"/>
                <a:cs typeface="Times New Roman" panose="02020603050405020304" pitchFamily="18" charset="0"/>
              </a:rPr>
              <a:t>Customers</a:t>
            </a:r>
          </a:p>
          <a:p>
            <a:pPr>
              <a:spcBef>
                <a:spcPts val="0"/>
              </a:spcBef>
              <a:buFont typeface="+mj-lt"/>
              <a:buAutoNum type="alphaUcPeriod"/>
            </a:pPr>
            <a:r>
              <a:rPr lang="en-US" dirty="0">
                <a:latin typeface="Times New Roman" panose="02020603050405020304" pitchFamily="18" charset="0"/>
                <a:ea typeface="Times New Roman" panose="02020603050405020304"/>
                <a:cs typeface="Times New Roman" panose="02020603050405020304" pitchFamily="18" charset="0"/>
              </a:rPr>
              <a:t>project manager</a:t>
            </a:r>
          </a:p>
          <a:p>
            <a:pPr>
              <a:spcBef>
                <a:spcPts val="0"/>
              </a:spcBef>
              <a:buFont typeface="+mj-lt"/>
              <a:buAutoNum type="alphaUcPeriod"/>
            </a:pPr>
            <a:endParaRPr lang="en-US" dirty="0">
              <a:latin typeface="Times New Roman" panose="02020603050405020304" pitchFamily="18" charset="0"/>
              <a:cs typeface="Times New Roman" panose="02020603050405020304" pitchFamily="18" charset="0"/>
            </a:endParaRPr>
          </a:p>
          <a:p>
            <a:pPr>
              <a:spcBef>
                <a:spcPts val="0"/>
              </a:spcBef>
              <a:buNone/>
            </a:pPr>
            <a:r>
              <a:rPr lang="en-US" dirty="0">
                <a:latin typeface="Times New Roman" panose="02020603050405020304" pitchFamily="18" charset="0"/>
                <a:cs typeface="Times New Roman" panose="02020603050405020304" pitchFamily="18" charset="0"/>
              </a:rPr>
              <a:t>4. Which of the following is an incorrect activity for the  configuration management of a software system?</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 Internship management</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Change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Version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System management</a:t>
            </a:r>
          </a:p>
          <a:p>
            <a:endParaRPr lang="en-IN" dirty="0"/>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MCQs</a:t>
            </a:r>
            <a:endParaRPr lang="en-IN"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IN" sz="2200" dirty="0">
                <a:latin typeface="Times New Roman" panose="02020603050405020304" pitchFamily="18" charset="0"/>
                <a:cs typeface="Times New Roman" panose="02020603050405020304" pitchFamily="18" charset="0"/>
              </a:rPr>
              <a:t>Fill in the blanks: </a:t>
            </a:r>
          </a:p>
          <a:p>
            <a:pPr marL="342900" indent="-342900" algn="just">
              <a:buAutoNum type="arabicPeriod"/>
            </a:pPr>
            <a:r>
              <a:rPr lang="en-IN" sz="2200" dirty="0">
                <a:latin typeface="Times New Roman" panose="02020603050405020304" pitchFamily="18" charset="0"/>
                <a:cs typeface="Times New Roman" panose="02020603050405020304" pitchFamily="18" charset="0"/>
              </a:rPr>
              <a:t>The successful ………………… is all about structure, control, sufficient attention to detail and continuously driving action. </a:t>
            </a:r>
          </a:p>
          <a:p>
            <a:pPr marL="342900" indent="-342900" algn="just">
              <a:buAutoNum type="arabicPeriod"/>
            </a:pPr>
            <a:r>
              <a:rPr lang="en-IN" sz="2200" dirty="0">
                <a:latin typeface="Times New Roman" panose="02020603050405020304" pitchFamily="18" charset="0"/>
                <a:cs typeface="Times New Roman" panose="02020603050405020304" pitchFamily="18" charset="0"/>
              </a:rPr>
              <a:t>A project can only be successful when there is no conflict between the ………………… and the local populace. </a:t>
            </a:r>
          </a:p>
          <a:p>
            <a:pPr marL="342900" indent="-342900" algn="just">
              <a:buAutoNum type="arabicPeriod"/>
            </a:pPr>
            <a:r>
              <a:rPr lang="en-IN" sz="2200" dirty="0">
                <a:latin typeface="Times New Roman" panose="02020603050405020304" pitchFamily="18" charset="0"/>
                <a:cs typeface="Times New Roman" panose="02020603050405020304" pitchFamily="18" charset="0"/>
              </a:rPr>
              <a:t>Project Management is quite often the province and responsibility of an individual ………………… </a:t>
            </a:r>
          </a:p>
          <a:p>
            <a:pPr marL="342900" indent="-342900" algn="just">
              <a:buAutoNum type="arabicPeriod"/>
            </a:pPr>
            <a:r>
              <a:rPr lang="en-IN" sz="2200" dirty="0">
                <a:latin typeface="Times New Roman" panose="02020603050405020304" pitchFamily="18" charset="0"/>
                <a:cs typeface="Times New Roman" panose="02020603050405020304" pitchFamily="18" charset="0"/>
              </a:rPr>
              <a:t>The project manager needs to be an ………………… expert who can motivate the workforce by training and promoting leadership among them.</a:t>
            </a:r>
          </a:p>
          <a:p>
            <a:pPr marL="0" lvl="0" indent="0">
              <a:buNone/>
            </a:pPr>
            <a:r>
              <a:rPr lang="en-IN" sz="2200" dirty="0">
                <a:latin typeface="Times New Roman" panose="02020603050405020304" pitchFamily="18" charset="0"/>
                <a:cs typeface="Times New Roman" panose="02020603050405020304" pitchFamily="18" charset="0"/>
              </a:rPr>
              <a:t>5.    Every project has some elements that are ……………………</a:t>
            </a:r>
          </a:p>
          <a:p>
            <a:pPr eaLnBrk="1" hangingPunct="1">
              <a:lnSpc>
                <a:spcPct val="131000"/>
              </a:lnSpc>
              <a:buSzPts val="1100"/>
            </a:pPr>
            <a:endParaRPr lang="en-US" altLang="en-US" sz="2200" dirty="0">
              <a:latin typeface="Times New Roman" panose="02020603050405020304" pitchFamily="18" charset="0"/>
              <a:cs typeface="Times New Roman" panose="02020603050405020304" pitchFamily="18" charset="0"/>
              <a:sym typeface="Calibri" panose="020F0502020204030204" charset="0"/>
            </a:endParaRPr>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Assignment Questions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Discuss Project Management as a profession.</a:t>
            </a:r>
          </a:p>
          <a:p>
            <a:r>
              <a:rPr lang="en-US" sz="2400" dirty="0">
                <a:latin typeface="Times New Roman" panose="02020603050405020304" pitchFamily="18" charset="0"/>
                <a:cs typeface="Times New Roman" panose="02020603050405020304" pitchFamily="18" charset="0"/>
              </a:rPr>
              <a:t>What do you know about Project Life Cycle? Support your answer with a suitable example.</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Points to be kept in mind:</a:t>
            </a:r>
          </a:p>
          <a:p>
            <a:pPr lvl="1"/>
            <a:r>
              <a:rPr lang="en-US" sz="2000" dirty="0">
                <a:latin typeface="Times New Roman" panose="02020603050405020304" pitchFamily="18" charset="0"/>
                <a:cs typeface="Times New Roman" panose="02020603050405020304" pitchFamily="18" charset="0"/>
              </a:rPr>
              <a:t>Marks for fill ups (0.5 each)</a:t>
            </a:r>
          </a:p>
          <a:p>
            <a:pPr lvl="1"/>
            <a:r>
              <a:rPr lang="en-US" sz="2000" dirty="0">
                <a:latin typeface="Times New Roman" panose="02020603050405020304" pitchFamily="18" charset="0"/>
                <a:cs typeface="Times New Roman" panose="02020603050405020304" pitchFamily="18" charset="0"/>
              </a:rPr>
              <a:t>Question 1 carry 2.5 marks</a:t>
            </a:r>
          </a:p>
          <a:p>
            <a:pPr lvl="1"/>
            <a:r>
              <a:rPr lang="en-US" sz="2000" dirty="0">
                <a:latin typeface="Times New Roman" panose="02020603050405020304" pitchFamily="18" charset="0"/>
                <a:cs typeface="Times New Roman" panose="02020603050405020304" pitchFamily="18" charset="0"/>
              </a:rPr>
              <a:t>question 2 carries 5 marks </a:t>
            </a:r>
          </a:p>
          <a:p>
            <a:pPr lvl="1"/>
            <a:r>
              <a:rPr lang="en-US" sz="2000" dirty="0">
                <a:latin typeface="Times New Roman" panose="02020603050405020304" pitchFamily="18" charset="0"/>
                <a:cs typeface="Times New Roman" panose="02020603050405020304" pitchFamily="18" charset="0"/>
              </a:rPr>
              <a:t>Word limit for 1 max.250 words limit</a:t>
            </a:r>
          </a:p>
          <a:p>
            <a:pPr lvl="1"/>
            <a:r>
              <a:rPr lang="en-US" sz="2000" dirty="0">
                <a:latin typeface="Times New Roman" panose="02020603050405020304" pitchFamily="18" charset="0"/>
                <a:cs typeface="Times New Roman" panose="02020603050405020304" pitchFamily="18" charset="0"/>
              </a:rPr>
              <a:t>2 question max. 500 words limit</a:t>
            </a:r>
          </a:p>
          <a:p>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Assignment Questions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Old Question Papers</a:t>
            </a:r>
          </a:p>
        </p:txBody>
      </p:sp>
      <p:pic>
        <p:nvPicPr>
          <p:cNvPr id="4" name="Picture 2"/>
          <p:cNvPicPr>
            <a:picLocks noGrp="1" noChangeAspect="1" noChangeArrowheads="1"/>
          </p:cNvPicPr>
          <p:nvPr>
            <p:ph idx="1"/>
          </p:nvPr>
        </p:nvPicPr>
        <p:blipFill>
          <a:blip r:embed="rId2"/>
          <a:srcRect/>
          <a:stretch>
            <a:fillRect/>
          </a:stretch>
        </p:blipFill>
        <p:spPr bwMode="auto">
          <a:xfrm>
            <a:off x="1008185" y="1203569"/>
            <a:ext cx="9597292" cy="4970585"/>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Old Question Papers</a:t>
            </a:r>
          </a:p>
        </p:txBody>
      </p:sp>
      <p:pic>
        <p:nvPicPr>
          <p:cNvPr id="6" name="Picture 2"/>
          <p:cNvPicPr>
            <a:picLocks noChangeAspect="1" noChangeArrowheads="1"/>
          </p:cNvPicPr>
          <p:nvPr/>
        </p:nvPicPr>
        <p:blipFill>
          <a:blip r:embed="rId2"/>
          <a:srcRect/>
          <a:stretch>
            <a:fillRect/>
          </a:stretch>
        </p:blipFill>
        <p:spPr bwMode="auto">
          <a:xfrm>
            <a:off x="609600" y="1032164"/>
            <a:ext cx="10972800" cy="48006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Old Question Papers</a:t>
            </a:r>
          </a:p>
        </p:txBody>
      </p:sp>
      <p:pic>
        <p:nvPicPr>
          <p:cNvPr id="2" name="Picture 2"/>
          <p:cNvPicPr>
            <a:picLocks noChangeAspect="1" noChangeArrowheads="1"/>
          </p:cNvPicPr>
          <p:nvPr/>
        </p:nvPicPr>
        <p:blipFill>
          <a:blip r:embed="rId2"/>
          <a:srcRect/>
          <a:stretch>
            <a:fillRect/>
          </a:stretch>
        </p:blipFill>
        <p:spPr bwMode="auto">
          <a:xfrm>
            <a:off x="817418" y="1164492"/>
            <a:ext cx="10272613" cy="4882662"/>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Old Question Papers</a:t>
            </a:r>
          </a:p>
        </p:txBody>
      </p:sp>
      <p:pic>
        <p:nvPicPr>
          <p:cNvPr id="6" name="Picture 2"/>
          <p:cNvPicPr>
            <a:picLocks noChangeAspect="1" noChangeArrowheads="1"/>
          </p:cNvPicPr>
          <p:nvPr/>
        </p:nvPicPr>
        <p:blipFill>
          <a:blip r:embed="rId2"/>
          <a:srcRect/>
          <a:stretch>
            <a:fillRect/>
          </a:stretch>
        </p:blipFill>
        <p:spPr bwMode="auto">
          <a:xfrm>
            <a:off x="926478" y="1081824"/>
            <a:ext cx="9874663" cy="4822637"/>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Expected Questions </a:t>
            </a:r>
          </a:p>
        </p:txBody>
      </p:sp>
      <p:sp>
        <p:nvSpPr>
          <p:cNvPr id="4" name="TextBox 3"/>
          <p:cNvSpPr txBox="1"/>
          <p:nvPr/>
        </p:nvSpPr>
        <p:spPr>
          <a:xfrm>
            <a:off x="593969" y="1414585"/>
            <a:ext cx="10245969" cy="2677656"/>
          </a:xfrm>
          <a:prstGeom prst="rect">
            <a:avLst/>
          </a:prstGeom>
          <a:noFill/>
        </p:spPr>
        <p:txBody>
          <a:bodyPr wrap="square">
            <a:spAutoFit/>
          </a:bodyPr>
          <a:lstStyle/>
          <a:p>
            <a:pPr algn="just">
              <a:buNone/>
            </a:pPr>
            <a:r>
              <a:rPr lang="en-US" sz="2800" dirty="0">
                <a:latin typeface="Times New Roman" panose="02020603050405020304" pitchFamily="18" charset="0"/>
                <a:cs typeface="Times New Roman" panose="02020603050405020304" pitchFamily="18" charset="0"/>
              </a:rPr>
              <a:t>Q1. Discuss the project. elaborate are the components of the project management process. </a:t>
            </a:r>
          </a:p>
          <a:p>
            <a:pPr algn="just">
              <a:buNone/>
            </a:pPr>
            <a:r>
              <a:rPr lang="en-US" sz="2800" dirty="0">
                <a:latin typeface="Times New Roman" panose="02020603050405020304" pitchFamily="18" charset="0"/>
                <a:cs typeface="Times New Roman" panose="02020603050405020304" pitchFamily="18" charset="0"/>
              </a:rPr>
              <a:t>Q2. Describe various Tools and techniques of project management. </a:t>
            </a:r>
          </a:p>
          <a:p>
            <a:pPr algn="just">
              <a:buNone/>
            </a:pPr>
            <a:r>
              <a:rPr lang="en-US" sz="2800" dirty="0">
                <a:latin typeface="Times New Roman" panose="02020603050405020304" pitchFamily="18" charset="0"/>
                <a:cs typeface="Times New Roman" panose="02020603050405020304" pitchFamily="18" charset="0"/>
              </a:rPr>
              <a:t>Q3. Discuss the characteristics of a Project leader. </a:t>
            </a:r>
          </a:p>
          <a:p>
            <a:pPr algn="just">
              <a:buNone/>
            </a:pPr>
            <a:r>
              <a:rPr lang="en-US" sz="2800" dirty="0">
                <a:latin typeface="Times New Roman" panose="02020603050405020304" pitchFamily="18" charset="0"/>
                <a:cs typeface="Times New Roman" panose="02020603050405020304" pitchFamily="18" charset="0"/>
              </a:rPr>
              <a:t>Q4. Explain the term 'project organization’. </a:t>
            </a:r>
          </a:p>
          <a:p>
            <a:pPr algn="just">
              <a:buNone/>
            </a:pPr>
            <a:r>
              <a:rPr lang="en-US" sz="2800" dirty="0">
                <a:latin typeface="Times New Roman" panose="02020603050405020304" pitchFamily="18" charset="0"/>
                <a:cs typeface="Times New Roman" panose="02020603050405020304" pitchFamily="18" charset="0"/>
              </a:rPr>
              <a:t>Q5. Explain the project life cycle with a diagram.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Video Links</a:t>
            </a:r>
          </a:p>
        </p:txBody>
      </p:sp>
      <p:sp>
        <p:nvSpPr>
          <p:cNvPr id="4" name="TextBox 3"/>
          <p:cNvSpPr txBox="1"/>
          <p:nvPr/>
        </p:nvSpPr>
        <p:spPr>
          <a:xfrm>
            <a:off x="492369" y="1125416"/>
            <a:ext cx="11550860" cy="6524863"/>
          </a:xfrm>
          <a:prstGeom prst="rect">
            <a:avLst/>
          </a:prstGeom>
          <a:noFill/>
        </p:spPr>
        <p:txBody>
          <a:bodyPr wrap="square">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hlinkClick r:id="rId2"/>
              </a:rPr>
              <a:t>https://www.youtube.com/watch?v=39_O-AnzTQg</a:t>
            </a:r>
            <a:endParaRPr lang="en-IN"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3"/>
              </a:rPr>
              <a:t>https://www.youtube.com/watch?v=BOU1YP5NZVA</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4"/>
              </a:rPr>
              <a:t>https://www.youtube.com/watch?v=ZKOL-rZ79gs</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5"/>
              </a:rPr>
              <a:t>https://www.youtube.com/watch?v=RjOA7AxOVj8&amp;list=PLPjSqITyvDeX77O9g4E_lgJbAmLK5SFu6</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6"/>
              </a:rPr>
              <a:t>https://www.youtube.com/watch?v=xzkgMVDRHi4&amp;t=1s</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7"/>
              </a:rPr>
              <a:t>https://www.youtube.com/watch?v=1Fqe_7rn3Vs</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8"/>
              </a:rPr>
              <a:t>https://www.simplilearn.com/what-is-a-deliverable-article</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9"/>
              </a:rPr>
              <a:t>https://www.projectmanager.com/training/write-scope-work</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0"/>
              </a:rPr>
              <a:t>https://plan.io/blog/scope-of-work/</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1"/>
              </a:rPr>
              <a:t>https://www.projectmanager.com/blog/milestones-project-management</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2"/>
              </a:rPr>
              <a:t>https://www.teamgantt.com/blog/the-how-and-why-of-using-milestones-in-your-project-plan</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3"/>
              </a:rPr>
              <a:t>https://www.projectsmart.co.uk/top-10-qualities-project-manager.php</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4"/>
              </a:rPr>
              <a:t>https://pmtips.net/article/10-characteristics-of-successful-project-teams</a:t>
            </a: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hlinkClick r:id="rId15"/>
              </a:rPr>
              <a:t>https://www.sinnaps.com/en/project-management-blog/importance-of-project-management</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4" name="TextBox 3"/>
          <p:cNvSpPr txBox="1"/>
          <p:nvPr/>
        </p:nvSpPr>
        <p:spPr>
          <a:xfrm>
            <a:off x="492369" y="1125416"/>
            <a:ext cx="11550860" cy="6370975"/>
          </a:xfrm>
          <a:prstGeom prst="rect">
            <a:avLst/>
          </a:prstGeom>
          <a:noFill/>
        </p:spPr>
        <p:txBody>
          <a:bodyPr wrap="square">
            <a:spAutoFit/>
          </a:bodyPr>
          <a:lstStyle/>
          <a:p>
            <a:pPr algn="just">
              <a:buNone/>
            </a:pPr>
            <a:r>
              <a:rPr lang="en-US" sz="2400" b="1" dirty="0">
                <a:latin typeface="Times New Roman" panose="02020603050405020304" pitchFamily="18" charset="0"/>
                <a:cs typeface="Times New Roman" panose="02020603050405020304" pitchFamily="18" charset="0"/>
              </a:rPr>
              <a:t>Books:</a:t>
            </a:r>
          </a:p>
          <a:p>
            <a:pPr algn="l"/>
            <a:r>
              <a:rPr lang="en-US" sz="2400" dirty="0">
                <a:solidFill>
                  <a:srgbClr val="212121"/>
                </a:solidFill>
                <a:latin typeface="Times New Roman" panose="02020603050405020304" pitchFamily="18" charset="0"/>
                <a:cs typeface="Times New Roman" panose="02020603050405020304" pitchFamily="18" charset="0"/>
              </a:rPr>
              <a:t>Larsen, E.W., Gray C.F., &amp; Joshi, R. (2021). </a:t>
            </a:r>
            <a:r>
              <a:rPr lang="en-US" sz="2400" i="1" dirty="0">
                <a:solidFill>
                  <a:srgbClr val="212121"/>
                </a:solidFill>
                <a:latin typeface="Times New Roman" panose="02020603050405020304" pitchFamily="18" charset="0"/>
                <a:cs typeface="Times New Roman" panose="02020603050405020304" pitchFamily="18" charset="0"/>
              </a:rPr>
              <a:t>Project management: The Managerial process</a:t>
            </a:r>
            <a:r>
              <a:rPr lang="en-US" sz="2400" dirty="0">
                <a:solidFill>
                  <a:srgbClr val="212121"/>
                </a:solidFill>
                <a:latin typeface="Times New Roman" panose="02020603050405020304" pitchFamily="18" charset="0"/>
                <a:cs typeface="Times New Roman" panose="02020603050405020304" pitchFamily="18" charset="0"/>
              </a:rPr>
              <a:t>. 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l"/>
            <a:r>
              <a:rPr lang="en-US" sz="2400" dirty="0">
                <a:solidFill>
                  <a:srgbClr val="212121"/>
                </a:solidFill>
                <a:latin typeface="Times New Roman" panose="02020603050405020304" pitchFamily="18" charset="0"/>
                <a:cs typeface="Times New Roman" panose="02020603050405020304" pitchFamily="18" charset="0"/>
              </a:rPr>
              <a:t>Chandra, P. (2019). </a:t>
            </a:r>
            <a:r>
              <a:rPr lang="en-US" sz="2400" i="1" dirty="0">
                <a:solidFill>
                  <a:srgbClr val="212121"/>
                </a:solidFill>
                <a:latin typeface="Times New Roman" panose="02020603050405020304" pitchFamily="18" charset="0"/>
                <a:cs typeface="Times New Roman" panose="02020603050405020304" pitchFamily="18" charset="0"/>
              </a:rPr>
              <a:t>Projects: Planning, Analysis, Selection, Financing, Implementation and Review. </a:t>
            </a:r>
            <a:r>
              <a:rPr lang="en-US" sz="2400" dirty="0">
                <a:solidFill>
                  <a:srgbClr val="212121"/>
                </a:solidFill>
                <a:latin typeface="Times New Roman" panose="02020603050405020304" pitchFamily="18" charset="0"/>
                <a:cs typeface="Times New Roman" panose="02020603050405020304" pitchFamily="18" charset="0"/>
              </a:rPr>
              <a:t>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REFERENCE BOOK:</a:t>
            </a:r>
          </a:p>
          <a:p>
            <a:r>
              <a:rPr lang="en-US" sz="2400" dirty="0">
                <a:solidFill>
                  <a:srgbClr val="212121"/>
                </a:solidFill>
                <a:latin typeface="Times New Roman" panose="02020603050405020304" pitchFamily="18" charset="0"/>
                <a:cs typeface="Times New Roman" panose="02020603050405020304" pitchFamily="18" charset="0"/>
              </a:rPr>
              <a:t>Nagarajan, K. (2017).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New Age International Pvt. Ltd. </a:t>
            </a:r>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err="1">
                <a:solidFill>
                  <a:srgbClr val="000000"/>
                </a:solidFill>
                <a:latin typeface="Times New Roman" panose="02020603050405020304" pitchFamily="18" charset="0"/>
                <a:cs typeface="Times New Roman" panose="02020603050405020304" pitchFamily="18" charset="0"/>
              </a:rPr>
              <a:t>Paneerselvam</a:t>
            </a:r>
            <a:r>
              <a:rPr lang="en-US" sz="2400" dirty="0">
                <a:solidFill>
                  <a:srgbClr val="000000"/>
                </a:solidFill>
                <a:latin typeface="Times New Roman" panose="02020603050405020304" pitchFamily="18" charset="0"/>
                <a:cs typeface="Times New Roman" panose="02020603050405020304" pitchFamily="18" charset="0"/>
              </a:rPr>
              <a:t>, R., &amp; </a:t>
            </a:r>
            <a:r>
              <a:rPr lang="en-US" sz="2400" dirty="0" err="1">
                <a:solidFill>
                  <a:srgbClr val="000000"/>
                </a:solidFill>
                <a:latin typeface="Times New Roman" panose="02020603050405020304" pitchFamily="18" charset="0"/>
                <a:cs typeface="Times New Roman" panose="02020603050405020304" pitchFamily="18" charset="0"/>
              </a:rPr>
              <a:t>Senthilkumar</a:t>
            </a:r>
            <a:r>
              <a:rPr lang="en-US" sz="2400" dirty="0">
                <a:solidFill>
                  <a:srgbClr val="000000"/>
                </a:solidFill>
                <a:latin typeface="Times New Roman" panose="02020603050405020304" pitchFamily="18" charset="0"/>
                <a:cs typeface="Times New Roman" panose="02020603050405020304" pitchFamily="18" charset="0"/>
              </a:rPr>
              <a:t>, P. </a:t>
            </a:r>
            <a:r>
              <a:rPr lang="en-US" sz="2400" dirty="0">
                <a:solidFill>
                  <a:srgbClr val="212121"/>
                </a:solidFill>
                <a:latin typeface="Times New Roman" panose="02020603050405020304" pitchFamily="18" charset="0"/>
                <a:cs typeface="Times New Roman" panose="02020603050405020304" pitchFamily="18" charset="0"/>
              </a:rPr>
              <a:t>(2013).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Prentice </a:t>
            </a:r>
            <a:r>
              <a:rPr lang="en-US" sz="2400" dirty="0">
                <a:solidFill>
                  <a:srgbClr val="000000"/>
                </a:solidFill>
                <a:latin typeface="Times New Roman" panose="02020603050405020304" pitchFamily="18" charset="0"/>
                <a:cs typeface="Times New Roman" panose="02020603050405020304" pitchFamily="18" charset="0"/>
              </a:rPr>
              <a:t>Hall India Learning Pvt. Ltd. </a:t>
            </a:r>
          </a:p>
          <a:p>
            <a:r>
              <a:rPr lang="en-IN" sz="2400" dirty="0">
                <a:solidFill>
                  <a:srgbClr val="212121"/>
                </a:solidFill>
                <a:latin typeface="Times New Roman" panose="02020603050405020304" pitchFamily="18" charset="0"/>
                <a:cs typeface="Times New Roman" panose="02020603050405020304" pitchFamily="18" charset="0"/>
              </a:rPr>
              <a:t>Pinto, J.K. (2020). </a:t>
            </a:r>
            <a:r>
              <a:rPr lang="en-IN" sz="2400" i="1" dirty="0">
                <a:solidFill>
                  <a:srgbClr val="212121"/>
                </a:solidFill>
                <a:latin typeface="Times New Roman" panose="02020603050405020304" pitchFamily="18" charset="0"/>
                <a:cs typeface="Times New Roman" panose="02020603050405020304" pitchFamily="18" charset="0"/>
              </a:rPr>
              <a:t>Project Management. </a:t>
            </a:r>
            <a:r>
              <a:rPr lang="en-IN" sz="2400" dirty="0">
                <a:solidFill>
                  <a:srgbClr val="212121"/>
                </a:solidFill>
                <a:latin typeface="Times New Roman" panose="02020603050405020304" pitchFamily="18" charset="0"/>
                <a:cs typeface="Times New Roman" panose="02020603050405020304" pitchFamily="18" charset="0"/>
              </a:rPr>
              <a:t>Global </a:t>
            </a:r>
            <a:r>
              <a:rPr lang="en-IN" sz="2400" dirty="0" err="1">
                <a:solidFill>
                  <a:srgbClr val="212121"/>
                </a:solidFill>
                <a:latin typeface="Times New Roman" panose="02020603050405020304" pitchFamily="18" charset="0"/>
                <a:cs typeface="Times New Roman" panose="02020603050405020304" pitchFamily="18" charset="0"/>
              </a:rPr>
              <a:t>EduTech</a:t>
            </a:r>
            <a:r>
              <a:rPr lang="en-IN" sz="2400" dirty="0">
                <a:solidFill>
                  <a:srgbClr val="212121"/>
                </a:solidFill>
                <a:latin typeface="Times New Roman" panose="02020603050405020304" pitchFamily="18" charset="0"/>
                <a:cs typeface="Times New Roman" panose="02020603050405020304" pitchFamily="18" charset="0"/>
              </a:rPr>
              <a:t>. </a:t>
            </a:r>
            <a:endParaRPr lang="en-IN"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212121"/>
                </a:solidFill>
                <a:latin typeface="Times New Roman" panose="02020603050405020304" pitchFamily="18" charset="0"/>
                <a:cs typeface="Times New Roman" panose="02020603050405020304" pitchFamily="18" charset="0"/>
              </a:rPr>
              <a:t>Desai, V. (2016).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Himalaya Publishing House. </a:t>
            </a:r>
            <a:r>
              <a:rPr lang="en-US" sz="2400" dirty="0">
                <a:solidFill>
                  <a:srgbClr val="000000"/>
                </a:solidFill>
                <a:latin typeface="Times New Roman" panose="02020603050405020304" pitchFamily="18" charset="0"/>
                <a:cs typeface="Times New Roman" panose="02020603050405020304" pitchFamily="18" charset="0"/>
              </a:rPr>
              <a:t>	</a:t>
            </a: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Recap of the unit</a:t>
            </a:r>
          </a:p>
        </p:txBody>
      </p:sp>
      <p:sp>
        <p:nvSpPr>
          <p:cNvPr id="4" name="TextBox 3"/>
          <p:cNvSpPr txBox="1"/>
          <p:nvPr/>
        </p:nvSpPr>
        <p:spPr>
          <a:xfrm>
            <a:off x="593969" y="1414585"/>
            <a:ext cx="10245969" cy="4832092"/>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project is temporary- It has a defined beginning and end in time, and therefore defined scope and resources.</a:t>
            </a:r>
          </a:p>
          <a:p>
            <a:pPr algn="just">
              <a:buNone/>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Project Life Cycle is a series of activities which are necessary to fulfill goals or objectives.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of knowledge, skills, tools, and techniques to project activities to meet project requirements. Project management refers to guiding the project work to deliver the intended outcomes. </a:t>
            </a:r>
          </a:p>
          <a:p>
            <a:pPr algn="just">
              <a:buNone/>
            </a:pPr>
            <a:endParaRPr lang="en-US" sz="2800" dirty="0">
              <a:latin typeface="Times New Roman" panose="02020603050405020304" pitchFamily="18" charset="0"/>
              <a:cs typeface="Times New Roman" panose="02020603050405020304" pitchFamily="18" charset="0"/>
            </a:endParaRPr>
          </a:p>
          <a:p>
            <a:pPr algn="just">
              <a:buNone/>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4432</TotalTime>
  <Words>3267</Words>
  <Application>Microsoft Office PowerPoint</Application>
  <PresentationFormat>Widescreen</PresentationFormat>
  <Paragraphs>410</Paragraphs>
  <Slides>70</Slides>
  <Notes>0</Notes>
  <HiddenSlides>0</HiddenSlides>
  <MMClips>1</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77" baseType="lpstr">
      <vt:lpstr>Aptos</vt:lpstr>
      <vt:lpstr>Aptos Display</vt:lpstr>
      <vt:lpstr>Arial</vt:lpstr>
      <vt:lpstr>Calibri</vt:lpstr>
      <vt:lpstr>Times New Roman</vt:lpstr>
      <vt:lpstr>Office Theme</vt:lpstr>
      <vt:lpstr>Acrobat Document</vt:lpstr>
      <vt:lpstr>PowerPoint Presentation</vt:lpstr>
      <vt:lpstr>Index</vt:lpstr>
      <vt:lpstr>Index</vt:lpstr>
      <vt:lpstr>PowerPoint Presentation</vt:lpstr>
      <vt:lpstr>PowerPoint Presentation</vt:lpstr>
      <vt:lpstr>PowerPoint Presentation</vt:lpstr>
      <vt:lpstr>PowerPoint Presentation</vt:lpstr>
      <vt:lpstr>PowerPoint Presentation</vt:lpstr>
      <vt:lpstr>PowerPoint Presentation</vt:lpstr>
      <vt:lpstr>Program Outcome(s)</vt:lpstr>
      <vt:lpstr>COs and POs mapping</vt:lpstr>
      <vt:lpstr>Program Educational Objectives</vt:lpstr>
      <vt:lpstr>Result Analysis</vt:lpstr>
      <vt:lpstr>End Semester Question Paper Template</vt:lpstr>
      <vt:lpstr>End Semester Question Paper Template</vt:lpstr>
      <vt:lpstr>Perquisite/Recap</vt:lpstr>
      <vt:lpstr>Brief Introduction about the Subject with Videos</vt:lpstr>
      <vt:lpstr>Unit Content</vt:lpstr>
      <vt:lpstr>Objective of Unit</vt:lpstr>
      <vt:lpstr>Introduction</vt:lpstr>
      <vt:lpstr>Project</vt:lpstr>
      <vt:lpstr>More definitions of project</vt:lpstr>
      <vt:lpstr>Video</vt:lpstr>
      <vt:lpstr>More about project management</vt:lpstr>
      <vt:lpstr>Project Management</vt:lpstr>
      <vt:lpstr> Key Areas Of Project Management</vt:lpstr>
      <vt:lpstr>Features/Characteristics/Components of Project</vt:lpstr>
      <vt:lpstr>Project Stakeholders</vt:lpstr>
      <vt:lpstr>Types of project</vt:lpstr>
      <vt:lpstr>Basic Terminologies</vt:lpstr>
      <vt:lpstr>Basic Terminologies</vt:lpstr>
      <vt:lpstr>Basic Terminologies</vt:lpstr>
      <vt:lpstr>Hierarchy</vt:lpstr>
      <vt:lpstr>Sample System for value delivery</vt:lpstr>
      <vt:lpstr>Information Flow</vt:lpstr>
      <vt:lpstr>Daily Quiz</vt:lpstr>
      <vt:lpstr>Recap</vt:lpstr>
      <vt:lpstr>Project Success</vt:lpstr>
      <vt:lpstr>Project Success</vt:lpstr>
      <vt:lpstr> Project can fail due to:</vt:lpstr>
      <vt:lpstr>Categories of Project</vt:lpstr>
      <vt:lpstr>Project vs. Regular Operations</vt:lpstr>
      <vt:lpstr>Daily Quiz</vt:lpstr>
      <vt:lpstr>Project Life Cycle</vt:lpstr>
      <vt:lpstr>Step 1: Definition</vt:lpstr>
      <vt:lpstr>Step 2: Planning (Generating Concepts)</vt:lpstr>
      <vt:lpstr>Step 3: Executing (Develop A Solution)</vt:lpstr>
      <vt:lpstr>Step 4: Monitoring And Controlling (Construct and Test Prototype)</vt:lpstr>
      <vt:lpstr>Step 5: Closing (Evaluate And Present Solution)</vt:lpstr>
      <vt:lpstr>Product and Project Life Cycle</vt:lpstr>
      <vt:lpstr>Quiz: Are these Projects?</vt:lpstr>
      <vt:lpstr>Project Organization</vt:lpstr>
      <vt:lpstr>Responsibility of Project Organization</vt:lpstr>
      <vt:lpstr>Types of Project Organizational Structures</vt:lpstr>
      <vt:lpstr>PowerPoint Presentation</vt:lpstr>
      <vt:lpstr>PowerPoint Presentation</vt:lpstr>
      <vt:lpstr>Six Considerations Can Help Lend Project Success to Any Organizational Setup</vt:lpstr>
      <vt:lpstr>Case Study: The Enterprise Resource Planning Project</vt:lpstr>
      <vt:lpstr>MCQs</vt:lpstr>
      <vt:lpstr>MCQs</vt:lpstr>
      <vt:lpstr>Assignment Questions</vt:lpstr>
      <vt:lpstr>Assignment Questions</vt:lpstr>
      <vt:lpstr>Old Question Papers</vt:lpstr>
      <vt:lpstr>Old Question Papers</vt:lpstr>
      <vt:lpstr>Old Question Papers</vt:lpstr>
      <vt:lpstr>Old Question Papers</vt:lpstr>
      <vt:lpstr>Expected Questions </vt:lpstr>
      <vt:lpstr>Video Links</vt:lpstr>
      <vt:lpstr>References</vt:lpstr>
      <vt:lpstr>Recap of the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Ritin Sharma</cp:lastModifiedBy>
  <cp:revision>65</cp:revision>
  <dcterms:created xsi:type="dcterms:W3CDTF">2024-03-22T08:16:00Z</dcterms:created>
  <dcterms:modified xsi:type="dcterms:W3CDTF">2025-08-25T06:43:04Z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3CDC98515B7641C9939DEC153F8E2ADA_12</vt:lpwstr>
  </property>
  <property fmtid="{D5CDD505-2E9C-101B-9397-08002B2CF9AE}" pid="3" name="KSOProductBuildVer">
    <vt:lpwstr>1033-12.2.0.17119</vt:lpwstr>
  </property>
</Properties>
</file>