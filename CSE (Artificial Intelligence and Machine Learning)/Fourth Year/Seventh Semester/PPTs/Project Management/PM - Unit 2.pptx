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60" r:id="rId3"/>
    <p:sldId id="264" r:id="rId4"/>
    <p:sldId id="261" r:id="rId5"/>
    <p:sldId id="262" r:id="rId6"/>
    <p:sldId id="265" r:id="rId7"/>
    <p:sldId id="366" r:id="rId8"/>
    <p:sldId id="266" r:id="rId9"/>
    <p:sldId id="267" r:id="rId10"/>
    <p:sldId id="268" r:id="rId11"/>
    <p:sldId id="269" r:id="rId12"/>
    <p:sldId id="270" r:id="rId13"/>
    <p:sldId id="271" r:id="rId14"/>
    <p:sldId id="273" r:id="rId15"/>
    <p:sldId id="367"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7" r:id="rId39"/>
    <p:sldId id="298" r:id="rId40"/>
    <p:sldId id="299" r:id="rId41"/>
    <p:sldId id="300" r:id="rId42"/>
    <p:sldId id="303" r:id="rId43"/>
    <p:sldId id="301" r:id="rId44"/>
    <p:sldId id="302" r:id="rId45"/>
    <p:sldId id="304" r:id="rId46"/>
    <p:sldId id="305" r:id="rId47"/>
    <p:sldId id="306" r:id="rId48"/>
    <p:sldId id="307" r:id="rId49"/>
    <p:sldId id="308" r:id="rId50"/>
    <p:sldId id="318" r:id="rId51"/>
    <p:sldId id="319" r:id="rId52"/>
    <p:sldId id="320" r:id="rId53"/>
    <p:sldId id="321" r:id="rId54"/>
    <p:sldId id="322" r:id="rId55"/>
    <p:sldId id="323" r:id="rId56"/>
    <p:sldId id="324" r:id="rId57"/>
    <p:sldId id="378" r:id="rId58"/>
    <p:sldId id="327" r:id="rId59"/>
    <p:sldId id="328" r:id="rId60"/>
    <p:sldId id="325" r:id="rId61"/>
    <p:sldId id="329" r:id="rId62"/>
    <p:sldId id="330" r:id="rId63"/>
    <p:sldId id="326" r:id="rId64"/>
    <p:sldId id="331" r:id="rId65"/>
    <p:sldId id="332" r:id="rId66"/>
    <p:sldId id="333" r:id="rId67"/>
    <p:sldId id="334" r:id="rId68"/>
    <p:sldId id="335" r:id="rId69"/>
    <p:sldId id="336" r:id="rId70"/>
    <p:sldId id="337" r:id="rId71"/>
    <p:sldId id="338" r:id="rId72"/>
    <p:sldId id="400" r:id="rId73"/>
    <p:sldId id="379" r:id="rId74"/>
    <p:sldId id="380" r:id="rId75"/>
    <p:sldId id="381" r:id="rId76"/>
    <p:sldId id="382" r:id="rId77"/>
    <p:sldId id="383" r:id="rId78"/>
    <p:sldId id="384" r:id="rId79"/>
    <p:sldId id="385" r:id="rId80"/>
    <p:sldId id="386" r:id="rId81"/>
    <p:sldId id="387" r:id="rId82"/>
    <p:sldId id="388" r:id="rId83"/>
    <p:sldId id="389" r:id="rId84"/>
    <p:sldId id="401" r:id="rId85"/>
    <p:sldId id="390" r:id="rId86"/>
    <p:sldId id="391" r:id="rId87"/>
    <p:sldId id="392" r:id="rId88"/>
    <p:sldId id="393" r:id="rId89"/>
    <p:sldId id="394" r:id="rId90"/>
    <p:sldId id="395" r:id="rId91"/>
    <p:sldId id="396" r:id="rId92"/>
    <p:sldId id="397" r:id="rId93"/>
    <p:sldId id="398" r:id="rId94"/>
    <p:sldId id="399" r:id="rId95"/>
    <p:sldId id="402" r:id="rId96"/>
    <p:sldId id="403" r:id="rId97"/>
    <p:sldId id="405" r:id="rId98"/>
    <p:sldId id="406" r:id="rId99"/>
    <p:sldId id="407" r:id="rId100"/>
    <p:sldId id="408" r:id="rId101"/>
    <p:sldId id="411" r:id="rId102"/>
    <p:sldId id="409" r:id="rId103"/>
    <p:sldId id="413" r:id="rId104"/>
    <p:sldId id="410" r:id="rId105"/>
    <p:sldId id="404" r:id="rId106"/>
    <p:sldId id="412" r:id="rId107"/>
    <p:sldId id="414" r:id="rId108"/>
    <p:sldId id="358" r:id="rId109"/>
    <p:sldId id="359" r:id="rId110"/>
    <p:sldId id="360" r:id="rId111"/>
    <p:sldId id="361" r:id="rId112"/>
    <p:sldId id="368" r:id="rId113"/>
    <p:sldId id="369" r:id="rId114"/>
    <p:sldId id="362" r:id="rId115"/>
    <p:sldId id="363" r:id="rId116"/>
    <p:sldId id="372" r:id="rId117"/>
    <p:sldId id="373" r:id="rId118"/>
    <p:sldId id="374" r:id="rId119"/>
    <p:sldId id="376" r:id="rId120"/>
    <p:sldId id="364" r:id="rId121"/>
    <p:sldId id="377" r:id="rId122"/>
    <p:sldId id="365" r:id="rId1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4222A"/>
    <a:srgbClr val="383A3C"/>
    <a:srgbClr val="FAC6C7"/>
    <a:srgbClr val="FFFFFF"/>
    <a:srgbClr val="D31E26"/>
    <a:srgbClr val="D74349"/>
    <a:srgbClr val="D421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96" d="100"/>
          <a:sy n="96" d="100"/>
        </p:scale>
        <p:origin x="1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microsoft.com/office/2016/11/relationships/changesInfo" Target="changesInfos/changesInfo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tin Sharma" userId="d07fcb967d2fbce9" providerId="LiveId" clId="{AA961230-B4A3-4B8E-AF34-DB040B63C2E7}"/>
    <pc:docChg chg="addSld delSld modSld">
      <pc:chgData name="Ritin Sharma" userId="d07fcb967d2fbce9" providerId="LiveId" clId="{AA961230-B4A3-4B8E-AF34-DB040B63C2E7}" dt="2025-08-26T04:47:04.570" v="38" actId="680"/>
      <pc:docMkLst>
        <pc:docMk/>
      </pc:docMkLst>
      <pc:sldChg chg="modSp mod">
        <pc:chgData name="Ritin Sharma" userId="d07fcb967d2fbce9" providerId="LiveId" clId="{AA961230-B4A3-4B8E-AF34-DB040B63C2E7}" dt="2025-07-28T05:36:54.453" v="37" actId="20577"/>
        <pc:sldMkLst>
          <pc:docMk/>
          <pc:sldMk cId="0" sldId="256"/>
        </pc:sldMkLst>
        <pc:spChg chg="mod">
          <ac:chgData name="Ritin Sharma" userId="d07fcb967d2fbce9" providerId="LiveId" clId="{AA961230-B4A3-4B8E-AF34-DB040B63C2E7}" dt="2025-07-28T05:36:54.453" v="37" actId="20577"/>
          <ac:spMkLst>
            <pc:docMk/>
            <pc:sldMk cId="0" sldId="256"/>
            <ac:spMk id="8" creationId="{00000000-0000-0000-0000-000000000000}"/>
          </ac:spMkLst>
        </pc:spChg>
      </pc:sldChg>
      <pc:sldChg chg="modSp">
        <pc:chgData name="Ritin Sharma" userId="d07fcb967d2fbce9" providerId="LiveId" clId="{AA961230-B4A3-4B8E-AF34-DB040B63C2E7}" dt="2025-07-28T05:31:09.127" v="0"/>
        <pc:sldMkLst>
          <pc:docMk/>
          <pc:sldMk cId="0" sldId="261"/>
        </pc:sldMkLst>
        <pc:spChg chg="mod">
          <ac:chgData name="Ritin Sharma" userId="d07fcb967d2fbce9" providerId="LiveId" clId="{AA961230-B4A3-4B8E-AF34-DB040B63C2E7}" dt="2025-07-28T05:31:09.127" v="0"/>
          <ac:spMkLst>
            <pc:docMk/>
            <pc:sldMk cId="0" sldId="261"/>
            <ac:spMk id="2" creationId="{00000000-0000-0000-0000-000000000000}"/>
          </ac:spMkLst>
        </pc:spChg>
      </pc:sldChg>
      <pc:sldChg chg="new">
        <pc:chgData name="Ritin Sharma" userId="d07fcb967d2fbce9" providerId="LiveId" clId="{AA961230-B4A3-4B8E-AF34-DB040B63C2E7}" dt="2025-08-26T04:47:04.570" v="38" actId="680"/>
        <pc:sldMkLst>
          <pc:docMk/>
          <pc:sldMk cId="316987664" sldId="415"/>
        </pc:sldMkLst>
      </pc:sldChg>
      <pc:sldChg chg="del">
        <pc:chgData name="Ritin Sharma" userId="d07fcb967d2fbce9" providerId="LiveId" clId="{AA961230-B4A3-4B8E-AF34-DB040B63C2E7}" dt="2025-07-28T05:31:16.166" v="1" actId="47"/>
        <pc:sldMkLst>
          <pc:docMk/>
          <pc:sldMk cId="0" sldId="483"/>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FC658A23-7291-4396-93F7-76F16D02774E}" type="doc">
      <dgm:prSet loTypeId="urn:microsoft.com/office/officeart/2005/8/layout/chevron2" loCatId="process" qsTypeId="urn:microsoft.com/office/officeart/2005/8/quickstyle/simple3#1" qsCatId="simple" csTypeId="urn:microsoft.com/office/officeart/2005/8/colors/accent1_2#1" csCatId="accent1" phldr="1"/>
      <dgm:spPr/>
      <dgm:t>
        <a:bodyPr/>
        <a:lstStyle/>
        <a:p>
          <a:endParaRPr lang="en-IN"/>
        </a:p>
      </dgm:t>
    </dgm:pt>
    <dgm:pt modelId="{D60EE765-5F42-4863-BF14-4102B7960BA5}">
      <dgm:prSet custT="1"/>
      <dgm:spPr>
        <a:solidFill>
          <a:schemeClr val="accent2">
            <a:lumMod val="60000"/>
            <a:lumOff val="40000"/>
          </a:schemeClr>
        </a:solidFill>
      </dgm:spPr>
      <dgm:t>
        <a:bodyPr/>
        <a:lstStyle/>
        <a:p>
          <a:r>
            <a:rPr lang="en-US" sz="2400" b="0" dirty="0">
              <a:latin typeface="Times New Roman" panose="02020603050405020304" pitchFamily="18" charset="0"/>
              <a:cs typeface="Times New Roman" panose="02020603050405020304" pitchFamily="18" charset="0"/>
            </a:rPr>
            <a:t>(I)Qualitative Methods</a:t>
          </a:r>
          <a:endParaRPr lang="en-IN" sz="2400" b="0" dirty="0">
            <a:latin typeface="Times New Roman" panose="02020603050405020304" pitchFamily="18" charset="0"/>
            <a:cs typeface="Times New Roman" panose="02020603050405020304" pitchFamily="18" charset="0"/>
          </a:endParaRPr>
        </a:p>
      </dgm:t>
    </dgm:pt>
    <dgm:pt modelId="{67DB2A90-1630-4BB1-9C3F-D01F04C03378}" type="parTrans" cxnId="{E364EA6C-914E-4E00-B658-AFAF9A744438}">
      <dgm:prSet/>
      <dgm:spPr/>
      <dgm:t>
        <a:bodyPr/>
        <a:lstStyle/>
        <a:p>
          <a:endParaRPr lang="en-IN"/>
        </a:p>
      </dgm:t>
    </dgm:pt>
    <dgm:pt modelId="{16BB3FF3-8067-4DE2-81D2-5E10D5E418A7}" type="sibTrans" cxnId="{E364EA6C-914E-4E00-B658-AFAF9A744438}">
      <dgm:prSet/>
      <dgm:spPr/>
      <dgm:t>
        <a:bodyPr/>
        <a:lstStyle/>
        <a:p>
          <a:endParaRPr lang="en-IN"/>
        </a:p>
      </dgm:t>
    </dgm:pt>
    <dgm:pt modelId="{7EA5D5E0-9B27-4550-8C99-456CBF726074}">
      <dgm:prSet custT="1"/>
      <dgm:spPr/>
      <dgm:t>
        <a:bodyPr/>
        <a:lstStyle/>
        <a:p>
          <a:r>
            <a:rPr lang="en-US" sz="2400" dirty="0">
              <a:latin typeface="Times New Roman" panose="02020603050405020304" pitchFamily="18" charset="0"/>
              <a:cs typeface="Times New Roman" panose="02020603050405020304" pitchFamily="18" charset="0"/>
            </a:rPr>
            <a:t>Jury of Executive Opinion Method</a:t>
          </a:r>
          <a:endParaRPr lang="en-IN" sz="2400" dirty="0">
            <a:latin typeface="Times New Roman" panose="02020603050405020304" pitchFamily="18" charset="0"/>
            <a:cs typeface="Times New Roman" panose="02020603050405020304" pitchFamily="18" charset="0"/>
          </a:endParaRPr>
        </a:p>
      </dgm:t>
    </dgm:pt>
    <dgm:pt modelId="{BB8521B5-B4E5-42C5-9203-A4FBEBE8DB76}" type="parTrans" cxnId="{D8B05B45-B141-4641-8174-E19F9B35AE75}">
      <dgm:prSet/>
      <dgm:spPr/>
      <dgm:t>
        <a:bodyPr/>
        <a:lstStyle/>
        <a:p>
          <a:endParaRPr lang="en-IN"/>
        </a:p>
      </dgm:t>
    </dgm:pt>
    <dgm:pt modelId="{B919DAD0-9A90-456D-AAC0-F4137ABFF811}" type="sibTrans" cxnId="{D8B05B45-B141-4641-8174-E19F9B35AE75}">
      <dgm:prSet/>
      <dgm:spPr/>
      <dgm:t>
        <a:bodyPr/>
        <a:lstStyle/>
        <a:p>
          <a:endParaRPr lang="en-IN"/>
        </a:p>
      </dgm:t>
    </dgm:pt>
    <dgm:pt modelId="{87882B89-AA5A-4EF0-B422-D3CE2782A4D3}">
      <dgm:prSet custT="1"/>
      <dgm:spPr/>
      <dgm:t>
        <a:bodyPr/>
        <a:lstStyle/>
        <a:p>
          <a:r>
            <a:rPr lang="en-US" sz="2400" dirty="0">
              <a:latin typeface="Times New Roman" panose="02020603050405020304" pitchFamily="18" charset="0"/>
              <a:cs typeface="Times New Roman" panose="02020603050405020304" pitchFamily="18" charset="0"/>
            </a:rPr>
            <a:t>Delphi Method</a:t>
          </a:r>
          <a:endParaRPr lang="en-IN" sz="2400" dirty="0">
            <a:latin typeface="Times New Roman" panose="02020603050405020304" pitchFamily="18" charset="0"/>
            <a:cs typeface="Times New Roman" panose="02020603050405020304" pitchFamily="18" charset="0"/>
          </a:endParaRPr>
        </a:p>
      </dgm:t>
    </dgm:pt>
    <dgm:pt modelId="{15D65A17-91F8-45CF-A4D5-74DAE6C4BF5E}" type="parTrans" cxnId="{5AB06E53-D114-4DD5-8771-D53889B1BE2F}">
      <dgm:prSet/>
      <dgm:spPr/>
      <dgm:t>
        <a:bodyPr/>
        <a:lstStyle/>
        <a:p>
          <a:endParaRPr lang="en-IN"/>
        </a:p>
      </dgm:t>
    </dgm:pt>
    <dgm:pt modelId="{3FD9EDC1-F71F-4FEB-B18E-C117460B055D}" type="sibTrans" cxnId="{5AB06E53-D114-4DD5-8771-D53889B1BE2F}">
      <dgm:prSet/>
      <dgm:spPr/>
      <dgm:t>
        <a:bodyPr/>
        <a:lstStyle/>
        <a:p>
          <a:endParaRPr lang="en-IN"/>
        </a:p>
      </dgm:t>
    </dgm:pt>
    <dgm:pt modelId="{AF11726C-F231-4287-82FC-23905A342FD1}">
      <dgm:prSet/>
      <dgm:spPr/>
      <dgm:t>
        <a:bodyPr/>
        <a:lstStyle/>
        <a:p>
          <a:endParaRPr lang="en-IN" sz="3300"/>
        </a:p>
      </dgm:t>
    </dgm:pt>
    <dgm:pt modelId="{F117BEFD-6EB7-4B1B-B36C-84D49E59310B}" type="parTrans" cxnId="{AE766B88-5E8A-4E92-BA9E-42168126D0DC}">
      <dgm:prSet/>
      <dgm:spPr/>
      <dgm:t>
        <a:bodyPr/>
        <a:lstStyle/>
        <a:p>
          <a:endParaRPr lang="en-IN"/>
        </a:p>
      </dgm:t>
    </dgm:pt>
    <dgm:pt modelId="{1F8DB6A3-10E9-4F25-93D6-FA8855B34D45}" type="sibTrans" cxnId="{AE766B88-5E8A-4E92-BA9E-42168126D0DC}">
      <dgm:prSet/>
      <dgm:spPr/>
      <dgm:t>
        <a:bodyPr/>
        <a:lstStyle/>
        <a:p>
          <a:endParaRPr lang="en-IN"/>
        </a:p>
      </dgm:t>
    </dgm:pt>
    <dgm:pt modelId="{06339A55-5D12-4522-B54E-F37CFB5A6964}" type="pres">
      <dgm:prSet presAssocID="{FC658A23-7291-4396-93F7-76F16D02774E}" presName="linearFlow" presStyleCnt="0">
        <dgm:presLayoutVars>
          <dgm:dir/>
          <dgm:animLvl val="lvl"/>
          <dgm:resizeHandles val="exact"/>
        </dgm:presLayoutVars>
      </dgm:prSet>
      <dgm:spPr/>
    </dgm:pt>
    <dgm:pt modelId="{24E28355-4D2D-4BC0-B7DA-25A3F66969F1}" type="pres">
      <dgm:prSet presAssocID="{D60EE765-5F42-4863-BF14-4102B7960BA5}" presName="composite" presStyleCnt="0"/>
      <dgm:spPr/>
    </dgm:pt>
    <dgm:pt modelId="{599C345C-082F-468D-8972-B4A921B72A53}" type="pres">
      <dgm:prSet presAssocID="{D60EE765-5F42-4863-BF14-4102B7960BA5}" presName="parentText" presStyleLbl="alignNode1" presStyleIdx="0" presStyleCnt="1">
        <dgm:presLayoutVars>
          <dgm:chMax val="1"/>
          <dgm:bulletEnabled val="1"/>
        </dgm:presLayoutVars>
      </dgm:prSet>
      <dgm:spPr/>
    </dgm:pt>
    <dgm:pt modelId="{3635D93C-B964-42C1-8CF7-353B75F691B1}" type="pres">
      <dgm:prSet presAssocID="{D60EE765-5F42-4863-BF14-4102B7960BA5}" presName="descendantText" presStyleLbl="alignAcc1" presStyleIdx="0" presStyleCnt="1">
        <dgm:presLayoutVars>
          <dgm:bulletEnabled val="1"/>
        </dgm:presLayoutVars>
      </dgm:prSet>
      <dgm:spPr/>
    </dgm:pt>
  </dgm:ptLst>
  <dgm:cxnLst>
    <dgm:cxn modelId="{DCC9F124-33A5-4517-8A69-653DF6887FF9}" type="presOf" srcId="{D60EE765-5F42-4863-BF14-4102B7960BA5}" destId="{599C345C-082F-468D-8972-B4A921B72A53}" srcOrd="0" destOrd="0" presId="urn:microsoft.com/office/officeart/2005/8/layout/chevron2"/>
    <dgm:cxn modelId="{C95D7E28-5E55-4FA4-A58A-66FD00847646}" type="presOf" srcId="{7EA5D5E0-9B27-4550-8C99-456CBF726074}" destId="{3635D93C-B964-42C1-8CF7-353B75F691B1}" srcOrd="0" destOrd="0" presId="urn:microsoft.com/office/officeart/2005/8/layout/chevron2"/>
    <dgm:cxn modelId="{ACD6305C-30F0-46B7-BE37-E12894F7F377}" type="presOf" srcId="{87882B89-AA5A-4EF0-B422-D3CE2782A4D3}" destId="{3635D93C-B964-42C1-8CF7-353B75F691B1}" srcOrd="0" destOrd="1" presId="urn:microsoft.com/office/officeart/2005/8/layout/chevron2"/>
    <dgm:cxn modelId="{D8B05B45-B141-4641-8174-E19F9B35AE75}" srcId="{D60EE765-5F42-4863-BF14-4102B7960BA5}" destId="{7EA5D5E0-9B27-4550-8C99-456CBF726074}" srcOrd="0" destOrd="0" parTransId="{BB8521B5-B4E5-42C5-9203-A4FBEBE8DB76}" sibTransId="{B919DAD0-9A90-456D-AAC0-F4137ABFF811}"/>
    <dgm:cxn modelId="{E364EA6C-914E-4E00-B658-AFAF9A744438}" srcId="{FC658A23-7291-4396-93F7-76F16D02774E}" destId="{D60EE765-5F42-4863-BF14-4102B7960BA5}" srcOrd="0" destOrd="0" parTransId="{67DB2A90-1630-4BB1-9C3F-D01F04C03378}" sibTransId="{16BB3FF3-8067-4DE2-81D2-5E10D5E418A7}"/>
    <dgm:cxn modelId="{5AB06E53-D114-4DD5-8771-D53889B1BE2F}" srcId="{D60EE765-5F42-4863-BF14-4102B7960BA5}" destId="{87882B89-AA5A-4EF0-B422-D3CE2782A4D3}" srcOrd="1" destOrd="0" parTransId="{15D65A17-91F8-45CF-A4D5-74DAE6C4BF5E}" sibTransId="{3FD9EDC1-F71F-4FEB-B18E-C117460B055D}"/>
    <dgm:cxn modelId="{770EF977-8FE6-4812-964F-D121E08978F6}" type="presOf" srcId="{FC658A23-7291-4396-93F7-76F16D02774E}" destId="{06339A55-5D12-4522-B54E-F37CFB5A6964}" srcOrd="0" destOrd="0" presId="urn:microsoft.com/office/officeart/2005/8/layout/chevron2"/>
    <dgm:cxn modelId="{AE766B88-5E8A-4E92-BA9E-42168126D0DC}" srcId="{D60EE765-5F42-4863-BF14-4102B7960BA5}" destId="{AF11726C-F231-4287-82FC-23905A342FD1}" srcOrd="2" destOrd="0" parTransId="{F117BEFD-6EB7-4B1B-B36C-84D49E59310B}" sibTransId="{1F8DB6A3-10E9-4F25-93D6-FA8855B34D45}"/>
    <dgm:cxn modelId="{D7AE04BE-D9AB-431B-B36E-7FC5B0DABFCF}" type="presOf" srcId="{AF11726C-F231-4287-82FC-23905A342FD1}" destId="{3635D93C-B964-42C1-8CF7-353B75F691B1}" srcOrd="0" destOrd="2" presId="urn:microsoft.com/office/officeart/2005/8/layout/chevron2"/>
    <dgm:cxn modelId="{EA5C873C-D448-437F-AFD5-5E9827581D75}" type="presParOf" srcId="{06339A55-5D12-4522-B54E-F37CFB5A6964}" destId="{24E28355-4D2D-4BC0-B7DA-25A3F66969F1}" srcOrd="0" destOrd="0" presId="urn:microsoft.com/office/officeart/2005/8/layout/chevron2"/>
    <dgm:cxn modelId="{8DBC1E77-EFF8-4883-88E0-82459968FB57}" type="presParOf" srcId="{24E28355-4D2D-4BC0-B7DA-25A3F66969F1}" destId="{599C345C-082F-468D-8972-B4A921B72A53}" srcOrd="0" destOrd="0" presId="urn:microsoft.com/office/officeart/2005/8/layout/chevron2"/>
    <dgm:cxn modelId="{B2D7A1E7-D224-4EA3-A6E4-A5B03A5AE28A}" type="presParOf" srcId="{24E28355-4D2D-4BC0-B7DA-25A3F66969F1}" destId="{3635D93C-B964-42C1-8CF7-353B75F691B1}"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C658A23-7291-4396-93F7-76F16D02774E}" type="doc">
      <dgm:prSet loTypeId="urn:microsoft.com/office/officeart/2005/8/layout/chevron2" loCatId="process" qsTypeId="urn:microsoft.com/office/officeart/2005/8/quickstyle/simple3#2" qsCatId="simple" csTypeId="urn:microsoft.com/office/officeart/2005/8/colors/accent1_2#2" csCatId="accent1" phldr="1"/>
      <dgm:spPr/>
      <dgm:t>
        <a:bodyPr/>
        <a:lstStyle/>
        <a:p>
          <a:endParaRPr lang="en-IN"/>
        </a:p>
      </dgm:t>
    </dgm:pt>
    <dgm:pt modelId="{8F6652F8-8B64-4120-9D11-9C91117524DA}">
      <dgm:prSet custT="1"/>
      <dgm:spPr>
        <a:solidFill>
          <a:schemeClr val="accent2">
            <a:lumMod val="60000"/>
            <a:lumOff val="40000"/>
          </a:schemeClr>
        </a:solidFill>
      </dgm:spPr>
      <dgm:t>
        <a:bodyPr/>
        <a:lstStyle/>
        <a:p>
          <a:r>
            <a:rPr lang="en-US" sz="2400" dirty="0"/>
            <a:t>(II)</a:t>
          </a:r>
          <a:r>
            <a:rPr lang="en-US" sz="2400" b="0" dirty="0">
              <a:latin typeface="Times New Roman" panose="02020603050405020304" pitchFamily="18" charset="0"/>
              <a:cs typeface="Times New Roman" panose="02020603050405020304" pitchFamily="18" charset="0"/>
            </a:rPr>
            <a:t>Time Series Projection Method</a:t>
          </a:r>
          <a:endParaRPr lang="en-IN" sz="2400" b="0" dirty="0">
            <a:latin typeface="Times New Roman" panose="02020603050405020304" pitchFamily="18" charset="0"/>
            <a:cs typeface="Times New Roman" panose="02020603050405020304" pitchFamily="18" charset="0"/>
          </a:endParaRPr>
        </a:p>
      </dgm:t>
    </dgm:pt>
    <dgm:pt modelId="{938D7EBF-C56E-4B6F-8914-11EC302BBDF2}" type="parTrans" cxnId="{A0C7998E-858A-48F9-B40D-CF8C7982740A}">
      <dgm:prSet/>
      <dgm:spPr/>
      <dgm:t>
        <a:bodyPr/>
        <a:lstStyle/>
        <a:p>
          <a:endParaRPr lang="en-IN"/>
        </a:p>
      </dgm:t>
    </dgm:pt>
    <dgm:pt modelId="{AA7DA3A9-73C1-4D72-9555-BF26BDBE28DC}" type="sibTrans" cxnId="{A0C7998E-858A-48F9-B40D-CF8C7982740A}">
      <dgm:prSet/>
      <dgm:spPr/>
      <dgm:t>
        <a:bodyPr/>
        <a:lstStyle/>
        <a:p>
          <a:endParaRPr lang="en-IN"/>
        </a:p>
      </dgm:t>
    </dgm:pt>
    <dgm:pt modelId="{67A6C241-F297-4582-8EC0-34CF4F28C3D4}">
      <dgm:prSet custT="1"/>
      <dgm:spPr/>
      <dgm:t>
        <a:bodyPr/>
        <a:lstStyle/>
        <a:p>
          <a:r>
            <a:rPr lang="en-US" sz="2400" dirty="0">
              <a:latin typeface="Times New Roman" panose="02020603050405020304" pitchFamily="18" charset="0"/>
              <a:cs typeface="Times New Roman" panose="02020603050405020304" pitchFamily="18" charset="0"/>
            </a:rPr>
            <a:t>Trend Projection Method</a:t>
          </a:r>
          <a:endParaRPr lang="en-IN" sz="2400" dirty="0">
            <a:latin typeface="Times New Roman" panose="02020603050405020304" pitchFamily="18" charset="0"/>
            <a:cs typeface="Times New Roman" panose="02020603050405020304" pitchFamily="18" charset="0"/>
          </a:endParaRPr>
        </a:p>
      </dgm:t>
    </dgm:pt>
    <dgm:pt modelId="{25A915A4-B0E3-4094-ACE0-C3F44D68BCA3}" type="parTrans" cxnId="{3F0C2E29-D190-4C4C-A287-E50DADCFBB0B}">
      <dgm:prSet/>
      <dgm:spPr/>
      <dgm:t>
        <a:bodyPr/>
        <a:lstStyle/>
        <a:p>
          <a:endParaRPr lang="en-IN"/>
        </a:p>
      </dgm:t>
    </dgm:pt>
    <dgm:pt modelId="{F7B36694-3E84-4BBF-832C-BAD82EE43DF1}" type="sibTrans" cxnId="{3F0C2E29-D190-4C4C-A287-E50DADCFBB0B}">
      <dgm:prSet/>
      <dgm:spPr/>
      <dgm:t>
        <a:bodyPr/>
        <a:lstStyle/>
        <a:p>
          <a:endParaRPr lang="en-IN"/>
        </a:p>
      </dgm:t>
    </dgm:pt>
    <dgm:pt modelId="{96EFBA16-2893-4EC7-B1ED-169F5BFF5BCB}">
      <dgm:prSet custT="1"/>
      <dgm:spPr/>
      <dgm:t>
        <a:bodyPr/>
        <a:lstStyle/>
        <a:p>
          <a:r>
            <a:rPr lang="en-US" sz="2400" dirty="0">
              <a:latin typeface="Times New Roman" panose="02020603050405020304" pitchFamily="18" charset="0"/>
              <a:cs typeface="Times New Roman" panose="02020603050405020304" pitchFamily="18" charset="0"/>
            </a:rPr>
            <a:t>Exponential Smoothing Method</a:t>
          </a:r>
          <a:endParaRPr lang="en-IN" sz="2400" dirty="0">
            <a:latin typeface="Times New Roman" panose="02020603050405020304" pitchFamily="18" charset="0"/>
            <a:cs typeface="Times New Roman" panose="02020603050405020304" pitchFamily="18" charset="0"/>
          </a:endParaRPr>
        </a:p>
      </dgm:t>
    </dgm:pt>
    <dgm:pt modelId="{4080C6F0-7E2A-48B8-9338-0D3D34BF1380}" type="parTrans" cxnId="{4F01E00C-384E-43E6-B411-0C303A51A724}">
      <dgm:prSet/>
      <dgm:spPr/>
      <dgm:t>
        <a:bodyPr/>
        <a:lstStyle/>
        <a:p>
          <a:endParaRPr lang="en-IN"/>
        </a:p>
      </dgm:t>
    </dgm:pt>
    <dgm:pt modelId="{6AB66B88-4F0A-4BED-AA08-CEC32664E8EA}" type="sibTrans" cxnId="{4F01E00C-384E-43E6-B411-0C303A51A724}">
      <dgm:prSet/>
      <dgm:spPr/>
      <dgm:t>
        <a:bodyPr/>
        <a:lstStyle/>
        <a:p>
          <a:endParaRPr lang="en-IN"/>
        </a:p>
      </dgm:t>
    </dgm:pt>
    <dgm:pt modelId="{AF75752C-5F68-4E4F-8211-8AD562EE3E55}">
      <dgm:prSet custT="1"/>
      <dgm:spPr/>
      <dgm:t>
        <a:bodyPr/>
        <a:lstStyle/>
        <a:p>
          <a:r>
            <a:rPr lang="en-US" sz="2400" dirty="0">
              <a:latin typeface="Times New Roman" panose="02020603050405020304" pitchFamily="18" charset="0"/>
              <a:cs typeface="Times New Roman" panose="02020603050405020304" pitchFamily="18" charset="0"/>
            </a:rPr>
            <a:t>Moving Average Method </a:t>
          </a:r>
          <a:endParaRPr lang="en-IN" sz="2400" dirty="0">
            <a:latin typeface="Times New Roman" panose="02020603050405020304" pitchFamily="18" charset="0"/>
            <a:cs typeface="Times New Roman" panose="02020603050405020304" pitchFamily="18" charset="0"/>
          </a:endParaRPr>
        </a:p>
      </dgm:t>
    </dgm:pt>
    <dgm:pt modelId="{6F9060A7-D3C2-4F77-9E56-B844BB1957D2}" type="parTrans" cxnId="{5B95393C-09A2-4D79-B48E-82D356D2E7BA}">
      <dgm:prSet/>
      <dgm:spPr/>
      <dgm:t>
        <a:bodyPr/>
        <a:lstStyle/>
        <a:p>
          <a:endParaRPr lang="en-IN"/>
        </a:p>
      </dgm:t>
    </dgm:pt>
    <dgm:pt modelId="{0D331CA2-30DF-43D1-8753-2C9CAA7843FF}" type="sibTrans" cxnId="{5B95393C-09A2-4D79-B48E-82D356D2E7BA}">
      <dgm:prSet/>
      <dgm:spPr/>
      <dgm:t>
        <a:bodyPr/>
        <a:lstStyle/>
        <a:p>
          <a:endParaRPr lang="en-IN"/>
        </a:p>
      </dgm:t>
    </dgm:pt>
    <dgm:pt modelId="{06339A55-5D12-4522-B54E-F37CFB5A6964}" type="pres">
      <dgm:prSet presAssocID="{FC658A23-7291-4396-93F7-76F16D02774E}" presName="linearFlow" presStyleCnt="0">
        <dgm:presLayoutVars>
          <dgm:dir/>
          <dgm:animLvl val="lvl"/>
          <dgm:resizeHandles val="exact"/>
        </dgm:presLayoutVars>
      </dgm:prSet>
      <dgm:spPr/>
    </dgm:pt>
    <dgm:pt modelId="{168A3229-91DA-48AB-B953-D72A8D094FA7}" type="pres">
      <dgm:prSet presAssocID="{8F6652F8-8B64-4120-9D11-9C91117524DA}" presName="composite" presStyleCnt="0"/>
      <dgm:spPr/>
    </dgm:pt>
    <dgm:pt modelId="{0B803EB8-0E3E-45C9-9762-4C651A9AA815}" type="pres">
      <dgm:prSet presAssocID="{8F6652F8-8B64-4120-9D11-9C91117524DA}" presName="parentText" presStyleLbl="alignNode1" presStyleIdx="0" presStyleCnt="1">
        <dgm:presLayoutVars>
          <dgm:chMax val="1"/>
          <dgm:bulletEnabled val="1"/>
        </dgm:presLayoutVars>
      </dgm:prSet>
      <dgm:spPr/>
    </dgm:pt>
    <dgm:pt modelId="{D4F21B71-C708-4D04-86E8-F7FE4ABD8B0D}" type="pres">
      <dgm:prSet presAssocID="{8F6652F8-8B64-4120-9D11-9C91117524DA}" presName="descendantText" presStyleLbl="alignAcc1" presStyleIdx="0" presStyleCnt="1">
        <dgm:presLayoutVars>
          <dgm:bulletEnabled val="1"/>
        </dgm:presLayoutVars>
      </dgm:prSet>
      <dgm:spPr/>
    </dgm:pt>
  </dgm:ptLst>
  <dgm:cxnLst>
    <dgm:cxn modelId="{C1413000-23F8-4234-BD5C-226F9776A03E}" type="presOf" srcId="{67A6C241-F297-4582-8EC0-34CF4F28C3D4}" destId="{D4F21B71-C708-4D04-86E8-F7FE4ABD8B0D}" srcOrd="0" destOrd="0" presId="urn:microsoft.com/office/officeart/2005/8/layout/chevron2"/>
    <dgm:cxn modelId="{4F01E00C-384E-43E6-B411-0C303A51A724}" srcId="{8F6652F8-8B64-4120-9D11-9C91117524DA}" destId="{96EFBA16-2893-4EC7-B1ED-169F5BFF5BCB}" srcOrd="1" destOrd="0" parTransId="{4080C6F0-7E2A-48B8-9338-0D3D34BF1380}" sibTransId="{6AB66B88-4F0A-4BED-AA08-CEC32664E8EA}"/>
    <dgm:cxn modelId="{3F0C2E29-D190-4C4C-A287-E50DADCFBB0B}" srcId="{8F6652F8-8B64-4120-9D11-9C91117524DA}" destId="{67A6C241-F297-4582-8EC0-34CF4F28C3D4}" srcOrd="0" destOrd="0" parTransId="{25A915A4-B0E3-4094-ACE0-C3F44D68BCA3}" sibTransId="{F7B36694-3E84-4BBF-832C-BAD82EE43DF1}"/>
    <dgm:cxn modelId="{D06E4F2B-5653-4E52-A12A-FBB1F7AA693B}" type="presOf" srcId="{8F6652F8-8B64-4120-9D11-9C91117524DA}" destId="{0B803EB8-0E3E-45C9-9762-4C651A9AA815}" srcOrd="0" destOrd="0" presId="urn:microsoft.com/office/officeart/2005/8/layout/chevron2"/>
    <dgm:cxn modelId="{5B95393C-09A2-4D79-B48E-82D356D2E7BA}" srcId="{8F6652F8-8B64-4120-9D11-9C91117524DA}" destId="{AF75752C-5F68-4E4F-8211-8AD562EE3E55}" srcOrd="2" destOrd="0" parTransId="{6F9060A7-D3C2-4F77-9E56-B844BB1957D2}" sibTransId="{0D331CA2-30DF-43D1-8753-2C9CAA7843FF}"/>
    <dgm:cxn modelId="{770EF977-8FE6-4812-964F-D121E08978F6}" type="presOf" srcId="{FC658A23-7291-4396-93F7-76F16D02774E}" destId="{06339A55-5D12-4522-B54E-F37CFB5A6964}" srcOrd="0" destOrd="0" presId="urn:microsoft.com/office/officeart/2005/8/layout/chevron2"/>
    <dgm:cxn modelId="{D555497F-2AA8-4AA6-A2D5-712E167F33B4}" type="presOf" srcId="{96EFBA16-2893-4EC7-B1ED-169F5BFF5BCB}" destId="{D4F21B71-C708-4D04-86E8-F7FE4ABD8B0D}" srcOrd="0" destOrd="1" presId="urn:microsoft.com/office/officeart/2005/8/layout/chevron2"/>
    <dgm:cxn modelId="{A0C7998E-858A-48F9-B40D-CF8C7982740A}" srcId="{FC658A23-7291-4396-93F7-76F16D02774E}" destId="{8F6652F8-8B64-4120-9D11-9C91117524DA}" srcOrd="0" destOrd="0" parTransId="{938D7EBF-C56E-4B6F-8914-11EC302BBDF2}" sibTransId="{AA7DA3A9-73C1-4D72-9555-BF26BDBE28DC}"/>
    <dgm:cxn modelId="{2A197EB1-3A4D-4C4D-83AF-AEE46BFB6476}" type="presOf" srcId="{AF75752C-5F68-4E4F-8211-8AD562EE3E55}" destId="{D4F21B71-C708-4D04-86E8-F7FE4ABD8B0D}" srcOrd="0" destOrd="2" presId="urn:microsoft.com/office/officeart/2005/8/layout/chevron2"/>
    <dgm:cxn modelId="{B7486DF0-CB3E-40F8-98D0-9F5646FADFB9}" type="presParOf" srcId="{06339A55-5D12-4522-B54E-F37CFB5A6964}" destId="{168A3229-91DA-48AB-B953-D72A8D094FA7}" srcOrd="0" destOrd="0" presId="urn:microsoft.com/office/officeart/2005/8/layout/chevron2"/>
    <dgm:cxn modelId="{DBE8FB83-248D-49FD-AC8D-09220677B47A}" type="presParOf" srcId="{168A3229-91DA-48AB-B953-D72A8D094FA7}" destId="{0B803EB8-0E3E-45C9-9762-4C651A9AA815}" srcOrd="0" destOrd="0" presId="urn:microsoft.com/office/officeart/2005/8/layout/chevron2"/>
    <dgm:cxn modelId="{5C7659FE-BFD6-4925-BAD7-57FA8B093FCA}" type="presParOf" srcId="{168A3229-91DA-48AB-B953-D72A8D094FA7}" destId="{D4F21B71-C708-4D04-86E8-F7FE4ABD8B0D}"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0B65E7A-B50F-4A2A-B0EE-4653DC3F08CB}" type="doc">
      <dgm:prSet loTypeId="urn:microsoft.com/office/officeart/2005/8/layout/chevron2" loCatId="process" qsTypeId="urn:microsoft.com/office/officeart/2005/8/quickstyle/simple3#3" qsCatId="simple" csTypeId="urn:microsoft.com/office/officeart/2005/8/colors/accent1_2#3" csCatId="accent1" phldr="1"/>
      <dgm:spPr/>
      <dgm:t>
        <a:bodyPr/>
        <a:lstStyle/>
        <a:p>
          <a:endParaRPr lang="en-IN"/>
        </a:p>
      </dgm:t>
    </dgm:pt>
    <dgm:pt modelId="{773CB0C7-FB99-46D4-B104-7CF67D5E4B75}">
      <dgm:prSet custT="1"/>
      <dgm:spPr>
        <a:solidFill>
          <a:schemeClr val="accent2">
            <a:lumMod val="60000"/>
            <a:lumOff val="40000"/>
          </a:schemeClr>
        </a:solidFill>
      </dgm:spPr>
      <dgm:t>
        <a:bodyPr/>
        <a:lstStyle/>
        <a:p>
          <a:r>
            <a:rPr lang="en-US" sz="2400">
              <a:latin typeface="Times New Roman" panose="02020603050405020304" pitchFamily="18" charset="0"/>
              <a:cs typeface="Times New Roman" panose="02020603050405020304" pitchFamily="18" charset="0"/>
            </a:rPr>
            <a:t>(III)</a:t>
          </a:r>
          <a:r>
            <a:rPr lang="en-US" sz="2400" b="1">
              <a:latin typeface="Times New Roman" panose="02020603050405020304" pitchFamily="18" charset="0"/>
              <a:cs typeface="Times New Roman" panose="02020603050405020304" pitchFamily="18" charset="0"/>
            </a:rPr>
            <a:t>Casual Methods</a:t>
          </a:r>
          <a:endParaRPr lang="en-IN" sz="2400">
            <a:latin typeface="Times New Roman" panose="02020603050405020304" pitchFamily="18" charset="0"/>
            <a:cs typeface="Times New Roman" panose="02020603050405020304" pitchFamily="18" charset="0"/>
          </a:endParaRPr>
        </a:p>
      </dgm:t>
    </dgm:pt>
    <dgm:pt modelId="{0DB78E01-0B1E-4BA5-A65E-FA0A92C6E52D}" type="parTrans" cxnId="{2E0009E9-9FF9-4AA1-B6F0-1459A896194E}">
      <dgm:prSet/>
      <dgm:spPr/>
      <dgm:t>
        <a:bodyPr/>
        <a:lstStyle/>
        <a:p>
          <a:endParaRPr lang="en-IN"/>
        </a:p>
      </dgm:t>
    </dgm:pt>
    <dgm:pt modelId="{B0FF1CF7-2F54-4259-B839-8FFD7FCBFFE8}" type="sibTrans" cxnId="{2E0009E9-9FF9-4AA1-B6F0-1459A896194E}">
      <dgm:prSet/>
      <dgm:spPr/>
      <dgm:t>
        <a:bodyPr/>
        <a:lstStyle/>
        <a:p>
          <a:endParaRPr lang="en-IN"/>
        </a:p>
      </dgm:t>
    </dgm:pt>
    <dgm:pt modelId="{452FE9A5-7784-4DB1-A44B-D50468554E6D}">
      <dgm:prSet/>
      <dgm:spPr/>
      <dgm:t>
        <a:bodyPr/>
        <a:lstStyle/>
        <a:p>
          <a:r>
            <a:rPr lang="en-US" dirty="0">
              <a:latin typeface="Times New Roman" panose="02020603050405020304" pitchFamily="18" charset="0"/>
              <a:cs typeface="Times New Roman" panose="02020603050405020304" pitchFamily="18" charset="0"/>
            </a:rPr>
            <a:t>Seek to develop forecasts based on cause-effect relationship</a:t>
          </a:r>
          <a:endParaRPr lang="en-IN" dirty="0">
            <a:latin typeface="Times New Roman" panose="02020603050405020304" pitchFamily="18" charset="0"/>
            <a:cs typeface="Times New Roman" panose="02020603050405020304" pitchFamily="18" charset="0"/>
          </a:endParaRPr>
        </a:p>
      </dgm:t>
    </dgm:pt>
    <dgm:pt modelId="{82BEE963-8ABA-4044-8368-C725E2EB6DF8}" type="parTrans" cxnId="{7C42531F-B4FB-4AFE-A993-BAD08E846C98}">
      <dgm:prSet/>
      <dgm:spPr/>
      <dgm:t>
        <a:bodyPr/>
        <a:lstStyle/>
        <a:p>
          <a:endParaRPr lang="en-IN"/>
        </a:p>
      </dgm:t>
    </dgm:pt>
    <dgm:pt modelId="{3E68FCDB-3356-43C1-89ED-C4DD36AF56B6}" type="sibTrans" cxnId="{7C42531F-B4FB-4AFE-A993-BAD08E846C98}">
      <dgm:prSet/>
      <dgm:spPr/>
      <dgm:t>
        <a:bodyPr/>
        <a:lstStyle/>
        <a:p>
          <a:endParaRPr lang="en-IN"/>
        </a:p>
      </dgm:t>
    </dgm:pt>
    <dgm:pt modelId="{262CA3C0-F31F-4178-AF67-D73598629087}">
      <dgm:prSet/>
      <dgm:spPr/>
      <dgm:t>
        <a:bodyPr/>
        <a:lstStyle/>
        <a:p>
          <a:r>
            <a:rPr lang="en-US" dirty="0">
              <a:latin typeface="Times New Roman" panose="02020603050405020304" pitchFamily="18" charset="0"/>
              <a:cs typeface="Times New Roman" panose="02020603050405020304" pitchFamily="18" charset="0"/>
            </a:rPr>
            <a:t>Chain Ratio Method</a:t>
          </a:r>
          <a:endParaRPr lang="en-IN" dirty="0">
            <a:latin typeface="Times New Roman" panose="02020603050405020304" pitchFamily="18" charset="0"/>
            <a:cs typeface="Times New Roman" panose="02020603050405020304" pitchFamily="18" charset="0"/>
          </a:endParaRPr>
        </a:p>
      </dgm:t>
    </dgm:pt>
    <dgm:pt modelId="{728175F5-7FC7-48A9-A47E-608AD5896CD5}" type="parTrans" cxnId="{969869ED-E325-4F59-9EB8-7C8B18CAB834}">
      <dgm:prSet/>
      <dgm:spPr/>
      <dgm:t>
        <a:bodyPr/>
        <a:lstStyle/>
        <a:p>
          <a:endParaRPr lang="en-IN"/>
        </a:p>
      </dgm:t>
    </dgm:pt>
    <dgm:pt modelId="{1A80D8A5-B6C8-4663-A923-EF8C31FD8E38}" type="sibTrans" cxnId="{969869ED-E325-4F59-9EB8-7C8B18CAB834}">
      <dgm:prSet/>
      <dgm:spPr/>
      <dgm:t>
        <a:bodyPr/>
        <a:lstStyle/>
        <a:p>
          <a:endParaRPr lang="en-IN"/>
        </a:p>
      </dgm:t>
    </dgm:pt>
    <dgm:pt modelId="{E414B4A6-AB7B-4548-BC1B-F10B34B2D43A}">
      <dgm:prSet/>
      <dgm:spPr/>
      <dgm:t>
        <a:bodyPr/>
        <a:lstStyle/>
        <a:p>
          <a:r>
            <a:rPr lang="en-US" dirty="0">
              <a:latin typeface="Times New Roman" panose="02020603050405020304" pitchFamily="18" charset="0"/>
              <a:cs typeface="Times New Roman" panose="02020603050405020304" pitchFamily="18" charset="0"/>
            </a:rPr>
            <a:t>Consumption Level Method</a:t>
          </a:r>
          <a:endParaRPr lang="en-IN" dirty="0">
            <a:latin typeface="Times New Roman" panose="02020603050405020304" pitchFamily="18" charset="0"/>
            <a:cs typeface="Times New Roman" panose="02020603050405020304" pitchFamily="18" charset="0"/>
          </a:endParaRPr>
        </a:p>
      </dgm:t>
    </dgm:pt>
    <dgm:pt modelId="{45F0D561-414F-4F8E-8023-861BE82DC708}" type="parTrans" cxnId="{54C4C2F5-F140-4B35-94B3-58512010B844}">
      <dgm:prSet/>
      <dgm:spPr/>
      <dgm:t>
        <a:bodyPr/>
        <a:lstStyle/>
        <a:p>
          <a:endParaRPr lang="en-IN"/>
        </a:p>
      </dgm:t>
    </dgm:pt>
    <dgm:pt modelId="{36F51EDC-162A-4BDE-87D9-A8C734F3EA2A}" type="sibTrans" cxnId="{54C4C2F5-F140-4B35-94B3-58512010B844}">
      <dgm:prSet/>
      <dgm:spPr/>
      <dgm:t>
        <a:bodyPr/>
        <a:lstStyle/>
        <a:p>
          <a:endParaRPr lang="en-IN"/>
        </a:p>
      </dgm:t>
    </dgm:pt>
    <dgm:pt modelId="{801BA92B-929C-4272-93DE-B100446D1C51}">
      <dgm:prSet/>
      <dgm:spPr/>
      <dgm:t>
        <a:bodyPr/>
        <a:lstStyle/>
        <a:p>
          <a:r>
            <a:rPr lang="en-US" dirty="0">
              <a:latin typeface="Times New Roman" panose="02020603050405020304" pitchFamily="18" charset="0"/>
              <a:cs typeface="Times New Roman" panose="02020603050405020304" pitchFamily="18" charset="0"/>
            </a:rPr>
            <a:t>End-use Method</a:t>
          </a:r>
          <a:endParaRPr lang="en-IN" dirty="0">
            <a:latin typeface="Times New Roman" panose="02020603050405020304" pitchFamily="18" charset="0"/>
            <a:cs typeface="Times New Roman" panose="02020603050405020304" pitchFamily="18" charset="0"/>
          </a:endParaRPr>
        </a:p>
      </dgm:t>
    </dgm:pt>
    <dgm:pt modelId="{3088D49C-E09C-49A9-B1FF-35B597844720}" type="parTrans" cxnId="{F5A4F4FD-BE24-4CE3-A324-22036C8134FF}">
      <dgm:prSet/>
      <dgm:spPr/>
      <dgm:t>
        <a:bodyPr/>
        <a:lstStyle/>
        <a:p>
          <a:endParaRPr lang="en-IN"/>
        </a:p>
      </dgm:t>
    </dgm:pt>
    <dgm:pt modelId="{BF3352E5-74AC-4E63-96C5-A5AD49731371}" type="sibTrans" cxnId="{F5A4F4FD-BE24-4CE3-A324-22036C8134FF}">
      <dgm:prSet/>
      <dgm:spPr/>
      <dgm:t>
        <a:bodyPr/>
        <a:lstStyle/>
        <a:p>
          <a:endParaRPr lang="en-IN"/>
        </a:p>
      </dgm:t>
    </dgm:pt>
    <dgm:pt modelId="{69F950B0-00BF-46AB-ABE0-F2C03C40A40C}">
      <dgm:prSet/>
      <dgm:spPr/>
      <dgm:t>
        <a:bodyPr/>
        <a:lstStyle/>
        <a:p>
          <a:r>
            <a:rPr lang="en-US" dirty="0">
              <a:latin typeface="Times New Roman" panose="02020603050405020304" pitchFamily="18" charset="0"/>
              <a:cs typeface="Times New Roman" panose="02020603050405020304" pitchFamily="18" charset="0"/>
            </a:rPr>
            <a:t>Bass Diffusion Method</a:t>
          </a:r>
          <a:endParaRPr lang="en-IN" dirty="0">
            <a:latin typeface="Times New Roman" panose="02020603050405020304" pitchFamily="18" charset="0"/>
            <a:cs typeface="Times New Roman" panose="02020603050405020304" pitchFamily="18" charset="0"/>
          </a:endParaRPr>
        </a:p>
      </dgm:t>
    </dgm:pt>
    <dgm:pt modelId="{C275E106-4918-42ED-B675-8D42FDCB27C2}" type="parTrans" cxnId="{83465F3F-2DCE-4BC5-9CCD-0061D3AFB7DB}">
      <dgm:prSet/>
      <dgm:spPr/>
      <dgm:t>
        <a:bodyPr/>
        <a:lstStyle/>
        <a:p>
          <a:endParaRPr lang="en-IN"/>
        </a:p>
      </dgm:t>
    </dgm:pt>
    <dgm:pt modelId="{3ADC9969-0421-4DB2-B53D-4FBE7D2FE2CE}" type="sibTrans" cxnId="{83465F3F-2DCE-4BC5-9CCD-0061D3AFB7DB}">
      <dgm:prSet/>
      <dgm:spPr/>
      <dgm:t>
        <a:bodyPr/>
        <a:lstStyle/>
        <a:p>
          <a:endParaRPr lang="en-IN"/>
        </a:p>
      </dgm:t>
    </dgm:pt>
    <dgm:pt modelId="{9CF3D8EB-9E0B-4A84-BA78-FFF18EBC05E7}">
      <dgm:prSet/>
      <dgm:spPr/>
      <dgm:t>
        <a:bodyPr/>
        <a:lstStyle/>
        <a:p>
          <a:r>
            <a:rPr lang="en-US">
              <a:latin typeface="Times New Roman" panose="02020603050405020304" pitchFamily="18" charset="0"/>
              <a:cs typeface="Times New Roman" panose="02020603050405020304" pitchFamily="18" charset="0"/>
            </a:rPr>
            <a:t>Leading Indicator Method</a:t>
          </a:r>
          <a:endParaRPr lang="en-IN">
            <a:latin typeface="Times New Roman" panose="02020603050405020304" pitchFamily="18" charset="0"/>
            <a:cs typeface="Times New Roman" panose="02020603050405020304" pitchFamily="18" charset="0"/>
          </a:endParaRPr>
        </a:p>
      </dgm:t>
    </dgm:pt>
    <dgm:pt modelId="{F3A944C0-9F40-4A69-8B10-8DA6D77ACD1C}" type="parTrans" cxnId="{B72C0454-1718-4525-B14B-9695E6C03DCC}">
      <dgm:prSet/>
      <dgm:spPr/>
      <dgm:t>
        <a:bodyPr/>
        <a:lstStyle/>
        <a:p>
          <a:endParaRPr lang="en-IN"/>
        </a:p>
      </dgm:t>
    </dgm:pt>
    <dgm:pt modelId="{924E444D-765C-4E60-99DB-8917402CA964}" type="sibTrans" cxnId="{B72C0454-1718-4525-B14B-9695E6C03DCC}">
      <dgm:prSet/>
      <dgm:spPr/>
      <dgm:t>
        <a:bodyPr/>
        <a:lstStyle/>
        <a:p>
          <a:endParaRPr lang="en-IN"/>
        </a:p>
      </dgm:t>
    </dgm:pt>
    <dgm:pt modelId="{7C75CEDE-1503-4197-9822-87352C50ED74}">
      <dgm:prSet/>
      <dgm:spPr/>
      <dgm:t>
        <a:bodyPr/>
        <a:lstStyle/>
        <a:p>
          <a:r>
            <a:rPr lang="en-US" dirty="0">
              <a:latin typeface="Times New Roman" panose="02020603050405020304" pitchFamily="18" charset="0"/>
              <a:cs typeface="Times New Roman" panose="02020603050405020304" pitchFamily="18" charset="0"/>
            </a:rPr>
            <a:t>Econometric Method</a:t>
          </a:r>
          <a:endParaRPr lang="en-IN" dirty="0">
            <a:latin typeface="Times New Roman" panose="02020603050405020304" pitchFamily="18" charset="0"/>
            <a:cs typeface="Times New Roman" panose="02020603050405020304" pitchFamily="18" charset="0"/>
          </a:endParaRPr>
        </a:p>
      </dgm:t>
    </dgm:pt>
    <dgm:pt modelId="{22219D74-F24E-44FF-93C7-83CA5D303B41}" type="parTrans" cxnId="{5CF0AB73-7222-4AAA-839B-86D43E40D9AA}">
      <dgm:prSet/>
      <dgm:spPr/>
      <dgm:t>
        <a:bodyPr/>
        <a:lstStyle/>
        <a:p>
          <a:endParaRPr lang="en-IN"/>
        </a:p>
      </dgm:t>
    </dgm:pt>
    <dgm:pt modelId="{7316AD20-FFD3-42DB-9750-27B672575FD1}" type="sibTrans" cxnId="{5CF0AB73-7222-4AAA-839B-86D43E40D9AA}">
      <dgm:prSet/>
      <dgm:spPr/>
      <dgm:t>
        <a:bodyPr/>
        <a:lstStyle/>
        <a:p>
          <a:endParaRPr lang="en-IN"/>
        </a:p>
      </dgm:t>
    </dgm:pt>
    <dgm:pt modelId="{AE979A6D-93AB-4385-9C23-07DAAF3CCC23}" type="pres">
      <dgm:prSet presAssocID="{90B65E7A-B50F-4A2A-B0EE-4653DC3F08CB}" presName="linearFlow" presStyleCnt="0">
        <dgm:presLayoutVars>
          <dgm:dir/>
          <dgm:animLvl val="lvl"/>
          <dgm:resizeHandles val="exact"/>
        </dgm:presLayoutVars>
      </dgm:prSet>
      <dgm:spPr/>
    </dgm:pt>
    <dgm:pt modelId="{C36444E5-410B-4471-B804-5BA3BC17D452}" type="pres">
      <dgm:prSet presAssocID="{773CB0C7-FB99-46D4-B104-7CF67D5E4B75}" presName="composite" presStyleCnt="0"/>
      <dgm:spPr/>
    </dgm:pt>
    <dgm:pt modelId="{08200DC8-380F-43D4-84C4-729B4E1E1E22}" type="pres">
      <dgm:prSet presAssocID="{773CB0C7-FB99-46D4-B104-7CF67D5E4B75}" presName="parentText" presStyleLbl="alignNode1" presStyleIdx="0" presStyleCnt="1">
        <dgm:presLayoutVars>
          <dgm:chMax val="1"/>
          <dgm:bulletEnabled val="1"/>
        </dgm:presLayoutVars>
      </dgm:prSet>
      <dgm:spPr/>
    </dgm:pt>
    <dgm:pt modelId="{CF13B6EF-8527-433D-984D-59E270B79ACA}" type="pres">
      <dgm:prSet presAssocID="{773CB0C7-FB99-46D4-B104-7CF67D5E4B75}" presName="descendantText" presStyleLbl="alignAcc1" presStyleIdx="0" presStyleCnt="1">
        <dgm:presLayoutVars>
          <dgm:bulletEnabled val="1"/>
        </dgm:presLayoutVars>
      </dgm:prSet>
      <dgm:spPr/>
    </dgm:pt>
  </dgm:ptLst>
  <dgm:cxnLst>
    <dgm:cxn modelId="{1150670E-8CE2-4AC4-A073-30A394BF275D}" type="presOf" srcId="{E414B4A6-AB7B-4548-BC1B-F10B34B2D43A}" destId="{CF13B6EF-8527-433D-984D-59E270B79ACA}" srcOrd="0" destOrd="2" presId="urn:microsoft.com/office/officeart/2005/8/layout/chevron2"/>
    <dgm:cxn modelId="{C2706417-C31E-4784-899E-CE26C0255129}" type="presOf" srcId="{69F950B0-00BF-46AB-ABE0-F2C03C40A40C}" destId="{CF13B6EF-8527-433D-984D-59E270B79ACA}" srcOrd="0" destOrd="4" presId="urn:microsoft.com/office/officeart/2005/8/layout/chevron2"/>
    <dgm:cxn modelId="{7C42531F-B4FB-4AFE-A993-BAD08E846C98}" srcId="{773CB0C7-FB99-46D4-B104-7CF67D5E4B75}" destId="{452FE9A5-7784-4DB1-A44B-D50468554E6D}" srcOrd="0" destOrd="0" parTransId="{82BEE963-8ABA-4044-8368-C725E2EB6DF8}" sibTransId="{3E68FCDB-3356-43C1-89ED-C4DD36AF56B6}"/>
    <dgm:cxn modelId="{83465F3F-2DCE-4BC5-9CCD-0061D3AFB7DB}" srcId="{773CB0C7-FB99-46D4-B104-7CF67D5E4B75}" destId="{69F950B0-00BF-46AB-ABE0-F2C03C40A40C}" srcOrd="4" destOrd="0" parTransId="{C275E106-4918-42ED-B675-8D42FDCB27C2}" sibTransId="{3ADC9969-0421-4DB2-B53D-4FBE7D2FE2CE}"/>
    <dgm:cxn modelId="{ADB45E64-ED4C-4522-9CF7-86BDB25ED4E0}" type="presOf" srcId="{9CF3D8EB-9E0B-4A84-BA78-FFF18EBC05E7}" destId="{CF13B6EF-8527-433D-984D-59E270B79ACA}" srcOrd="0" destOrd="5" presId="urn:microsoft.com/office/officeart/2005/8/layout/chevron2"/>
    <dgm:cxn modelId="{F79E5353-DC75-4B5B-83D8-F1F2A5DD782F}" type="presOf" srcId="{262CA3C0-F31F-4178-AF67-D73598629087}" destId="{CF13B6EF-8527-433D-984D-59E270B79ACA}" srcOrd="0" destOrd="1" presId="urn:microsoft.com/office/officeart/2005/8/layout/chevron2"/>
    <dgm:cxn modelId="{5CF0AB73-7222-4AAA-839B-86D43E40D9AA}" srcId="{773CB0C7-FB99-46D4-B104-7CF67D5E4B75}" destId="{7C75CEDE-1503-4197-9822-87352C50ED74}" srcOrd="6" destOrd="0" parTransId="{22219D74-F24E-44FF-93C7-83CA5D303B41}" sibTransId="{7316AD20-FFD3-42DB-9750-27B672575FD1}"/>
    <dgm:cxn modelId="{B72C0454-1718-4525-B14B-9695E6C03DCC}" srcId="{773CB0C7-FB99-46D4-B104-7CF67D5E4B75}" destId="{9CF3D8EB-9E0B-4A84-BA78-FFF18EBC05E7}" srcOrd="5" destOrd="0" parTransId="{F3A944C0-9F40-4A69-8B10-8DA6D77ACD1C}" sibTransId="{924E444D-765C-4E60-99DB-8917402CA964}"/>
    <dgm:cxn modelId="{A0858E83-3F27-43B2-A255-3FBCC1594FEE}" type="presOf" srcId="{801BA92B-929C-4272-93DE-B100446D1C51}" destId="{CF13B6EF-8527-433D-984D-59E270B79ACA}" srcOrd="0" destOrd="3" presId="urn:microsoft.com/office/officeart/2005/8/layout/chevron2"/>
    <dgm:cxn modelId="{6936B2B3-71F6-4B02-8355-EB68EB60C6D6}" type="presOf" srcId="{90B65E7A-B50F-4A2A-B0EE-4653DC3F08CB}" destId="{AE979A6D-93AB-4385-9C23-07DAAF3CCC23}" srcOrd="0" destOrd="0" presId="urn:microsoft.com/office/officeart/2005/8/layout/chevron2"/>
    <dgm:cxn modelId="{48E1E3B5-0BAA-4785-B1AC-023BD037884B}" type="presOf" srcId="{7C75CEDE-1503-4197-9822-87352C50ED74}" destId="{CF13B6EF-8527-433D-984D-59E270B79ACA}" srcOrd="0" destOrd="6" presId="urn:microsoft.com/office/officeart/2005/8/layout/chevron2"/>
    <dgm:cxn modelId="{0B8FEAD4-01EB-4AC6-A06F-0E75571C0076}" type="presOf" srcId="{452FE9A5-7784-4DB1-A44B-D50468554E6D}" destId="{CF13B6EF-8527-433D-984D-59E270B79ACA}" srcOrd="0" destOrd="0" presId="urn:microsoft.com/office/officeart/2005/8/layout/chevron2"/>
    <dgm:cxn modelId="{2E0009E9-9FF9-4AA1-B6F0-1459A896194E}" srcId="{90B65E7A-B50F-4A2A-B0EE-4653DC3F08CB}" destId="{773CB0C7-FB99-46D4-B104-7CF67D5E4B75}" srcOrd="0" destOrd="0" parTransId="{0DB78E01-0B1E-4BA5-A65E-FA0A92C6E52D}" sibTransId="{B0FF1CF7-2F54-4259-B839-8FFD7FCBFFE8}"/>
    <dgm:cxn modelId="{969869ED-E325-4F59-9EB8-7C8B18CAB834}" srcId="{773CB0C7-FB99-46D4-B104-7CF67D5E4B75}" destId="{262CA3C0-F31F-4178-AF67-D73598629087}" srcOrd="1" destOrd="0" parTransId="{728175F5-7FC7-48A9-A47E-608AD5896CD5}" sibTransId="{1A80D8A5-B6C8-4663-A923-EF8C31FD8E38}"/>
    <dgm:cxn modelId="{54C4C2F5-F140-4B35-94B3-58512010B844}" srcId="{773CB0C7-FB99-46D4-B104-7CF67D5E4B75}" destId="{E414B4A6-AB7B-4548-BC1B-F10B34B2D43A}" srcOrd="2" destOrd="0" parTransId="{45F0D561-414F-4F8E-8023-861BE82DC708}" sibTransId="{36F51EDC-162A-4BDE-87D9-A8C734F3EA2A}"/>
    <dgm:cxn modelId="{178499FB-80D0-4F40-8096-88BFDAB2965B}" type="presOf" srcId="{773CB0C7-FB99-46D4-B104-7CF67D5E4B75}" destId="{08200DC8-380F-43D4-84C4-729B4E1E1E22}" srcOrd="0" destOrd="0" presId="urn:microsoft.com/office/officeart/2005/8/layout/chevron2"/>
    <dgm:cxn modelId="{F5A4F4FD-BE24-4CE3-A324-22036C8134FF}" srcId="{773CB0C7-FB99-46D4-B104-7CF67D5E4B75}" destId="{801BA92B-929C-4272-93DE-B100446D1C51}" srcOrd="3" destOrd="0" parTransId="{3088D49C-E09C-49A9-B1FF-35B597844720}" sibTransId="{BF3352E5-74AC-4E63-96C5-A5AD49731371}"/>
    <dgm:cxn modelId="{F20DEACB-9492-42BD-8111-F04E7B320F72}" type="presParOf" srcId="{AE979A6D-93AB-4385-9C23-07DAAF3CCC23}" destId="{C36444E5-410B-4471-B804-5BA3BC17D452}" srcOrd="0" destOrd="0" presId="urn:microsoft.com/office/officeart/2005/8/layout/chevron2"/>
    <dgm:cxn modelId="{9965D5BE-98AF-4227-88D6-3A034776C538}" type="presParOf" srcId="{C36444E5-410B-4471-B804-5BA3BC17D452}" destId="{08200DC8-380F-43D4-84C4-729B4E1E1E22}" srcOrd="0" destOrd="0" presId="urn:microsoft.com/office/officeart/2005/8/layout/chevron2"/>
    <dgm:cxn modelId="{57BA1802-0A80-4534-AF22-FED5C845D0FA}" type="presParOf" srcId="{C36444E5-410B-4471-B804-5BA3BC17D452}" destId="{CF13B6EF-8527-433D-984D-59E270B79ACA}"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9C345C-082F-468D-8972-B4A921B72A53}">
      <dsp:nvSpPr>
        <dsp:cNvPr id="0" name=""/>
        <dsp:cNvSpPr/>
      </dsp:nvSpPr>
      <dsp:spPr>
        <a:xfrm rot="5400000">
          <a:off x="-750195" y="750195"/>
          <a:ext cx="5001302" cy="3500911"/>
        </a:xfrm>
        <a:prstGeom prst="chevron">
          <a:avLst/>
        </a:prstGeom>
        <a:solidFill>
          <a:schemeClr val="accent2">
            <a:lumMod val="60000"/>
            <a:lumOff val="4000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0" kern="1200" dirty="0">
              <a:latin typeface="Times New Roman" panose="02020603050405020304" pitchFamily="18" charset="0"/>
              <a:cs typeface="Times New Roman" panose="02020603050405020304" pitchFamily="18" charset="0"/>
            </a:rPr>
            <a:t>(I)Qualitative Methods</a:t>
          </a:r>
          <a:endParaRPr lang="en-IN" sz="2400" b="0" kern="1200" dirty="0">
            <a:latin typeface="Times New Roman" panose="02020603050405020304" pitchFamily="18" charset="0"/>
            <a:cs typeface="Times New Roman" panose="02020603050405020304" pitchFamily="18" charset="0"/>
          </a:endParaRPr>
        </a:p>
      </dsp:txBody>
      <dsp:txXfrm rot="-5400000">
        <a:off x="1" y="1750456"/>
        <a:ext cx="3500911" cy="1500391"/>
      </dsp:txXfrm>
    </dsp:sp>
    <dsp:sp modelId="{3635D93C-B964-42C1-8CF7-353B75F691B1}">
      <dsp:nvSpPr>
        <dsp:cNvPr id="0" name=""/>
        <dsp:cNvSpPr/>
      </dsp:nvSpPr>
      <dsp:spPr>
        <a:xfrm rot="5400000">
          <a:off x="5988803" y="-2487892"/>
          <a:ext cx="3250846" cy="8226630"/>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Jury of Executive Opinion Method</a:t>
          </a:r>
          <a:endParaRPr lang="en-IN" sz="2400" kern="1200" dirty="0">
            <a:latin typeface="Times New Roman" panose="02020603050405020304" pitchFamily="18" charset="0"/>
            <a:cs typeface="Times New Roman" panose="02020603050405020304" pitchFamily="18" charset="0"/>
          </a:endParaRPr>
        </a:p>
        <a:p>
          <a:pPr marL="228600" lvl="1" indent="-228600" algn="l" defTabSz="10668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Delphi Method</a:t>
          </a:r>
          <a:endParaRPr lang="en-IN" sz="2400" kern="1200" dirty="0">
            <a:latin typeface="Times New Roman" panose="02020603050405020304" pitchFamily="18" charset="0"/>
            <a:cs typeface="Times New Roman" panose="02020603050405020304" pitchFamily="18" charset="0"/>
          </a:endParaRPr>
        </a:p>
        <a:p>
          <a:pPr marL="285750" lvl="1" indent="-285750" algn="l" defTabSz="1466850">
            <a:lnSpc>
              <a:spcPct val="90000"/>
            </a:lnSpc>
            <a:spcBef>
              <a:spcPct val="0"/>
            </a:spcBef>
            <a:spcAft>
              <a:spcPct val="15000"/>
            </a:spcAft>
            <a:buChar char="•"/>
          </a:pPr>
          <a:endParaRPr lang="en-IN" sz="3300" kern="1200"/>
        </a:p>
      </dsp:txBody>
      <dsp:txXfrm rot="-5400000">
        <a:off x="3500912" y="158692"/>
        <a:ext cx="8067937" cy="293346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803EB8-0E3E-45C9-9762-4C651A9AA815}">
      <dsp:nvSpPr>
        <dsp:cNvPr id="0" name=""/>
        <dsp:cNvSpPr/>
      </dsp:nvSpPr>
      <dsp:spPr>
        <a:xfrm rot="5400000">
          <a:off x="-750195" y="750195"/>
          <a:ext cx="5001302" cy="3500911"/>
        </a:xfrm>
        <a:prstGeom prst="chevron">
          <a:avLst/>
        </a:prstGeom>
        <a:solidFill>
          <a:schemeClr val="accent2">
            <a:lumMod val="60000"/>
            <a:lumOff val="4000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t>(II)</a:t>
          </a:r>
          <a:r>
            <a:rPr lang="en-US" sz="2400" b="0" kern="1200" dirty="0">
              <a:latin typeface="Times New Roman" panose="02020603050405020304" pitchFamily="18" charset="0"/>
              <a:cs typeface="Times New Roman" panose="02020603050405020304" pitchFamily="18" charset="0"/>
            </a:rPr>
            <a:t>Time Series Projection Method</a:t>
          </a:r>
          <a:endParaRPr lang="en-IN" sz="2400" b="0" kern="1200" dirty="0">
            <a:latin typeface="Times New Roman" panose="02020603050405020304" pitchFamily="18" charset="0"/>
            <a:cs typeface="Times New Roman" panose="02020603050405020304" pitchFamily="18" charset="0"/>
          </a:endParaRPr>
        </a:p>
      </dsp:txBody>
      <dsp:txXfrm rot="-5400000">
        <a:off x="1" y="1750456"/>
        <a:ext cx="3500911" cy="1500391"/>
      </dsp:txXfrm>
    </dsp:sp>
    <dsp:sp modelId="{D4F21B71-C708-4D04-86E8-F7FE4ABD8B0D}">
      <dsp:nvSpPr>
        <dsp:cNvPr id="0" name=""/>
        <dsp:cNvSpPr/>
      </dsp:nvSpPr>
      <dsp:spPr>
        <a:xfrm rot="5400000">
          <a:off x="5988803" y="-2487892"/>
          <a:ext cx="3250846" cy="8226630"/>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0688" tIns="15240" rIns="15240" bIns="15240" numCol="1" spcCol="1270" anchor="ctr" anchorCtr="0">
          <a:noAutofit/>
        </a:bodyPr>
        <a:lstStyle/>
        <a:p>
          <a:pPr marL="228600" lvl="1" indent="-228600" algn="l" defTabSz="10668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Trend Projection Method</a:t>
          </a:r>
          <a:endParaRPr lang="en-IN" sz="2400" kern="1200" dirty="0">
            <a:latin typeface="Times New Roman" panose="02020603050405020304" pitchFamily="18" charset="0"/>
            <a:cs typeface="Times New Roman" panose="02020603050405020304" pitchFamily="18" charset="0"/>
          </a:endParaRPr>
        </a:p>
        <a:p>
          <a:pPr marL="228600" lvl="1" indent="-228600" algn="l" defTabSz="10668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Exponential Smoothing Method</a:t>
          </a:r>
          <a:endParaRPr lang="en-IN" sz="2400" kern="1200" dirty="0">
            <a:latin typeface="Times New Roman" panose="02020603050405020304" pitchFamily="18" charset="0"/>
            <a:cs typeface="Times New Roman" panose="02020603050405020304" pitchFamily="18" charset="0"/>
          </a:endParaRPr>
        </a:p>
        <a:p>
          <a:pPr marL="228600" lvl="1" indent="-228600" algn="l" defTabSz="1066800">
            <a:lnSpc>
              <a:spcPct val="90000"/>
            </a:lnSpc>
            <a:spcBef>
              <a:spcPct val="0"/>
            </a:spcBef>
            <a:spcAft>
              <a:spcPct val="15000"/>
            </a:spcAft>
            <a:buChar char="•"/>
          </a:pPr>
          <a:r>
            <a:rPr lang="en-US" sz="2400" kern="1200" dirty="0">
              <a:latin typeface="Times New Roman" panose="02020603050405020304" pitchFamily="18" charset="0"/>
              <a:cs typeface="Times New Roman" panose="02020603050405020304" pitchFamily="18" charset="0"/>
            </a:rPr>
            <a:t>Moving Average Method </a:t>
          </a:r>
          <a:endParaRPr lang="en-IN" sz="2400" kern="1200" dirty="0">
            <a:latin typeface="Times New Roman" panose="02020603050405020304" pitchFamily="18" charset="0"/>
            <a:cs typeface="Times New Roman" panose="02020603050405020304" pitchFamily="18" charset="0"/>
          </a:endParaRPr>
        </a:p>
      </dsp:txBody>
      <dsp:txXfrm rot="-5400000">
        <a:off x="3500912" y="158692"/>
        <a:ext cx="8067937" cy="29334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200DC8-380F-43D4-84C4-729B4E1E1E22}">
      <dsp:nvSpPr>
        <dsp:cNvPr id="0" name=""/>
        <dsp:cNvSpPr/>
      </dsp:nvSpPr>
      <dsp:spPr>
        <a:xfrm rot="5400000">
          <a:off x="-750195" y="750195"/>
          <a:ext cx="5001302" cy="3500911"/>
        </a:xfrm>
        <a:prstGeom prst="chevron">
          <a:avLst/>
        </a:prstGeom>
        <a:solidFill>
          <a:schemeClr val="accent2">
            <a:lumMod val="60000"/>
            <a:lumOff val="4000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a:latin typeface="Times New Roman" panose="02020603050405020304" pitchFamily="18" charset="0"/>
              <a:cs typeface="Times New Roman" panose="02020603050405020304" pitchFamily="18" charset="0"/>
            </a:rPr>
            <a:t>(III)</a:t>
          </a:r>
          <a:r>
            <a:rPr lang="en-US" sz="2400" b="1" kern="1200">
              <a:latin typeface="Times New Roman" panose="02020603050405020304" pitchFamily="18" charset="0"/>
              <a:cs typeface="Times New Roman" panose="02020603050405020304" pitchFamily="18" charset="0"/>
            </a:rPr>
            <a:t>Casual Methods</a:t>
          </a:r>
          <a:endParaRPr lang="en-IN" sz="2400" kern="1200">
            <a:latin typeface="Times New Roman" panose="02020603050405020304" pitchFamily="18" charset="0"/>
            <a:cs typeface="Times New Roman" panose="02020603050405020304" pitchFamily="18" charset="0"/>
          </a:endParaRPr>
        </a:p>
      </dsp:txBody>
      <dsp:txXfrm rot="-5400000">
        <a:off x="1" y="1750456"/>
        <a:ext cx="3500911" cy="1500391"/>
      </dsp:txXfrm>
    </dsp:sp>
    <dsp:sp modelId="{CF13B6EF-8527-433D-984D-59E270B79ACA}">
      <dsp:nvSpPr>
        <dsp:cNvPr id="0" name=""/>
        <dsp:cNvSpPr/>
      </dsp:nvSpPr>
      <dsp:spPr>
        <a:xfrm rot="5400000">
          <a:off x="5988803" y="-2487892"/>
          <a:ext cx="3250846" cy="8226630"/>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77800" tIns="15875" rIns="15875" bIns="15875" numCol="1" spcCol="1270" anchor="ctr" anchorCtr="0">
          <a:noAutofit/>
        </a:bodyPr>
        <a:lstStyle/>
        <a:p>
          <a:pPr marL="228600" lvl="1" indent="-228600" algn="l" defTabSz="1111250">
            <a:lnSpc>
              <a:spcPct val="90000"/>
            </a:lnSpc>
            <a:spcBef>
              <a:spcPct val="0"/>
            </a:spcBef>
            <a:spcAft>
              <a:spcPct val="15000"/>
            </a:spcAft>
            <a:buChar char="•"/>
          </a:pPr>
          <a:r>
            <a:rPr lang="en-US" sz="2500" kern="1200" dirty="0">
              <a:latin typeface="Times New Roman" panose="02020603050405020304" pitchFamily="18" charset="0"/>
              <a:cs typeface="Times New Roman" panose="02020603050405020304" pitchFamily="18" charset="0"/>
            </a:rPr>
            <a:t>Seek to develop forecasts based on cause-effect relationship</a:t>
          </a:r>
          <a:endParaRPr lang="en-IN" sz="2500" kern="1200" dirty="0">
            <a:latin typeface="Times New Roman" panose="02020603050405020304" pitchFamily="18" charset="0"/>
            <a:cs typeface="Times New Roman" panose="02020603050405020304" pitchFamily="18" charset="0"/>
          </a:endParaRPr>
        </a:p>
        <a:p>
          <a:pPr marL="228600" lvl="1" indent="-228600" algn="l" defTabSz="1111250">
            <a:lnSpc>
              <a:spcPct val="90000"/>
            </a:lnSpc>
            <a:spcBef>
              <a:spcPct val="0"/>
            </a:spcBef>
            <a:spcAft>
              <a:spcPct val="15000"/>
            </a:spcAft>
            <a:buChar char="•"/>
          </a:pPr>
          <a:r>
            <a:rPr lang="en-US" sz="2500" kern="1200" dirty="0">
              <a:latin typeface="Times New Roman" panose="02020603050405020304" pitchFamily="18" charset="0"/>
              <a:cs typeface="Times New Roman" panose="02020603050405020304" pitchFamily="18" charset="0"/>
            </a:rPr>
            <a:t>Chain Ratio Method</a:t>
          </a:r>
          <a:endParaRPr lang="en-IN" sz="2500" kern="1200" dirty="0">
            <a:latin typeface="Times New Roman" panose="02020603050405020304" pitchFamily="18" charset="0"/>
            <a:cs typeface="Times New Roman" panose="02020603050405020304" pitchFamily="18" charset="0"/>
          </a:endParaRPr>
        </a:p>
        <a:p>
          <a:pPr marL="228600" lvl="1" indent="-228600" algn="l" defTabSz="1111250">
            <a:lnSpc>
              <a:spcPct val="90000"/>
            </a:lnSpc>
            <a:spcBef>
              <a:spcPct val="0"/>
            </a:spcBef>
            <a:spcAft>
              <a:spcPct val="15000"/>
            </a:spcAft>
            <a:buChar char="•"/>
          </a:pPr>
          <a:r>
            <a:rPr lang="en-US" sz="2500" kern="1200" dirty="0">
              <a:latin typeface="Times New Roman" panose="02020603050405020304" pitchFamily="18" charset="0"/>
              <a:cs typeface="Times New Roman" panose="02020603050405020304" pitchFamily="18" charset="0"/>
            </a:rPr>
            <a:t>Consumption Level Method</a:t>
          </a:r>
          <a:endParaRPr lang="en-IN" sz="2500" kern="1200" dirty="0">
            <a:latin typeface="Times New Roman" panose="02020603050405020304" pitchFamily="18" charset="0"/>
            <a:cs typeface="Times New Roman" panose="02020603050405020304" pitchFamily="18" charset="0"/>
          </a:endParaRPr>
        </a:p>
        <a:p>
          <a:pPr marL="228600" lvl="1" indent="-228600" algn="l" defTabSz="1111250">
            <a:lnSpc>
              <a:spcPct val="90000"/>
            </a:lnSpc>
            <a:spcBef>
              <a:spcPct val="0"/>
            </a:spcBef>
            <a:spcAft>
              <a:spcPct val="15000"/>
            </a:spcAft>
            <a:buChar char="•"/>
          </a:pPr>
          <a:r>
            <a:rPr lang="en-US" sz="2500" kern="1200" dirty="0">
              <a:latin typeface="Times New Roman" panose="02020603050405020304" pitchFamily="18" charset="0"/>
              <a:cs typeface="Times New Roman" panose="02020603050405020304" pitchFamily="18" charset="0"/>
            </a:rPr>
            <a:t>End-use Method</a:t>
          </a:r>
          <a:endParaRPr lang="en-IN" sz="2500" kern="1200" dirty="0">
            <a:latin typeface="Times New Roman" panose="02020603050405020304" pitchFamily="18" charset="0"/>
            <a:cs typeface="Times New Roman" panose="02020603050405020304" pitchFamily="18" charset="0"/>
          </a:endParaRPr>
        </a:p>
        <a:p>
          <a:pPr marL="228600" lvl="1" indent="-228600" algn="l" defTabSz="1111250">
            <a:lnSpc>
              <a:spcPct val="90000"/>
            </a:lnSpc>
            <a:spcBef>
              <a:spcPct val="0"/>
            </a:spcBef>
            <a:spcAft>
              <a:spcPct val="15000"/>
            </a:spcAft>
            <a:buChar char="•"/>
          </a:pPr>
          <a:r>
            <a:rPr lang="en-US" sz="2500" kern="1200" dirty="0">
              <a:latin typeface="Times New Roman" panose="02020603050405020304" pitchFamily="18" charset="0"/>
              <a:cs typeface="Times New Roman" panose="02020603050405020304" pitchFamily="18" charset="0"/>
            </a:rPr>
            <a:t>Bass Diffusion Method</a:t>
          </a:r>
          <a:endParaRPr lang="en-IN" sz="2500" kern="1200" dirty="0">
            <a:latin typeface="Times New Roman" panose="02020603050405020304" pitchFamily="18" charset="0"/>
            <a:cs typeface="Times New Roman" panose="02020603050405020304" pitchFamily="18" charset="0"/>
          </a:endParaRPr>
        </a:p>
        <a:p>
          <a:pPr marL="228600" lvl="1" indent="-228600" algn="l" defTabSz="1111250">
            <a:lnSpc>
              <a:spcPct val="90000"/>
            </a:lnSpc>
            <a:spcBef>
              <a:spcPct val="0"/>
            </a:spcBef>
            <a:spcAft>
              <a:spcPct val="15000"/>
            </a:spcAft>
            <a:buChar char="•"/>
          </a:pPr>
          <a:r>
            <a:rPr lang="en-US" sz="2500" kern="1200">
              <a:latin typeface="Times New Roman" panose="02020603050405020304" pitchFamily="18" charset="0"/>
              <a:cs typeface="Times New Roman" panose="02020603050405020304" pitchFamily="18" charset="0"/>
            </a:rPr>
            <a:t>Leading Indicator Method</a:t>
          </a:r>
          <a:endParaRPr lang="en-IN" sz="2500" kern="1200">
            <a:latin typeface="Times New Roman" panose="02020603050405020304" pitchFamily="18" charset="0"/>
            <a:cs typeface="Times New Roman" panose="02020603050405020304" pitchFamily="18" charset="0"/>
          </a:endParaRPr>
        </a:p>
        <a:p>
          <a:pPr marL="228600" lvl="1" indent="-228600" algn="l" defTabSz="1111250">
            <a:lnSpc>
              <a:spcPct val="90000"/>
            </a:lnSpc>
            <a:spcBef>
              <a:spcPct val="0"/>
            </a:spcBef>
            <a:spcAft>
              <a:spcPct val="15000"/>
            </a:spcAft>
            <a:buChar char="•"/>
          </a:pPr>
          <a:r>
            <a:rPr lang="en-US" sz="2500" kern="1200" dirty="0">
              <a:latin typeface="Times New Roman" panose="02020603050405020304" pitchFamily="18" charset="0"/>
              <a:cs typeface="Times New Roman" panose="02020603050405020304" pitchFamily="18" charset="0"/>
            </a:rPr>
            <a:t>Econometric Method</a:t>
          </a:r>
          <a:endParaRPr lang="en-IN" sz="2500" kern="1200" dirty="0">
            <a:latin typeface="Times New Roman" panose="02020603050405020304" pitchFamily="18" charset="0"/>
            <a:cs typeface="Times New Roman" panose="02020603050405020304" pitchFamily="18" charset="0"/>
          </a:endParaRPr>
        </a:p>
      </dsp:txBody>
      <dsp:txXfrm rot="-5400000">
        <a:off x="3500912" y="158692"/>
        <a:ext cx="8067937" cy="2933460"/>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1">
  <dgm:title val=""/>
  <dgm:desc val=""/>
  <dgm:catLst>
    <dgm:cat type="simple" pri="103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2">
  <dgm:title val=""/>
  <dgm:desc val=""/>
  <dgm:catLst>
    <dgm:cat type="simple" pri="103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3">
  <dgm:title val=""/>
  <dgm:desc val=""/>
  <dgm:catLst>
    <dgm:cat type="simple" pri="103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75448EA4-4DB1-4FEB-AECF-552EEDB16093}" type="datetimeFigureOut">
              <a:rPr lang="en-IN" smtClean="0"/>
              <a:t>03-10-2025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21E972-0DBC-4911-A10C-C7172303CA11}"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217715" y="1175661"/>
            <a:ext cx="11727542" cy="5001302"/>
          </a:xfrm>
        </p:spPr>
        <p:txBody>
          <a:bodyPr/>
          <a:lstStyle>
            <a:lvl1pPr marL="0" indent="0">
              <a:buNone/>
              <a:defRPr/>
            </a:lvl1pPr>
          </a:lstStyle>
          <a:p>
            <a:pPr lvl="0"/>
            <a:r>
              <a:rPr lang="en-US" dirty="0"/>
              <a:t>Click to edit Master text styles</a:t>
            </a:r>
            <a:r>
              <a:rPr lang="en-IN" altLang="en-US" dirty="0"/>
              <a:t>Project Management         by               </a:t>
            </a:r>
          </a:p>
          <a:p>
            <a:pPr lvl="0"/>
            <a:r>
              <a:rPr lang="en-IN" altLang="en-US" dirty="0"/>
              <a:t>Tarun Maheshwari</a:t>
            </a:r>
            <a:endParaRPr lang="en-US" dirty="0"/>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8" name="Picture 7" descr="A close-up of a logo&#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cxnSp>
        <p:nvCxnSpPr>
          <p:cNvPr id="9" name="Straight Connector 8"/>
          <p:cNvCxnSpPr/>
          <p:nvPr userDrawn="1"/>
        </p:nvCxnSpPr>
        <p:spPr>
          <a:xfrm>
            <a:off x="0" y="958646"/>
            <a:ext cx="12206980" cy="0"/>
          </a:xfrm>
          <a:prstGeom prst="line">
            <a:avLst/>
          </a:prstGeom>
          <a:ln w="38100">
            <a:solidFill>
              <a:srgbClr val="D4222A"/>
            </a:solidFill>
          </a:ln>
        </p:spPr>
        <p:style>
          <a:lnRef idx="2">
            <a:schemeClr val="accent1"/>
          </a:lnRef>
          <a:fillRef idx="0">
            <a:schemeClr val="accent1"/>
          </a:fillRef>
          <a:effectRef idx="1">
            <a:schemeClr val="accent1"/>
          </a:effectRef>
          <a:fontRef idx="minor">
            <a:schemeClr val="tx1"/>
          </a:fontRef>
        </p:style>
      </p:cxnSp>
      <p:sp>
        <p:nvSpPr>
          <p:cNvPr id="10" name="Title 1"/>
          <p:cNvSpPr>
            <a:spLocks noGrp="1"/>
          </p:cNvSpPr>
          <p:nvPr>
            <p:ph type="title"/>
          </p:nvPr>
        </p:nvSpPr>
        <p:spPr>
          <a:xfrm>
            <a:off x="1984828" y="92983"/>
            <a:ext cx="10160001" cy="764041"/>
          </a:xfrm>
        </p:spPr>
        <p:txBody>
          <a:bodyPr/>
          <a:lstStyle>
            <a:lvl1pPr>
              <a:defRPr>
                <a:solidFill>
                  <a:srgbClr val="D4222A"/>
                </a:solidFill>
              </a:defRPr>
            </a:lvl1pPr>
          </a:lstStyle>
          <a:p>
            <a:r>
              <a:rPr lang="en-US"/>
              <a:t>Click to edit Master title style</a:t>
            </a:r>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448EA4-4DB1-4FEB-AECF-552EEDB16093}" type="datetimeFigureOut">
              <a:rPr lang="en-IN" smtClean="0"/>
              <a:t>03-10-2025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21E972-0DBC-4911-A10C-C7172303CA11}" type="slidenum">
              <a:rPr lang="en-IN" smtClean="0"/>
              <a:t>‹#›</a:t>
            </a:fld>
            <a:endParaRPr lang="en-IN"/>
          </a:p>
        </p:txBody>
      </p:sp>
      <p:pic>
        <p:nvPicPr>
          <p:cNvPr id="7" name="Picture 6" descr="A close-up of a logo&#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5448EA4-4DB1-4FEB-AECF-552EEDB16093}" type="datetimeFigureOut">
              <a:rPr lang="en-IN" smtClean="0"/>
              <a:t>03-10-2025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21E972-0DBC-4911-A10C-C7172303CA11}" type="slidenum">
              <a:rPr lang="en-IN" smtClean="0"/>
              <a:t>‹#›</a:t>
            </a:fld>
            <a:endParaRPr lang="en-IN"/>
          </a:p>
        </p:txBody>
      </p:sp>
      <p:pic>
        <p:nvPicPr>
          <p:cNvPr id="8" name="Picture 7" descr="A close-up of a logo&#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75448EA4-4DB1-4FEB-AECF-552EEDB16093}" type="datetimeFigureOut">
              <a:rPr lang="en-IN" smtClean="0"/>
              <a:t>03-10-2025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721E972-0DBC-4911-A10C-C7172303CA11}" type="slidenum">
              <a:rPr lang="en-IN" smtClean="0"/>
              <a:t>‹#›</a:t>
            </a:fld>
            <a:endParaRPr lang="en-IN"/>
          </a:p>
        </p:txBody>
      </p:sp>
      <p:pic>
        <p:nvPicPr>
          <p:cNvPr id="10" name="Picture 9" descr="A close-up of a logo&#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75448EA4-4DB1-4FEB-AECF-552EEDB16093}" type="datetimeFigureOut">
              <a:rPr lang="en-IN" smtClean="0"/>
              <a:t>03-10-2025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721E972-0DBC-4911-A10C-C7172303CA11}" type="slidenum">
              <a:rPr lang="en-IN" smtClean="0"/>
              <a:t>‹#›</a:t>
            </a:fld>
            <a:endParaRPr lang="en-IN"/>
          </a:p>
        </p:txBody>
      </p:sp>
      <p:pic>
        <p:nvPicPr>
          <p:cNvPr id="6" name="Picture 5" descr="A close-up of a logo&#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448EA4-4DB1-4FEB-AECF-552EEDB16093}" type="datetimeFigureOut">
              <a:rPr lang="en-IN" smtClean="0"/>
              <a:t>03-10-2025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721E972-0DBC-4911-A10C-C7172303CA11}" type="slidenum">
              <a:rPr lang="en-IN" smtClean="0"/>
              <a:t>‹#›</a:t>
            </a:fld>
            <a:endParaRPr lang="en-IN"/>
          </a:p>
        </p:txBody>
      </p:sp>
      <p:pic>
        <p:nvPicPr>
          <p:cNvPr id="5" name="Picture 4" descr="A close-up of a logo&#10;&#10;Description automatically generated"/>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7171" y="29028"/>
            <a:ext cx="2035709" cy="87153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448EA4-4DB1-4FEB-AECF-552EEDB16093}" type="datetimeFigureOut">
              <a:rPr lang="en-IN" smtClean="0"/>
              <a:t>03-10-2025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21E972-0DBC-4911-A10C-C7172303CA11}"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448EA4-4DB1-4FEB-AECF-552EEDB16093}" type="datetimeFigureOut">
              <a:rPr lang="en-IN" smtClean="0"/>
              <a:t>03-10-2025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721E972-0DBC-4911-A10C-C7172303CA11}"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5448EA4-4DB1-4FEB-AECF-552EEDB16093}" type="datetimeFigureOut">
              <a:rPr lang="en-IN" smtClean="0"/>
              <a:t>03-10-2025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21E972-0DBC-4911-A10C-C7172303CA11}"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75448EA4-4DB1-4FEB-AECF-552EEDB16093}" type="datetimeFigureOut">
              <a:rPr lang="en-IN" smtClean="0"/>
              <a:t>03-10-2025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721E972-0DBC-4911-A10C-C7172303CA11}"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5448EA4-4DB1-4FEB-AECF-552EEDB16093}" type="datetimeFigureOut">
              <a:rPr lang="en-IN" smtClean="0"/>
              <a:t>03-10-2025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721E972-0DBC-4911-A10C-C7172303CA1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youtube.com/watch?v=BOU1YP5NZVA" TargetMode="External"/><Relationship Id="rId2" Type="http://schemas.openxmlformats.org/officeDocument/2006/relationships/hyperlink" Target="https://www.youtube.com/watch?v=EyPFi0YO32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hyperlink" Target="https://www.youtube.com/watch?v=4Or352bDQd4" TargetMode="External"/><Relationship Id="rId2" Type="http://schemas.openxmlformats.org/officeDocument/2006/relationships/hyperlink" Target="https://www.youtube.com/watch?v=dAJy-3A6lPM" TargetMode="External"/><Relationship Id="rId1" Type="http://schemas.openxmlformats.org/officeDocument/2006/relationships/slideLayout" Target="../slideLayouts/slideLayout2.xml"/><Relationship Id="rId4" Type="http://schemas.openxmlformats.org/officeDocument/2006/relationships/hyperlink" Target="https://www.youtube.com/watch?v=a0pAWPrKiGk" TargetMode="Externa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2952726" y="2911147"/>
            <a:ext cx="6286544" cy="95250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400" b="1" dirty="0">
                <a:solidFill>
                  <a:srgbClr val="383A3C"/>
                </a:solidFill>
                <a:latin typeface="Times New Roman" panose="02020603050405020304" pitchFamily="18" charset="0"/>
                <a:cs typeface="Times New Roman" panose="02020603050405020304" pitchFamily="18" charset="0"/>
              </a:rPr>
              <a:t>MBA </a:t>
            </a:r>
            <a:br>
              <a:rPr lang="en-IN" sz="3200" b="1" dirty="0">
                <a:solidFill>
                  <a:srgbClr val="383A3C"/>
                </a:solidFill>
                <a:latin typeface="Times New Roman" panose="02020603050405020304" pitchFamily="18" charset="0"/>
                <a:cs typeface="Times New Roman" panose="02020603050405020304" pitchFamily="18" charset="0"/>
              </a:rPr>
            </a:br>
            <a:r>
              <a:rPr lang="en-IN" sz="3200" b="1" dirty="0">
                <a:solidFill>
                  <a:srgbClr val="383A3C"/>
                </a:solidFill>
                <a:latin typeface="Times New Roman" panose="02020603050405020304" pitchFamily="18" charset="0"/>
                <a:cs typeface="Times New Roman" panose="02020603050405020304" pitchFamily="18" charset="0"/>
              </a:rPr>
              <a:t>Project Management and AMBA0401</a:t>
            </a:r>
            <a:endParaRPr lang="en-US" sz="4400" b="1" dirty="0">
              <a:solidFill>
                <a:srgbClr val="383A3C"/>
              </a:solidFill>
              <a:latin typeface="Times New Roman" panose="02020603050405020304" pitchFamily="18" charset="0"/>
              <a:cs typeface="Times New Roman" panose="02020603050405020304" pitchFamily="18" charset="0"/>
            </a:endParaRPr>
          </a:p>
        </p:txBody>
      </p:sp>
      <p:sp>
        <p:nvSpPr>
          <p:cNvPr id="6" name="Rectangle 5"/>
          <p:cNvSpPr/>
          <p:nvPr/>
        </p:nvSpPr>
        <p:spPr>
          <a:xfrm>
            <a:off x="206477" y="61390"/>
            <a:ext cx="11356258" cy="1107986"/>
          </a:xfrm>
          <a:prstGeom prst="rect">
            <a:avLst/>
          </a:prstGeom>
        </p:spPr>
        <p:txBody>
          <a:bodyPr wrap="square" lIns="121908" tIns="60955" rIns="121908" bIns="60955">
            <a:spAutoFit/>
          </a:bodyPr>
          <a:lstStyle/>
          <a:p>
            <a:pPr algn="ctr"/>
            <a:r>
              <a:rPr lang="en-IN" sz="3200" b="1" dirty="0">
                <a:solidFill>
                  <a:srgbClr val="D4222A"/>
                </a:solidFill>
                <a:latin typeface="Times New Roman" panose="02020603050405020304" pitchFamily="18" charset="0"/>
                <a:cs typeface="Times New Roman" panose="02020603050405020304" pitchFamily="18" charset="0"/>
              </a:rPr>
              <a:t>NOIDA INSTITUTE OF ENGINEERING &amp; TECHNOLOGY GREATER NOIDA</a:t>
            </a:r>
            <a:endParaRPr lang="en-US" sz="3200" dirty="0">
              <a:solidFill>
                <a:srgbClr val="D4222A"/>
              </a:solidFill>
              <a:latin typeface="Times New Roman" panose="02020603050405020304" pitchFamily="18" charset="0"/>
              <a:cs typeface="Times New Roman" panose="02020603050405020304" pitchFamily="18" charset="0"/>
            </a:endParaRPr>
          </a:p>
        </p:txBody>
      </p:sp>
      <p:sp>
        <p:nvSpPr>
          <p:cNvPr id="7" name="Rectangle 6"/>
          <p:cNvSpPr/>
          <p:nvPr/>
        </p:nvSpPr>
        <p:spPr>
          <a:xfrm>
            <a:off x="5840050" y="5157916"/>
            <a:ext cx="502064" cy="338554"/>
          </a:xfrm>
          <a:prstGeom prst="rect">
            <a:avLst/>
          </a:prstGeom>
        </p:spPr>
        <p:txBody>
          <a:bodyPr wrap="square">
            <a:spAutoFit/>
          </a:bodyPr>
          <a:lstStyle/>
          <a:p>
            <a:r>
              <a:rPr lang="en-IN" sz="1600" b="1" dirty="0">
                <a:latin typeface="Times New Roman" panose="02020603050405020304" pitchFamily="18" charset="0"/>
                <a:cs typeface="Times New Roman" panose="02020603050405020304" pitchFamily="18" charset="0"/>
              </a:rPr>
              <a:t>By</a:t>
            </a:r>
            <a:r>
              <a:rPr lang="en-IN" sz="1600" b="1" dirty="0">
                <a:solidFill>
                  <a:srgbClr val="A20000"/>
                </a:solidFill>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p:txBody>
      </p:sp>
      <p:sp>
        <p:nvSpPr>
          <p:cNvPr id="8" name="Rectangle 7"/>
          <p:cNvSpPr/>
          <p:nvPr/>
        </p:nvSpPr>
        <p:spPr>
          <a:xfrm>
            <a:off x="4710843" y="5432694"/>
            <a:ext cx="2770310" cy="1323439"/>
          </a:xfrm>
          <a:prstGeom prst="rect">
            <a:avLst/>
          </a:prstGeom>
        </p:spPr>
        <p:txBody>
          <a:bodyPr wrap="none">
            <a:spAutoFit/>
          </a:bodyPr>
          <a:lstStyle/>
          <a:p>
            <a:pPr algn="ctr"/>
            <a:r>
              <a:rPr lang="en-IN" sz="3200" b="1" dirty="0">
                <a:solidFill>
                  <a:srgbClr val="383A3C"/>
                </a:solidFill>
                <a:latin typeface="Times New Roman" panose="02020603050405020304" pitchFamily="18" charset="0"/>
                <a:cs typeface="Times New Roman" panose="02020603050405020304" pitchFamily="18" charset="0"/>
              </a:rPr>
              <a:t>Sonali Sharma</a:t>
            </a:r>
          </a:p>
          <a:p>
            <a:pPr algn="ctr"/>
            <a:r>
              <a:rPr lang="en-IN" sz="1600" b="1" dirty="0">
                <a:solidFill>
                  <a:srgbClr val="383A3C"/>
                </a:solidFill>
                <a:latin typeface="Times New Roman" panose="02020603050405020304" pitchFamily="18" charset="0"/>
                <a:cs typeface="Times New Roman" panose="02020603050405020304" pitchFamily="18" charset="0"/>
              </a:rPr>
              <a:t>Assistant Professor</a:t>
            </a:r>
          </a:p>
          <a:p>
            <a:pPr algn="ctr"/>
            <a:r>
              <a:rPr lang="en-IN" sz="1600" b="1">
                <a:solidFill>
                  <a:srgbClr val="383A3C"/>
                </a:solidFill>
                <a:latin typeface="Times New Roman" panose="02020603050405020304" pitchFamily="18" charset="0"/>
                <a:cs typeface="Times New Roman" panose="02020603050405020304" pitchFamily="18" charset="0"/>
              </a:rPr>
              <a:t>MBA</a:t>
            </a:r>
            <a:endParaRPr lang="en-IN" sz="1600" b="1" dirty="0">
              <a:solidFill>
                <a:srgbClr val="383A3C"/>
              </a:solidFill>
              <a:latin typeface="Times New Roman" panose="02020603050405020304" pitchFamily="18" charset="0"/>
              <a:cs typeface="Times New Roman" panose="02020603050405020304" pitchFamily="18" charset="0"/>
            </a:endParaRPr>
          </a:p>
          <a:p>
            <a:pPr algn="ctr"/>
            <a:r>
              <a:rPr lang="en-IN" sz="1600" b="1" dirty="0">
                <a:solidFill>
                  <a:srgbClr val="383A3C"/>
                </a:solidFill>
                <a:latin typeface="Times New Roman" panose="02020603050405020304" pitchFamily="18" charset="0"/>
                <a:cs typeface="Times New Roman" panose="02020603050405020304" pitchFamily="18" charset="0"/>
              </a:rPr>
              <a:t>NIET, GREATER NOIDA </a:t>
            </a:r>
            <a:endParaRPr lang="en-US" sz="1600" dirty="0">
              <a:solidFill>
                <a:srgbClr val="383A3C"/>
              </a:solidFill>
              <a:latin typeface="Times New Roman" panose="02020603050405020304" pitchFamily="18" charset="0"/>
              <a:cs typeface="Times New Roman" panose="02020603050405020304" pitchFamily="18" charset="0"/>
            </a:endParaRPr>
          </a:p>
        </p:txBody>
      </p:sp>
      <p:sp>
        <p:nvSpPr>
          <p:cNvPr id="9" name="Rectangle 8"/>
          <p:cNvSpPr/>
          <p:nvPr/>
        </p:nvSpPr>
        <p:spPr>
          <a:xfrm>
            <a:off x="675474" y="3754822"/>
            <a:ext cx="10831215" cy="1477328"/>
          </a:xfrm>
          <a:prstGeom prst="rect">
            <a:avLst/>
          </a:prstGeom>
        </p:spPr>
        <p:txBody>
          <a:bodyPr wrap="square">
            <a:spAutoFit/>
          </a:bodyPr>
          <a:lstStyle/>
          <a:p>
            <a:pPr algn="ctr"/>
            <a:r>
              <a:rPr lang="en-IN" b="1" dirty="0">
                <a:solidFill>
                  <a:srgbClr val="383A3C"/>
                </a:solidFill>
                <a:latin typeface="Times New Roman" panose="02020603050405020304" pitchFamily="18" charset="0"/>
                <a:cs typeface="Times New Roman" panose="02020603050405020304" pitchFamily="18" charset="0"/>
              </a:rPr>
              <a:t>Lecture – 1</a:t>
            </a:r>
            <a:br>
              <a:rPr lang="en-IN" b="1" dirty="0">
                <a:solidFill>
                  <a:srgbClr val="A20000"/>
                </a:solidFill>
                <a:latin typeface="Times New Roman" panose="02020603050405020304" pitchFamily="18" charset="0"/>
                <a:cs typeface="Times New Roman" panose="02020603050405020304" pitchFamily="18" charset="0"/>
              </a:rPr>
            </a:br>
            <a:r>
              <a:rPr lang="en-IN" sz="3600" b="1" dirty="0">
                <a:solidFill>
                  <a:srgbClr val="D4222A"/>
                </a:solidFill>
                <a:latin typeface="Times New Roman" panose="02020603050405020304" pitchFamily="18" charset="0"/>
                <a:cs typeface="Times New Roman" panose="02020603050405020304" pitchFamily="18" charset="0"/>
              </a:rPr>
              <a:t>Topic: </a:t>
            </a:r>
            <a:r>
              <a:rPr lang="en-US" sz="3600" dirty="0">
                <a:solidFill>
                  <a:schemeClr val="tx1"/>
                </a:solidFill>
                <a:latin typeface="Times New Roman" panose="02020603050405020304" pitchFamily="18" charset="0"/>
                <a:cs typeface="Times New Roman" panose="02020603050405020304" pitchFamily="18" charset="0"/>
              </a:rPr>
              <a:t>Project Identification &amp; Selection </a:t>
            </a:r>
          </a:p>
          <a:p>
            <a:pPr algn="ctr"/>
            <a:r>
              <a:rPr lang="en-US" sz="3600" dirty="0">
                <a:solidFill>
                  <a:schemeClr val="tx1"/>
                </a:solidFill>
                <a:latin typeface="Times New Roman" panose="02020603050405020304" pitchFamily="18" charset="0"/>
                <a:cs typeface="Times New Roman" panose="02020603050405020304" pitchFamily="18" charset="0"/>
              </a:rPr>
              <a:t>Market &amp; Demand Analysis Project Risk </a:t>
            </a:r>
          </a:p>
        </p:txBody>
      </p:sp>
      <p:pic>
        <p:nvPicPr>
          <p:cNvPr id="13" name="Picture 12" descr="A close-up of a logo&#10;&#10;Description automatically generated"/>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32313" y="1198019"/>
            <a:ext cx="3927373" cy="16814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733092" y="1060224"/>
          <a:ext cx="10725815" cy="5217160"/>
        </p:xfrm>
        <a:graphic>
          <a:graphicData uri="http://schemas.openxmlformats.org/drawingml/2006/table">
            <a:tbl>
              <a:tblPr firstRow="1" bandRow="1">
                <a:tableStyleId>{5C22544A-7EE6-4342-B048-85BDC9FD1C3A}</a:tableStyleId>
              </a:tblPr>
              <a:tblGrid>
                <a:gridCol w="1415022">
                  <a:extLst>
                    <a:ext uri="{9D8B030D-6E8A-4147-A177-3AD203B41FA5}">
                      <a16:colId xmlns:a16="http://schemas.microsoft.com/office/drawing/2014/main" val="20000"/>
                    </a:ext>
                  </a:extLst>
                </a:gridCol>
                <a:gridCol w="9310793">
                  <a:extLst>
                    <a:ext uri="{9D8B030D-6E8A-4147-A177-3AD203B41FA5}">
                      <a16:colId xmlns:a16="http://schemas.microsoft.com/office/drawing/2014/main" val="20001"/>
                    </a:ext>
                  </a:extLst>
                </a:gridCol>
              </a:tblGrid>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Content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2000" b="0" i="0" u="none" strike="noStrike" dirty="0">
                          <a:solidFill>
                            <a:srgbClr val="000000"/>
                          </a:solidFill>
                          <a:latin typeface="Times New Roman" panose="02020603050405020304" pitchFamily="18" charset="0"/>
                          <a:cs typeface="Times New Roman" panose="02020603050405020304" pitchFamily="18" charset="0"/>
                        </a:rPr>
                        <a:t> Name of Subject with code, Course and Subject Teacher</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2000" b="0" i="0" u="none" strike="noStrike" dirty="0">
                          <a:solidFill>
                            <a:srgbClr val="000000"/>
                          </a:solidFill>
                          <a:latin typeface="Times New Roman" panose="02020603050405020304" pitchFamily="18" charset="0"/>
                          <a:cs typeface="Times New Roman" panose="02020603050405020304" pitchFamily="18" charset="0"/>
                        </a:rPr>
                        <a:t> Brief Introduction of Faculty member with Photograph</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2000" b="0" i="0" u="none" strike="noStrike" dirty="0">
                          <a:solidFill>
                            <a:srgbClr val="000000"/>
                          </a:solidFill>
                          <a:latin typeface="Times New Roman" panose="02020603050405020304" pitchFamily="18" charset="0"/>
                          <a:cs typeface="Times New Roman" panose="02020603050405020304" pitchFamily="18" charset="0"/>
                        </a:rPr>
                        <a:t> Evaluation Scheme</a:t>
                      </a:r>
                    </a:p>
                  </a:txBody>
                  <a:tcPr marL="7144" marR="7144" marT="7144"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Syllabus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Branch wise Application</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Course Objective(s)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Course Outcome(s)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Program Outcomes (POs)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dirty="0">
                          <a:latin typeface="Times New Roman" panose="02020603050405020304" pitchFamily="18" charset="0"/>
                          <a:cs typeface="Times New Roman" panose="02020603050405020304" pitchFamily="18" charset="0"/>
                        </a:rPr>
                        <a:t>COs and POs Mapping</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Times New Roman" panose="02020603050405020304" pitchFamily="18" charset="0"/>
                          <a:cs typeface="Times New Roman" panose="02020603050405020304" pitchFamily="18" charset="0"/>
                        </a:rPr>
                        <a:t>Program Educational Objectives (PEOs)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Result Analysis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End Semester Question paper Templates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Times New Roman" panose="02020603050405020304" pitchFamily="18" charset="0"/>
                          <a:cs typeface="Times New Roman" panose="02020603050405020304" pitchFamily="18" charset="0"/>
                        </a:rPr>
                        <a:t>Prequisite/Recap</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bl>
          </a:graphicData>
        </a:graphic>
      </p:graphicFrame>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Index</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733092" y="1060224"/>
          <a:ext cx="10725815" cy="5224780"/>
        </p:xfrm>
        <a:graphic>
          <a:graphicData uri="http://schemas.openxmlformats.org/drawingml/2006/table">
            <a:tbl>
              <a:tblPr firstRow="1" bandRow="1">
                <a:tableStyleId>{5C22544A-7EE6-4342-B048-85BDC9FD1C3A}</a:tableStyleId>
              </a:tblPr>
              <a:tblGrid>
                <a:gridCol w="1415022">
                  <a:extLst>
                    <a:ext uri="{9D8B030D-6E8A-4147-A177-3AD203B41FA5}">
                      <a16:colId xmlns:a16="http://schemas.microsoft.com/office/drawing/2014/main" val="20000"/>
                    </a:ext>
                  </a:extLst>
                </a:gridCol>
                <a:gridCol w="9310793">
                  <a:extLst>
                    <a:ext uri="{9D8B030D-6E8A-4147-A177-3AD203B41FA5}">
                      <a16:colId xmlns:a16="http://schemas.microsoft.com/office/drawing/2014/main" val="20001"/>
                    </a:ext>
                  </a:extLst>
                </a:gridCol>
              </a:tblGrid>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Content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Brief Indtroduction about the Subject with Videos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Unit Content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Unit</a:t>
                      </a:r>
                      <a:r>
                        <a:rPr lang="en-US" sz="2000" b="0" baseline="0" dirty="0">
                          <a:latin typeface="Times New Roman" panose="02020603050405020304" pitchFamily="18" charset="0"/>
                          <a:cs typeface="Times New Roman" panose="02020603050405020304" pitchFamily="18" charset="0"/>
                        </a:rPr>
                        <a:t> Objectives</a:t>
                      </a:r>
                      <a:endParaRPr lang="en-US" sz="2000" b="0" dirty="0">
                        <a:latin typeface="Times New Roman" panose="02020603050405020304" pitchFamily="18" charset="0"/>
                        <a:cs typeface="Times New Roman" panose="02020603050405020304" pitchFamily="18" charset="0"/>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Topic Objectives &amp; Topic Outcome</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Lecture related to topic</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Daily Quiz</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Times New Roman" panose="02020603050405020304" pitchFamily="18" charset="0"/>
                          <a:cs typeface="Times New Roman" panose="02020603050405020304" pitchFamily="18" charset="0"/>
                        </a:rPr>
                        <a:t>Weekly Assignment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Topic Links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8"/>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MCQs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9"/>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sz="2000" b="0" dirty="0">
                          <a:latin typeface="Times New Roman" panose="02020603050405020304" pitchFamily="18" charset="0"/>
                          <a:cs typeface="Times New Roman" panose="02020603050405020304" pitchFamily="18" charset="0"/>
                        </a:rPr>
                        <a:t>Glossary Questions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0"/>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Old question papers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1"/>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Expected Questions</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2"/>
                  </a:ext>
                </a:extLst>
              </a:tr>
              <a:tr h="370840">
                <a:tc>
                  <a:txBody>
                    <a:bodyPr/>
                    <a:lstStyle/>
                    <a:p>
                      <a:pPr algn="ctr"/>
                      <a:r>
                        <a:rPr lang="en-IN" sz="1800" dirty="0">
                          <a:solidFill>
                            <a:schemeClr val="tx1"/>
                          </a:solidFill>
                          <a:latin typeface="Times New Roman" panose="02020603050405020304" pitchFamily="18" charset="0"/>
                          <a:cs typeface="Times New Roman" panose="02020603050405020304" pitchFamily="18" charset="0"/>
                        </a:rPr>
                        <a:t>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000" b="0" dirty="0">
                          <a:latin typeface="Times New Roman" panose="02020603050405020304" pitchFamily="18" charset="0"/>
                          <a:cs typeface="Times New Roman" panose="02020603050405020304" pitchFamily="18" charset="0"/>
                        </a:rPr>
                        <a:t>Recap of unit</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13"/>
                  </a:ext>
                </a:extLst>
              </a:tr>
            </a:tbl>
          </a:graphicData>
        </a:graphic>
      </p:graphicFrame>
      <p:sp>
        <p:nvSpPr>
          <p:cNvPr id="3" name="Title 2"/>
          <p:cNvSpPr>
            <a:spLocks noGrp="1"/>
          </p:cNvSpPr>
          <p:nvPr>
            <p:ph type="title"/>
          </p:nvPr>
        </p:nvSpPr>
        <p:spPr/>
        <p:txBody>
          <a:bodyPr/>
          <a:lstStyle/>
          <a:p>
            <a:pPr algn="ctr"/>
            <a:r>
              <a:rPr lang="en-IN" b="1" dirty="0">
                <a:latin typeface="Times New Roman" panose="02020603050405020304" pitchFamily="18" charset="0"/>
                <a:cs typeface="Times New Roman" panose="02020603050405020304" pitchFamily="18" charset="0"/>
              </a:rPr>
              <a:t>Index</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r>
              <a:rPr lang="en-IN" sz="2400" dirty="0">
                <a:latin typeface="Times New Roman" panose="02020603050405020304" pitchFamily="18" charset="0"/>
                <a:cs typeface="Times New Roman" panose="02020603050405020304" pitchFamily="18" charset="0"/>
              </a:rPr>
              <a:t>Faculty Name: Sonali Sharma</a:t>
            </a:r>
          </a:p>
          <a:p>
            <a:r>
              <a:rPr lang="en-IN" sz="2400" dirty="0">
                <a:latin typeface="Times New Roman" panose="02020603050405020304" pitchFamily="18" charset="0"/>
                <a:cs typeface="Times New Roman" panose="02020603050405020304" pitchFamily="18" charset="0"/>
              </a:rPr>
              <a:t>Designation: Assistant Professor</a:t>
            </a:r>
          </a:p>
          <a:p>
            <a:r>
              <a:rPr lang="en-IN" sz="2400" dirty="0">
                <a:latin typeface="Times New Roman" panose="02020603050405020304" pitchFamily="18" charset="0"/>
                <a:cs typeface="Times New Roman" panose="02020603050405020304" pitchFamily="18" charset="0"/>
              </a:rPr>
              <a:t>Department: MBA</a:t>
            </a:r>
          </a:p>
          <a:p>
            <a:r>
              <a:rPr lang="en-IN" sz="2400" dirty="0">
                <a:latin typeface="Times New Roman" panose="02020603050405020304" pitchFamily="18" charset="0"/>
                <a:cs typeface="Times New Roman" panose="02020603050405020304" pitchFamily="18" charset="0"/>
              </a:rPr>
              <a:t>Email ID: sonali.sharma@niet.co.in</a:t>
            </a:r>
          </a:p>
          <a:p>
            <a:r>
              <a:rPr lang="en-IN" sz="2400" dirty="0">
                <a:latin typeface="Times New Roman" panose="02020603050405020304" pitchFamily="18" charset="0"/>
                <a:cs typeface="Times New Roman" panose="02020603050405020304" pitchFamily="18" charset="0"/>
              </a:rPr>
              <a:t>Qualification: M.com, MBA, UGC NET, PhD(</a:t>
            </a:r>
            <a:r>
              <a:rPr lang="en-IN" sz="2400" dirty="0" err="1">
                <a:latin typeface="Times New Roman" panose="02020603050405020304" pitchFamily="18" charset="0"/>
                <a:cs typeface="Times New Roman" panose="02020603050405020304" pitchFamily="18" charset="0"/>
              </a:rPr>
              <a:t>Persuing</a:t>
            </a:r>
            <a:r>
              <a:rPr lang="en-IN" sz="2400" dirty="0">
                <a:latin typeface="Times New Roman" panose="02020603050405020304" pitchFamily="18" charset="0"/>
                <a:cs typeface="Times New Roman" panose="02020603050405020304" pitchFamily="18" charset="0"/>
              </a:rPr>
              <a:t> HRM)</a:t>
            </a:r>
          </a:p>
          <a:p>
            <a:r>
              <a:rPr lang="en-IN" sz="2400" dirty="0">
                <a:latin typeface="Times New Roman" panose="02020603050405020304" pitchFamily="18" charset="0"/>
                <a:cs typeface="Times New Roman" panose="02020603050405020304" pitchFamily="18" charset="0"/>
              </a:rPr>
              <a:t>Specialization: Human Resource</a:t>
            </a:r>
          </a:p>
          <a:p>
            <a:r>
              <a:rPr lang="en-IN" sz="2400" dirty="0">
                <a:latin typeface="Times New Roman" panose="02020603050405020304" pitchFamily="18" charset="0"/>
                <a:cs typeface="Times New Roman" panose="02020603050405020304" pitchFamily="18" charset="0"/>
              </a:rPr>
              <a:t>Teaching Area: HR, Finance, Marketing</a:t>
            </a:r>
          </a:p>
          <a:p>
            <a:r>
              <a:rPr lang="en-IN" sz="2400" dirty="0">
                <a:latin typeface="Times New Roman" panose="02020603050405020304" pitchFamily="18" charset="0"/>
                <a:cs typeface="Times New Roman" panose="02020603050405020304" pitchFamily="18" charset="0"/>
              </a:rPr>
              <a:t>Total Experience: 6.5 years</a:t>
            </a:r>
          </a:p>
          <a:p>
            <a:endParaRPr lang="en-IN" dirty="0"/>
          </a:p>
        </p:txBody>
      </p:sp>
      <p:sp>
        <p:nvSpPr>
          <p:cNvPr id="3" name="Title 2"/>
          <p:cNvSpPr>
            <a:spLocks noGrp="1"/>
          </p:cNvSpPr>
          <p:nvPr>
            <p:ph type="title"/>
          </p:nvPr>
        </p:nvSpPr>
        <p:spPr/>
        <p:txBody>
          <a:bodyPr>
            <a:normAutofit/>
          </a:bodyPr>
          <a:lstStyle/>
          <a:p>
            <a:r>
              <a:rPr lang="en-US" sz="3600" dirty="0">
                <a:solidFill>
                  <a:srgbClr val="D31E26"/>
                </a:solidFill>
                <a:latin typeface="Times New Roman" panose="02020603050405020304" pitchFamily="18" charset="0"/>
                <a:cs typeface="Times New Roman" panose="02020603050405020304" pitchFamily="18" charset="0"/>
              </a:rPr>
              <a:t>Brief Introduction of the Faculty Member </a:t>
            </a:r>
            <a:endParaRPr lang="en-IN" sz="3600" dirty="0">
              <a:solidFill>
                <a:srgbClr val="D31E26"/>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Evaluation Scheme</a:t>
            </a:r>
            <a:endParaRPr lang="en-IN" sz="3600" dirty="0">
              <a:latin typeface="Times New Roman" panose="02020603050405020304" pitchFamily="18" charset="0"/>
              <a:cs typeface="Times New Roman" panose="02020603050405020304" pitchFamily="18" charset="0"/>
            </a:endParaRPr>
          </a:p>
        </p:txBody>
      </p:sp>
      <p:pic>
        <p:nvPicPr>
          <p:cNvPr id="4" name="Picture 4" descr="D:\PROJECT MANAGEMENT PPT\Evaluation Scheme.png"/>
          <p:cNvPicPr>
            <a:picLocks noGrp="1" noChangeAspect="1" noChangeArrowheads="1"/>
          </p:cNvPicPr>
          <p:nvPr>
            <p:ph idx="1"/>
          </p:nvPr>
        </p:nvPicPr>
        <p:blipFill>
          <a:blip r:embed="rId2"/>
          <a:srcRect/>
          <a:stretch>
            <a:fillRect/>
          </a:stretch>
        </p:blipFill>
        <p:spPr bwMode="auto">
          <a:xfrm>
            <a:off x="889000" y="1095374"/>
            <a:ext cx="10160000" cy="5181601"/>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Syllabus</a:t>
            </a:r>
            <a:endParaRPr lang="en-IN" sz="3600" dirty="0">
              <a:latin typeface="Times New Roman" panose="02020603050405020304" pitchFamily="18" charset="0"/>
              <a:cs typeface="Times New Roman" panose="02020603050405020304" pitchFamily="18" charset="0"/>
            </a:endParaRPr>
          </a:p>
        </p:txBody>
      </p:sp>
      <p:graphicFrame>
        <p:nvGraphicFramePr>
          <p:cNvPr id="11" name="Content Placeholder 10"/>
          <p:cNvGraphicFramePr>
            <a:graphicFrameLocks noGrp="1"/>
          </p:cNvGraphicFramePr>
          <p:nvPr>
            <p:ph idx="1"/>
          </p:nvPr>
        </p:nvGraphicFramePr>
        <p:xfrm>
          <a:off x="638175" y="1276350"/>
          <a:ext cx="10544175" cy="4995479"/>
        </p:xfrm>
        <a:graphic>
          <a:graphicData uri="http://schemas.openxmlformats.org/drawingml/2006/table">
            <a:tbl>
              <a:tblPr firstRow="1" firstCol="1" lastRow="1" lastCol="1" bandRow="1" bandCol="1"/>
              <a:tblGrid>
                <a:gridCol w="2437902">
                  <a:extLst>
                    <a:ext uri="{9D8B030D-6E8A-4147-A177-3AD203B41FA5}">
                      <a16:colId xmlns:a16="http://schemas.microsoft.com/office/drawing/2014/main" val="20000"/>
                    </a:ext>
                  </a:extLst>
                </a:gridCol>
                <a:gridCol w="6394806">
                  <a:extLst>
                    <a:ext uri="{9D8B030D-6E8A-4147-A177-3AD203B41FA5}">
                      <a16:colId xmlns:a16="http://schemas.microsoft.com/office/drawing/2014/main" val="20001"/>
                    </a:ext>
                  </a:extLst>
                </a:gridCol>
                <a:gridCol w="1711467">
                  <a:extLst>
                    <a:ext uri="{9D8B030D-6E8A-4147-A177-3AD203B41FA5}">
                      <a16:colId xmlns:a16="http://schemas.microsoft.com/office/drawing/2014/main" val="20002"/>
                    </a:ext>
                  </a:extLst>
                </a:gridCol>
              </a:tblGrid>
              <a:tr h="325535">
                <a:tc gridSpan="3">
                  <a:txBody>
                    <a:bodyPr/>
                    <a:lstStyle/>
                    <a:p>
                      <a:pPr marL="2503170" marR="2493010" algn="ctr">
                        <a:spcBef>
                          <a:spcPts val="65"/>
                        </a:spcBef>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Course</a:t>
                      </a:r>
                      <a:r>
                        <a:rPr lang="en-US" sz="1800" b="1" spc="-1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Contents</a:t>
                      </a:r>
                      <a:r>
                        <a:rPr lang="en-US" sz="18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 Syllabus</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10557">
                <a:tc>
                  <a:txBody>
                    <a:bodyPr/>
                    <a:lstStyle/>
                    <a:p>
                      <a:pPr marL="67945">
                        <a:spcBef>
                          <a:spcPts val="30"/>
                        </a:spcBef>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UNIT-I</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9850">
                        <a:spcBef>
                          <a:spcPts val="145"/>
                        </a:spcBef>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Introduction</a:t>
                      </a:r>
                      <a:r>
                        <a:rPr lang="en-US" sz="18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800" b="1"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Project</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1120">
                        <a:spcBef>
                          <a:spcPts val="3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06</a:t>
                      </a:r>
                      <a:r>
                        <a:rPr lang="en-US" sz="12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Hours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1122396">
                <a:tc gridSpan="3">
                  <a:txBody>
                    <a:bodyPr/>
                    <a:lstStyle/>
                    <a:p>
                      <a:pPr marL="67945">
                        <a:lnSpc>
                          <a:spcPts val="1295"/>
                        </a:lnSpc>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nSpc>
                          <a:spcPts val="1295"/>
                        </a:lnSpc>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Definition</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Objectives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Management</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Vs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General</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Management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Roles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and</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marR="111125"/>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Responsibilities of Project Manager – Selection of Project Manager – Selection of Projects – Understanding</a:t>
                      </a:r>
                      <a:r>
                        <a:rPr lang="en-US" sz="1800" spc="-2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 Life Cycle. Project Team and Scope of Project Management: Characteristics of a Project Team &amp;</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Leader,</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 Organization,</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Importance</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of Project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Management.</a:t>
                      </a:r>
                      <a:r>
                        <a:rPr lang="en-US" sz="18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Case</a:t>
                      </a:r>
                      <a:r>
                        <a:rPr lang="en-US" sz="1800" b="1"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Studies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325535">
                <a:tc>
                  <a:txBody>
                    <a:bodyPr/>
                    <a:lstStyle/>
                    <a:p>
                      <a:pPr marL="67945">
                        <a:spcBef>
                          <a:spcPts val="70"/>
                        </a:spcBef>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UNIT-II</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9850">
                        <a:spcBef>
                          <a:spcPts val="185"/>
                        </a:spcBef>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800" b="1"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Identification</a:t>
                      </a:r>
                      <a:r>
                        <a:rPr lang="en-US" sz="1800" b="1" spc="-1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&amp;</a:t>
                      </a:r>
                      <a:r>
                        <a:rPr lang="en-US" sz="1800" b="1" spc="-1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Selection</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09220">
                        <a:spcBef>
                          <a:spcPts val="7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08</a:t>
                      </a:r>
                      <a:r>
                        <a:rPr lang="en-US" sz="12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Hours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1122396">
                <a:tc gridSpan="3">
                  <a:txBody>
                    <a:bodyPr/>
                    <a:lstStyle/>
                    <a:p>
                      <a:pPr marL="67945" algn="just">
                        <a:lnSpc>
                          <a:spcPts val="1295"/>
                        </a:lnSpc>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gn="just">
                        <a:lnSpc>
                          <a:spcPts val="1295"/>
                        </a:lnSpc>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 Identification &amp;</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Selection: Identification, Generation</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8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ideas,</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Approaches</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Screening</a:t>
                      </a:r>
                      <a:r>
                        <a:rPr lang="en-US" sz="18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and</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marR="532765" algn="just"/>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Selection,</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Rating</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Index.</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Market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&amp;</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Demand</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Analysis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Techniques:</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Survey</a:t>
                      </a:r>
                      <a:r>
                        <a:rPr lang="en-US" sz="1800" spc="-3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&amp;</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Trend</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Projection</a:t>
                      </a:r>
                      <a:r>
                        <a:rPr lang="en-US" sz="1800" spc="-29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Methods. Project Risk Management: Concepts and Types of Project Risks, Risk Identification, Risks</a:t>
                      </a:r>
                      <a:r>
                        <a:rPr lang="en-US" sz="1800" spc="-2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Analysis,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Risks Mitigation Strategies.</a:t>
                      </a:r>
                      <a:r>
                        <a:rPr lang="en-US" sz="18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Case</a:t>
                      </a:r>
                      <a:r>
                        <a:rPr lang="en-US" sz="1800" b="1"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Studies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4"/>
                  </a:ext>
                </a:extLst>
              </a:tr>
              <a:tr h="325535">
                <a:tc>
                  <a:txBody>
                    <a:bodyPr/>
                    <a:lstStyle/>
                    <a:p>
                      <a:pPr marL="67945">
                        <a:spcBef>
                          <a:spcPts val="65"/>
                        </a:spcBef>
                      </a:pP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UNIT-III</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9850">
                        <a:spcBef>
                          <a:spcPts val="195"/>
                        </a:spcBef>
                        <a:spcAft>
                          <a:spcPts val="0"/>
                        </a:spcAft>
                      </a:pP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Budgeting</a:t>
                      </a:r>
                      <a:r>
                        <a:rPr lang="en-US" sz="1800" b="1"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18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a:effectLst/>
                          <a:latin typeface="Times New Roman" panose="02020603050405020304" pitchFamily="18" charset="0"/>
                          <a:ea typeface="Times New Roman" panose="02020603050405020304" pitchFamily="18" charset="0"/>
                          <a:cs typeface="Times New Roman" panose="02020603050405020304" pitchFamily="18" charset="0"/>
                        </a:rPr>
                        <a:t>Project</a:t>
                      </a:r>
                      <a:endParaRPr lang="en-IN"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09220">
                        <a:spcBef>
                          <a:spcPts val="65"/>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08</a:t>
                      </a:r>
                      <a:r>
                        <a:rPr lang="en-US" sz="12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Hours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5"/>
                  </a:ext>
                </a:extLst>
              </a:tr>
              <a:tr h="1401997">
                <a:tc gridSpan="3">
                  <a:txBody>
                    <a:bodyPr/>
                    <a:lstStyle/>
                    <a:p>
                      <a:pPr marL="67945">
                        <a:lnSpc>
                          <a:spcPts val="1305"/>
                        </a:lnSpc>
                      </a:pP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nSpc>
                          <a:spcPts val="1305"/>
                        </a:lnSpc>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Fundamental components</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Cost,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Types of</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Costs:</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Direct, Indirect, Recurring,</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Non-Recurring,</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marR="113665"/>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Fixed, Variable, Normal, Expedite costs Methods of budgeting – Project cost estimation – Improving cost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estimates – Budget uncertainty and risk management – Scheduling the project – Gantt chart – Resource</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allocation</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loading</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 Social</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Cost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Benefit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Analysis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(SCBA)</a:t>
                      </a:r>
                      <a:r>
                        <a:rPr lang="en-US" sz="18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Concept</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&amp;</a:t>
                      </a:r>
                      <a:r>
                        <a:rPr lang="en-US" sz="18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significance</a:t>
                      </a:r>
                      <a:r>
                        <a:rPr lang="en-US" sz="18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SCBA,</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nSpc>
                          <a:spcPts val="1355"/>
                        </a:lnSpc>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Approaches</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to SCBA.</a:t>
                      </a:r>
                      <a:r>
                        <a:rPr lang="en-US" sz="18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Case</a:t>
                      </a:r>
                      <a:r>
                        <a:rPr lang="en-US" sz="1800" b="1"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effectLst/>
                          <a:latin typeface="Times New Roman" panose="02020603050405020304" pitchFamily="18" charset="0"/>
                          <a:ea typeface="Times New Roman" panose="02020603050405020304" pitchFamily="18" charset="0"/>
                          <a:cs typeface="Times New Roman" panose="02020603050405020304" pitchFamily="18" charset="0"/>
                        </a:rPr>
                        <a:t>Studies</a:t>
                      </a: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Syllabus</a:t>
            </a:r>
            <a:endParaRPr lang="en-IN" sz="3600" dirty="0">
              <a:latin typeface="Times New Roman" panose="02020603050405020304" pitchFamily="18" charset="0"/>
              <a:cs typeface="Times New Roman" panose="02020603050405020304" pitchFamily="18" charset="0"/>
            </a:endParaRPr>
          </a:p>
        </p:txBody>
      </p:sp>
      <p:graphicFrame>
        <p:nvGraphicFramePr>
          <p:cNvPr id="6" name="Content Placeholder 5"/>
          <p:cNvGraphicFramePr>
            <a:graphicFrameLocks noGrp="1"/>
          </p:cNvGraphicFramePr>
          <p:nvPr>
            <p:ph idx="1"/>
          </p:nvPr>
        </p:nvGraphicFramePr>
        <p:xfrm>
          <a:off x="447675" y="1257301"/>
          <a:ext cx="10721976" cy="4392320"/>
        </p:xfrm>
        <a:graphic>
          <a:graphicData uri="http://schemas.openxmlformats.org/drawingml/2006/table">
            <a:tbl>
              <a:tblPr firstRow="1" firstCol="1" lastRow="1" lastCol="1" bandRow="1" bandCol="1"/>
              <a:tblGrid>
                <a:gridCol w="2479011">
                  <a:extLst>
                    <a:ext uri="{9D8B030D-6E8A-4147-A177-3AD203B41FA5}">
                      <a16:colId xmlns:a16="http://schemas.microsoft.com/office/drawing/2014/main" val="20000"/>
                    </a:ext>
                  </a:extLst>
                </a:gridCol>
                <a:gridCol w="6502638">
                  <a:extLst>
                    <a:ext uri="{9D8B030D-6E8A-4147-A177-3AD203B41FA5}">
                      <a16:colId xmlns:a16="http://schemas.microsoft.com/office/drawing/2014/main" val="20001"/>
                    </a:ext>
                  </a:extLst>
                </a:gridCol>
                <a:gridCol w="1740327">
                  <a:extLst>
                    <a:ext uri="{9D8B030D-6E8A-4147-A177-3AD203B41FA5}">
                      <a16:colId xmlns:a16="http://schemas.microsoft.com/office/drawing/2014/main" val="20002"/>
                    </a:ext>
                  </a:extLst>
                </a:gridCol>
              </a:tblGrid>
              <a:tr h="480951">
                <a:tc>
                  <a:txBody>
                    <a:bodyPr/>
                    <a:lstStyle/>
                    <a:p>
                      <a:pPr marL="67945">
                        <a:spcBef>
                          <a:spcPts val="30"/>
                        </a:spcBef>
                      </a:pP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UNIT-IV</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9850">
                        <a:spcBef>
                          <a:spcPts val="160"/>
                        </a:spcBef>
                        <a:spcAft>
                          <a:spcPts val="0"/>
                        </a:spcAft>
                      </a:pP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2000" b="1"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Scheduling</a:t>
                      </a:r>
                      <a:r>
                        <a:rPr lang="en-US" sz="20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000" b="1" spc="-1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Network</a:t>
                      </a:r>
                      <a:r>
                        <a:rPr lang="en-US" sz="2000" b="1" spc="-2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a:effectLst/>
                          <a:latin typeface="Times New Roman" panose="02020603050405020304" pitchFamily="18" charset="0"/>
                          <a:ea typeface="Times New Roman" panose="02020603050405020304" pitchFamily="18" charset="0"/>
                          <a:cs typeface="Times New Roman" panose="02020603050405020304" pitchFamily="18" charset="0"/>
                        </a:rPr>
                        <a:t>Analysis</a:t>
                      </a:r>
                      <a:endParaRPr lang="en-IN" sz="20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109220">
                        <a:spcBef>
                          <a:spcPts val="30"/>
                        </a:spcBef>
                        <a:spcAft>
                          <a:spcPts val="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08</a:t>
                      </a:r>
                      <a:r>
                        <a:rPr lang="en-US" sz="12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Hours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1376423">
                <a:tc gridSpan="3">
                  <a:txBody>
                    <a:bodyPr/>
                    <a:lstStyle/>
                    <a:p>
                      <a:pPr marL="67945">
                        <a:lnSpc>
                          <a:spcPts val="1295"/>
                        </a:lnSpc>
                      </a:pP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nSpc>
                          <a:spcPts val="1295"/>
                        </a:lnSpc>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Steps</a:t>
                      </a:r>
                      <a:r>
                        <a:rPr lang="en-US" sz="20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Scheduling</a:t>
                      </a:r>
                      <a:r>
                        <a:rPr lang="en-US" sz="20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and Network</a:t>
                      </a:r>
                      <a:r>
                        <a:rPr lang="en-US" sz="20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design,</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Gantt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Chart,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Work</a:t>
                      </a:r>
                      <a:r>
                        <a:rPr lang="en-US" sz="20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Breakdown</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Structure</a:t>
                      </a:r>
                      <a:r>
                        <a:rPr lang="en-US" sz="20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(WBS) &amp;</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marR="173990"/>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Responsibility Assignment Matrix. Project Network Design: Identifying the Nodes and Activities, Activity</a:t>
                      </a:r>
                      <a:r>
                        <a:rPr lang="en-US" sz="2000" spc="-2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on Arrow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AoA</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and Activities on Node (</a:t>
                      </a:r>
                      <a:r>
                        <a:rPr lang="en-US" sz="2000" dirty="0" err="1">
                          <a:effectLst/>
                          <a:latin typeface="Times New Roman" panose="02020603050405020304" pitchFamily="18" charset="0"/>
                          <a:ea typeface="Times New Roman" panose="02020603050405020304" pitchFamily="18" charset="0"/>
                          <a:cs typeface="Times New Roman" panose="02020603050405020304" pitchFamily="18" charset="0"/>
                        </a:rPr>
                        <a:t>AoN</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 methods, Introduction to PERT and CPM, Crashing in</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Projects.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Case</a:t>
                      </a:r>
                      <a:r>
                        <a:rPr lang="en-US" sz="2000" b="1"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Studies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421214">
                <a:tc>
                  <a:txBody>
                    <a:bodyPr/>
                    <a:lstStyle/>
                    <a:p>
                      <a:pPr marL="67945">
                        <a:lnSpc>
                          <a:spcPts val="1280"/>
                        </a:lnSpc>
                      </a:pP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nSpc>
                          <a:spcPts val="1280"/>
                        </a:lnSpc>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UNIT-V</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9850">
                        <a:lnSpc>
                          <a:spcPts val="1280"/>
                        </a:lnSpc>
                      </a:pPr>
                      <a:endPar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9850">
                        <a:lnSpc>
                          <a:spcPts val="1280"/>
                        </a:lnSpc>
                      </a:pP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Monitoring</a:t>
                      </a:r>
                      <a:r>
                        <a:rPr lang="en-US" sz="2000" b="1"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000" b="1"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controlling</a:t>
                      </a:r>
                      <a:r>
                        <a:rPr lang="en-US" sz="2000" b="1"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000" b="1"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project</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71120">
                        <a:lnSpc>
                          <a:spcPts val="1280"/>
                        </a:lnSpc>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6</a:t>
                      </a:r>
                      <a:r>
                        <a:rPr lang="en-US" sz="1200" b="1"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Hours</a:t>
                      </a:r>
                      <a:endParaRPr lang="en-IN"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2113732">
                <a:tc gridSpan="3">
                  <a:txBody>
                    <a:bodyPr/>
                    <a:lstStyle/>
                    <a:p>
                      <a:pPr marL="67945">
                        <a:lnSpc>
                          <a:spcPts val="1295"/>
                        </a:lnSpc>
                      </a:pP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lnSpc>
                          <a:spcPts val="1295"/>
                        </a:lnSpc>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Monitoring</a:t>
                      </a:r>
                      <a:r>
                        <a:rPr lang="en-US" sz="20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Control cycle</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Project control</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Designing</a:t>
                      </a:r>
                      <a:r>
                        <a:rPr lang="en-US" sz="20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the control system</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Evaluation of</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marR="107315"/>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project: Milestone Analysis and Tracking Gantt chart. Earned Value Analysis (EVA): Planned Value (PV),</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Earned Value (EV), Cost Variance (CV), Schedule Variance (SV), Cost performance Index (CPI), Schedule</a:t>
                      </a:r>
                      <a:r>
                        <a:rPr lang="en-US" sz="2000" spc="-2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performance Index (SPI) – Project auditing – Project termination: Types of Terminations, Project</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Termination</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Process.</a:t>
                      </a:r>
                      <a:r>
                        <a:rPr lang="en-US" sz="20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Case</a:t>
                      </a:r>
                      <a:r>
                        <a:rPr lang="en-US" sz="2000" b="1"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000" b="1" dirty="0">
                          <a:effectLst/>
                          <a:latin typeface="Times New Roman" panose="02020603050405020304" pitchFamily="18" charset="0"/>
                          <a:ea typeface="Times New Roman" panose="02020603050405020304" pitchFamily="18" charset="0"/>
                          <a:cs typeface="Times New Roman" panose="02020603050405020304" pitchFamily="18" charset="0"/>
                        </a:rPr>
                        <a:t>Studies</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kumimoji="0" lang="en-US" sz="3600" i="0" u="none" strike="noStrike" kern="1200" cap="none" spc="0" normalizeH="0" baseline="0" noProof="0" dirty="0">
                <a:ln>
                  <a:noFill/>
                </a:ln>
                <a:solidFill>
                  <a:srgbClr val="D31E26"/>
                </a:solidFill>
                <a:effectLst/>
                <a:uLnTx/>
                <a:uFillTx/>
                <a:latin typeface="Times New Roman" panose="02020603050405020304" pitchFamily="18" charset="0"/>
                <a:ea typeface="+mn-ea"/>
                <a:cs typeface="Times New Roman" panose="02020603050405020304" pitchFamily="18" charset="0"/>
              </a:rPr>
              <a:t>Branch Wise </a:t>
            </a:r>
            <a:r>
              <a:rPr kumimoji="0" lang="en-US" sz="3600" i="0" u="none" strike="noStrike" kern="1200" cap="none" spc="0" normalizeH="0" noProof="0" dirty="0">
                <a:ln>
                  <a:noFill/>
                </a:ln>
                <a:solidFill>
                  <a:srgbClr val="D31E26"/>
                </a:solidFill>
                <a:effectLst/>
                <a:uLnTx/>
                <a:uFillTx/>
                <a:latin typeface="Times New Roman" panose="02020603050405020304" pitchFamily="18" charset="0"/>
                <a:ea typeface="+mn-ea"/>
                <a:cs typeface="Times New Roman" panose="02020603050405020304" pitchFamily="18" charset="0"/>
              </a:rPr>
              <a:t>Application</a:t>
            </a:r>
            <a:endParaRPr lang="en-IN" sz="3600" dirty="0">
              <a:solidFill>
                <a:srgbClr val="D31E26"/>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217715" y="1175661"/>
            <a:ext cx="10983685" cy="4120239"/>
          </a:xfrm>
        </p:spPr>
        <p:txBody>
          <a:bodyPr/>
          <a:lstStyle/>
          <a:p>
            <a:pPr algn="just"/>
            <a:r>
              <a:rPr lang="en-US" sz="2400" dirty="0">
                <a:latin typeface="Times New Roman" panose="02020603050405020304" pitchFamily="18" charset="0"/>
                <a:cs typeface="Times New Roman" panose="02020603050405020304" pitchFamily="18" charset="0"/>
              </a:rPr>
              <a:t>Handling projects.</a:t>
            </a:r>
          </a:p>
          <a:p>
            <a:pPr algn="just"/>
            <a:r>
              <a:rPr lang="en-US" sz="2400" dirty="0">
                <a:latin typeface="Times New Roman" panose="02020603050405020304" pitchFamily="18" charset="0"/>
                <a:cs typeface="Times New Roman" panose="02020603050405020304" pitchFamily="18" charset="0"/>
              </a:rPr>
              <a:t>Evaluating &amp; Monitoring Project Process</a:t>
            </a:r>
          </a:p>
          <a:p>
            <a:pPr algn="just"/>
            <a:r>
              <a:rPr lang="en-US" sz="2400" dirty="0">
                <a:latin typeface="Times New Roman" panose="02020603050405020304" pitchFamily="18" charset="0"/>
                <a:cs typeface="Times New Roman" panose="02020603050405020304" pitchFamily="18" charset="0"/>
              </a:rPr>
              <a:t>Taking necessary and corrective action.</a:t>
            </a:r>
          </a:p>
          <a:p>
            <a:pPr marL="0" indent="0">
              <a:buNone/>
            </a:pP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Course objective(s)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To empower the students to get insights of basic concepts on project management. </a:t>
            </a:r>
          </a:p>
          <a:p>
            <a:pPr algn="just"/>
            <a:r>
              <a:rPr lang="en-US" sz="2400" dirty="0">
                <a:latin typeface="Times New Roman" panose="02020603050405020304" pitchFamily="18" charset="0"/>
                <a:cs typeface="Times New Roman" panose="02020603050405020304" pitchFamily="18" charset="0"/>
              </a:rPr>
              <a:t>To create awareness on the roles and responsibilities of project manager.</a:t>
            </a:r>
          </a:p>
          <a:p>
            <a:pPr algn="just"/>
            <a:r>
              <a:rPr lang="x-none" sz="2400" dirty="0">
                <a:latin typeface="Times New Roman" panose="02020603050405020304" pitchFamily="18" charset="0"/>
                <a:cs typeface="Times New Roman" panose="02020603050405020304" pitchFamily="18" charset="0"/>
              </a:rPr>
              <a:t>To build the confident among the students to take up any kind of projects.</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To sharpen the planning, scheduling and controlling skills of the students with respect to individual projects.</a:t>
            </a:r>
          </a:p>
          <a:p>
            <a:pPr algn="just"/>
            <a:r>
              <a:rPr lang="en-US" sz="2400" dirty="0">
                <a:latin typeface="Times New Roman" panose="02020603050405020304" pitchFamily="18" charset="0"/>
                <a:cs typeface="Times New Roman" panose="02020603050405020304" pitchFamily="18" charset="0"/>
              </a:rPr>
              <a:t>To understand the perspectives in which optimum decisions are to be taken in case of risks with planned activities in project.</a:t>
            </a:r>
          </a:p>
          <a:p>
            <a:pPr marL="0" indent="0">
              <a:buNone/>
            </a:pP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Course outcome(s) </a:t>
            </a:r>
            <a:endParaRPr lang="en-IN" sz="3600"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nvPr>
        </p:nvGraphicFramePr>
        <p:xfrm>
          <a:off x="685800" y="1343025"/>
          <a:ext cx="10601325" cy="4556321"/>
        </p:xfrm>
        <a:graphic>
          <a:graphicData uri="http://schemas.openxmlformats.org/drawingml/2006/table">
            <a:tbl>
              <a:tblPr firstRow="1" firstCol="1" lastRow="1" lastCol="1" bandRow="1" bandCol="1"/>
              <a:tblGrid>
                <a:gridCol w="933369">
                  <a:extLst>
                    <a:ext uri="{9D8B030D-6E8A-4147-A177-3AD203B41FA5}">
                      <a16:colId xmlns:a16="http://schemas.microsoft.com/office/drawing/2014/main" val="20000"/>
                    </a:ext>
                  </a:extLst>
                </a:gridCol>
                <a:gridCol w="7142603">
                  <a:extLst>
                    <a:ext uri="{9D8B030D-6E8A-4147-A177-3AD203B41FA5}">
                      <a16:colId xmlns:a16="http://schemas.microsoft.com/office/drawing/2014/main" val="20001"/>
                    </a:ext>
                  </a:extLst>
                </a:gridCol>
                <a:gridCol w="2525353">
                  <a:extLst>
                    <a:ext uri="{9D8B030D-6E8A-4147-A177-3AD203B41FA5}">
                      <a16:colId xmlns:a16="http://schemas.microsoft.com/office/drawing/2014/main" val="20002"/>
                    </a:ext>
                  </a:extLst>
                </a:gridCol>
              </a:tblGrid>
              <a:tr h="789391">
                <a:tc>
                  <a:txBody>
                    <a:bodyPr/>
                    <a:lstStyle/>
                    <a:p>
                      <a:pPr marL="67945">
                        <a:spcBef>
                          <a:spcPts val="35"/>
                        </a:spcBef>
                        <a:spcAft>
                          <a:spcPts val="0"/>
                        </a:spcAft>
                      </a:pPr>
                      <a:r>
                        <a:rPr lang="en-US" sz="24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CO</a:t>
                      </a:r>
                      <a:r>
                        <a:rPr lang="en-US" sz="24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lnSpc>
                          <a:spcPts val="1150"/>
                        </a:lnSpc>
                        <a:spcBef>
                          <a:spcPts val="610"/>
                        </a:spcBef>
                        <a:spcAft>
                          <a:spcPts val="0"/>
                        </a:spcAft>
                      </a:pP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lnSpc>
                          <a:spcPts val="1150"/>
                        </a:lnSpc>
                        <a:spcBef>
                          <a:spcPts val="610"/>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Understand</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basic</a:t>
                      </a:r>
                      <a:r>
                        <a:rPr lang="en-US" sz="24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concepts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characteristics</a:t>
                      </a:r>
                      <a:r>
                        <a:rPr lang="en-US" sz="24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2400" spc="-2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68580">
                        <a:lnSpc>
                          <a:spcPts val="1150"/>
                        </a:lnSpc>
                        <a:spcBef>
                          <a:spcPts val="610"/>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24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24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manager,</a:t>
                      </a:r>
                      <a:r>
                        <a:rPr lang="en-US" sz="2400" spc="-23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management</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spcBef>
                          <a:spcPts val="1135"/>
                        </a:spcBef>
                        <a:spcAft>
                          <a:spcPts val="0"/>
                        </a:spcAft>
                      </a:pP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Understanding</a:t>
                      </a:r>
                      <a:r>
                        <a:rPr lang="en-US" sz="2400" spc="-2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(K2)</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939996">
                <a:tc>
                  <a:txBody>
                    <a:bodyPr/>
                    <a:lstStyle/>
                    <a:p>
                      <a:pPr marL="67945">
                        <a:spcBef>
                          <a:spcPts val="1095"/>
                        </a:spcBef>
                      </a:pP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CO</a:t>
                      </a:r>
                      <a:r>
                        <a:rPr lang="en-US" sz="24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marR="827405">
                        <a:lnSpc>
                          <a:spcPts val="1450"/>
                        </a:lnSpc>
                        <a:spcBef>
                          <a:spcPts val="620"/>
                        </a:spcBef>
                        <a:spcAft>
                          <a:spcPts val="0"/>
                        </a:spcAft>
                      </a:pP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marR="827405" algn="just">
                        <a:lnSpc>
                          <a:spcPts val="1450"/>
                        </a:lnSpc>
                        <a:spcBef>
                          <a:spcPts val="620"/>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Understand the roles and responsibilities along    with tools &amp;</a:t>
                      </a:r>
                      <a:r>
                        <a:rPr lang="en-US" sz="2400" spc="-29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techniques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used in Project Management</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7945">
                        <a:spcBef>
                          <a:spcPts val="20"/>
                        </a:spcBef>
                        <a:spcAft>
                          <a:spcPts val="0"/>
                        </a:spcAft>
                      </a:pPr>
                      <a:r>
                        <a:rPr lang="en-US" sz="24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Evaluating</a:t>
                      </a:r>
                      <a:r>
                        <a:rPr lang="en-US" sz="24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(K5)</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1"/>
                  </a:ext>
                </a:extLst>
              </a:tr>
              <a:tr h="564771">
                <a:tc>
                  <a:txBody>
                    <a:bodyPr/>
                    <a:lstStyle/>
                    <a:p>
                      <a:pPr marL="67945">
                        <a:spcBef>
                          <a:spcPts val="365"/>
                        </a:spcBef>
                      </a:pP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CO</a:t>
                      </a:r>
                      <a:r>
                        <a:rPr lang="en-US" sz="24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3</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spcBef>
                          <a:spcPts val="690"/>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Develop</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confident to take</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up</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any</a:t>
                      </a:r>
                      <a:r>
                        <a:rPr lang="en-US" sz="24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kind of projects</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spcBef>
                          <a:spcPts val="365"/>
                        </a:spcBef>
                        <a:spcAft>
                          <a:spcPts val="0"/>
                        </a:spcAft>
                      </a:pP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Evaluating</a:t>
                      </a:r>
                      <a:r>
                        <a:rPr lang="en-US" sz="2400" spc="-1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(K5)</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2"/>
                  </a:ext>
                </a:extLst>
              </a:tr>
              <a:tr h="1241400">
                <a:tc>
                  <a:txBody>
                    <a:bodyPr/>
                    <a:lstStyle/>
                    <a:p>
                      <a:pPr marL="67945">
                        <a:spcBef>
                          <a:spcPts val="35"/>
                        </a:spcBef>
                        <a:spcAft>
                          <a:spcPts val="0"/>
                        </a:spcAft>
                      </a:pPr>
                      <a:r>
                        <a:rPr lang="en-US" sz="24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67945"/>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CO</a:t>
                      </a:r>
                      <a:r>
                        <a:rPr lang="en-US" sz="24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4</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marR="437515" algn="just">
                        <a:lnSpc>
                          <a:spcPct val="105000"/>
                        </a:lnSpc>
                        <a:spcBef>
                          <a:spcPts val="675"/>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Students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will</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understand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scheduling</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monitoring</a:t>
                      </a:r>
                      <a:r>
                        <a:rPr lang="en-US" sz="24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process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2400" spc="-28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Project. They</a:t>
                      </a:r>
                      <a:r>
                        <a:rPr lang="en-US" sz="24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will be able</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to apply</a:t>
                      </a:r>
                      <a:r>
                        <a:rPr lang="en-US" sz="2400" spc="-2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PERT</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and CPM method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for</a:t>
                      </a: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project</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scheduling</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7945">
                        <a:spcBef>
                          <a:spcPts val="50"/>
                        </a:spcBef>
                        <a:spcAft>
                          <a:spcPts val="0"/>
                        </a:spcAft>
                      </a:pPr>
                      <a:r>
                        <a:rPr lang="en-US" sz="2400" b="1">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Applying</a:t>
                      </a:r>
                      <a:r>
                        <a:rPr lang="en-US" sz="2400" spc="-2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(K3)</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3"/>
                  </a:ext>
                </a:extLst>
              </a:tr>
              <a:tr h="914121">
                <a:tc>
                  <a:txBody>
                    <a:bodyPr/>
                    <a:lstStyle/>
                    <a:p>
                      <a:pPr marL="67945">
                        <a:spcBef>
                          <a:spcPts val="655"/>
                        </a:spcBef>
                      </a:pP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CO</a:t>
                      </a:r>
                      <a:r>
                        <a:rPr lang="en-US" sz="2400" spc="-5">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a:effectLst/>
                          <a:latin typeface="Times New Roman" panose="02020603050405020304" pitchFamily="18" charset="0"/>
                          <a:ea typeface="Times New Roman" panose="02020603050405020304" pitchFamily="18" charset="0"/>
                          <a:cs typeface="Times New Roman" panose="02020603050405020304" pitchFamily="18" charset="0"/>
                        </a:rPr>
                        <a:t>5</a:t>
                      </a:r>
                      <a:endParaRPr lang="en-IN" sz="2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lnSpc>
                          <a:spcPts val="1340"/>
                        </a:lnSpc>
                      </a:pP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lnSpc>
                          <a:spcPts val="134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Students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will</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understand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the</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perspectives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which</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68580">
                        <a:lnSpc>
                          <a:spcPts val="1340"/>
                        </a:lnSpc>
                      </a:pPr>
                      <a:endPar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lnSpc>
                          <a:spcPts val="134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optimum</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decisions</a:t>
                      </a:r>
                      <a:r>
                        <a:rPr lang="en-IN"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are</a:t>
                      </a:r>
                      <a:r>
                        <a:rPr lang="en-US" sz="2400" spc="-1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to</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be taken</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in case</a:t>
                      </a:r>
                      <a:r>
                        <a:rPr lang="en-US" sz="2400" spc="-1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of</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risks</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with </a:t>
                      </a:r>
                    </a:p>
                    <a:p>
                      <a:pPr marL="68580">
                        <a:lnSpc>
                          <a:spcPts val="1340"/>
                        </a:lnSpc>
                      </a:pP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68580">
                        <a:lnSpc>
                          <a:spcPts val="1340"/>
                        </a:lnSpc>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planned</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activities in</a:t>
                      </a:r>
                      <a:r>
                        <a:rPr lang="en-US" sz="2400" spc="-5"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project</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68580">
                        <a:spcBef>
                          <a:spcPts val="1015"/>
                        </a:spcBef>
                        <a:spcAft>
                          <a:spcPts val="0"/>
                        </a:spcAft>
                      </a:pP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Creating</a:t>
                      </a:r>
                      <a:r>
                        <a:rPr lang="en-US" sz="2400" spc="-2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cs typeface="Times New Roman" panose="02020603050405020304" pitchFamily="18" charset="0"/>
                        </a:rPr>
                        <a:t>(K6)</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Program outcome (POs)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r>
              <a:rPr lang="en-US" sz="2400" dirty="0">
                <a:solidFill>
                  <a:srgbClr val="000000"/>
                </a:solidFill>
                <a:effectLst/>
                <a:latin typeface="Times New Roman" panose="02020603050405020304" pitchFamily="18" charset="0"/>
                <a:ea typeface="Times New Roman" panose="02020603050405020304" pitchFamily="18" charset="0"/>
              </a:rPr>
              <a:t>PO1. Apply knowledge of management theories and practices to solve business problems.</a:t>
            </a:r>
            <a:endParaRPr lang="en-IN" sz="2400" dirty="0">
              <a:effectLst/>
              <a:latin typeface="Times New Roman" panose="02020603050405020304" pitchFamily="18" charset="0"/>
              <a:ea typeface="Times New Roman" panose="02020603050405020304" pitchFamily="18" charset="0"/>
            </a:endParaRPr>
          </a:p>
          <a:p>
            <a:r>
              <a:rPr lang="en-US" sz="2400" dirty="0">
                <a:solidFill>
                  <a:srgbClr val="000000"/>
                </a:solidFill>
                <a:effectLst/>
                <a:latin typeface="Times New Roman" panose="02020603050405020304" pitchFamily="18" charset="0"/>
                <a:ea typeface="Times New Roman" panose="02020603050405020304" pitchFamily="18" charset="0"/>
              </a:rPr>
              <a:t>PO2. Foster analytical and critical thinking abilities for data-based decision-making.</a:t>
            </a:r>
            <a:endParaRPr lang="en-IN" sz="2400" dirty="0">
              <a:effectLst/>
              <a:latin typeface="Times New Roman" panose="02020603050405020304" pitchFamily="18" charset="0"/>
              <a:ea typeface="Times New Roman" panose="02020603050405020304" pitchFamily="18" charset="0"/>
            </a:endParaRPr>
          </a:p>
          <a:p>
            <a:r>
              <a:rPr lang="en-US" sz="2400" dirty="0">
                <a:solidFill>
                  <a:srgbClr val="000000"/>
                </a:solidFill>
                <a:effectLst/>
                <a:latin typeface="Times New Roman" panose="02020603050405020304" pitchFamily="18" charset="0"/>
                <a:ea typeface="Times New Roman" panose="02020603050405020304" pitchFamily="18" charset="0"/>
              </a:rPr>
              <a:t>PO3. Ability to develop value-based leadership ability.</a:t>
            </a:r>
            <a:endParaRPr lang="en-IN" sz="2400" dirty="0">
              <a:effectLst/>
              <a:latin typeface="Times New Roman" panose="02020603050405020304" pitchFamily="18" charset="0"/>
              <a:ea typeface="Times New Roman" panose="02020603050405020304" pitchFamily="18" charset="0"/>
            </a:endParaRPr>
          </a:p>
          <a:p>
            <a:r>
              <a:rPr lang="en-US" sz="2400" dirty="0">
                <a:solidFill>
                  <a:srgbClr val="000000"/>
                </a:solidFill>
                <a:effectLst/>
                <a:latin typeface="Times New Roman" panose="02020603050405020304" pitchFamily="18" charset="0"/>
                <a:ea typeface="Times New Roman" panose="02020603050405020304" pitchFamily="18" charset="0"/>
              </a:rPr>
              <a:t>PO4. Ability to understand, analyze, and communicate global, economic, legal, and ethical aspects of business.</a:t>
            </a:r>
            <a:endParaRPr lang="en-IN" sz="2400" dirty="0">
              <a:effectLst/>
              <a:latin typeface="Times New Roman" panose="02020603050405020304" pitchFamily="18" charset="0"/>
              <a:ea typeface="Times New Roman" panose="02020603050405020304" pitchFamily="18" charset="0"/>
            </a:endParaRPr>
          </a:p>
          <a:p>
            <a:r>
              <a:rPr lang="en-US" sz="2400" dirty="0">
                <a:solidFill>
                  <a:srgbClr val="000000"/>
                </a:solidFill>
                <a:effectLst/>
                <a:latin typeface="Times New Roman" panose="02020603050405020304" pitchFamily="18" charset="0"/>
                <a:ea typeface="Times New Roman" panose="02020603050405020304" pitchFamily="18" charset="0"/>
              </a:rPr>
              <a:t>PO5. Ability to lead themselves and others in the achievement of organizational goals, contributing effectively to a team environment.</a:t>
            </a:r>
            <a:endParaRPr lang="en-IN" sz="2400" dirty="0">
              <a:effectLst/>
              <a:latin typeface="Times New Roman" panose="02020603050405020304" pitchFamily="18" charset="0"/>
              <a:ea typeface="Times New Roman" panose="02020603050405020304" pitchFamily="18" charset="0"/>
            </a:endParaRPr>
          </a:p>
          <a:p>
            <a:pPr marL="0" indent="0">
              <a:buNone/>
            </a:pPr>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COs and POs Mapping</a:t>
            </a:r>
            <a:endParaRPr lang="en-IN" sz="3600" dirty="0">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idx="1"/>
          </p:nvPr>
        </p:nvPicPr>
        <p:blipFill rotWithShape="1">
          <a:blip r:embed="rId2"/>
          <a:srcRect r="14532"/>
          <a:stretch>
            <a:fillRect/>
          </a:stretch>
        </p:blipFill>
        <p:spPr>
          <a:xfrm>
            <a:off x="2171700" y="1666875"/>
            <a:ext cx="7048499" cy="3809999"/>
          </a:xfrm>
          <a:prstGeom prst="rect">
            <a:avLst/>
          </a:prstGeom>
        </p:spPr>
      </p:pic>
      <p:sp>
        <p:nvSpPr>
          <p:cNvPr id="8" name="TextBox 7"/>
          <p:cNvSpPr txBox="1"/>
          <p:nvPr/>
        </p:nvSpPr>
        <p:spPr>
          <a:xfrm>
            <a:off x="2840831" y="5592246"/>
            <a:ext cx="6138862" cy="584775"/>
          </a:xfrm>
          <a:prstGeom prst="rect">
            <a:avLst/>
          </a:prstGeom>
          <a:noFill/>
        </p:spPr>
        <p:txBody>
          <a:bodyPr wrap="square">
            <a:spAutoFit/>
          </a:bodyPr>
          <a:lstStyle/>
          <a:p>
            <a:pPr algn="ctr">
              <a:buNone/>
            </a:pPr>
            <a:r>
              <a:rPr lang="en-US" sz="3200" dirty="0">
                <a:latin typeface="Times New Roman" panose="02020603050405020304" pitchFamily="18" charset="0"/>
                <a:cs typeface="Times New Roman" panose="02020603050405020304" pitchFamily="18" charset="0"/>
              </a:rPr>
              <a:t>*1=High, *2=Medium, *3=Low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Program Educational Objectives (PEOs)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fontAlgn="base">
              <a:lnSpc>
                <a:spcPct val="115000"/>
              </a:lnSpc>
              <a:spcAft>
                <a:spcPts val="750"/>
              </a:spcAft>
            </a:pPr>
            <a:r>
              <a:rPr lang="en-IN" sz="24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PEO 1: Graduates of the management program will have conceptual knowledge, to adapt to the rapidly changing environment, learn new skills and demonstrate application of management principles in a professional work setting.</a:t>
            </a:r>
            <a:endParaRPr lang="en-IN" sz="2400" dirty="0">
              <a:effectLst/>
              <a:latin typeface="Times New Roman" panose="02020603050405020304" pitchFamily="18" charset="0"/>
              <a:ea typeface="Calibri" panose="020F0502020204030204" charset="0"/>
              <a:cs typeface="Times New Roman" panose="02020603050405020304" pitchFamily="18" charset="0"/>
            </a:endParaRPr>
          </a:p>
          <a:p>
            <a:pPr fontAlgn="base">
              <a:lnSpc>
                <a:spcPct val="115000"/>
              </a:lnSpc>
              <a:spcAft>
                <a:spcPts val="750"/>
              </a:spcAft>
            </a:pPr>
            <a:r>
              <a:rPr lang="en-IN" sz="24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PEO 2: Graduates will apply appropriate tools for decision making required for solving complex managerial problems in the local or global context.</a:t>
            </a:r>
            <a:endParaRPr lang="en-IN" sz="2400" dirty="0">
              <a:effectLst/>
              <a:latin typeface="Times New Roman" panose="02020603050405020304" pitchFamily="18" charset="0"/>
              <a:ea typeface="Calibri" panose="020F0502020204030204" charset="0"/>
              <a:cs typeface="Times New Roman" panose="02020603050405020304" pitchFamily="18" charset="0"/>
            </a:endParaRPr>
          </a:p>
          <a:p>
            <a:pPr fontAlgn="base">
              <a:lnSpc>
                <a:spcPct val="115000"/>
              </a:lnSpc>
              <a:spcAft>
                <a:spcPts val="750"/>
              </a:spcAft>
            </a:pPr>
            <a:r>
              <a:rPr lang="en-IN" sz="24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PEO 3: Graduates of the management program will exhibit integrity, social responsibility, and teamwork.</a:t>
            </a:r>
            <a:endParaRPr lang="en-IN" sz="2400" dirty="0">
              <a:effectLst/>
              <a:latin typeface="Times New Roman" panose="02020603050405020304" pitchFamily="18" charset="0"/>
              <a:ea typeface="Calibri" panose="020F0502020204030204" charset="0"/>
              <a:cs typeface="Times New Roman" panose="02020603050405020304" pitchFamily="18" charset="0"/>
            </a:endParaRPr>
          </a:p>
          <a:p>
            <a:pPr fontAlgn="base">
              <a:lnSpc>
                <a:spcPct val="115000"/>
              </a:lnSpc>
              <a:spcAft>
                <a:spcPts val="750"/>
              </a:spcAft>
            </a:pPr>
            <a:r>
              <a:rPr lang="en-IN" sz="2400" dirty="0">
                <a:solidFill>
                  <a:srgbClr val="212121"/>
                </a:solidFill>
                <a:effectLst/>
                <a:latin typeface="Times New Roman" panose="02020603050405020304" pitchFamily="18" charset="0"/>
                <a:ea typeface="Times New Roman" panose="02020603050405020304" pitchFamily="18" charset="0"/>
                <a:cs typeface="Times New Roman" panose="02020603050405020304" pitchFamily="18" charset="0"/>
              </a:rPr>
              <a:t>PEO 4: Graduates will exhibit ethics, communication skills, leadership qualities and entrepreneurial mindset using creativity and innovation.</a:t>
            </a:r>
            <a:endParaRPr lang="en-IN" sz="2400" dirty="0">
              <a:effectLst/>
              <a:latin typeface="Times New Roman" panose="02020603050405020304" pitchFamily="18" charset="0"/>
              <a:ea typeface="Calibri" panose="020F0502020204030204"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End Semester Question paper Templates</a:t>
            </a:r>
            <a:endParaRPr lang="en-IN" sz="3600" dirty="0">
              <a:latin typeface="Times New Roman" panose="02020603050405020304" pitchFamily="18" charset="0"/>
              <a:cs typeface="Times New Roman" panose="02020603050405020304" pitchFamily="18" charset="0"/>
            </a:endParaRPr>
          </a:p>
        </p:txBody>
      </p:sp>
      <p:pic>
        <p:nvPicPr>
          <p:cNvPr id="2" name="Content Placeholder 9" descr="temp1.png"/>
          <p:cNvPicPr>
            <a:picLocks noGrp="1" noChangeAspect="1"/>
          </p:cNvPicPr>
          <p:nvPr>
            <p:ph idx="1"/>
          </p:nvPr>
        </p:nvPicPr>
        <p:blipFill>
          <a:blip r:embed="rId2"/>
          <a:stretch>
            <a:fillRect/>
          </a:stretch>
        </p:blipFill>
        <p:spPr>
          <a:xfrm>
            <a:off x="1343025" y="1222971"/>
            <a:ext cx="9544050" cy="4907359"/>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End Semester Question paper Templates</a:t>
            </a:r>
            <a:endParaRPr lang="en-IN" sz="3600" dirty="0">
              <a:latin typeface="Times New Roman" panose="02020603050405020304" pitchFamily="18" charset="0"/>
              <a:cs typeface="Times New Roman" panose="02020603050405020304" pitchFamily="18" charset="0"/>
            </a:endParaRPr>
          </a:p>
        </p:txBody>
      </p:sp>
      <p:pic>
        <p:nvPicPr>
          <p:cNvPr id="6" name="Content Placeholder 7" descr="temp3.png"/>
          <p:cNvPicPr>
            <a:picLocks noGrp="1" noChangeAspect="1"/>
          </p:cNvPicPr>
          <p:nvPr>
            <p:ph idx="1"/>
          </p:nvPr>
        </p:nvPicPr>
        <p:blipFill>
          <a:blip r:embed="rId2"/>
          <a:stretch>
            <a:fillRect/>
          </a:stretch>
        </p:blipFill>
        <p:spPr>
          <a:xfrm>
            <a:off x="1209676" y="1028700"/>
            <a:ext cx="9305924" cy="5295900"/>
          </a:xfr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 </a:t>
            </a:r>
            <a:r>
              <a:rPr lang="en-US" sz="3600" b="0" dirty="0">
                <a:latin typeface="Times New Roman" panose="02020603050405020304" pitchFamily="18" charset="0"/>
                <a:cs typeface="Times New Roman" panose="02020603050405020304" pitchFamily="18" charset="0"/>
              </a:rPr>
              <a:t>Prerequisite /Recap</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Autofit/>
          </a:bodyPr>
          <a:lstStyle/>
          <a:p>
            <a:pPr algn="just">
              <a:buNone/>
            </a:pPr>
            <a:r>
              <a:rPr lang="en-US" sz="2400" dirty="0"/>
              <a:t>Prerequisites for this session are:</a:t>
            </a:r>
          </a:p>
          <a:p>
            <a:pPr algn="just"/>
            <a:r>
              <a:rPr lang="en-US" sz="2400" dirty="0"/>
              <a:t>General understanding of project management.</a:t>
            </a:r>
          </a:p>
          <a:p>
            <a:pPr algn="just"/>
            <a:r>
              <a:rPr lang="en-US" sz="2400" dirty="0"/>
              <a:t>General understanding of tools &amp; techniques of project management.</a:t>
            </a:r>
          </a:p>
          <a:p>
            <a:pPr algn="just">
              <a:buNone/>
            </a:pPr>
            <a:endParaRPr lang="en-US" sz="2400" dirty="0"/>
          </a:p>
          <a:p>
            <a:pPr algn="just">
              <a:buNone/>
            </a:pPr>
            <a:r>
              <a:rPr lang="en-US" sz="2400" dirty="0"/>
              <a:t>Recap: </a:t>
            </a:r>
          </a:p>
          <a:p>
            <a:pPr algn="just"/>
            <a:r>
              <a:rPr lang="en-US" sz="2400" dirty="0"/>
              <a:t>Introduction of project</a:t>
            </a:r>
          </a:p>
          <a:p>
            <a:pPr algn="just"/>
            <a:r>
              <a:rPr lang="en-US" sz="2400" dirty="0"/>
              <a:t>Project management process</a:t>
            </a:r>
          </a:p>
          <a:p>
            <a:pPr algn="just"/>
            <a:r>
              <a:rPr lang="en-US" sz="2400" dirty="0"/>
              <a:t>Project team</a:t>
            </a:r>
          </a:p>
          <a:p>
            <a:pPr algn="just"/>
            <a:r>
              <a:rPr lang="en-US" sz="2400" dirty="0"/>
              <a:t>Scope of project management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Brief Introduction about the Subject with Videos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r>
              <a:rPr lang="en-US" sz="2400" b="0" i="0" dirty="0">
                <a:solidFill>
                  <a:srgbClr val="0D0D0D"/>
                </a:solidFill>
                <a:effectLst/>
                <a:latin typeface="Times New Roman" panose="02020603050405020304" pitchFamily="18" charset="0"/>
                <a:cs typeface="Times New Roman" panose="02020603050405020304" pitchFamily="18" charset="0"/>
              </a:rPr>
              <a:t>Project management is the discipline of initiating, planning, executing, controlling, and closing the work of a team to achieve specific goals and meet specific success criteria. </a:t>
            </a:r>
          </a:p>
          <a:p>
            <a:r>
              <a:rPr lang="en-US" sz="2400" b="0" i="0" dirty="0">
                <a:solidFill>
                  <a:srgbClr val="0D0D0D"/>
                </a:solidFill>
                <a:effectLst/>
                <a:latin typeface="Times New Roman" panose="02020603050405020304" pitchFamily="18" charset="0"/>
                <a:cs typeface="Times New Roman" panose="02020603050405020304" pitchFamily="18" charset="0"/>
              </a:rPr>
              <a:t>It involves the application of knowledge, skills, tools, and techniques to project activities to meet project requirements. </a:t>
            </a:r>
          </a:p>
          <a:p>
            <a:r>
              <a:rPr lang="en-US" sz="2400" b="0" i="0" dirty="0">
                <a:solidFill>
                  <a:srgbClr val="0D0D0D"/>
                </a:solidFill>
                <a:effectLst/>
                <a:latin typeface="Times New Roman" panose="02020603050405020304" pitchFamily="18" charset="0"/>
                <a:cs typeface="Times New Roman" panose="02020603050405020304" pitchFamily="18" charset="0"/>
              </a:rPr>
              <a:t>Effective project management ensures that projects are completed within scope, on time, and within budget, while delivering the desired outcomes.</a:t>
            </a:r>
          </a:p>
          <a:p>
            <a:pPr marL="0" indent="0">
              <a:buNone/>
            </a:pPr>
            <a:r>
              <a:rPr lang="en-IN" sz="2400" dirty="0">
                <a:latin typeface="Times New Roman" panose="02020603050405020304" pitchFamily="18" charset="0"/>
                <a:cs typeface="Times New Roman" panose="02020603050405020304" pitchFamily="18" charset="0"/>
                <a:hlinkClick r:id="rId2"/>
              </a:rPr>
              <a:t>https://www.youtube.com/watch?v=EyPFi0YO32M</a:t>
            </a:r>
            <a:endParaRPr lang="en-US" sz="2400" dirty="0">
              <a:solidFill>
                <a:srgbClr val="0D0D0D"/>
              </a:solidFill>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hlinkClick r:id="rId3"/>
              </a:rPr>
              <a:t>https://www.youtube.com/watch?v=BOU1YP5NZVA</a:t>
            </a:r>
            <a:endParaRPr lang="en-US" sz="2400" dirty="0">
              <a:solidFill>
                <a:srgbClr val="0D0D0D"/>
              </a:solidFill>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Unit Content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99345" y="1794786"/>
            <a:ext cx="11793310" cy="4053564"/>
          </a:xfrm>
        </p:spPr>
        <p:txBody>
          <a:bodyPr>
            <a:normAutofit/>
          </a:bodyPr>
          <a:lstStyle/>
          <a:p>
            <a:pPr marL="457200" indent="-457200" algn="just">
              <a:buNone/>
            </a:pPr>
            <a:r>
              <a:rPr lang="en-US" sz="2400" b="1" dirty="0">
                <a:latin typeface="Times New Roman" panose="02020603050405020304" pitchFamily="18" charset="0"/>
                <a:cs typeface="Times New Roman" panose="02020603050405020304" pitchFamily="18" charset="0"/>
              </a:rPr>
              <a:t>Unit-2: </a:t>
            </a:r>
            <a:r>
              <a:rPr lang="en-US" sz="2400" dirty="0">
                <a:latin typeface="Times New Roman" panose="02020603050405020304" pitchFamily="18" charset="0"/>
                <a:cs typeface="Times New Roman" panose="02020603050405020304" pitchFamily="18" charset="0"/>
              </a:rPr>
              <a:t>	</a:t>
            </a:r>
          </a:p>
          <a:p>
            <a:pPr marL="457200" indent="-457200" algn="just">
              <a:buNone/>
            </a:pPr>
            <a:r>
              <a:rPr lang="en-US" sz="2400" b="1" dirty="0">
                <a:latin typeface="Times New Roman" panose="02020603050405020304" pitchFamily="18" charset="0"/>
                <a:cs typeface="Times New Roman" panose="02020603050405020304" pitchFamily="18" charset="0"/>
              </a:rPr>
              <a:t>Project Identification &amp; Selection: </a:t>
            </a:r>
          </a:p>
          <a:p>
            <a:pPr marL="457200" indent="-457200" algn="just">
              <a:buNone/>
            </a:pPr>
            <a:r>
              <a:rPr lang="en-US" sz="2400" dirty="0">
                <a:latin typeface="Times New Roman" panose="02020603050405020304" pitchFamily="18" charset="0"/>
                <a:cs typeface="Times New Roman" panose="02020603050405020304" pitchFamily="18" charset="0"/>
              </a:rPr>
              <a:t>Identification, Generation of Ideas, Approaches to Project Screening and Selection, Project Rating Index. </a:t>
            </a:r>
          </a:p>
          <a:p>
            <a:pPr marL="457200" indent="-457200" algn="just">
              <a:buNone/>
            </a:pPr>
            <a:r>
              <a:rPr lang="en-US" sz="2400" b="1" dirty="0">
                <a:latin typeface="Times New Roman" panose="02020603050405020304" pitchFamily="18" charset="0"/>
                <a:cs typeface="Times New Roman" panose="02020603050405020304" pitchFamily="18" charset="0"/>
              </a:rPr>
              <a:t>Market &amp; Demand Analysis Techniques: </a:t>
            </a:r>
            <a:r>
              <a:rPr lang="en-US" sz="2400" dirty="0">
                <a:latin typeface="Times New Roman" panose="02020603050405020304" pitchFamily="18" charset="0"/>
                <a:cs typeface="Times New Roman" panose="02020603050405020304" pitchFamily="18" charset="0"/>
              </a:rPr>
              <a:t>Survey &amp; Trend Projection Methods. </a:t>
            </a:r>
          </a:p>
          <a:p>
            <a:pPr marL="457200" indent="-457200" algn="just">
              <a:buNone/>
            </a:pPr>
            <a:r>
              <a:rPr lang="en-US" sz="2400" b="1" dirty="0">
                <a:latin typeface="Times New Roman" panose="02020603050405020304" pitchFamily="18" charset="0"/>
                <a:cs typeface="Times New Roman" panose="02020603050405020304" pitchFamily="18" charset="0"/>
              </a:rPr>
              <a:t>Project Risk Management: </a:t>
            </a:r>
            <a:r>
              <a:rPr lang="en-US" sz="2400" dirty="0">
                <a:latin typeface="Times New Roman" panose="02020603050405020304" pitchFamily="18" charset="0"/>
                <a:cs typeface="Times New Roman" panose="02020603050405020304" pitchFamily="18" charset="0"/>
              </a:rPr>
              <a:t>Concepts and Types of Project Risks, Risk Identification, Risks Analysis, Risks Mitigation Strategies. </a:t>
            </a:r>
          </a:p>
          <a:p>
            <a:pPr marL="67945">
              <a:lnSpc>
                <a:spcPts val="1305"/>
              </a:lnSpc>
            </a:pP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Unit objective</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marL="457200" indent="-457200" algn="just">
              <a:buNone/>
            </a:pPr>
            <a:r>
              <a:rPr lang="en-US" sz="2400" dirty="0">
                <a:latin typeface="Times New Roman" panose="02020603050405020304" pitchFamily="18" charset="0"/>
                <a:cs typeface="Times New Roman" panose="02020603050405020304" pitchFamily="18" charset="0"/>
              </a:rPr>
              <a:t>Objectives of this unit are:</a:t>
            </a:r>
          </a:p>
          <a:p>
            <a:pPr marL="457200" indent="-457200" algn="just"/>
            <a:r>
              <a:rPr lang="en-US" sz="2400" dirty="0">
                <a:latin typeface="Times New Roman" panose="02020603050405020304" pitchFamily="18" charset="0"/>
                <a:cs typeface="Times New Roman" panose="02020603050405020304" pitchFamily="18" charset="0"/>
              </a:rPr>
              <a:t>To understand how projects are identified and selected.</a:t>
            </a:r>
          </a:p>
          <a:p>
            <a:pPr marL="457200" indent="-457200" algn="just"/>
            <a:r>
              <a:rPr lang="en-US" sz="2400" dirty="0">
                <a:latin typeface="Times New Roman" panose="02020603050405020304" pitchFamily="18" charset="0"/>
                <a:cs typeface="Times New Roman" panose="02020603050405020304" pitchFamily="18" charset="0"/>
              </a:rPr>
              <a:t>To understand and conduct the market and demand analysis </a:t>
            </a:r>
          </a:p>
          <a:p>
            <a:pPr marL="457200" indent="-457200" algn="just"/>
            <a:r>
              <a:rPr lang="en-US" sz="2400" dirty="0">
                <a:latin typeface="Times New Roman" panose="02020603050405020304" pitchFamily="18" charset="0"/>
                <a:cs typeface="Times New Roman" panose="02020603050405020304" pitchFamily="18" charset="0"/>
              </a:rPr>
              <a:t>To manage the project risks about risk identification, risk analysis and mitigation strategies</a:t>
            </a: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Topic Objectives &amp; Topic Outcome</a:t>
            </a:r>
            <a:endParaRPr lang="en-IN" sz="3600" dirty="0">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p:cNvGraphicFramePr>
          <p:nvPr>
            <p:ph idx="1"/>
          </p:nvPr>
        </p:nvGraphicFramePr>
        <p:xfrm>
          <a:off x="811212" y="2652713"/>
          <a:ext cx="10569575" cy="1193800"/>
        </p:xfrm>
        <a:graphic>
          <a:graphicData uri="http://schemas.openxmlformats.org/drawingml/2006/table">
            <a:tbl>
              <a:tblPr firstRow="1" bandRow="1">
                <a:tableStyleId>{21E4AEA4-8DFA-4A89-87EB-49C32662AFE0}</a:tableStyleId>
              </a:tblPr>
              <a:tblGrid>
                <a:gridCol w="902734">
                  <a:extLst>
                    <a:ext uri="{9D8B030D-6E8A-4147-A177-3AD203B41FA5}">
                      <a16:colId xmlns:a16="http://schemas.microsoft.com/office/drawing/2014/main" val="20000"/>
                    </a:ext>
                  </a:extLst>
                </a:gridCol>
                <a:gridCol w="6143649">
                  <a:extLst>
                    <a:ext uri="{9D8B030D-6E8A-4147-A177-3AD203B41FA5}">
                      <a16:colId xmlns:a16="http://schemas.microsoft.com/office/drawing/2014/main" val="20001"/>
                    </a:ext>
                  </a:extLst>
                </a:gridCol>
                <a:gridCol w="3523192">
                  <a:extLst>
                    <a:ext uri="{9D8B030D-6E8A-4147-A177-3AD203B41FA5}">
                      <a16:colId xmlns:a16="http://schemas.microsoft.com/office/drawing/2014/main" val="20002"/>
                    </a:ext>
                  </a:extLst>
                </a:gridCol>
              </a:tblGrid>
              <a:tr h="370840">
                <a:tc>
                  <a:txBody>
                    <a:bodyPr/>
                    <a:lstStyle/>
                    <a:p>
                      <a:r>
                        <a:rPr lang="en-IN" dirty="0"/>
                        <a:t>S.NO</a:t>
                      </a:r>
                    </a:p>
                  </a:txBody>
                  <a:tcPr/>
                </a:tc>
                <a:tc>
                  <a:txBody>
                    <a:bodyPr/>
                    <a:lstStyle/>
                    <a:p>
                      <a:r>
                        <a:rPr lang="en-IN" dirty="0"/>
                        <a:t>TOPIC OBJECTIVE</a:t>
                      </a:r>
                    </a:p>
                  </a:txBody>
                  <a:tcPr/>
                </a:tc>
                <a:tc>
                  <a:txBody>
                    <a:bodyPr/>
                    <a:lstStyle/>
                    <a:p>
                      <a:r>
                        <a:rPr lang="en-IN" dirty="0"/>
                        <a:t>TOPIC OUTCOME</a:t>
                      </a:r>
                    </a:p>
                  </a:txBody>
                  <a:tcPr/>
                </a:tc>
                <a:extLst>
                  <a:ext uri="{0D108BD9-81ED-4DB2-BD59-A6C34878D82A}">
                    <a16:rowId xmlns:a16="http://schemas.microsoft.com/office/drawing/2014/main" val="10000"/>
                  </a:ext>
                </a:extLst>
              </a:tr>
              <a:tr h="370840">
                <a:tc>
                  <a:txBody>
                    <a:bodyPr/>
                    <a:lstStyle/>
                    <a:p>
                      <a:r>
                        <a:rPr lang="en-IN" sz="2400" dirty="0">
                          <a:latin typeface="Times New Roman" panose="02020603050405020304" pitchFamily="18" charset="0"/>
                          <a:cs typeface="Times New Roman" panose="02020603050405020304" pitchFamily="18" charset="0"/>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2400" dirty="0">
                          <a:latin typeface="Times New Roman" panose="02020603050405020304" pitchFamily="18" charset="0"/>
                          <a:cs typeface="Times New Roman" panose="02020603050405020304" pitchFamily="18" charset="0"/>
                        </a:rPr>
                        <a:t>To understand the Identification &amp; Generation of ideas.</a:t>
                      </a:r>
                    </a:p>
                  </a:txBody>
                  <a:tcPr/>
                </a:tc>
                <a:tc>
                  <a:txBody>
                    <a:bodyPr/>
                    <a:lstStyle/>
                    <a:p>
                      <a:r>
                        <a:rPr lang="en-IN" sz="2400" dirty="0">
                          <a:latin typeface="Times New Roman" panose="02020603050405020304" pitchFamily="18" charset="0"/>
                          <a:cs typeface="Times New Roman" panose="02020603050405020304" pitchFamily="18" charset="0"/>
                        </a:rPr>
                        <a:t>CO2</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Identification &amp;Generation of ideas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500513" y="1175661"/>
            <a:ext cx="11444743" cy="3617720"/>
          </a:xfrm>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Project Identification is often the outcome of TRIGGERING PROCESSES / EVENTS rather than an analytical exercise.	</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While the notion of identification is simple, it is difficult to develop methods or procedures for accomplishing it. </a:t>
            </a:r>
          </a:p>
          <a:p>
            <a:pPr algn="just">
              <a:buNone/>
            </a:pPr>
            <a:r>
              <a:rPr lang="en-US" sz="2400" dirty="0">
                <a:latin typeface="Times New Roman" panose="02020603050405020304" pitchFamily="18" charset="0"/>
                <a:cs typeface="Times New Roman" panose="02020603050405020304" pitchFamily="18" charset="0"/>
              </a:rPr>
              <a:t>	(Uniqueness in decision making, non-routine decisions on top level)</a:t>
            </a: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Project</a:t>
            </a:r>
            <a:endParaRPr lang="en-IN" sz="3600" dirty="0">
              <a:latin typeface="Times New Roman" panose="02020603050405020304" pitchFamily="18" charset="0"/>
              <a:cs typeface="Times New Roman" panose="02020603050405020304" pitchFamily="18" charset="0"/>
            </a:endParaRPr>
          </a:p>
        </p:txBody>
      </p:sp>
      <p:sp>
        <p:nvSpPr>
          <p:cNvPr id="8" name="Content Placeholder 7"/>
          <p:cNvSpPr>
            <a:spLocks noGrp="1"/>
          </p:cNvSpPr>
          <p:nvPr>
            <p:ph idx="1"/>
          </p:nvPr>
        </p:nvSpPr>
        <p:spPr/>
        <p:txBody>
          <a:bodyPr>
            <a:normAutofit/>
          </a:bodyPr>
          <a:lstStyle/>
          <a:p>
            <a:pPr>
              <a:buNone/>
            </a:pPr>
            <a:r>
              <a:rPr lang="en-US" sz="2400" dirty="0">
                <a:latin typeface="Times New Roman" panose="02020603050405020304" pitchFamily="18" charset="0"/>
                <a:cs typeface="Times New Roman" panose="02020603050405020304" pitchFamily="18" charset="0"/>
              </a:rPr>
              <a:t>	is:</a:t>
            </a:r>
          </a:p>
          <a:p>
            <a:r>
              <a:rPr lang="en-US" sz="2400" dirty="0">
                <a:latin typeface="Times New Roman" panose="02020603050405020304" pitchFamily="18" charset="0"/>
                <a:cs typeface="Times New Roman" panose="02020603050405020304" pitchFamily="18" charset="0"/>
              </a:rPr>
              <a:t>Partly Structured, &amp;</a:t>
            </a:r>
          </a:p>
          <a:p>
            <a:r>
              <a:rPr lang="en-US" sz="2400" dirty="0">
                <a:latin typeface="Times New Roman" panose="02020603050405020304" pitchFamily="18" charset="0"/>
                <a:cs typeface="Times New Roman" panose="02020603050405020304" pitchFamily="18" charset="0"/>
              </a:rPr>
              <a:t>Partly Unstructured</a:t>
            </a:r>
          </a:p>
          <a:p>
            <a:pPr>
              <a:buNone/>
            </a:pPr>
            <a:r>
              <a:rPr lang="en-US" sz="2400" dirty="0">
                <a:latin typeface="Times New Roman" panose="02020603050405020304" pitchFamily="18" charset="0"/>
                <a:cs typeface="Times New Roman" panose="02020603050405020304" pitchFamily="18" charset="0"/>
              </a:rPr>
              <a:t>	</a:t>
            </a:r>
          </a:p>
          <a:p>
            <a:pPr>
              <a:buNone/>
            </a:pPr>
            <a:r>
              <a:rPr lang="en-US" sz="2400" dirty="0">
                <a:latin typeface="Times New Roman" panose="02020603050405020304" pitchFamily="18" charset="0"/>
                <a:cs typeface="Times New Roman" panose="02020603050405020304" pitchFamily="18" charset="0"/>
              </a:rPr>
              <a:t>	is partly dependent on-</a:t>
            </a:r>
          </a:p>
          <a:p>
            <a:pPr>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Convergent Thinking, &amp;</a:t>
            </a:r>
          </a:p>
          <a:p>
            <a:r>
              <a:rPr lang="en-US" sz="2400" dirty="0">
                <a:latin typeface="Times New Roman" panose="02020603050405020304" pitchFamily="18" charset="0"/>
                <a:cs typeface="Times New Roman" panose="02020603050405020304" pitchFamily="18" charset="0"/>
              </a:rPr>
              <a:t>Divergent Thinking</a:t>
            </a: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Basic Terminology</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356135" y="1194711"/>
            <a:ext cx="11300059" cy="5001302"/>
          </a:xfrm>
        </p:spPr>
        <p:txBody>
          <a:bodyPr>
            <a:normAutofit/>
          </a:bodyPr>
          <a:lstStyle/>
          <a:p>
            <a:pPr algn="just"/>
            <a:r>
              <a:rPr lang="en-US" sz="2400" b="1" u="sng" dirty="0">
                <a:latin typeface="Times New Roman" panose="02020603050405020304" pitchFamily="18" charset="0"/>
                <a:cs typeface="Times New Roman" panose="02020603050405020304" pitchFamily="18" charset="0"/>
              </a:rPr>
              <a:t>Portfolio: </a:t>
            </a:r>
            <a:r>
              <a:rPr lang="en-US" sz="2400" dirty="0">
                <a:latin typeface="Times New Roman" panose="02020603050405020304" pitchFamily="18" charset="0"/>
                <a:cs typeface="Times New Roman" panose="02020603050405020304" pitchFamily="18" charset="0"/>
              </a:rPr>
              <a:t>Projects, programs, subsidiary portfolios, and operations managed as a group to achieve strategic objectives. </a:t>
            </a:r>
          </a:p>
          <a:p>
            <a:pPr algn="just"/>
            <a:r>
              <a:rPr lang="en-US" sz="2400" b="1" u="sng" dirty="0">
                <a:latin typeface="Times New Roman" panose="02020603050405020304" pitchFamily="18" charset="0"/>
                <a:cs typeface="Times New Roman" panose="02020603050405020304" pitchFamily="18" charset="0"/>
              </a:rPr>
              <a:t>Product: </a:t>
            </a:r>
            <a:r>
              <a:rPr lang="en-US" sz="2400" dirty="0">
                <a:latin typeface="Times New Roman" panose="02020603050405020304" pitchFamily="18" charset="0"/>
                <a:cs typeface="Times New Roman" panose="02020603050405020304" pitchFamily="18" charset="0"/>
              </a:rPr>
              <a:t>An artifact that is produced, is quantifiable, and can be either an end item in itself or a component item. </a:t>
            </a:r>
          </a:p>
          <a:p>
            <a:pPr algn="just"/>
            <a:r>
              <a:rPr lang="en-US" sz="2400" b="1" u="sng" dirty="0">
                <a:latin typeface="Times New Roman" panose="02020603050405020304" pitchFamily="18" charset="0"/>
                <a:cs typeface="Times New Roman" panose="02020603050405020304" pitchFamily="18" charset="0"/>
              </a:rPr>
              <a:t>Program: </a:t>
            </a:r>
            <a:r>
              <a:rPr lang="en-US" sz="2400" dirty="0">
                <a:latin typeface="Times New Roman" panose="02020603050405020304" pitchFamily="18" charset="0"/>
                <a:cs typeface="Times New Roman" panose="02020603050405020304" pitchFamily="18" charset="0"/>
              </a:rPr>
              <a:t>Related projects, subsidiary programs, and program activities that are managed in a coordinated manner to obtain benefits not available from managing them individually. </a:t>
            </a:r>
          </a:p>
          <a:p>
            <a:pPr algn="just"/>
            <a:r>
              <a:rPr lang="en-US" sz="2400" b="1" u="sng" dirty="0">
                <a:latin typeface="Times New Roman" panose="02020603050405020304" pitchFamily="18" charset="0"/>
                <a:cs typeface="Times New Roman" panose="02020603050405020304" pitchFamily="18" charset="0"/>
              </a:rPr>
              <a:t>Project: </a:t>
            </a:r>
            <a:r>
              <a:rPr lang="en-US" sz="2400" dirty="0">
                <a:latin typeface="Times New Roman" panose="02020603050405020304" pitchFamily="18" charset="0"/>
                <a:cs typeface="Times New Roman" panose="02020603050405020304" pitchFamily="18" charset="0"/>
              </a:rPr>
              <a:t>A temporary endeavor undertaken to create a unique product, service, or result. The temporary nature of projects indicates a beginning and an end to the project work or a phase of the project work. Projects can stand alone or be part of a program or portfolio.</a:t>
            </a: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Basic Terminology</a:t>
            </a:r>
            <a:endParaRPr lang="en-IN" sz="36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799448" y="1569720"/>
            <a:ext cx="10593103" cy="3416320"/>
          </a:xfrm>
          <a:prstGeom prst="rect">
            <a:avLst/>
          </a:prstGeom>
          <a:noFill/>
        </p:spPr>
        <p:txBody>
          <a:bodyPr wrap="square" rtlCol="0">
            <a:spAutoFit/>
          </a:bodyPr>
          <a:lstStyle/>
          <a:p>
            <a:pPr algn="just"/>
            <a:r>
              <a:rPr lang="en-US" sz="2400" b="1" u="sng" dirty="0">
                <a:latin typeface="Times New Roman" panose="02020603050405020304" pitchFamily="18" charset="0"/>
                <a:cs typeface="Times New Roman" panose="02020603050405020304" pitchFamily="18" charset="0"/>
              </a:rPr>
              <a:t>Project manager: </a:t>
            </a:r>
            <a:r>
              <a:rPr lang="en-US" sz="2400" dirty="0">
                <a:latin typeface="Times New Roman" panose="02020603050405020304" pitchFamily="18" charset="0"/>
                <a:cs typeface="Times New Roman" panose="02020603050405020304" pitchFamily="18" charset="0"/>
              </a:rPr>
              <a:t>The person assigned by the performing organization to lead the project team that is responsible for achieving the project objectives. Project managers perform a variety of functions, such as facilitating the project teamwork to achieve the outcomes and managing the processes to deliver intended outcomes.</a:t>
            </a:r>
          </a:p>
          <a:p>
            <a:pPr algn="just"/>
            <a:endParaRPr lang="en-US" sz="2400" dirty="0">
              <a:latin typeface="Times New Roman" panose="02020603050405020304" pitchFamily="18" charset="0"/>
              <a:cs typeface="Times New Roman" panose="02020603050405020304" pitchFamily="18" charset="0"/>
            </a:endParaRPr>
          </a:p>
          <a:p>
            <a:pPr algn="just"/>
            <a:r>
              <a:rPr lang="en-US" sz="2400" b="1" u="sng" dirty="0">
                <a:latin typeface="Times New Roman" panose="02020603050405020304" pitchFamily="18" charset="0"/>
                <a:cs typeface="Times New Roman" panose="02020603050405020304" pitchFamily="18" charset="0"/>
              </a:rPr>
              <a:t>Project management: </a:t>
            </a:r>
            <a:r>
              <a:rPr lang="en-US" sz="2400" dirty="0">
                <a:latin typeface="Times New Roman" panose="02020603050405020304" pitchFamily="18" charset="0"/>
                <a:cs typeface="Times New Roman" panose="02020603050405020304" pitchFamily="18" charset="0"/>
              </a:rPr>
              <a:t>The application of knowledge, skills, tools, and techniques to project activities to meet project requirements. Project management refers to guiding the project work to deliver the intended outcomes. </a:t>
            </a:r>
            <a:endParaRPr lang="en-IN" sz="2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Basic Terminology</a:t>
            </a:r>
            <a:endParaRPr lang="en-IN" sz="3600" dirty="0">
              <a:latin typeface="Times New Roman" panose="02020603050405020304" pitchFamily="18" charset="0"/>
              <a:cs typeface="Times New Roman" panose="02020603050405020304" pitchFamily="18" charset="0"/>
            </a:endParaRPr>
          </a:p>
        </p:txBody>
      </p:sp>
      <p:sp>
        <p:nvSpPr>
          <p:cNvPr id="7" name="TextBox 6"/>
          <p:cNvSpPr txBox="1"/>
          <p:nvPr/>
        </p:nvSpPr>
        <p:spPr>
          <a:xfrm>
            <a:off x="1337319" y="2286869"/>
            <a:ext cx="9517361" cy="2954655"/>
          </a:xfrm>
          <a:prstGeom prst="rect">
            <a:avLst/>
          </a:prstGeom>
          <a:noFill/>
        </p:spPr>
        <p:txBody>
          <a:bodyPr wrap="square">
            <a:spAutoFit/>
          </a:bodyPr>
          <a:lstStyle/>
          <a:p>
            <a:pPr algn="just"/>
            <a:r>
              <a:rPr lang="en-US" sz="2400" b="1" u="sng" dirty="0">
                <a:latin typeface="Times New Roman" panose="02020603050405020304" pitchFamily="18" charset="0"/>
                <a:cs typeface="Times New Roman" panose="02020603050405020304" pitchFamily="18" charset="0"/>
              </a:rPr>
              <a:t>Value: </a:t>
            </a:r>
            <a:r>
              <a:rPr lang="en-US" sz="2400" dirty="0">
                <a:latin typeface="Times New Roman" panose="02020603050405020304" pitchFamily="18" charset="0"/>
                <a:cs typeface="Times New Roman" panose="02020603050405020304" pitchFamily="18" charset="0"/>
              </a:rPr>
              <a:t>The worth, importance, or usefulness of something. Different stakeholders perceive value in different ways. Customers can define value as the ability to use specific features or functions of a product. Organizations can focus on business value as determined with financial metrics, such as the benefits less the cost of achieving those benefits. Societal value can include the contribution to groups of people, communities, or the environment.</a:t>
            </a:r>
          </a:p>
          <a:p>
            <a:pPr algn="just"/>
            <a:endParaRPr lang="en-IN"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Components of Sample System for Value Delivery</a:t>
            </a:r>
            <a:endParaRPr lang="en-IN" sz="3600" dirty="0">
              <a:latin typeface="Times New Roman" panose="02020603050405020304" pitchFamily="18" charset="0"/>
              <a:cs typeface="Times New Roman" panose="02020603050405020304" pitchFamily="18" charset="0"/>
            </a:endParaRPr>
          </a:p>
        </p:txBody>
      </p:sp>
      <p:pic>
        <p:nvPicPr>
          <p:cNvPr id="2" name="Content Placeholder 4"/>
          <p:cNvPicPr>
            <a:picLocks noGrp="1" noChangeAspect="1"/>
          </p:cNvPicPr>
          <p:nvPr>
            <p:ph idx="1"/>
          </p:nvPr>
        </p:nvPicPr>
        <p:blipFill>
          <a:blip r:embed="rId2"/>
          <a:stretch>
            <a:fillRect/>
          </a:stretch>
        </p:blipFill>
        <p:spPr>
          <a:xfrm>
            <a:off x="2310063" y="1530417"/>
            <a:ext cx="7401828" cy="4539081"/>
          </a:xfr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Information Flow</a:t>
            </a:r>
            <a:endParaRPr lang="en-IN" sz="3600" dirty="0">
              <a:latin typeface="Times New Roman" panose="02020603050405020304" pitchFamily="18" charset="0"/>
              <a:cs typeface="Times New Roman" panose="02020603050405020304" pitchFamily="18" charset="0"/>
            </a:endParaRPr>
          </a:p>
        </p:txBody>
      </p:sp>
      <p:pic>
        <p:nvPicPr>
          <p:cNvPr id="2" name="Content Placeholder 4"/>
          <p:cNvPicPr>
            <a:picLocks noGrp="1" noChangeAspect="1"/>
          </p:cNvPicPr>
          <p:nvPr>
            <p:ph idx="1"/>
          </p:nvPr>
        </p:nvPicPr>
        <p:blipFill>
          <a:blip r:embed="rId2"/>
          <a:stretch>
            <a:fillRect/>
          </a:stretch>
        </p:blipFill>
        <p:spPr>
          <a:xfrm>
            <a:off x="1780674" y="1116531"/>
            <a:ext cx="8893743" cy="5245768"/>
          </a:xfr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Project Identification</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85825" y="1175661"/>
            <a:ext cx="11059432" cy="5001302"/>
          </a:xfrm>
        </p:spPr>
        <p:txBody>
          <a:bodyPr>
            <a:normAutofit/>
          </a:bodyPr>
          <a:lstStyle/>
          <a:p>
            <a:pPr marL="0" indent="0">
              <a:buNone/>
            </a:pPr>
            <a:endParaRPr lang="en-US" alt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Requires: </a:t>
            </a:r>
          </a:p>
          <a:p>
            <a:pPr>
              <a:buNone/>
            </a:pP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Imagination</a:t>
            </a:r>
          </a:p>
          <a:p>
            <a:r>
              <a:rPr lang="en-US" sz="2400" dirty="0">
                <a:latin typeface="Times New Roman" panose="02020603050405020304" pitchFamily="18" charset="0"/>
                <a:cs typeface="Times New Roman" panose="02020603050405020304" pitchFamily="18" charset="0"/>
              </a:rPr>
              <a:t>Sensitivity to Environmental Changes</a:t>
            </a:r>
          </a:p>
          <a:p>
            <a:r>
              <a:rPr lang="en-US" sz="2400" dirty="0">
                <a:latin typeface="Times New Roman" panose="02020603050405020304" pitchFamily="18" charset="0"/>
                <a:cs typeface="Times New Roman" panose="02020603050405020304" pitchFamily="18" charset="0"/>
              </a:rPr>
              <a:t>Realistic assessment of what the firm can do</a:t>
            </a:r>
          </a:p>
          <a:p>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Stimulation of Flow of Ideas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r>
              <a:rPr lang="en-IN" dirty="0"/>
              <a:t>SWOT analysis</a:t>
            </a:r>
          </a:p>
          <a:p>
            <a:endParaRPr lang="en-IN"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3747" t="31985" r="5191" b="5583"/>
          <a:stretch>
            <a:fillRect/>
          </a:stretch>
        </p:blipFill>
        <p:spPr>
          <a:xfrm>
            <a:off x="1376413" y="1886550"/>
            <a:ext cx="9952522" cy="4290413"/>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Stimulation of Flow of Ideas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buNone/>
            </a:pPr>
            <a:r>
              <a:rPr lang="en-US" sz="2400" b="1" dirty="0">
                <a:latin typeface="Times New Roman" panose="02020603050405020304" pitchFamily="18" charset="0"/>
                <a:cs typeface="Times New Roman" panose="02020603050405020304" pitchFamily="18" charset="0"/>
              </a:rPr>
              <a:t>Clear Articulation of Objectives:</a:t>
            </a:r>
          </a:p>
          <a:p>
            <a:pPr>
              <a:buNone/>
            </a:pP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The operational objectives of the firm can be one or more of following:</a:t>
            </a:r>
          </a:p>
          <a:p>
            <a:pPr>
              <a:buNone/>
            </a:pP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Cost Reduction</a:t>
            </a:r>
          </a:p>
          <a:p>
            <a:r>
              <a:rPr lang="en-US" sz="2400" dirty="0">
                <a:latin typeface="Times New Roman" panose="02020603050405020304" pitchFamily="18" charset="0"/>
                <a:cs typeface="Times New Roman" panose="02020603050405020304" pitchFamily="18" charset="0"/>
              </a:rPr>
              <a:t>Productivity Improvement</a:t>
            </a:r>
          </a:p>
          <a:p>
            <a:r>
              <a:rPr lang="en-US" sz="2400" dirty="0">
                <a:latin typeface="Times New Roman" panose="02020603050405020304" pitchFamily="18" charset="0"/>
                <a:cs typeface="Times New Roman" panose="02020603050405020304" pitchFamily="18" charset="0"/>
              </a:rPr>
              <a:t>Increase in Capacity Utilization	</a:t>
            </a:r>
          </a:p>
          <a:p>
            <a:r>
              <a:rPr lang="en-US" sz="2400" dirty="0">
                <a:latin typeface="Times New Roman" panose="02020603050405020304" pitchFamily="18" charset="0"/>
                <a:cs typeface="Times New Roman" panose="02020603050405020304" pitchFamily="18" charset="0"/>
              </a:rPr>
              <a:t>Improvement in Contribution Margin</a:t>
            </a:r>
          </a:p>
          <a:p>
            <a:r>
              <a:rPr lang="en-US" sz="2400" dirty="0">
                <a:latin typeface="Times New Roman" panose="02020603050405020304" pitchFamily="18" charset="0"/>
                <a:cs typeface="Times New Roman" panose="02020603050405020304" pitchFamily="18" charset="0"/>
              </a:rPr>
              <a:t>Expansion into Promising Fields</a:t>
            </a: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Stimulation of Flow of Ideas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buNone/>
            </a:pPr>
            <a:r>
              <a:rPr lang="en-US" sz="2400" b="1" dirty="0">
                <a:latin typeface="Times New Roman" panose="02020603050405020304" pitchFamily="18" charset="0"/>
                <a:cs typeface="Times New Roman" panose="02020603050405020304" pitchFamily="18" charset="0"/>
              </a:rPr>
              <a:t>Fostering a Conducive Climate:</a:t>
            </a:r>
          </a:p>
          <a:p>
            <a:pPr>
              <a:buNone/>
            </a:pPr>
            <a:r>
              <a:rPr lang="en-US" sz="2400" b="1"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buNone/>
            </a:pP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To tap the creativity of the people and to harness their entrepreneurial urges, a conducive organizational climate has to be fostered.</a:t>
            </a: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Tools for Identifying Project Opportunities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886551" y="1175661"/>
            <a:ext cx="10058705" cy="1991051"/>
          </a:xfrm>
        </p:spPr>
        <p:txBody>
          <a:bodyPr>
            <a:normAutofit/>
          </a:bodyPr>
          <a:lstStyle/>
          <a:p>
            <a:pPr marL="742950" indent="-742950">
              <a:buFont typeface="+mj-lt"/>
              <a:buAutoNum type="arabicPeriod"/>
            </a:pPr>
            <a:r>
              <a:rPr lang="en-US" sz="2400" dirty="0">
                <a:latin typeface="Times New Roman" panose="02020603050405020304" pitchFamily="18" charset="0"/>
                <a:cs typeface="Times New Roman" panose="02020603050405020304" pitchFamily="18" charset="0"/>
              </a:rPr>
              <a:t>Porter  Model</a:t>
            </a:r>
          </a:p>
          <a:p>
            <a:pPr marL="742950" indent="-742950">
              <a:buFont typeface="+mj-lt"/>
              <a:buAutoNum type="arabicPeriod"/>
            </a:pPr>
            <a:r>
              <a:rPr lang="en-US" sz="2400" dirty="0">
                <a:latin typeface="Times New Roman" panose="02020603050405020304" pitchFamily="18" charset="0"/>
                <a:cs typeface="Times New Roman" panose="02020603050405020304" pitchFamily="18" charset="0"/>
              </a:rPr>
              <a:t>Life Cycle Approach</a:t>
            </a:r>
          </a:p>
          <a:p>
            <a:pPr marL="742950" indent="-742950">
              <a:buFont typeface="+mj-lt"/>
              <a:buAutoNum type="arabicPeriod"/>
            </a:pPr>
            <a:r>
              <a:rPr lang="en-US" sz="2400" dirty="0">
                <a:latin typeface="Times New Roman" panose="02020603050405020304" pitchFamily="18" charset="0"/>
                <a:cs typeface="Times New Roman" panose="02020603050405020304" pitchFamily="18" charset="0"/>
              </a:rPr>
              <a:t>The Experience Curve</a:t>
            </a: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1. Porter’s 5 Forces</a:t>
            </a:r>
            <a:endParaRPr lang="en-IN" sz="3600"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b="7650"/>
          <a:stretch>
            <a:fillRect/>
          </a:stretch>
        </p:blipFill>
        <p:spPr>
          <a:xfrm>
            <a:off x="1751798" y="1176339"/>
            <a:ext cx="8306601" cy="5031956"/>
          </a:xfr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2. Life cycle approach</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lstStyle/>
          <a:p>
            <a:r>
              <a:rPr lang="en-US" sz="2400" dirty="0">
                <a:latin typeface="Times New Roman" panose="02020603050405020304" pitchFamily="18" charset="0"/>
                <a:cs typeface="Times New Roman" panose="02020603050405020304" pitchFamily="18" charset="0"/>
              </a:rPr>
              <a:t>Pioneering Stage (-</a:t>
            </a:r>
            <a:r>
              <a:rPr lang="en-US" sz="2400" dirty="0" err="1">
                <a:latin typeface="Times New Roman" panose="02020603050405020304" pitchFamily="18" charset="0"/>
                <a:cs typeface="Times New Roman" panose="02020603050405020304" pitchFamily="18" charset="0"/>
              </a:rPr>
              <a:t>ve</a:t>
            </a:r>
            <a:r>
              <a:rPr lang="en-US" sz="2400" dirty="0">
                <a:latin typeface="Times New Roman" panose="02020603050405020304" pitchFamily="18" charset="0"/>
                <a:cs typeface="Times New Roman" panose="02020603050405020304" pitchFamily="18" charset="0"/>
              </a:rPr>
              <a:t> NPV)</a:t>
            </a:r>
          </a:p>
          <a:p>
            <a:r>
              <a:rPr lang="en-US" sz="2400" dirty="0">
                <a:latin typeface="Times New Roman" panose="02020603050405020304" pitchFamily="18" charset="0"/>
                <a:cs typeface="Times New Roman" panose="02020603050405020304" pitchFamily="18" charset="0"/>
              </a:rPr>
              <a:t>Rapid Growth Stage (+</a:t>
            </a:r>
            <a:r>
              <a:rPr lang="en-US" sz="2400" dirty="0" err="1">
                <a:latin typeface="Times New Roman" panose="02020603050405020304" pitchFamily="18" charset="0"/>
                <a:cs typeface="Times New Roman" panose="02020603050405020304" pitchFamily="18" charset="0"/>
              </a:rPr>
              <a:t>ve</a:t>
            </a:r>
            <a:r>
              <a:rPr lang="en-US" sz="2400" dirty="0">
                <a:latin typeface="Times New Roman" panose="02020603050405020304" pitchFamily="18" charset="0"/>
                <a:cs typeface="Times New Roman" panose="02020603050405020304" pitchFamily="18" charset="0"/>
              </a:rPr>
              <a:t> NPV)</a:t>
            </a:r>
          </a:p>
          <a:p>
            <a:r>
              <a:rPr lang="en-US" sz="2400" dirty="0">
                <a:latin typeface="Times New Roman" panose="02020603050405020304" pitchFamily="18" charset="0"/>
                <a:cs typeface="Times New Roman" panose="02020603050405020304" pitchFamily="18" charset="0"/>
              </a:rPr>
              <a:t>Maturity &amp; Stabilization Stage (Neutral)</a:t>
            </a:r>
          </a:p>
          <a:p>
            <a:r>
              <a:rPr lang="en-US" sz="2400" dirty="0">
                <a:latin typeface="Times New Roman" panose="02020603050405020304" pitchFamily="18" charset="0"/>
                <a:cs typeface="Times New Roman" panose="02020603050405020304" pitchFamily="18" charset="0"/>
              </a:rPr>
              <a:t>Decline Stage (-</a:t>
            </a:r>
            <a:r>
              <a:rPr lang="en-US" sz="2400" dirty="0" err="1">
                <a:latin typeface="Times New Roman" panose="02020603050405020304" pitchFamily="18" charset="0"/>
                <a:cs typeface="Times New Roman" panose="02020603050405020304" pitchFamily="18" charset="0"/>
              </a:rPr>
              <a:t>ve</a:t>
            </a:r>
            <a:r>
              <a:rPr lang="en-US" sz="2400" dirty="0">
                <a:latin typeface="Times New Roman" panose="02020603050405020304" pitchFamily="18" charset="0"/>
                <a:cs typeface="Times New Roman" panose="02020603050405020304" pitchFamily="18" charset="0"/>
              </a:rPr>
              <a:t> NPV</a:t>
            </a:r>
            <a:r>
              <a:rPr lang="en-US" altLang="en-US" sz="2400"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3. Experience curve</a:t>
            </a:r>
            <a:endParaRPr lang="en-IN" sz="3600"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11450" y="1260909"/>
            <a:ext cx="6769100" cy="4995512"/>
          </a:xfr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Generating Project Ideas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360715" y="1737636"/>
            <a:ext cx="9031060" cy="3605889"/>
          </a:xfrm>
        </p:spPr>
        <p:txBody>
          <a:bodyPr>
            <a:normAutofit/>
          </a:bodyPr>
          <a:lstStyle/>
          <a:p>
            <a:r>
              <a:rPr lang="en-US" sz="2400" dirty="0">
                <a:latin typeface="Times New Roman" panose="02020603050405020304" pitchFamily="18" charset="0"/>
                <a:cs typeface="Times New Roman" panose="02020603050405020304" pitchFamily="18" charset="0"/>
              </a:rPr>
              <a:t>Analyze the performance of existing industries</a:t>
            </a:r>
          </a:p>
          <a:p>
            <a:r>
              <a:rPr lang="en-US" sz="2400" dirty="0">
                <a:latin typeface="Times New Roman" panose="02020603050405020304" pitchFamily="18" charset="0"/>
                <a:cs typeface="Times New Roman" panose="02020603050405020304" pitchFamily="18" charset="0"/>
              </a:rPr>
              <a:t>Examine inputs &amp; outputs of various industries</a:t>
            </a:r>
          </a:p>
          <a:p>
            <a:r>
              <a:rPr lang="en-US" sz="2400" dirty="0">
                <a:latin typeface="Times New Roman" panose="02020603050405020304" pitchFamily="18" charset="0"/>
                <a:cs typeface="Times New Roman" panose="02020603050405020304" pitchFamily="18" charset="0"/>
              </a:rPr>
              <a:t>Review imports &amp; exports</a:t>
            </a:r>
          </a:p>
          <a:p>
            <a:r>
              <a:rPr lang="en-US" sz="2400" dirty="0">
                <a:latin typeface="Times New Roman" panose="02020603050405020304" pitchFamily="18" charset="0"/>
                <a:cs typeface="Times New Roman" panose="02020603050405020304" pitchFamily="18" charset="0"/>
              </a:rPr>
              <a:t>Study plan outlay &amp; Government guidelines</a:t>
            </a:r>
          </a:p>
          <a:p>
            <a:r>
              <a:rPr lang="en-US" sz="2400" dirty="0">
                <a:latin typeface="Times New Roman" panose="02020603050405020304" pitchFamily="18" charset="0"/>
                <a:cs typeface="Times New Roman" panose="02020603050405020304" pitchFamily="18" charset="0"/>
              </a:rPr>
              <a:t>Investigate local materials &amp; resources</a:t>
            </a:r>
          </a:p>
          <a:p>
            <a:r>
              <a:rPr lang="en-US" sz="2400" dirty="0">
                <a:latin typeface="Times New Roman" panose="02020603050405020304" pitchFamily="18" charset="0"/>
                <a:cs typeface="Times New Roman" panose="02020603050405020304" pitchFamily="18" charset="0"/>
              </a:rPr>
              <a:t>Analyze economic &amp; social trends</a:t>
            </a: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Generating Project Ideas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08265" y="1594761"/>
            <a:ext cx="10431235" cy="3520164"/>
          </a:xfrm>
        </p:spPr>
        <p:txBody>
          <a:bodyPr>
            <a:normAutofit/>
          </a:bodyPr>
          <a:lstStyle/>
          <a:p>
            <a:r>
              <a:rPr lang="en-US" sz="2400" dirty="0">
                <a:latin typeface="Times New Roman" panose="02020603050405020304" pitchFamily="18" charset="0"/>
                <a:cs typeface="Times New Roman" panose="02020603050405020304" pitchFamily="18" charset="0"/>
              </a:rPr>
              <a:t>Study new technological developments</a:t>
            </a:r>
          </a:p>
          <a:p>
            <a:r>
              <a:rPr lang="en-US" sz="2400" dirty="0">
                <a:latin typeface="Times New Roman" panose="02020603050405020304" pitchFamily="18" charset="0"/>
                <a:cs typeface="Times New Roman" panose="02020603050405020304" pitchFamily="18" charset="0"/>
              </a:rPr>
              <a:t>Draw clues from consumption abroad</a:t>
            </a:r>
          </a:p>
          <a:p>
            <a:r>
              <a:rPr lang="en-US" sz="2400" dirty="0">
                <a:latin typeface="Times New Roman" panose="02020603050405020304" pitchFamily="18" charset="0"/>
                <a:cs typeface="Times New Roman" panose="02020603050405020304" pitchFamily="18" charset="0"/>
              </a:rPr>
              <a:t>Explore the possibility of reviving sick units</a:t>
            </a:r>
          </a:p>
          <a:p>
            <a:r>
              <a:rPr lang="en-US" sz="2400" dirty="0">
                <a:latin typeface="Times New Roman" panose="02020603050405020304" pitchFamily="18" charset="0"/>
                <a:cs typeface="Times New Roman" panose="02020603050405020304" pitchFamily="18" charset="0"/>
              </a:rPr>
              <a:t>Identify unfulfilled psychological needs</a:t>
            </a:r>
          </a:p>
          <a:p>
            <a:r>
              <a:rPr lang="en-US" sz="2400" dirty="0">
                <a:latin typeface="Times New Roman" panose="02020603050405020304" pitchFamily="18" charset="0"/>
                <a:cs typeface="Times New Roman" panose="02020603050405020304" pitchFamily="18" charset="0"/>
              </a:rPr>
              <a:t>Attend trade fairs</a:t>
            </a:r>
          </a:p>
          <a:p>
            <a:r>
              <a:rPr lang="en-US" sz="2400" dirty="0">
                <a:latin typeface="Times New Roman" panose="02020603050405020304" pitchFamily="18" charset="0"/>
                <a:cs typeface="Times New Roman" panose="02020603050405020304" pitchFamily="18" charset="0"/>
              </a:rPr>
              <a:t>Stimulate creativity for generating new ideas</a:t>
            </a: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Topic objective and topic outcome</a:t>
            </a:r>
          </a:p>
        </p:txBody>
      </p:sp>
      <p:graphicFrame>
        <p:nvGraphicFramePr>
          <p:cNvPr id="2" name="Content Placeholder 1"/>
          <p:cNvGraphicFramePr>
            <a:graphicFrameLocks noGrp="1"/>
          </p:cNvGraphicFramePr>
          <p:nvPr>
            <p:ph idx="1"/>
          </p:nvPr>
        </p:nvGraphicFramePr>
        <p:xfrm>
          <a:off x="231775" y="1985963"/>
          <a:ext cx="11728449" cy="1280160"/>
        </p:xfrm>
        <a:graphic>
          <a:graphicData uri="http://schemas.openxmlformats.org/drawingml/2006/table">
            <a:tbl>
              <a:tblPr firstRow="1" bandRow="1">
                <a:tableStyleId>{21E4AEA4-8DFA-4A89-87EB-49C32662AFE0}</a:tableStyleId>
              </a:tblPr>
              <a:tblGrid>
                <a:gridCol w="1420812">
                  <a:extLst>
                    <a:ext uri="{9D8B030D-6E8A-4147-A177-3AD203B41FA5}">
                      <a16:colId xmlns:a16="http://schemas.microsoft.com/office/drawing/2014/main" val="20000"/>
                    </a:ext>
                  </a:extLst>
                </a:gridCol>
                <a:gridCol w="6398154">
                  <a:extLst>
                    <a:ext uri="{9D8B030D-6E8A-4147-A177-3AD203B41FA5}">
                      <a16:colId xmlns:a16="http://schemas.microsoft.com/office/drawing/2014/main" val="20001"/>
                    </a:ext>
                  </a:extLst>
                </a:gridCol>
                <a:gridCol w="3909483">
                  <a:extLst>
                    <a:ext uri="{9D8B030D-6E8A-4147-A177-3AD203B41FA5}">
                      <a16:colId xmlns:a16="http://schemas.microsoft.com/office/drawing/2014/main" val="20002"/>
                    </a:ext>
                  </a:extLst>
                </a:gridCol>
              </a:tblGrid>
              <a:tr h="370840">
                <a:tc>
                  <a:txBody>
                    <a:bodyPr/>
                    <a:lstStyle/>
                    <a:p>
                      <a:r>
                        <a:rPr lang="en-IN" sz="2400" dirty="0">
                          <a:latin typeface="Times New Roman" panose="02020603050405020304" pitchFamily="18" charset="0"/>
                          <a:cs typeface="Times New Roman" panose="02020603050405020304" pitchFamily="18" charset="0"/>
                        </a:rPr>
                        <a:t>s.no.</a:t>
                      </a:r>
                    </a:p>
                  </a:txBody>
                  <a:tcPr/>
                </a:tc>
                <a:tc>
                  <a:txBody>
                    <a:bodyPr/>
                    <a:lstStyle/>
                    <a:p>
                      <a:r>
                        <a:rPr lang="en-IN" sz="2400" dirty="0">
                          <a:latin typeface="Times New Roman" panose="02020603050405020304" pitchFamily="18" charset="0"/>
                          <a:cs typeface="Times New Roman" panose="02020603050405020304" pitchFamily="18" charset="0"/>
                        </a:rPr>
                        <a:t>topic</a:t>
                      </a:r>
                    </a:p>
                  </a:txBody>
                  <a:tcPr/>
                </a:tc>
                <a:tc>
                  <a:txBody>
                    <a:bodyPr/>
                    <a:lstStyle/>
                    <a:p>
                      <a:r>
                        <a:rPr lang="en-IN" sz="2400" dirty="0">
                          <a:latin typeface="Times New Roman" panose="02020603050405020304" pitchFamily="18" charset="0"/>
                          <a:cs typeface="Times New Roman" panose="02020603050405020304" pitchFamily="18" charset="0"/>
                        </a:rPr>
                        <a:t>CO</a:t>
                      </a:r>
                    </a:p>
                  </a:txBody>
                  <a:tcPr/>
                </a:tc>
                <a:extLst>
                  <a:ext uri="{0D108BD9-81ED-4DB2-BD59-A6C34878D82A}">
                    <a16:rowId xmlns:a16="http://schemas.microsoft.com/office/drawing/2014/main" val="10000"/>
                  </a:ext>
                </a:extLst>
              </a:tr>
              <a:tr h="510222">
                <a:tc>
                  <a:txBody>
                    <a:bodyPr/>
                    <a:lstStyle/>
                    <a:p>
                      <a:r>
                        <a:rPr lang="en-IN" sz="2400" dirty="0">
                          <a:latin typeface="Times New Roman" panose="02020603050405020304" pitchFamily="18" charset="0"/>
                          <a:cs typeface="Times New Roman" panose="02020603050405020304" pitchFamily="18" charset="0"/>
                        </a:rPr>
                        <a:t>1</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sz="2400" dirty="0">
                          <a:latin typeface="Times New Roman" panose="02020603050405020304" pitchFamily="18" charset="0"/>
                          <a:cs typeface="Times New Roman" panose="02020603050405020304" pitchFamily="18" charset="0"/>
                        </a:rPr>
                        <a:t>To learn the Approaches to Project Screening and Selection &amp; Project Rating Index</a:t>
                      </a:r>
                    </a:p>
                  </a:txBody>
                  <a:tcPr/>
                </a:tc>
                <a:tc>
                  <a:txBody>
                    <a:bodyPr/>
                    <a:lstStyle/>
                    <a:p>
                      <a:r>
                        <a:rPr lang="en-IN" sz="2400" dirty="0">
                          <a:latin typeface="Times New Roman" panose="02020603050405020304" pitchFamily="18" charset="0"/>
                          <a:cs typeface="Times New Roman" panose="02020603050405020304" pitchFamily="18" charset="0"/>
                        </a:rPr>
                        <a:t>CO2</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Project Screening &amp; Selection</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417740" y="1690011"/>
            <a:ext cx="11107510" cy="3243939"/>
          </a:xfrm>
        </p:spPr>
        <p:txBody>
          <a:bodyPr>
            <a:noAutofit/>
          </a:bodyPr>
          <a:lstStyle/>
          <a:p>
            <a:pPr lvl="1" algn="just">
              <a:buNone/>
            </a:pPr>
            <a:r>
              <a:rPr lang="en-US" dirty="0">
                <a:latin typeface="Times New Roman" panose="02020603050405020304" pitchFamily="18" charset="0"/>
                <a:cs typeface="Times New Roman" panose="02020603050405020304" pitchFamily="18" charset="0"/>
              </a:rPr>
              <a:t>   Some kind of preliminary screening is required to eliminate ideas that </a:t>
            </a:r>
            <a:r>
              <a:rPr lang="en-US" i="1" dirty="0">
                <a:latin typeface="Times New Roman" panose="02020603050405020304" pitchFamily="18" charset="0"/>
                <a:cs typeface="Times New Roman" panose="02020603050405020304" pitchFamily="18" charset="0"/>
              </a:rPr>
              <a:t>prima facie</a:t>
            </a:r>
            <a:r>
              <a:rPr lang="en-US" dirty="0">
                <a:latin typeface="Times New Roman" panose="02020603050405020304" pitchFamily="18" charset="0"/>
                <a:cs typeface="Times New Roman" panose="02020603050405020304" pitchFamily="18" charset="0"/>
              </a:rPr>
              <a:t> are not promising, The Following aspects may be looked into:</a:t>
            </a:r>
          </a:p>
          <a:p>
            <a:pPr lvl="1" algn="just">
              <a:buNone/>
            </a:pPr>
            <a:endParaRPr lang="en-US" dirty="0">
              <a:latin typeface="Times New Roman" panose="02020603050405020304" pitchFamily="18" charset="0"/>
              <a:cs typeface="Times New Roman" panose="02020603050405020304" pitchFamily="18" charset="0"/>
            </a:endParaRPr>
          </a:p>
          <a:p>
            <a:pPr marL="914400" lvl="1" indent="-457200" algn="just">
              <a:buFont typeface="+mj-lt"/>
              <a:buAutoNum type="arabicPeriod"/>
            </a:pPr>
            <a:r>
              <a:rPr lang="en-US" dirty="0">
                <a:latin typeface="Times New Roman" panose="02020603050405020304" pitchFamily="18" charset="0"/>
                <a:cs typeface="Times New Roman" panose="02020603050405020304" pitchFamily="18" charset="0"/>
              </a:rPr>
              <a:t>Compatibility with the promoter</a:t>
            </a:r>
          </a:p>
          <a:p>
            <a:pPr marL="914400" lvl="1" indent="-457200" algn="just">
              <a:buFont typeface="+mj-lt"/>
              <a:buAutoNum type="arabicPeriod"/>
            </a:pPr>
            <a:r>
              <a:rPr lang="en-US" dirty="0">
                <a:latin typeface="Times New Roman" panose="02020603050405020304" pitchFamily="18" charset="0"/>
                <a:cs typeface="Times New Roman" panose="02020603050405020304" pitchFamily="18" charset="0"/>
              </a:rPr>
              <a:t>Consistency with Government priorities</a:t>
            </a:r>
          </a:p>
          <a:p>
            <a:pPr marL="914400" lvl="1" indent="-457200" algn="just">
              <a:buFont typeface="+mj-lt"/>
              <a:buAutoNum type="arabicPeriod"/>
            </a:pPr>
            <a:r>
              <a:rPr lang="en-US" dirty="0">
                <a:latin typeface="Times New Roman" panose="02020603050405020304" pitchFamily="18" charset="0"/>
                <a:cs typeface="Times New Roman" panose="02020603050405020304" pitchFamily="18" charset="0"/>
              </a:rPr>
              <a:t>Availability of inputs</a:t>
            </a:r>
          </a:p>
          <a:p>
            <a:pPr marL="914400" lvl="1" indent="-457200" algn="just">
              <a:buFont typeface="+mj-lt"/>
              <a:buAutoNum type="arabicPeriod"/>
            </a:pPr>
            <a:r>
              <a:rPr lang="en-US" dirty="0">
                <a:latin typeface="Times New Roman" panose="02020603050405020304" pitchFamily="18" charset="0"/>
                <a:cs typeface="Times New Roman" panose="02020603050405020304" pitchFamily="18" charset="0"/>
              </a:rPr>
              <a:t>Adequacy of market</a:t>
            </a:r>
          </a:p>
          <a:p>
            <a:pPr marL="914400" lvl="1" indent="-457200" algn="just">
              <a:buFont typeface="+mj-lt"/>
              <a:buAutoNum type="arabicPeriod"/>
            </a:pPr>
            <a:r>
              <a:rPr lang="en-US" dirty="0">
                <a:latin typeface="Times New Roman" panose="02020603050405020304" pitchFamily="18" charset="0"/>
                <a:cs typeface="Times New Roman" panose="02020603050405020304" pitchFamily="18" charset="0"/>
              </a:rPr>
              <a:t>Reasonableness of cost	</a:t>
            </a:r>
          </a:p>
          <a:p>
            <a:pPr marL="914400" lvl="1" indent="-457200" algn="just">
              <a:buFont typeface="+mj-lt"/>
              <a:buAutoNum type="arabicPeriod"/>
            </a:pPr>
            <a:r>
              <a:rPr lang="en-US" dirty="0">
                <a:latin typeface="Times New Roman" panose="02020603050405020304" pitchFamily="18" charset="0"/>
                <a:cs typeface="Times New Roman" panose="02020603050405020304" pitchFamily="18" charset="0"/>
              </a:rPr>
              <a:t>Acceptability of risk level</a:t>
            </a:r>
          </a:p>
          <a:p>
            <a:pPr algn="just">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1. Compatibility with the promoter</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buNone/>
            </a:pPr>
            <a:r>
              <a:rPr lang="en-US" sz="2400" dirty="0"/>
              <a:t>The idea must be compatible with the interest, personality &amp; resources of an entrepreneur:</a:t>
            </a:r>
          </a:p>
          <a:p>
            <a:pPr>
              <a:buNone/>
            </a:pPr>
            <a:r>
              <a:rPr lang="en-US" sz="2400" dirty="0"/>
              <a:t>	</a:t>
            </a:r>
          </a:p>
          <a:p>
            <a:pPr>
              <a:buNone/>
            </a:pPr>
            <a:r>
              <a:rPr lang="en-US" sz="2400" dirty="0"/>
              <a:t>	Real Opportunity has three characteristics (Murphy)</a:t>
            </a:r>
          </a:p>
          <a:p>
            <a:pPr marL="571500" indent="-571500" algn="just">
              <a:buFont typeface="+mj-lt"/>
              <a:buAutoNum type="romanUcPeriod"/>
            </a:pPr>
            <a:r>
              <a:rPr lang="en-US" sz="2400" dirty="0"/>
              <a:t>It fits the personality of the entrepreneur- it squares with his abilities, training &amp; proclivities</a:t>
            </a:r>
          </a:p>
          <a:p>
            <a:pPr marL="571500" indent="-571500">
              <a:buFont typeface="+mj-lt"/>
              <a:buAutoNum type="romanUcPeriod"/>
            </a:pPr>
            <a:r>
              <a:rPr lang="en-US" sz="2400" dirty="0"/>
              <a:t>It is accessible to him</a:t>
            </a:r>
          </a:p>
          <a:p>
            <a:pPr marL="571500" indent="-571500">
              <a:buFont typeface="+mj-lt"/>
              <a:buAutoNum type="romanUcPeriod"/>
            </a:pPr>
            <a:r>
              <a:rPr lang="en-US" sz="2400" dirty="0"/>
              <a:t>It offers him the prospects of rapid growth &amp; high return on invested capital</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2. Consistency with Government priorities </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035862" y="1685799"/>
            <a:ext cx="9542302" cy="3867978"/>
          </a:xfrm>
        </p:spPr>
        <p:txBody>
          <a:bodyPr>
            <a:noAutofit/>
          </a:bodyPr>
          <a:lstStyle/>
          <a:p>
            <a:pPr>
              <a:buNone/>
            </a:pPr>
            <a:r>
              <a:rPr lang="en-US" sz="2400" dirty="0">
                <a:latin typeface="Times New Roman" panose="02020603050405020304" pitchFamily="18" charset="0"/>
                <a:cs typeface="Times New Roman" panose="02020603050405020304" pitchFamily="18" charset="0"/>
              </a:rPr>
              <a:t>Questions to be raised in this context are:</a:t>
            </a:r>
          </a:p>
          <a:p>
            <a:pPr>
              <a:buNone/>
            </a:pPr>
            <a:r>
              <a:rPr lang="en-US" sz="2400" dirty="0">
                <a:latin typeface="Times New Roman" panose="02020603050405020304" pitchFamily="18" charset="0"/>
                <a:cs typeface="Times New Roman" panose="02020603050405020304" pitchFamily="18" charset="0"/>
              </a:rPr>
              <a:t>		</a:t>
            </a:r>
          </a:p>
          <a:p>
            <a:pPr algn="just"/>
            <a:r>
              <a:rPr lang="en-US" sz="2400" dirty="0">
                <a:latin typeface="Times New Roman" panose="02020603050405020304" pitchFamily="18" charset="0"/>
                <a:cs typeface="Times New Roman" panose="02020603050405020304" pitchFamily="18" charset="0"/>
              </a:rPr>
              <a:t>Is the project consistent with national goals &amp; priorities?</a:t>
            </a:r>
          </a:p>
          <a:p>
            <a:pPr algn="just"/>
            <a:r>
              <a:rPr lang="en-US" sz="2400" dirty="0">
                <a:latin typeface="Times New Roman" panose="02020603050405020304" pitchFamily="18" charset="0"/>
                <a:cs typeface="Times New Roman" panose="02020603050405020304" pitchFamily="18" charset="0"/>
              </a:rPr>
              <a:t>Are there any environmental effects contrary to Government regulations?</a:t>
            </a:r>
          </a:p>
          <a:p>
            <a:pPr algn="just"/>
            <a:r>
              <a:rPr lang="en-US" sz="2400" dirty="0">
                <a:latin typeface="Times New Roman" panose="02020603050405020304" pitchFamily="18" charset="0"/>
                <a:cs typeface="Times New Roman" panose="02020603050405020304" pitchFamily="18" charset="0"/>
              </a:rPr>
              <a:t>Can the foreign exchange requirement of the project can be easily accommodated?</a:t>
            </a:r>
          </a:p>
          <a:p>
            <a:pPr algn="just"/>
            <a:r>
              <a:rPr lang="en-US" sz="2400" dirty="0">
                <a:latin typeface="Times New Roman" panose="02020603050405020304" pitchFamily="18" charset="0"/>
                <a:cs typeface="Times New Roman" panose="02020603050405020304" pitchFamily="18" charset="0"/>
              </a:rPr>
              <a:t>Will there be any difficulty in obtaining the license for the project?</a:t>
            </a:r>
          </a:p>
          <a:p>
            <a:pPr>
              <a:buNone/>
            </a:pPr>
            <a:r>
              <a:rPr lang="en-US" sz="2400" dirty="0">
                <a:latin typeface="Times New Roman" panose="02020603050405020304" pitchFamily="18" charset="0"/>
                <a:cs typeface="Times New Roman" panose="02020603050405020304" pitchFamily="18" charset="0"/>
              </a:rPr>
              <a:t>	</a:t>
            </a: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3. Availability of inputs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949235" y="2041934"/>
            <a:ext cx="9744432" cy="1644541"/>
          </a:xfrm>
        </p:spPr>
        <p:txBody>
          <a:bodyPr>
            <a:noAutofit/>
          </a:bodyPr>
          <a:lstStyle/>
          <a:p>
            <a:pPr>
              <a:buNone/>
            </a:pPr>
            <a:r>
              <a:rPr lang="en-US" sz="2400" dirty="0">
                <a:latin typeface="Times New Roman" panose="02020603050405020304" pitchFamily="18" charset="0"/>
                <a:cs typeface="Times New Roman" panose="02020603050405020304" pitchFamily="18" charset="0"/>
              </a:rPr>
              <a:t>Power (Electric, diesel, coal)</a:t>
            </a:r>
          </a:p>
          <a:p>
            <a:pPr>
              <a:buNone/>
            </a:pPr>
            <a:r>
              <a:rPr lang="en-US" sz="2400" dirty="0">
                <a:latin typeface="Times New Roman" panose="02020603050405020304" pitchFamily="18" charset="0"/>
                <a:cs typeface="Times New Roman" panose="02020603050405020304" pitchFamily="18" charset="0"/>
              </a:rPr>
              <a:t>	Foreign Exchange</a:t>
            </a:r>
          </a:p>
          <a:p>
            <a:pPr>
              <a:buNone/>
            </a:pPr>
            <a:r>
              <a:rPr lang="en-US" sz="2400" dirty="0">
                <a:latin typeface="Times New Roman" panose="02020603050405020304" pitchFamily="18" charset="0"/>
                <a:cs typeface="Times New Roman" panose="02020603050405020304" pitchFamily="18" charset="0"/>
              </a:rPr>
              <a:t>	Important Raw Material</a:t>
            </a:r>
          </a:p>
          <a:p>
            <a:pPr>
              <a:buNone/>
            </a:pPr>
            <a:r>
              <a:rPr lang="en-US" sz="2400" dirty="0">
                <a:latin typeface="Times New Roman" panose="02020603050405020304" pitchFamily="18" charset="0"/>
                <a:cs typeface="Times New Roman" panose="02020603050405020304" pitchFamily="18" charset="0"/>
              </a:rPr>
              <a:t>	Supplies of Agricultural Products </a:t>
            </a: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4. Adequacy of market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353497" y="1365070"/>
            <a:ext cx="9070664" cy="4127859"/>
          </a:xfrm>
        </p:spPr>
        <p:txBody>
          <a:bodyPr>
            <a:noAutofit/>
          </a:bodyPr>
          <a:lstStyle/>
          <a:p>
            <a:pPr>
              <a:buNone/>
            </a:pPr>
            <a:r>
              <a:rPr lang="en-US" sz="2400" dirty="0">
                <a:latin typeface="Times New Roman" panose="02020603050405020304" pitchFamily="18" charset="0"/>
                <a:cs typeface="Times New Roman" panose="02020603050405020304" pitchFamily="18" charset="0"/>
              </a:rPr>
              <a:t>The following factors have to be analyzed.</a:t>
            </a:r>
          </a:p>
          <a:p>
            <a:pPr>
              <a:buNone/>
            </a:pPr>
            <a:r>
              <a:rPr lang="en-US" sz="2400" dirty="0">
                <a:latin typeface="Times New Roman" panose="02020603050405020304" pitchFamily="18" charset="0"/>
                <a:cs typeface="Times New Roman" panose="02020603050405020304" pitchFamily="18" charset="0"/>
              </a:rPr>
              <a:t>	</a:t>
            </a:r>
          </a:p>
          <a:p>
            <a:pPr lvl="1"/>
            <a:r>
              <a:rPr lang="en-US" dirty="0">
                <a:latin typeface="Times New Roman" panose="02020603050405020304" pitchFamily="18" charset="0"/>
                <a:cs typeface="Times New Roman" panose="02020603050405020304" pitchFamily="18" charset="0"/>
              </a:rPr>
              <a:t>Total present domestic market</a:t>
            </a:r>
          </a:p>
          <a:p>
            <a:pPr lvl="1"/>
            <a:r>
              <a:rPr lang="en-US" dirty="0">
                <a:latin typeface="Times New Roman" panose="02020603050405020304" pitchFamily="18" charset="0"/>
                <a:cs typeface="Times New Roman" panose="02020603050405020304" pitchFamily="18" charset="0"/>
              </a:rPr>
              <a:t>Competitors &amp; their market share</a:t>
            </a:r>
          </a:p>
          <a:p>
            <a:pPr lvl="1"/>
            <a:r>
              <a:rPr lang="en-US" dirty="0">
                <a:latin typeface="Times New Roman" panose="02020603050405020304" pitchFamily="18" charset="0"/>
                <a:cs typeface="Times New Roman" panose="02020603050405020304" pitchFamily="18" charset="0"/>
              </a:rPr>
              <a:t>Quality-Price profile</a:t>
            </a:r>
          </a:p>
          <a:p>
            <a:pPr lvl="1"/>
            <a:r>
              <a:rPr lang="en-US" dirty="0">
                <a:latin typeface="Times New Roman" panose="02020603050405020304" pitchFamily="18" charset="0"/>
                <a:cs typeface="Times New Roman" panose="02020603050405020304" pitchFamily="18" charset="0"/>
              </a:rPr>
              <a:t>Sales &amp; distribution system</a:t>
            </a:r>
          </a:p>
          <a:p>
            <a:pPr lvl="1"/>
            <a:r>
              <a:rPr lang="en-US" dirty="0">
                <a:latin typeface="Times New Roman" panose="02020603050405020304" pitchFamily="18" charset="0"/>
                <a:cs typeface="Times New Roman" panose="02020603050405020304" pitchFamily="18" charset="0"/>
              </a:rPr>
              <a:t>Barriers to the entry of new units</a:t>
            </a:r>
          </a:p>
          <a:p>
            <a:pPr lvl="1"/>
            <a:r>
              <a:rPr lang="en-US" dirty="0">
                <a:latin typeface="Times New Roman" panose="02020603050405020304" pitchFamily="18" charset="0"/>
                <a:cs typeface="Times New Roman" panose="02020603050405020304" pitchFamily="18" charset="0"/>
              </a:rPr>
              <a:t>Economic, social &amp; demographic trends</a:t>
            </a:r>
          </a:p>
          <a:p>
            <a:pPr lvl="1"/>
            <a:r>
              <a:rPr lang="en-US" dirty="0">
                <a:latin typeface="Times New Roman" panose="02020603050405020304" pitchFamily="18" charset="0"/>
                <a:cs typeface="Times New Roman" panose="02020603050405020304" pitchFamily="18" charset="0"/>
              </a:rPr>
              <a:t>Patent protection</a:t>
            </a:r>
          </a:p>
          <a:p>
            <a:pPr algn="just">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5. Reasonableness of Cost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546001" y="1522170"/>
            <a:ext cx="9503801" cy="4329990"/>
          </a:xfrm>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The cost structure  the project must enable it to </a:t>
            </a:r>
            <a:r>
              <a:rPr lang="en-US" sz="2400" dirty="0" err="1">
                <a:latin typeface="Times New Roman" panose="02020603050405020304" pitchFamily="18" charset="0"/>
                <a:cs typeface="Times New Roman" panose="02020603050405020304" pitchFamily="18" charset="0"/>
              </a:rPr>
              <a:t>realise</a:t>
            </a:r>
            <a:r>
              <a:rPr lang="en-US" sz="2400" dirty="0">
                <a:latin typeface="Times New Roman" panose="02020603050405020304" pitchFamily="18" charset="0"/>
                <a:cs typeface="Times New Roman" panose="02020603050405020304" pitchFamily="18" charset="0"/>
              </a:rPr>
              <a:t> an acceptable profit with a price.</a:t>
            </a:r>
          </a:p>
          <a:p>
            <a:pPr>
              <a:buNone/>
            </a:pP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Cost of material inputs</a:t>
            </a:r>
          </a:p>
          <a:p>
            <a:r>
              <a:rPr lang="en-US" sz="2400" dirty="0" err="1">
                <a:latin typeface="Times New Roman" panose="02020603050405020304" pitchFamily="18" charset="0"/>
                <a:cs typeface="Times New Roman" panose="02020603050405020304" pitchFamily="18" charset="0"/>
              </a:rPr>
              <a:t>Labour</a:t>
            </a:r>
            <a:r>
              <a:rPr lang="en-US" sz="2400" dirty="0">
                <a:latin typeface="Times New Roman" panose="02020603050405020304" pitchFamily="18" charset="0"/>
                <a:cs typeface="Times New Roman" panose="02020603050405020304" pitchFamily="18" charset="0"/>
              </a:rPr>
              <a:t> cost</a:t>
            </a:r>
          </a:p>
          <a:p>
            <a:r>
              <a:rPr lang="en-US" sz="2400" dirty="0">
                <a:latin typeface="Times New Roman" panose="02020603050405020304" pitchFamily="18" charset="0"/>
                <a:cs typeface="Times New Roman" panose="02020603050405020304" pitchFamily="18" charset="0"/>
              </a:rPr>
              <a:t>Factory overheads</a:t>
            </a:r>
          </a:p>
          <a:p>
            <a:r>
              <a:rPr lang="en-US" sz="2400" dirty="0">
                <a:latin typeface="Times New Roman" panose="02020603050405020304" pitchFamily="18" charset="0"/>
                <a:cs typeface="Times New Roman" panose="02020603050405020304" pitchFamily="18" charset="0"/>
              </a:rPr>
              <a:t>General administration expenses</a:t>
            </a:r>
          </a:p>
          <a:p>
            <a:r>
              <a:rPr lang="en-US" sz="2400" dirty="0">
                <a:latin typeface="Times New Roman" panose="02020603050405020304" pitchFamily="18" charset="0"/>
                <a:cs typeface="Times New Roman" panose="02020603050405020304" pitchFamily="18" charset="0"/>
              </a:rPr>
              <a:t>Selling &amp; distribution costs</a:t>
            </a:r>
          </a:p>
          <a:p>
            <a:r>
              <a:rPr lang="en-US" sz="2400" dirty="0">
                <a:latin typeface="Times New Roman" panose="02020603050405020304" pitchFamily="18" charset="0"/>
                <a:cs typeface="Times New Roman" panose="02020603050405020304" pitchFamily="18" charset="0"/>
              </a:rPr>
              <a:t>Services costs</a:t>
            </a: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6. Acceptability of risk level</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81858" y="1791677"/>
            <a:ext cx="9956188" cy="3011328"/>
          </a:xfrm>
        </p:spPr>
        <p:txBody>
          <a:bodyPr>
            <a:normAutofit lnSpcReduction="10000"/>
          </a:bodyPr>
          <a:lstStyle/>
          <a:p>
            <a:pPr algn="just">
              <a:buNone/>
            </a:pPr>
            <a:r>
              <a:rPr lang="en-US" sz="2400" dirty="0">
                <a:latin typeface="Times New Roman" panose="02020603050405020304" pitchFamily="18" charset="0"/>
                <a:cs typeface="Times New Roman" panose="02020603050405020304" pitchFamily="18" charset="0"/>
              </a:rPr>
              <a:t>In the assessment of risk the following factors should be considered:</a:t>
            </a:r>
          </a:p>
          <a:p>
            <a:pPr algn="just">
              <a:buNone/>
            </a:pP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	Vulnerability of business cycle</a:t>
            </a:r>
          </a:p>
          <a:p>
            <a:r>
              <a:rPr lang="en-US" sz="2400" dirty="0">
                <a:latin typeface="Times New Roman" panose="02020603050405020304" pitchFamily="18" charset="0"/>
                <a:cs typeface="Times New Roman" panose="02020603050405020304" pitchFamily="18" charset="0"/>
              </a:rPr>
              <a:t>	Technological changes</a:t>
            </a:r>
          </a:p>
          <a:p>
            <a:r>
              <a:rPr lang="en-US" sz="2400" dirty="0">
                <a:latin typeface="Times New Roman" panose="02020603050405020304" pitchFamily="18" charset="0"/>
                <a:cs typeface="Times New Roman" panose="02020603050405020304" pitchFamily="18" charset="0"/>
              </a:rPr>
              <a:t>	Competition from substitutes</a:t>
            </a:r>
          </a:p>
          <a:p>
            <a:r>
              <a:rPr lang="en-US" sz="2400" dirty="0">
                <a:latin typeface="Times New Roman" panose="02020603050405020304" pitchFamily="18" charset="0"/>
                <a:cs typeface="Times New Roman" panose="02020603050405020304" pitchFamily="18" charset="0"/>
              </a:rPr>
              <a:t>	Competition from imports</a:t>
            </a:r>
          </a:p>
          <a:p>
            <a:r>
              <a:rPr lang="en-US" sz="2400" dirty="0">
                <a:latin typeface="Times New Roman" panose="02020603050405020304" pitchFamily="18" charset="0"/>
                <a:cs typeface="Times New Roman" panose="02020603050405020304" pitchFamily="18" charset="0"/>
              </a:rPr>
              <a:t>	Shifts in consumer preferences</a:t>
            </a: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Project Rating Index (PRI)</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1016612" y="1397042"/>
            <a:ext cx="10160001" cy="4445493"/>
          </a:xfrm>
        </p:spPr>
        <p:txBody>
          <a:bodyPr>
            <a:normAutofit/>
          </a:bodyPr>
          <a:lstStyle/>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When a firm evaluates a large number of project ideas, it may be helpful to streamline the process of preliminary screening. For this purpose, a preliminary evaluation may be translated into a Project Rating Index. </a:t>
            </a:r>
          </a:p>
          <a:p>
            <a:pPr algn="just"/>
            <a:endParaRPr lang="en-US" sz="24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Steps of PRI</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Identify factors relevant for project rating.</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Assign weights to these factors. (Subject to their relative importance)</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Rate the project proposal on various factors, using a suitable rating scale. (5 point scale)</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 For each factor, multiply the factor rating with the factor weight to get the factor score</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Add all the factors scores to get the overall project rating index</a:t>
            </a: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Ranking Potential Projects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t>
            </a:r>
          </a:p>
          <a:p>
            <a:endParaRPr lang="en-IN" sz="2400" dirty="0">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nvGraphicFramePr>
        <p:xfrm>
          <a:off x="4640179" y="1667995"/>
          <a:ext cx="2727506" cy="4496394"/>
        </p:xfrm>
        <a:graphic>
          <a:graphicData uri="http://schemas.openxmlformats.org/drawingml/2006/table">
            <a:tbl>
              <a:tblPr firstRow="1" bandRow="1">
                <a:tableStyleId>{5C22544A-7EE6-4342-B048-85BDC9FD1C3A}</a:tableStyleId>
              </a:tblPr>
              <a:tblGrid>
                <a:gridCol w="2727506">
                  <a:extLst>
                    <a:ext uri="{9D8B030D-6E8A-4147-A177-3AD203B41FA5}">
                      <a16:colId xmlns:a16="http://schemas.microsoft.com/office/drawing/2014/main" val="20000"/>
                    </a:ext>
                  </a:extLst>
                </a:gridCol>
              </a:tblGrid>
              <a:tr h="771957">
                <a:tc>
                  <a:txBody>
                    <a:bodyPr/>
                    <a:lstStyle/>
                    <a:p>
                      <a:r>
                        <a:rPr lang="en-IN" sz="2400" dirty="0">
                          <a:latin typeface="Times New Roman" panose="02020603050405020304" pitchFamily="18" charset="0"/>
                          <a:cs typeface="Times New Roman" panose="02020603050405020304" pitchFamily="18" charset="0"/>
                        </a:rPr>
                        <a:t>Ease of implementation</a:t>
                      </a:r>
                    </a:p>
                  </a:txBody>
                  <a:tcPr>
                    <a:solidFill>
                      <a:srgbClr val="C00000"/>
                    </a:solidFill>
                  </a:tcPr>
                </a:tc>
                <a:extLst>
                  <a:ext uri="{0D108BD9-81ED-4DB2-BD59-A6C34878D82A}">
                    <a16:rowId xmlns:a16="http://schemas.microsoft.com/office/drawing/2014/main" val="10000"/>
                  </a:ext>
                </a:extLst>
              </a:tr>
              <a:tr h="771957">
                <a:tc>
                  <a:txBody>
                    <a:bodyPr/>
                    <a:lstStyle/>
                    <a:p>
                      <a:r>
                        <a:rPr lang="en-IN" sz="2400" dirty="0">
                          <a:latin typeface="Times New Roman" panose="02020603050405020304" pitchFamily="18" charset="0"/>
                          <a:cs typeface="Times New Roman" panose="02020603050405020304" pitchFamily="18" charset="0"/>
                        </a:rPr>
                        <a:t>Estimated resource hours</a:t>
                      </a:r>
                    </a:p>
                  </a:txBody>
                  <a:tcPr/>
                </a:tc>
                <a:extLst>
                  <a:ext uri="{0D108BD9-81ED-4DB2-BD59-A6C34878D82A}">
                    <a16:rowId xmlns:a16="http://schemas.microsoft.com/office/drawing/2014/main" val="10001"/>
                  </a:ext>
                </a:extLst>
              </a:tr>
              <a:tr h="602277">
                <a:tc>
                  <a:txBody>
                    <a:bodyPr/>
                    <a:lstStyle/>
                    <a:p>
                      <a:r>
                        <a:rPr lang="en-IN" sz="2400" dirty="0">
                          <a:latin typeface="Times New Roman" panose="02020603050405020304" pitchFamily="18" charset="0"/>
                          <a:cs typeface="Times New Roman" panose="02020603050405020304" pitchFamily="18" charset="0"/>
                        </a:rPr>
                        <a:t>Estimated timescale</a:t>
                      </a:r>
                    </a:p>
                  </a:txBody>
                  <a:tcPr/>
                </a:tc>
                <a:extLst>
                  <a:ext uri="{0D108BD9-81ED-4DB2-BD59-A6C34878D82A}">
                    <a16:rowId xmlns:a16="http://schemas.microsoft.com/office/drawing/2014/main" val="10002"/>
                  </a:ext>
                </a:extLst>
              </a:tr>
              <a:tr h="771957">
                <a:tc>
                  <a:txBody>
                    <a:bodyPr/>
                    <a:lstStyle/>
                    <a:p>
                      <a:r>
                        <a:rPr lang="en-IN" sz="2400" dirty="0">
                          <a:latin typeface="Times New Roman" panose="02020603050405020304" pitchFamily="18" charset="0"/>
                          <a:cs typeface="Times New Roman" panose="02020603050405020304" pitchFamily="18" charset="0"/>
                        </a:rPr>
                        <a:t>Estimated level of resistance</a:t>
                      </a:r>
                    </a:p>
                  </a:txBody>
                  <a:tcPr/>
                </a:tc>
                <a:extLst>
                  <a:ext uri="{0D108BD9-81ED-4DB2-BD59-A6C34878D82A}">
                    <a16:rowId xmlns:a16="http://schemas.microsoft.com/office/drawing/2014/main" val="10003"/>
                  </a:ext>
                </a:extLst>
              </a:tr>
              <a:tr h="771957">
                <a:tc>
                  <a:txBody>
                    <a:bodyPr/>
                    <a:lstStyle/>
                    <a:p>
                      <a:r>
                        <a:rPr lang="en-IN" sz="2400" dirty="0">
                          <a:latin typeface="Times New Roman" panose="02020603050405020304" pitchFamily="18" charset="0"/>
                          <a:cs typeface="Times New Roman" panose="02020603050405020304" pitchFamily="18" charset="0"/>
                        </a:rPr>
                        <a:t>Number of cross-teams impacted</a:t>
                      </a:r>
                    </a:p>
                  </a:txBody>
                  <a:tcPr/>
                </a:tc>
                <a:extLst>
                  <a:ext uri="{0D108BD9-81ED-4DB2-BD59-A6C34878D82A}">
                    <a16:rowId xmlns:a16="http://schemas.microsoft.com/office/drawing/2014/main" val="10004"/>
                  </a:ext>
                </a:extLst>
              </a:tr>
              <a:tr h="602277">
                <a:tc>
                  <a:txBody>
                    <a:bodyPr/>
                    <a:lstStyle/>
                    <a:p>
                      <a:endParaRPr lang="en-IN" dirty="0"/>
                    </a:p>
                  </a:txBody>
                  <a:tcPr/>
                </a:tc>
                <a:extLst>
                  <a:ext uri="{0D108BD9-81ED-4DB2-BD59-A6C34878D82A}">
                    <a16:rowId xmlns:a16="http://schemas.microsoft.com/office/drawing/2014/main" val="10005"/>
                  </a:ext>
                </a:extLst>
              </a:tr>
            </a:tbl>
          </a:graphicData>
        </a:graphic>
      </p:graphicFrame>
      <p:graphicFrame>
        <p:nvGraphicFramePr>
          <p:cNvPr id="7" name="Table 6"/>
          <p:cNvGraphicFramePr>
            <a:graphicFrameLocks noGrp="1"/>
          </p:cNvGraphicFramePr>
          <p:nvPr/>
        </p:nvGraphicFramePr>
        <p:xfrm>
          <a:off x="8307403" y="1662222"/>
          <a:ext cx="2838651" cy="3957372"/>
        </p:xfrm>
        <a:graphic>
          <a:graphicData uri="http://schemas.openxmlformats.org/drawingml/2006/table">
            <a:tbl>
              <a:tblPr firstRow="1" bandRow="1">
                <a:tableStyleId>{5C22544A-7EE6-4342-B048-85BDC9FD1C3A}</a:tableStyleId>
              </a:tblPr>
              <a:tblGrid>
                <a:gridCol w="2838651">
                  <a:extLst>
                    <a:ext uri="{9D8B030D-6E8A-4147-A177-3AD203B41FA5}">
                      <a16:colId xmlns:a16="http://schemas.microsoft.com/office/drawing/2014/main" val="20000"/>
                    </a:ext>
                  </a:extLst>
                </a:gridCol>
              </a:tblGrid>
              <a:tr h="770484">
                <a:tc>
                  <a:txBody>
                    <a:bodyPr/>
                    <a:lstStyle/>
                    <a:p>
                      <a:r>
                        <a:rPr lang="en-IN" sz="2400" dirty="0">
                          <a:latin typeface="Times New Roman" panose="02020603050405020304" pitchFamily="18" charset="0"/>
                          <a:cs typeface="Times New Roman" panose="02020603050405020304" pitchFamily="18" charset="0"/>
                        </a:rPr>
                        <a:t>Other considerations</a:t>
                      </a:r>
                    </a:p>
                  </a:txBody>
                  <a:tcPr>
                    <a:solidFill>
                      <a:srgbClr val="C00000"/>
                    </a:solidFill>
                  </a:tcPr>
                </a:tc>
                <a:extLst>
                  <a:ext uri="{0D108BD9-81ED-4DB2-BD59-A6C34878D82A}">
                    <a16:rowId xmlns:a16="http://schemas.microsoft.com/office/drawing/2014/main" val="10000"/>
                  </a:ext>
                </a:extLst>
              </a:tr>
              <a:tr h="770484">
                <a:tc>
                  <a:txBody>
                    <a:bodyPr/>
                    <a:lstStyle/>
                    <a:p>
                      <a:r>
                        <a:rPr lang="en-IN" sz="2400" dirty="0">
                          <a:latin typeface="Times New Roman" panose="02020603050405020304" pitchFamily="18" charset="0"/>
                          <a:cs typeface="Times New Roman" panose="02020603050405020304" pitchFamily="18" charset="0"/>
                        </a:rPr>
                        <a:t>Alignment to strategy</a:t>
                      </a:r>
                    </a:p>
                  </a:txBody>
                  <a:tcPr/>
                </a:tc>
                <a:extLst>
                  <a:ext uri="{0D108BD9-81ED-4DB2-BD59-A6C34878D82A}">
                    <a16:rowId xmlns:a16="http://schemas.microsoft.com/office/drawing/2014/main" val="10001"/>
                  </a:ext>
                </a:extLst>
              </a:tr>
              <a:tr h="770484">
                <a:tc>
                  <a:txBody>
                    <a:bodyPr/>
                    <a:lstStyle/>
                    <a:p>
                      <a:r>
                        <a:rPr lang="en-IN" sz="2400" dirty="0">
                          <a:latin typeface="Times New Roman" panose="02020603050405020304" pitchFamily="18" charset="0"/>
                          <a:cs typeface="Times New Roman" panose="02020603050405020304" pitchFamily="18" charset="0"/>
                        </a:rPr>
                        <a:t>Sustain/develop client focus</a:t>
                      </a:r>
                    </a:p>
                  </a:txBody>
                  <a:tcPr/>
                </a:tc>
                <a:extLst>
                  <a:ext uri="{0D108BD9-81ED-4DB2-BD59-A6C34878D82A}">
                    <a16:rowId xmlns:a16="http://schemas.microsoft.com/office/drawing/2014/main" val="10002"/>
                  </a:ext>
                </a:extLst>
              </a:tr>
              <a:tr h="770484">
                <a:tc>
                  <a:txBody>
                    <a:bodyPr/>
                    <a:lstStyle/>
                    <a:p>
                      <a:r>
                        <a:rPr lang="en-IN" sz="2400" dirty="0">
                          <a:latin typeface="Times New Roman" panose="02020603050405020304" pitchFamily="18" charset="0"/>
                          <a:cs typeface="Times New Roman" panose="02020603050405020304" pitchFamily="18" charset="0"/>
                        </a:rPr>
                        <a:t>Quality policy</a:t>
                      </a:r>
                    </a:p>
                  </a:txBody>
                  <a:tcPr/>
                </a:tc>
                <a:extLst>
                  <a:ext uri="{0D108BD9-81ED-4DB2-BD59-A6C34878D82A}">
                    <a16:rowId xmlns:a16="http://schemas.microsoft.com/office/drawing/2014/main" val="10003"/>
                  </a:ext>
                </a:extLst>
              </a:tr>
              <a:tr h="770484">
                <a:tc>
                  <a:txBody>
                    <a:bodyPr/>
                    <a:lstStyle/>
                    <a:p>
                      <a:r>
                        <a:rPr lang="en-IN" sz="2400" dirty="0">
                          <a:latin typeface="Times New Roman" panose="02020603050405020304" pitchFamily="18" charset="0"/>
                          <a:cs typeface="Times New Roman" panose="02020603050405020304" pitchFamily="18" charset="0"/>
                        </a:rPr>
                        <a:t>Capital required</a:t>
                      </a:r>
                    </a:p>
                  </a:txBody>
                  <a:tcPr/>
                </a:tc>
                <a:extLst>
                  <a:ext uri="{0D108BD9-81ED-4DB2-BD59-A6C34878D82A}">
                    <a16:rowId xmlns:a16="http://schemas.microsoft.com/office/drawing/2014/main" val="10004"/>
                  </a:ext>
                </a:extLst>
              </a:tr>
            </a:tbl>
          </a:graphicData>
        </a:graphic>
      </p:graphicFrame>
      <p:graphicFrame>
        <p:nvGraphicFramePr>
          <p:cNvPr id="8" name="Table 7"/>
          <p:cNvGraphicFramePr>
            <a:graphicFrameLocks noGrp="1"/>
          </p:cNvGraphicFramePr>
          <p:nvPr/>
        </p:nvGraphicFramePr>
        <p:xfrm>
          <a:off x="790875" y="1662222"/>
          <a:ext cx="2727505" cy="4282680"/>
        </p:xfrm>
        <a:graphic>
          <a:graphicData uri="http://schemas.openxmlformats.org/drawingml/2006/table">
            <a:tbl>
              <a:tblPr firstRow="1" bandRow="1">
                <a:tableStyleId>{5C22544A-7EE6-4342-B048-85BDC9FD1C3A}</a:tableStyleId>
              </a:tblPr>
              <a:tblGrid>
                <a:gridCol w="2727505">
                  <a:extLst>
                    <a:ext uri="{9D8B030D-6E8A-4147-A177-3AD203B41FA5}">
                      <a16:colId xmlns:a16="http://schemas.microsoft.com/office/drawing/2014/main" val="20000"/>
                    </a:ext>
                  </a:extLst>
                </a:gridCol>
              </a:tblGrid>
              <a:tr h="691944">
                <a:tc>
                  <a:txBody>
                    <a:bodyPr/>
                    <a:lstStyle/>
                    <a:p>
                      <a:r>
                        <a:rPr lang="en-IN" sz="2400" dirty="0">
                          <a:latin typeface="Times New Roman" panose="02020603050405020304" pitchFamily="18" charset="0"/>
                          <a:cs typeface="Times New Roman" panose="02020603050405020304" pitchFamily="18" charset="0"/>
                        </a:rPr>
                        <a:t>Scale of Benefit</a:t>
                      </a:r>
                    </a:p>
                  </a:txBody>
                  <a:tcPr>
                    <a:solidFill>
                      <a:srgbClr val="C00000"/>
                    </a:solidFill>
                  </a:tcPr>
                </a:tc>
                <a:extLst>
                  <a:ext uri="{0D108BD9-81ED-4DB2-BD59-A6C34878D82A}">
                    <a16:rowId xmlns:a16="http://schemas.microsoft.com/office/drawing/2014/main" val="10000"/>
                  </a:ext>
                </a:extLst>
              </a:tr>
              <a:tr h="691944">
                <a:tc>
                  <a:txBody>
                    <a:bodyPr/>
                    <a:lstStyle/>
                    <a:p>
                      <a:r>
                        <a:rPr lang="en-IN" sz="2400" dirty="0">
                          <a:latin typeface="Times New Roman" panose="02020603050405020304" pitchFamily="18" charset="0"/>
                          <a:cs typeface="Times New Roman" panose="02020603050405020304" pitchFamily="18" charset="0"/>
                        </a:rPr>
                        <a:t>Size of the opportunity</a:t>
                      </a:r>
                    </a:p>
                  </a:txBody>
                  <a:tcPr/>
                </a:tc>
                <a:extLst>
                  <a:ext uri="{0D108BD9-81ED-4DB2-BD59-A6C34878D82A}">
                    <a16:rowId xmlns:a16="http://schemas.microsoft.com/office/drawing/2014/main" val="10001"/>
                  </a:ext>
                </a:extLst>
              </a:tr>
              <a:tr h="691944">
                <a:tc>
                  <a:txBody>
                    <a:bodyPr/>
                    <a:lstStyle/>
                    <a:p>
                      <a:r>
                        <a:rPr lang="en-IN" sz="2400" dirty="0">
                          <a:latin typeface="Times New Roman" panose="02020603050405020304" pitchFamily="18" charset="0"/>
                          <a:cs typeface="Times New Roman" panose="02020603050405020304" pitchFamily="18" charset="0"/>
                        </a:rPr>
                        <a:t>Money saved</a:t>
                      </a:r>
                    </a:p>
                  </a:txBody>
                  <a:tcPr/>
                </a:tc>
                <a:extLst>
                  <a:ext uri="{0D108BD9-81ED-4DB2-BD59-A6C34878D82A}">
                    <a16:rowId xmlns:a16="http://schemas.microsoft.com/office/drawing/2014/main" val="10002"/>
                  </a:ext>
                </a:extLst>
              </a:tr>
              <a:tr h="691944">
                <a:tc>
                  <a:txBody>
                    <a:bodyPr/>
                    <a:lstStyle/>
                    <a:p>
                      <a:r>
                        <a:rPr lang="en-IN" sz="2400" dirty="0">
                          <a:latin typeface="Times New Roman" panose="02020603050405020304" pitchFamily="18" charset="0"/>
                          <a:cs typeface="Times New Roman" panose="02020603050405020304" pitchFamily="18" charset="0"/>
                        </a:rPr>
                        <a:t>Cost avoidance</a:t>
                      </a:r>
                    </a:p>
                  </a:txBody>
                  <a:tcPr/>
                </a:tc>
                <a:extLst>
                  <a:ext uri="{0D108BD9-81ED-4DB2-BD59-A6C34878D82A}">
                    <a16:rowId xmlns:a16="http://schemas.microsoft.com/office/drawing/2014/main" val="10003"/>
                  </a:ext>
                </a:extLst>
              </a:tr>
              <a:tr h="691944">
                <a:tc>
                  <a:txBody>
                    <a:bodyPr/>
                    <a:lstStyle/>
                    <a:p>
                      <a:r>
                        <a:rPr lang="en-IN" sz="2400" dirty="0">
                          <a:latin typeface="Times New Roman" panose="02020603050405020304" pitchFamily="18" charset="0"/>
                          <a:cs typeface="Times New Roman" panose="02020603050405020304" pitchFamily="18" charset="0"/>
                        </a:rPr>
                        <a:t>Time saved</a:t>
                      </a:r>
                    </a:p>
                  </a:txBody>
                  <a:tcPr/>
                </a:tc>
                <a:extLst>
                  <a:ext uri="{0D108BD9-81ED-4DB2-BD59-A6C34878D82A}">
                    <a16:rowId xmlns:a16="http://schemas.microsoft.com/office/drawing/2014/main" val="10004"/>
                  </a:ext>
                </a:extLst>
              </a:tr>
              <a:tr h="691944">
                <a:tc>
                  <a:txBody>
                    <a:bodyPr/>
                    <a:lstStyle/>
                    <a:p>
                      <a:r>
                        <a:rPr lang="en-IN" sz="2400" dirty="0">
                          <a:latin typeface="Times New Roman" panose="02020603050405020304" pitchFamily="18" charset="0"/>
                          <a:cs typeface="Times New Roman" panose="02020603050405020304" pitchFamily="18" charset="0"/>
                        </a:rPr>
                        <a:t>Repeatable benefit</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Using Priority Matrix</a:t>
            </a:r>
            <a:endParaRPr lang="en-IN" sz="3600" dirty="0">
              <a:latin typeface="Times New Roman" panose="02020603050405020304" pitchFamily="18" charset="0"/>
              <a:cs typeface="Times New Roman" panose="02020603050405020304" pitchFamily="18" charset="0"/>
            </a:endParaRPr>
          </a:p>
        </p:txBody>
      </p:sp>
      <p:graphicFrame>
        <p:nvGraphicFramePr>
          <p:cNvPr id="6" name="Table 4"/>
          <p:cNvGraphicFramePr/>
          <p:nvPr/>
        </p:nvGraphicFramePr>
        <p:xfrm>
          <a:off x="457199" y="1006555"/>
          <a:ext cx="10948737" cy="5169461"/>
        </p:xfrm>
        <a:graphic>
          <a:graphicData uri="http://schemas.openxmlformats.org/drawingml/2006/table">
            <a:tbl>
              <a:tblPr firstRow="1" bandRow="1"/>
              <a:tblGrid>
                <a:gridCol w="700076">
                  <a:extLst>
                    <a:ext uri="{9D8B030D-6E8A-4147-A177-3AD203B41FA5}">
                      <a16:colId xmlns:a16="http://schemas.microsoft.com/office/drawing/2014/main" val="20000"/>
                    </a:ext>
                  </a:extLst>
                </a:gridCol>
                <a:gridCol w="5762021">
                  <a:extLst>
                    <a:ext uri="{9D8B030D-6E8A-4147-A177-3AD203B41FA5}">
                      <a16:colId xmlns:a16="http://schemas.microsoft.com/office/drawing/2014/main" val="20001"/>
                    </a:ext>
                  </a:extLst>
                </a:gridCol>
                <a:gridCol w="1675319">
                  <a:extLst>
                    <a:ext uri="{9D8B030D-6E8A-4147-A177-3AD203B41FA5}">
                      <a16:colId xmlns:a16="http://schemas.microsoft.com/office/drawing/2014/main" val="20002"/>
                    </a:ext>
                  </a:extLst>
                </a:gridCol>
                <a:gridCol w="1296651">
                  <a:extLst>
                    <a:ext uri="{9D8B030D-6E8A-4147-A177-3AD203B41FA5}">
                      <a16:colId xmlns:a16="http://schemas.microsoft.com/office/drawing/2014/main" val="20003"/>
                    </a:ext>
                  </a:extLst>
                </a:gridCol>
                <a:gridCol w="1514670">
                  <a:extLst>
                    <a:ext uri="{9D8B030D-6E8A-4147-A177-3AD203B41FA5}">
                      <a16:colId xmlns:a16="http://schemas.microsoft.com/office/drawing/2014/main" val="20004"/>
                    </a:ext>
                  </a:extLst>
                </a:gridCol>
              </a:tblGrid>
              <a:tr h="927417">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IN" sz="1800" dirty="0" err="1">
                          <a:latin typeface="Times New Roman" panose="02020603050405020304" pitchFamily="18" charset="0"/>
                          <a:cs typeface="Times New Roman" panose="02020603050405020304" pitchFamily="18" charset="0"/>
                        </a:rPr>
                        <a:t>S.No</a:t>
                      </a:r>
                      <a:r>
                        <a:rPr lang="en-IN" sz="1800" dirty="0">
                          <a:latin typeface="Times New Roman" panose="02020603050405020304" pitchFamily="18" charset="0"/>
                          <a:cs typeface="Times New Roman" panose="02020603050405020304" pitchFamily="18" charset="0"/>
                        </a:rPr>
                        <a:t>. </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Criteria</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Weight (W)</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IN" sz="1800" dirty="0"/>
                        <a:t>Score (S)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IN" sz="1800" dirty="0"/>
                        <a:t>Weighted score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10000"/>
                  </a:ext>
                </a:extLst>
              </a:tr>
              <a:tr h="396563">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Organisational alignment</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25%</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IN" sz="1800"/>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b="1" dirty="0"/>
                        <a:t>W*S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1334504">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2</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Projected benefits</a:t>
                      </a:r>
                    </a:p>
                    <a:p>
                      <a:r>
                        <a:rPr lang="en-IN" sz="1800" dirty="0">
                          <a:latin typeface="Times New Roman" panose="02020603050405020304" pitchFamily="18" charset="0"/>
                          <a:cs typeface="Times New Roman" panose="02020603050405020304" pitchFamily="18" charset="0"/>
                        </a:rPr>
                        <a:t>2.1 External customers</a:t>
                      </a:r>
                    </a:p>
                    <a:p>
                      <a:r>
                        <a:rPr lang="en-IN" sz="1800" dirty="0">
                          <a:latin typeface="Times New Roman" panose="02020603050405020304" pitchFamily="18" charset="0"/>
                          <a:cs typeface="Times New Roman" panose="02020603050405020304" pitchFamily="18" charset="0"/>
                        </a:rPr>
                        <a:t>2.2 External stakeholders</a:t>
                      </a:r>
                    </a:p>
                    <a:p>
                      <a:r>
                        <a:rPr lang="en-IN" sz="1800" dirty="0">
                          <a:latin typeface="Times New Roman" panose="02020603050405020304" pitchFamily="18" charset="0"/>
                          <a:cs typeface="Times New Roman" panose="02020603050405020304" pitchFamily="18" charset="0"/>
                        </a:rPr>
                        <a:t>2.3 Employee or internal customer</a:t>
                      </a:r>
                    </a:p>
                    <a:p>
                      <a:r>
                        <a:rPr lang="en-IN" sz="1800" dirty="0">
                          <a:latin typeface="Times New Roman" panose="02020603050405020304" pitchFamily="18" charset="0"/>
                          <a:cs typeface="Times New Roman" panose="02020603050405020304" pitchFamily="18" charset="0"/>
                        </a:rPr>
                        <a:t>2.4 Other(community/environment)</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20%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IN"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IN"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0002"/>
                  </a:ext>
                </a:extLst>
              </a:tr>
              <a:tr h="382088">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3</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Resources required</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15%</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IN"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IN"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0003"/>
                  </a:ext>
                </a:extLst>
              </a:tr>
              <a:tr h="364317">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4</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Scope in terms of required returns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15%</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IN"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IN"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4"/>
                  </a:ext>
                </a:extLst>
              </a:tr>
              <a:tr h="35543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5</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Clarity of deliverables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10%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IN"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IN"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0005"/>
                  </a:ext>
                </a:extLst>
              </a:tr>
              <a:tr h="35543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6</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Time to complete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10%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IN"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IN"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F81BD">
                        <a:tint val="20000"/>
                      </a:srgbClr>
                    </a:solidFill>
                  </a:tcPr>
                </a:tc>
                <a:extLst>
                  <a:ext uri="{0D108BD9-81ED-4DB2-BD59-A6C34878D82A}">
                    <a16:rowId xmlns:a16="http://schemas.microsoft.com/office/drawing/2014/main" val="10006"/>
                  </a:ext>
                </a:extLst>
              </a:tr>
              <a:tr h="34654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7</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Team membership requirements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dirty="0">
                          <a:latin typeface="Times New Roman" panose="02020603050405020304" pitchFamily="18" charset="0"/>
                          <a:cs typeface="Times New Roman" panose="02020603050405020304" pitchFamily="18" charset="0"/>
                        </a:rPr>
                        <a:t>5%</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IN" sz="180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IN" sz="1800"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10007"/>
                  </a:ext>
                </a:extLst>
              </a:tr>
              <a:tr h="537313">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IN" sz="1800" b="1" dirty="0">
                        <a:latin typeface="Times New Roman" panose="02020603050405020304" pitchFamily="18" charset="0"/>
                        <a:cs typeface="Times New Roman" panose="02020603050405020304" pitchFamily="18"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b="1" dirty="0">
                          <a:latin typeface="Times New Roman" panose="02020603050405020304" pitchFamily="18" charset="0"/>
                          <a:cs typeface="Times New Roman" panose="02020603050405020304" pitchFamily="18" charset="0"/>
                        </a:rPr>
                        <a:t>Total weighted score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IN" sz="1800" b="1" dirty="0">
                          <a:latin typeface="Times New Roman" panose="02020603050405020304" pitchFamily="18" charset="0"/>
                          <a:cs typeface="Times New Roman" panose="02020603050405020304" pitchFamily="18" charset="0"/>
                        </a:rPr>
                        <a:t>100%</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IN" sz="1800" b="1"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20000"/>
                        <a:lumOff val="80000"/>
                      </a:schemeClr>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IN" sz="1800" b="1"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Topic Objectives &amp; Outcome</a:t>
            </a:r>
            <a:endParaRPr lang="en-IN" sz="3600" dirty="0">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p:cNvGraphicFramePr>
          <p:nvPr>
            <p:ph idx="1"/>
          </p:nvPr>
        </p:nvGraphicFramePr>
        <p:xfrm>
          <a:off x="159737" y="2100363"/>
          <a:ext cx="11728449" cy="1193800"/>
        </p:xfrm>
        <a:graphic>
          <a:graphicData uri="http://schemas.openxmlformats.org/drawingml/2006/table">
            <a:tbl>
              <a:tblPr firstRow="1" bandRow="1">
                <a:tableStyleId>{21E4AEA4-8DFA-4A89-87EB-49C32662AFE0}</a:tableStyleId>
              </a:tblPr>
              <a:tblGrid>
                <a:gridCol w="1207050">
                  <a:extLst>
                    <a:ext uri="{9D8B030D-6E8A-4147-A177-3AD203B41FA5}">
                      <a16:colId xmlns:a16="http://schemas.microsoft.com/office/drawing/2014/main" val="20000"/>
                    </a:ext>
                  </a:extLst>
                </a:gridCol>
                <a:gridCol w="6611916">
                  <a:extLst>
                    <a:ext uri="{9D8B030D-6E8A-4147-A177-3AD203B41FA5}">
                      <a16:colId xmlns:a16="http://schemas.microsoft.com/office/drawing/2014/main" val="20001"/>
                    </a:ext>
                  </a:extLst>
                </a:gridCol>
                <a:gridCol w="3909483">
                  <a:extLst>
                    <a:ext uri="{9D8B030D-6E8A-4147-A177-3AD203B41FA5}">
                      <a16:colId xmlns:a16="http://schemas.microsoft.com/office/drawing/2014/main" val="20002"/>
                    </a:ext>
                  </a:extLst>
                </a:gridCol>
              </a:tblGrid>
              <a:tr h="370840">
                <a:tc>
                  <a:txBody>
                    <a:bodyPr/>
                    <a:lstStyle/>
                    <a:p>
                      <a:r>
                        <a:rPr lang="en-IN" dirty="0"/>
                        <a:t>s.no.</a:t>
                      </a:r>
                    </a:p>
                  </a:txBody>
                  <a:tcPr/>
                </a:tc>
                <a:tc>
                  <a:txBody>
                    <a:bodyPr/>
                    <a:lstStyle/>
                    <a:p>
                      <a:r>
                        <a:rPr lang="en-IN" dirty="0"/>
                        <a:t>topic</a:t>
                      </a:r>
                    </a:p>
                  </a:txBody>
                  <a:tcPr/>
                </a:tc>
                <a:tc>
                  <a:txBody>
                    <a:bodyPr/>
                    <a:lstStyle/>
                    <a:p>
                      <a:r>
                        <a:rPr lang="en-IN" dirty="0"/>
                        <a:t>outcomes</a:t>
                      </a:r>
                    </a:p>
                  </a:txBody>
                  <a:tcPr/>
                </a:tc>
                <a:extLst>
                  <a:ext uri="{0D108BD9-81ED-4DB2-BD59-A6C34878D82A}">
                    <a16:rowId xmlns:a16="http://schemas.microsoft.com/office/drawing/2014/main" val="10000"/>
                  </a:ext>
                </a:extLst>
              </a:tr>
              <a:tr h="370840">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2400" dirty="0">
                          <a:latin typeface="Times New Roman" panose="02020603050405020304" pitchFamily="18" charset="0"/>
                          <a:cs typeface="Times New Roman" panose="02020603050405020304" pitchFamily="18" charset="0"/>
                        </a:rPr>
                        <a:t>To understand conducting the Market &amp; Demand Analysis Techniques:</a:t>
                      </a:r>
                      <a:r>
                        <a:rPr lang="en-US" sz="1800" dirty="0">
                          <a:latin typeface="Times New Roman" panose="02020603050405020304" pitchFamily="18" charset="0"/>
                          <a:cs typeface="Times New Roman" panose="02020603050405020304" pitchFamily="18" charset="0"/>
                        </a:rPr>
                        <a:t> </a:t>
                      </a:r>
                    </a:p>
                  </a:txBody>
                  <a:tcPr/>
                </a:tc>
                <a:tc>
                  <a:txBody>
                    <a:bodyPr/>
                    <a:lstStyle/>
                    <a:p>
                      <a:r>
                        <a:rPr lang="en-IN" dirty="0"/>
                        <a:t>CO2</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Market &amp; Demand Analysis </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r>
              <a:rPr lang="en-US" sz="2400" dirty="0"/>
              <a:t>Market &amp; Demand analysis is concerned with two broad issues:</a:t>
            </a:r>
          </a:p>
          <a:p>
            <a:pPr algn="just">
              <a:buNone/>
            </a:pPr>
            <a:r>
              <a:rPr lang="en-US" sz="2400" dirty="0"/>
              <a:t>	</a:t>
            </a:r>
          </a:p>
          <a:p>
            <a:pPr marL="514350" indent="-514350">
              <a:buFont typeface="+mj-lt"/>
              <a:buAutoNum type="arabicPeriod"/>
            </a:pPr>
            <a:r>
              <a:rPr lang="en-US" sz="2400" dirty="0"/>
              <a:t>What is the likely aggregate demand for the product?</a:t>
            </a:r>
          </a:p>
          <a:p>
            <a:pPr marL="514350" indent="-514350">
              <a:buFont typeface="+mj-lt"/>
              <a:buAutoNum type="arabicPeriod"/>
            </a:pPr>
            <a:r>
              <a:rPr lang="en-US" sz="2400" dirty="0"/>
              <a:t>What share of the market will the proposed project enjoy?</a:t>
            </a: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Factors, that answer &gt;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356135" y="1366787"/>
            <a:ext cx="11636943" cy="4456497"/>
          </a:xfrm>
        </p:spPr>
        <p:txBody>
          <a:bodyPr>
            <a:noAutofit/>
          </a:bodyPr>
          <a:lstStyle/>
          <a:p>
            <a:r>
              <a:rPr lang="en-US" sz="2400" dirty="0">
                <a:latin typeface="Times New Roman" panose="02020603050405020304" pitchFamily="18" charset="0"/>
                <a:cs typeface="Times New Roman" panose="02020603050405020304" pitchFamily="18" charset="0"/>
              </a:rPr>
              <a:t>Patterns of consumption </a:t>
            </a:r>
          </a:p>
          <a:p>
            <a:r>
              <a:rPr lang="en-US" sz="2400" dirty="0">
                <a:latin typeface="Times New Roman" panose="02020603050405020304" pitchFamily="18" charset="0"/>
                <a:cs typeface="Times New Roman" panose="02020603050405020304" pitchFamily="18" charset="0"/>
              </a:rPr>
              <a:t>Income &amp; Price elasticity of demand</a:t>
            </a:r>
          </a:p>
          <a:p>
            <a:r>
              <a:rPr lang="en-US" sz="2400" dirty="0">
                <a:latin typeface="Times New Roman" panose="02020603050405020304" pitchFamily="18" charset="0"/>
                <a:cs typeface="Times New Roman" panose="02020603050405020304" pitchFamily="18" charset="0"/>
              </a:rPr>
              <a:t>Composition of market</a:t>
            </a:r>
          </a:p>
          <a:p>
            <a:r>
              <a:rPr lang="en-US" sz="2400" dirty="0">
                <a:latin typeface="Times New Roman" panose="02020603050405020304" pitchFamily="18" charset="0"/>
                <a:cs typeface="Times New Roman" panose="02020603050405020304" pitchFamily="18" charset="0"/>
              </a:rPr>
              <a:t>Nature of competition</a:t>
            </a:r>
          </a:p>
          <a:p>
            <a:r>
              <a:rPr lang="en-US" sz="2400" dirty="0">
                <a:latin typeface="Times New Roman" panose="02020603050405020304" pitchFamily="18" charset="0"/>
                <a:cs typeface="Times New Roman" panose="02020603050405020304" pitchFamily="18" charset="0"/>
              </a:rPr>
              <a:t>Availability of substitutes</a:t>
            </a:r>
          </a:p>
          <a:p>
            <a:r>
              <a:rPr lang="en-US" sz="2400" dirty="0">
                <a:latin typeface="Times New Roman" panose="02020603050405020304" pitchFamily="18" charset="0"/>
                <a:cs typeface="Times New Roman" panose="02020603050405020304" pitchFamily="18" charset="0"/>
              </a:rPr>
              <a:t>Reach of distribution channel</a:t>
            </a: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Collection of Secondary Information</a:t>
            </a:r>
            <a:endParaRPr lang="en-IN" sz="3600" dirty="0">
              <a:solidFill>
                <a:srgbClr val="C0000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Census of India</a:t>
            </a:r>
          </a:p>
          <a:p>
            <a:r>
              <a:rPr lang="en-US" sz="2400" dirty="0">
                <a:latin typeface="Times New Roman" panose="02020603050405020304" pitchFamily="18" charset="0"/>
                <a:cs typeface="Times New Roman" panose="02020603050405020304" pitchFamily="18" charset="0"/>
              </a:rPr>
              <a:t>National Sample Survey Report</a:t>
            </a:r>
          </a:p>
          <a:p>
            <a:r>
              <a:rPr lang="en-US" sz="2400" dirty="0">
                <a:latin typeface="Times New Roman" panose="02020603050405020304" pitchFamily="18" charset="0"/>
                <a:cs typeface="Times New Roman" panose="02020603050405020304" pitchFamily="18" charset="0"/>
              </a:rPr>
              <a:t>Plan Reports</a:t>
            </a:r>
          </a:p>
          <a:p>
            <a:r>
              <a:rPr lang="en-US" sz="2400" dirty="0">
                <a:latin typeface="Times New Roman" panose="02020603050405020304" pitchFamily="18" charset="0"/>
                <a:cs typeface="Times New Roman" panose="02020603050405020304" pitchFamily="18" charset="0"/>
              </a:rPr>
              <a:t>Statistical Abstracts of Indian Union</a:t>
            </a:r>
          </a:p>
          <a:p>
            <a:r>
              <a:rPr lang="en-US" sz="2400" dirty="0">
                <a:latin typeface="Times New Roman" panose="02020603050405020304" pitchFamily="18" charset="0"/>
                <a:cs typeface="Times New Roman" panose="02020603050405020304" pitchFamily="18" charset="0"/>
              </a:rPr>
              <a:t>India Year Book (Ministry of Info &amp; Broad )</a:t>
            </a:r>
          </a:p>
          <a:p>
            <a:r>
              <a:rPr lang="en-US" sz="2400" dirty="0">
                <a:latin typeface="Times New Roman" panose="02020603050405020304" pitchFamily="18" charset="0"/>
                <a:cs typeface="Times New Roman" panose="02020603050405020304" pitchFamily="18" charset="0"/>
              </a:rPr>
              <a:t>Statistical Year Book (United Nations)</a:t>
            </a:r>
          </a:p>
          <a:p>
            <a:r>
              <a:rPr lang="en-US" sz="2400" dirty="0">
                <a:latin typeface="Times New Roman" panose="02020603050405020304" pitchFamily="18" charset="0"/>
                <a:cs typeface="Times New Roman" panose="02020603050405020304" pitchFamily="18" charset="0"/>
              </a:rPr>
              <a:t>Economic Survey (Ministry of Finance)</a:t>
            </a:r>
          </a:p>
          <a:p>
            <a:r>
              <a:rPr lang="en-US" sz="2400" dirty="0">
                <a:latin typeface="Times New Roman" panose="02020603050405020304" pitchFamily="18" charset="0"/>
                <a:cs typeface="Times New Roman" panose="02020603050405020304" pitchFamily="18" charset="0"/>
              </a:rPr>
              <a:t>Guidelines to Industries (Min of Industrial Dev)</a:t>
            </a:r>
          </a:p>
          <a:p>
            <a:r>
              <a:rPr lang="en-US" sz="2400" dirty="0">
                <a:latin typeface="Times New Roman" panose="02020603050405020304" pitchFamily="18" charset="0"/>
                <a:cs typeface="Times New Roman" panose="02020603050405020304" pitchFamily="18" charset="0"/>
              </a:rPr>
              <a:t>Annual Survey of Industries (CSO)</a:t>
            </a: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Conduct of Survey</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Define the Target Population</a:t>
            </a:r>
          </a:p>
          <a:p>
            <a:r>
              <a:rPr lang="en-US" sz="2400" dirty="0">
                <a:latin typeface="Times New Roman" panose="02020603050405020304" pitchFamily="18" charset="0"/>
                <a:cs typeface="Times New Roman" panose="02020603050405020304" pitchFamily="18" charset="0"/>
              </a:rPr>
              <a:t>Select the Sample &amp; Sampling Technique</a:t>
            </a:r>
          </a:p>
          <a:p>
            <a:r>
              <a:rPr lang="en-US" sz="2400" dirty="0">
                <a:latin typeface="Times New Roman" panose="02020603050405020304" pitchFamily="18" charset="0"/>
                <a:cs typeface="Times New Roman" panose="02020603050405020304" pitchFamily="18" charset="0"/>
              </a:rPr>
              <a:t>Develop the Questionnaire</a:t>
            </a:r>
          </a:p>
          <a:p>
            <a:r>
              <a:rPr lang="en-US" sz="2400" dirty="0">
                <a:latin typeface="Times New Roman" panose="02020603050405020304" pitchFamily="18" charset="0"/>
                <a:cs typeface="Times New Roman" panose="02020603050405020304" pitchFamily="18" charset="0"/>
              </a:rPr>
              <a:t>Recruit &amp; Train the Field Advisors</a:t>
            </a:r>
          </a:p>
          <a:p>
            <a:r>
              <a:rPr lang="en-US" sz="2400" dirty="0">
                <a:latin typeface="Times New Roman" panose="02020603050405020304" pitchFamily="18" charset="0"/>
                <a:cs typeface="Times New Roman" panose="02020603050405020304" pitchFamily="18" charset="0"/>
              </a:rPr>
              <a:t>Obtain Information as Per Questionnaire</a:t>
            </a:r>
          </a:p>
          <a:p>
            <a:r>
              <a:rPr lang="en-US" sz="2400" dirty="0">
                <a:latin typeface="Times New Roman" panose="02020603050405020304" pitchFamily="18" charset="0"/>
                <a:cs typeface="Times New Roman" panose="02020603050405020304" pitchFamily="18" charset="0"/>
              </a:rPr>
              <a:t>Scrutinize the Information Gathered</a:t>
            </a:r>
          </a:p>
          <a:p>
            <a:r>
              <a:rPr lang="en-US" sz="2400" dirty="0">
                <a:latin typeface="Times New Roman" panose="02020603050405020304" pitchFamily="18" charset="0"/>
                <a:cs typeface="Times New Roman" panose="02020603050405020304" pitchFamily="18" charset="0"/>
              </a:rPr>
              <a:t>Analyze &amp; Interpret the Information</a:t>
            </a: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Characterization of Market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         Effective demand in the past &amp; present</a:t>
            </a:r>
          </a:p>
          <a:p>
            <a:r>
              <a:rPr lang="en-US" sz="2400" dirty="0">
                <a:latin typeface="Times New Roman" panose="02020603050405020304" pitchFamily="18" charset="0"/>
                <a:cs typeface="Times New Roman" panose="02020603050405020304" pitchFamily="18" charset="0"/>
              </a:rPr>
              <a:t>	Breakdown of demand</a:t>
            </a:r>
          </a:p>
          <a:p>
            <a:r>
              <a:rPr lang="en-US" sz="2400" dirty="0">
                <a:latin typeface="Times New Roman" panose="02020603050405020304" pitchFamily="18" charset="0"/>
                <a:cs typeface="Times New Roman" panose="02020603050405020304" pitchFamily="18" charset="0"/>
              </a:rPr>
              <a:t>	Price</a:t>
            </a:r>
          </a:p>
          <a:p>
            <a:r>
              <a:rPr lang="en-US" sz="2400" dirty="0">
                <a:latin typeface="Times New Roman" panose="02020603050405020304" pitchFamily="18" charset="0"/>
                <a:cs typeface="Times New Roman" panose="02020603050405020304" pitchFamily="18" charset="0"/>
              </a:rPr>
              <a:t>	Methods of distribution &amp; sales promotion</a:t>
            </a:r>
          </a:p>
          <a:p>
            <a:r>
              <a:rPr lang="en-US" sz="2400" dirty="0">
                <a:latin typeface="Times New Roman" panose="02020603050405020304" pitchFamily="18" charset="0"/>
                <a:cs typeface="Times New Roman" panose="02020603050405020304" pitchFamily="18" charset="0"/>
              </a:rPr>
              <a:t>	Consumers</a:t>
            </a:r>
          </a:p>
          <a:p>
            <a:r>
              <a:rPr lang="en-US" sz="2400" dirty="0">
                <a:latin typeface="Times New Roman" panose="02020603050405020304" pitchFamily="18" charset="0"/>
                <a:cs typeface="Times New Roman" panose="02020603050405020304" pitchFamily="18" charset="0"/>
              </a:rPr>
              <a:t>	Supply &amp; competition</a:t>
            </a:r>
          </a:p>
          <a:p>
            <a:r>
              <a:rPr lang="en-US" sz="2400" dirty="0">
                <a:latin typeface="Times New Roman" panose="02020603050405020304" pitchFamily="18" charset="0"/>
                <a:cs typeface="Times New Roman" panose="02020603050405020304" pitchFamily="18" charset="0"/>
              </a:rPr>
              <a:t>	Government Policy</a:t>
            </a: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Marketing Strategy</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	Target Segment</a:t>
            </a:r>
          </a:p>
          <a:p>
            <a:r>
              <a:rPr lang="en-US" sz="2400" dirty="0">
                <a:latin typeface="Times New Roman" panose="02020603050405020304" pitchFamily="18" charset="0"/>
                <a:cs typeface="Times New Roman" panose="02020603050405020304" pitchFamily="18" charset="0"/>
              </a:rPr>
              <a:t>	Positioning</a:t>
            </a:r>
          </a:p>
          <a:p>
            <a:r>
              <a:rPr lang="en-US" sz="2400" dirty="0">
                <a:latin typeface="Times New Roman" panose="02020603050405020304" pitchFamily="18" charset="0"/>
                <a:cs typeface="Times New Roman" panose="02020603050405020304" pitchFamily="18" charset="0"/>
              </a:rPr>
              <a:t>	Product Line</a:t>
            </a:r>
          </a:p>
          <a:p>
            <a:r>
              <a:rPr lang="en-US" sz="2400" dirty="0">
                <a:latin typeface="Times New Roman" panose="02020603050405020304" pitchFamily="18" charset="0"/>
                <a:cs typeface="Times New Roman" panose="02020603050405020304" pitchFamily="18" charset="0"/>
              </a:rPr>
              <a:t>	Price</a:t>
            </a:r>
          </a:p>
          <a:p>
            <a:r>
              <a:rPr lang="en-US" sz="2400" dirty="0">
                <a:latin typeface="Times New Roman" panose="02020603050405020304" pitchFamily="18" charset="0"/>
                <a:cs typeface="Times New Roman" panose="02020603050405020304" pitchFamily="18" charset="0"/>
              </a:rPr>
              <a:t>	Distribution</a:t>
            </a:r>
          </a:p>
          <a:p>
            <a:r>
              <a:rPr lang="en-US" sz="2400" dirty="0">
                <a:latin typeface="Times New Roman" panose="02020603050405020304" pitchFamily="18" charset="0"/>
                <a:cs typeface="Times New Roman" panose="02020603050405020304" pitchFamily="18" charset="0"/>
              </a:rPr>
              <a:t>	Sales Force</a:t>
            </a:r>
          </a:p>
          <a:p>
            <a:r>
              <a:rPr lang="en-US" sz="2400" dirty="0">
                <a:latin typeface="Times New Roman" panose="02020603050405020304" pitchFamily="18" charset="0"/>
                <a:cs typeface="Times New Roman" panose="02020603050405020304" pitchFamily="18" charset="0"/>
              </a:rPr>
              <a:t>	Sales Promotion</a:t>
            </a:r>
          </a:p>
          <a:p>
            <a:r>
              <a:rPr lang="en-US" sz="2400" dirty="0">
                <a:latin typeface="Times New Roman" panose="02020603050405020304" pitchFamily="18" charset="0"/>
                <a:cs typeface="Times New Roman" panose="02020603050405020304" pitchFamily="18" charset="0"/>
              </a:rPr>
              <a:t>	Advertising</a:t>
            </a: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Demand Forecasting</a:t>
            </a:r>
          </a:p>
        </p:txBody>
      </p:sp>
      <p:graphicFrame>
        <p:nvGraphicFramePr>
          <p:cNvPr id="2" name="Content Placeholder 1"/>
          <p:cNvGraphicFramePr>
            <a:graphicFrameLocks noGrp="1"/>
          </p:cNvGraphicFramePr>
          <p:nvPr>
            <p:ph idx="1"/>
          </p:nvPr>
        </p:nvGraphicFramePr>
        <p:xfrm>
          <a:off x="217715" y="1175661"/>
          <a:ext cx="11727542" cy="50013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Jury of Executive Opinion Method</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lvl="1" algn="just">
              <a:buNone/>
            </a:pPr>
            <a:r>
              <a:rPr lang="en-US" sz="2400" dirty="0">
                <a:latin typeface="Times New Roman" panose="02020603050405020304" pitchFamily="18" charset="0"/>
                <a:cs typeface="Times New Roman" panose="02020603050405020304" pitchFamily="18" charset="0"/>
              </a:rPr>
              <a:t>Involves soliciting the opinions of a group of managers on expected future sales and combining them into a sales estimate.</a:t>
            </a:r>
          </a:p>
          <a:p>
            <a:pPr lvl="1">
              <a:buNone/>
            </a:pPr>
            <a:endParaRPr lang="en-US" sz="2400" b="1" dirty="0">
              <a:latin typeface="Times New Roman" panose="02020603050405020304" pitchFamily="18" charset="0"/>
              <a:cs typeface="Times New Roman" panose="02020603050405020304" pitchFamily="18" charset="0"/>
            </a:endParaRPr>
          </a:p>
          <a:p>
            <a:pPr lvl="1">
              <a:buNone/>
            </a:pPr>
            <a:r>
              <a:rPr lang="en-US" sz="2400" b="1" dirty="0">
                <a:latin typeface="Times New Roman" panose="02020603050405020304" pitchFamily="18" charset="0"/>
                <a:cs typeface="Times New Roman" panose="02020603050405020304" pitchFamily="18" charset="0"/>
              </a:rPr>
              <a:t>	Advantages:</a:t>
            </a:r>
          </a:p>
          <a:p>
            <a:pPr lvl="1">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Expeditious</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Variety of factors involved</a:t>
            </a:r>
          </a:p>
          <a:p>
            <a:pPr lvl="1">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	Immense appeal to managers who tend to prefer their judgment</a:t>
            </a: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Delphi Method</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lvl="1" algn="just">
              <a:buNone/>
            </a:pPr>
            <a:r>
              <a:rPr lang="en-US" sz="2400" dirty="0">
                <a:latin typeface="Times New Roman" panose="02020603050405020304" pitchFamily="18" charset="0"/>
                <a:cs typeface="Times New Roman" panose="02020603050405020304" pitchFamily="18" charset="0"/>
              </a:rPr>
              <a:t>Used for eliciting the opinions of a group of experts with the help of a mail survey.</a:t>
            </a:r>
          </a:p>
          <a:p>
            <a:pPr lvl="1" algn="just">
              <a:buNone/>
            </a:pPr>
            <a:endParaRPr lang="en-US" sz="2400" dirty="0">
              <a:latin typeface="Times New Roman" panose="02020603050405020304" pitchFamily="18" charset="0"/>
              <a:cs typeface="Times New Roman" panose="02020603050405020304" pitchFamily="18" charset="0"/>
            </a:endParaRPr>
          </a:p>
          <a:p>
            <a:pPr lvl="1"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Experts are send the questionnaire by mail &amp; asked to express their views</a:t>
            </a:r>
          </a:p>
          <a:p>
            <a:pPr lvl="1"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Responses are summarized without disclosing identity, in case of extreme view, further reasons are asked in second round</a:t>
            </a:r>
          </a:p>
          <a:p>
            <a:pPr lvl="1"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Continued for one or more round till a reasonable agreement emerges in the view of the experts </a:t>
            </a: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Demand Forecasting</a:t>
            </a:r>
          </a:p>
        </p:txBody>
      </p:sp>
      <p:graphicFrame>
        <p:nvGraphicFramePr>
          <p:cNvPr id="2" name="Content Placeholder 1"/>
          <p:cNvGraphicFramePr>
            <a:graphicFrameLocks noGrp="1"/>
          </p:cNvGraphicFramePr>
          <p:nvPr>
            <p:ph idx="1"/>
          </p:nvPr>
        </p:nvGraphicFramePr>
        <p:xfrm>
          <a:off x="217715" y="1175661"/>
          <a:ext cx="11727542" cy="50013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Trend projection method</a:t>
            </a:r>
          </a:p>
        </p:txBody>
      </p:sp>
      <p:sp>
        <p:nvSpPr>
          <p:cNvPr id="2" name="Content Placeholder 8"/>
          <p:cNvSpPr>
            <a:spLocks noGrp="1"/>
          </p:cNvSpPr>
          <p:nvPr>
            <p:ph idx="1"/>
          </p:nvPr>
        </p:nvSpPr>
        <p:spPr>
          <a:xfrm>
            <a:off x="217488" y="1176338"/>
            <a:ext cx="11728450" cy="5000625"/>
          </a:xfrm>
        </p:spPr>
        <p:txBody>
          <a:bodyPr>
            <a:normAutofit/>
          </a:bodyPr>
          <a:lstStyle/>
          <a:p>
            <a:pPr lvl="1">
              <a:buNone/>
            </a:pPr>
            <a:r>
              <a:rPr lang="en-US" dirty="0">
                <a:latin typeface="Times New Roman" panose="02020603050405020304" pitchFamily="18" charset="0"/>
                <a:cs typeface="Times New Roman" panose="02020603050405020304" pitchFamily="18" charset="0"/>
              </a:rPr>
              <a:t>Involves</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Determining the trend of consumption by analyzing past consumption statistics</a:t>
            </a:r>
          </a:p>
          <a:p>
            <a:pPr lvl="1">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Projecting future trends by extrapolating the trends</a:t>
            </a:r>
          </a:p>
          <a:p>
            <a:pPr lvl="1">
              <a:buNone/>
            </a:pPr>
            <a:endParaRPr lang="en-US" dirty="0">
              <a:latin typeface="Times New Roman" panose="02020603050405020304" pitchFamily="18" charset="0"/>
              <a:cs typeface="Times New Roman" panose="02020603050405020304" pitchFamily="18" charset="0"/>
            </a:endParaRPr>
          </a:p>
          <a:p>
            <a:pPr lvl="1">
              <a:buNone/>
            </a:pPr>
            <a:r>
              <a:rPr lang="en-US" dirty="0">
                <a:latin typeface="Times New Roman" panose="02020603050405020304" pitchFamily="18" charset="0"/>
                <a:cs typeface="Times New Roman" panose="02020603050405020304" pitchFamily="18" charset="0"/>
              </a:rPr>
              <a:t>The linear relationship is used to find out the projected demand</a:t>
            </a:r>
          </a:p>
          <a:p>
            <a:pPr lvl="1">
              <a:buNone/>
            </a:pPr>
            <a:r>
              <a:rPr lang="en-US"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Yt</a:t>
            </a:r>
            <a:r>
              <a:rPr lang="en-US" b="1" dirty="0">
                <a:latin typeface="Times New Roman" panose="02020603050405020304" pitchFamily="18" charset="0"/>
                <a:cs typeface="Times New Roman" panose="02020603050405020304" pitchFamily="18" charset="0"/>
              </a:rPr>
              <a:t> = a + </a:t>
            </a:r>
            <a:r>
              <a:rPr lang="en-US" b="1" dirty="0" err="1">
                <a:latin typeface="Times New Roman" panose="02020603050405020304" pitchFamily="18" charset="0"/>
                <a:cs typeface="Times New Roman" panose="02020603050405020304" pitchFamily="18" charset="0"/>
              </a:rPr>
              <a:t>bt</a:t>
            </a:r>
            <a:endParaRPr lang="en-US" b="1"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Moving Average Method</a:t>
            </a:r>
            <a:endParaRPr lang="en-IN" sz="3600" dirty="0">
              <a:latin typeface="Times New Roman" panose="02020603050405020304" pitchFamily="18" charset="0"/>
              <a:cs typeface="Times New Roman" panose="02020603050405020304" pitchFamily="18" charset="0"/>
            </a:endParaRPr>
          </a:p>
        </p:txBody>
      </p:sp>
      <p:sp>
        <p:nvSpPr>
          <p:cNvPr id="2" name="Content Placeholder 8"/>
          <p:cNvSpPr>
            <a:spLocks noGrp="1"/>
          </p:cNvSpPr>
          <p:nvPr>
            <p:ph idx="1"/>
          </p:nvPr>
        </p:nvSpPr>
        <p:spPr>
          <a:xfrm>
            <a:off x="217488" y="1176338"/>
            <a:ext cx="11728450" cy="5000625"/>
          </a:xfrm>
        </p:spPr>
        <p:txBody>
          <a:bodyPr>
            <a:normAutofit/>
          </a:bodyPr>
          <a:lstStyle/>
          <a:p>
            <a:pPr lvl="1" algn="just">
              <a:buNone/>
            </a:pPr>
            <a:r>
              <a:rPr lang="en-US" dirty="0">
                <a:latin typeface="Times New Roman" panose="02020603050405020304" pitchFamily="18" charset="0"/>
                <a:cs typeface="Times New Roman" panose="02020603050405020304" pitchFamily="18" charset="0"/>
              </a:rPr>
              <a:t>	The forecast for the next period is equal to the average of sales for several preceding periods</a:t>
            </a:r>
          </a:p>
          <a:p>
            <a:pPr lvl="1" algn="just">
              <a:buNone/>
            </a:pPr>
            <a:r>
              <a:rPr lang="en-US" dirty="0">
                <a:latin typeface="Times New Roman" panose="02020603050405020304" pitchFamily="18" charset="0"/>
                <a:cs typeface="Times New Roman" panose="02020603050405020304" pitchFamily="18" charset="0"/>
              </a:rPr>
              <a:t>		</a:t>
            </a:r>
          </a:p>
          <a:p>
            <a:pPr lvl="1" algn="just">
              <a:buNone/>
            </a:pPr>
            <a:r>
              <a:rPr lang="en-US" b="1" dirty="0">
                <a:latin typeface="Times New Roman" panose="02020603050405020304" pitchFamily="18" charset="0"/>
                <a:cs typeface="Times New Roman" panose="02020603050405020304" pitchFamily="18" charset="0"/>
              </a:rPr>
              <a:t>F</a:t>
            </a:r>
            <a:r>
              <a:rPr lang="en-US" b="1" baseline="-25000" dirty="0">
                <a:latin typeface="Times New Roman" panose="02020603050405020304" pitchFamily="18" charset="0"/>
                <a:cs typeface="Times New Roman" panose="02020603050405020304" pitchFamily="18" charset="0"/>
              </a:rPr>
              <a:t>t+1</a:t>
            </a:r>
            <a:r>
              <a:rPr lang="en-US" b="1" dirty="0">
                <a:latin typeface="Times New Roman" panose="02020603050405020304" pitchFamily="18" charset="0"/>
                <a:cs typeface="Times New Roman" panose="02020603050405020304" pitchFamily="18" charset="0"/>
              </a:rPr>
              <a:t> = (S</a:t>
            </a:r>
            <a:r>
              <a:rPr lang="en-US" b="1" baseline="-25000" dirty="0">
                <a:latin typeface="Times New Roman" panose="02020603050405020304" pitchFamily="18" charset="0"/>
                <a:cs typeface="Times New Roman" panose="02020603050405020304" pitchFamily="18" charset="0"/>
              </a:rPr>
              <a:t>t </a:t>
            </a:r>
            <a:r>
              <a:rPr lang="en-US" b="1" dirty="0">
                <a:latin typeface="Times New Roman" panose="02020603050405020304" pitchFamily="18" charset="0"/>
                <a:cs typeface="Times New Roman" panose="02020603050405020304" pitchFamily="18" charset="0"/>
              </a:rPr>
              <a:t>+ S</a:t>
            </a:r>
            <a:r>
              <a:rPr lang="en-US" b="1" baseline="-25000" dirty="0">
                <a:latin typeface="Times New Roman" panose="02020603050405020304" pitchFamily="18" charset="0"/>
                <a:cs typeface="Times New Roman" panose="02020603050405020304" pitchFamily="18" charset="0"/>
              </a:rPr>
              <a:t>t-1</a:t>
            </a:r>
            <a:r>
              <a:rPr lang="en-US" b="1" dirty="0">
                <a:latin typeface="Times New Roman" panose="02020603050405020304" pitchFamily="18" charset="0"/>
                <a:cs typeface="Times New Roman" panose="02020603050405020304" pitchFamily="18" charset="0"/>
              </a:rPr>
              <a:t> + …..+S</a:t>
            </a:r>
            <a:r>
              <a:rPr lang="en-US" b="1" baseline="-25000" dirty="0">
                <a:latin typeface="Times New Roman" panose="02020603050405020304" pitchFamily="18" charset="0"/>
                <a:cs typeface="Times New Roman" panose="02020603050405020304" pitchFamily="18" charset="0"/>
              </a:rPr>
              <a:t>t-n+1</a:t>
            </a:r>
            <a:r>
              <a:rPr lang="en-US" b="1" dirty="0">
                <a:latin typeface="Times New Roman" panose="02020603050405020304" pitchFamily="18" charset="0"/>
                <a:cs typeface="Times New Roman" panose="02020603050405020304" pitchFamily="18" charset="0"/>
              </a:rPr>
              <a:t>)/ n</a:t>
            </a:r>
          </a:p>
          <a:p>
            <a:pPr lvl="1" algn="just">
              <a:buNone/>
            </a:pPr>
            <a:endParaRPr lang="en-US" dirty="0">
              <a:latin typeface="Times New Roman" panose="02020603050405020304" pitchFamily="18" charset="0"/>
              <a:cs typeface="Times New Roman" panose="02020603050405020304" pitchFamily="18" charset="0"/>
            </a:endParaRPr>
          </a:p>
          <a:p>
            <a:pPr lvl="1" algn="just">
              <a:buNone/>
            </a:pPr>
            <a:r>
              <a:rPr lang="en-US" dirty="0">
                <a:latin typeface="Times New Roman" panose="02020603050405020304" pitchFamily="18" charset="0"/>
                <a:cs typeface="Times New Roman" panose="02020603050405020304" pitchFamily="18" charset="0"/>
              </a:rPr>
              <a:t>F</a:t>
            </a:r>
            <a:r>
              <a:rPr lang="en-US" baseline="-25000" dirty="0">
                <a:latin typeface="Times New Roman" panose="02020603050405020304" pitchFamily="18" charset="0"/>
                <a:cs typeface="Times New Roman" panose="02020603050405020304" pitchFamily="18" charset="0"/>
              </a:rPr>
              <a:t>t+1</a:t>
            </a:r>
            <a:r>
              <a:rPr lang="en-US" dirty="0">
                <a:latin typeface="Times New Roman" panose="02020603050405020304" pitchFamily="18" charset="0"/>
                <a:cs typeface="Times New Roman" panose="02020603050405020304" pitchFamily="18" charset="0"/>
              </a:rPr>
              <a:t> = Forecast for the next period</a:t>
            </a:r>
          </a:p>
          <a:p>
            <a:pPr lvl="1" algn="just">
              <a:buNone/>
            </a:pPr>
            <a:r>
              <a:rPr lang="en-US" dirty="0">
                <a:latin typeface="Times New Roman" panose="02020603050405020304" pitchFamily="18" charset="0"/>
                <a:cs typeface="Times New Roman" panose="02020603050405020304" pitchFamily="18" charset="0"/>
              </a:rPr>
              <a:t>S</a:t>
            </a:r>
            <a:r>
              <a:rPr lang="en-US" baseline="-25000" dirty="0">
                <a:latin typeface="Times New Roman" panose="02020603050405020304" pitchFamily="18" charset="0"/>
                <a:cs typeface="Times New Roman" panose="02020603050405020304" pitchFamily="18" charset="0"/>
              </a:rPr>
              <a:t>t	</a:t>
            </a:r>
            <a:r>
              <a:rPr lang="en-US" dirty="0">
                <a:latin typeface="Times New Roman" panose="02020603050405020304" pitchFamily="18" charset="0"/>
                <a:cs typeface="Times New Roman" panose="02020603050405020304" pitchFamily="18" charset="0"/>
              </a:rPr>
              <a:t> 	  = Sales for the current period</a:t>
            </a:r>
          </a:p>
          <a:p>
            <a:pPr lvl="1" algn="just">
              <a:buNone/>
            </a:pPr>
            <a:r>
              <a:rPr lang="en-US" baseline="-25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n   = Number of Preceding years</a:t>
            </a:r>
            <a:endParaRPr lang="en-US" baseline="-250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a:t>
            </a:r>
          </a:p>
          <a:p>
            <a:pPr algn="just">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Demand Forecasting</a:t>
            </a:r>
          </a:p>
        </p:txBody>
      </p:sp>
      <p:graphicFrame>
        <p:nvGraphicFramePr>
          <p:cNvPr id="2" name="Content Placeholder 1"/>
          <p:cNvGraphicFramePr>
            <a:graphicFrameLocks noGrp="1"/>
          </p:cNvGraphicFramePr>
          <p:nvPr>
            <p:ph idx="1"/>
          </p:nvPr>
        </p:nvGraphicFramePr>
        <p:xfrm>
          <a:off x="217715" y="1175661"/>
          <a:ext cx="11727542" cy="50013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Chain Ratio Method</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lvl="1" algn="just">
              <a:buNone/>
            </a:pPr>
            <a:r>
              <a:rPr lang="en-US" sz="2400" dirty="0">
                <a:latin typeface="Times New Roman" panose="02020603050405020304" pitchFamily="18" charset="0"/>
                <a:cs typeface="Times New Roman" panose="02020603050405020304" pitchFamily="18" charset="0"/>
              </a:rPr>
              <a:t>The potential sales of a product may be estimated by applying a series of factors to a measure of aggregate demand. </a:t>
            </a:r>
          </a:p>
          <a:p>
            <a:pPr lvl="1" algn="just">
              <a:buNone/>
            </a:pPr>
            <a:endParaRPr lang="en-US" sz="2400" dirty="0">
              <a:latin typeface="Times New Roman" panose="02020603050405020304" pitchFamily="18" charset="0"/>
              <a:cs typeface="Times New Roman" panose="02020603050405020304" pitchFamily="18" charset="0"/>
            </a:endParaRPr>
          </a:p>
          <a:p>
            <a:pPr lvl="1" algn="just">
              <a:buNone/>
            </a:pPr>
            <a:r>
              <a:rPr lang="en-US" sz="2400" dirty="0">
                <a:latin typeface="Times New Roman" panose="02020603050405020304" pitchFamily="18" charset="0"/>
                <a:cs typeface="Times New Roman" panose="02020603050405020304" pitchFamily="18" charset="0"/>
              </a:rPr>
              <a:t>It uses a simple analytical approach to demand estimation. However, its reliability is critically dependent on the ratios and rates of usage in the process of determining sales potential </a:t>
            </a: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Consumption Level Method</a:t>
            </a:r>
            <a:endParaRPr lang="en-IN" sz="3600" dirty="0">
              <a:latin typeface="Times New Roman" panose="02020603050405020304" pitchFamily="18" charset="0"/>
              <a:cs typeface="Times New Roman" panose="02020603050405020304" pitchFamily="18" charset="0"/>
            </a:endParaRPr>
          </a:p>
        </p:txBody>
      </p:sp>
      <p:sp>
        <p:nvSpPr>
          <p:cNvPr id="2" name="Content Placeholder 8"/>
          <p:cNvSpPr>
            <a:spLocks noGrp="1"/>
          </p:cNvSpPr>
          <p:nvPr>
            <p:ph idx="1"/>
          </p:nvPr>
        </p:nvSpPr>
        <p:spPr>
          <a:xfrm>
            <a:off x="217488" y="1176338"/>
            <a:ext cx="11728450" cy="5000625"/>
          </a:xfrm>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a:t>
            </a:r>
            <a:r>
              <a:rPr lang="en-US" sz="2400" b="0" i="0" dirty="0">
                <a:solidFill>
                  <a:srgbClr val="1F1F1F"/>
                </a:solidFill>
                <a:effectLst/>
                <a:latin typeface="Times New Roman" panose="02020603050405020304" pitchFamily="18" charset="0"/>
                <a:cs typeface="Times New Roman" panose="02020603050405020304" pitchFamily="18" charset="0"/>
              </a:rPr>
              <a:t>Consumption level method: Useful for a product that is directly consumed; this method </a:t>
            </a:r>
            <a:r>
              <a:rPr lang="en-US" sz="2400" b="0" i="0" dirty="0">
                <a:solidFill>
                  <a:srgbClr val="040C28"/>
                </a:solidFill>
                <a:effectLst/>
                <a:latin typeface="Times New Roman" panose="02020603050405020304" pitchFamily="18" charset="0"/>
                <a:cs typeface="Times New Roman" panose="02020603050405020304" pitchFamily="18" charset="0"/>
              </a:rPr>
              <a:t>estimates consumption level based on elasticity coefficients</a:t>
            </a:r>
            <a:r>
              <a:rPr lang="en-US" sz="2400" b="0" i="0" dirty="0">
                <a:solidFill>
                  <a:srgbClr val="1F1F1F"/>
                </a:solidFill>
                <a:effectLst/>
                <a:latin typeface="Times New Roman" panose="02020603050405020304" pitchFamily="18" charset="0"/>
                <a:cs typeface="Times New Roman" panose="02020603050405020304" pitchFamily="18" charset="0"/>
              </a:rPr>
              <a:t>, the important ones being the income elasticity of demand and the price elasticity of demand.</a:t>
            </a:r>
            <a:r>
              <a:rPr lang="en-US" sz="2400" dirty="0">
                <a:latin typeface="Times New Roman" panose="02020603050405020304" pitchFamily="18" charset="0"/>
                <a:cs typeface="Times New Roman" panose="02020603050405020304" pitchFamily="18" charset="0"/>
              </a:rPr>
              <a:t>	</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Estimates consumption level on the basis of elasticity coefficients, the important ones being the income elasticity &amp; price elasticity of demand</a:t>
            </a:r>
          </a:p>
          <a:p>
            <a:pPr algn="just">
              <a:buNone/>
            </a:pPr>
            <a:endParaRPr lang="en-US" sz="2400"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End-use method</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Suitable for estimating the demand for intermediate products, also called the consumption coefficient method.</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Required key inputs are:	</a:t>
            </a:r>
          </a:p>
          <a:p>
            <a:pPr algn="just"/>
            <a:r>
              <a:rPr lang="en-US" sz="2400" dirty="0">
                <a:latin typeface="Times New Roman" panose="02020603050405020304" pitchFamily="18" charset="0"/>
                <a:cs typeface="Times New Roman" panose="02020603050405020304" pitchFamily="18" charset="0"/>
              </a:rPr>
              <a:t>Projected output levels of consuming industries, and</a:t>
            </a:r>
          </a:p>
          <a:p>
            <a:pPr algn="just"/>
            <a:r>
              <a:rPr lang="en-US" sz="2400" dirty="0">
                <a:latin typeface="Times New Roman" panose="02020603050405020304" pitchFamily="18" charset="0"/>
                <a:cs typeface="Times New Roman" panose="02020603050405020304" pitchFamily="18" charset="0"/>
              </a:rPr>
              <a:t>Consumption Coefficient	</a:t>
            </a:r>
          </a:p>
          <a:p>
            <a:pPr algn="just">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3600" dirty="0">
                <a:latin typeface="Times New Roman" panose="02020603050405020304" pitchFamily="18" charset="0"/>
                <a:cs typeface="Times New Roman" panose="02020603050405020304" pitchFamily="18" charset="0"/>
              </a:rPr>
              <a:t>Bass Diffusion Method (Frank Bass)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buNone/>
            </a:pPr>
            <a:r>
              <a:rPr lang="en-US" sz="2400"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p: The Coefficient of Innovation</a:t>
            </a:r>
            <a:r>
              <a:rPr lang="en-US" sz="2400" dirty="0">
                <a:latin typeface="Times New Roman" panose="02020603050405020304" pitchFamily="18" charset="0"/>
                <a:cs typeface="Times New Roman" panose="02020603050405020304" pitchFamily="18" charset="0"/>
              </a:rPr>
              <a:t>	</a:t>
            </a:r>
          </a:p>
          <a:p>
            <a:pPr algn="just">
              <a:buNone/>
            </a:pPr>
            <a:r>
              <a:rPr lang="en-US" sz="2400" dirty="0">
                <a:latin typeface="Times New Roman" panose="02020603050405020304" pitchFamily="18" charset="0"/>
                <a:cs typeface="Times New Roman" panose="02020603050405020304" pitchFamily="18" charset="0"/>
              </a:rPr>
              <a:t>	The likelihood that a potential customer would adopt the product because of its innovative features</a:t>
            </a:r>
          </a:p>
          <a:p>
            <a:pPr>
              <a:buNone/>
            </a:pPr>
            <a:endParaRPr lang="en-US" sz="2400" b="1"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q: The Coefficient of Imitation</a:t>
            </a:r>
          </a:p>
          <a:p>
            <a:pPr algn="just">
              <a:buNone/>
            </a:pPr>
            <a:r>
              <a:rPr lang="en-US" sz="2400" dirty="0">
                <a:latin typeface="Times New Roman" panose="02020603050405020304" pitchFamily="18" charset="0"/>
                <a:cs typeface="Times New Roman" panose="02020603050405020304" pitchFamily="18" charset="0"/>
              </a:rPr>
              <a:t>	The tendency of a potential customer to buy the product because many others have bought it. </a:t>
            </a:r>
          </a:p>
          <a:p>
            <a:pPr algn="just">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Leading Indicator Method</a:t>
            </a:r>
            <a:endParaRPr lang="en-IN" sz="3600" dirty="0">
              <a:solidFill>
                <a:srgbClr val="C0000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Leading indicators are variables that change ahead of other variables, the lagging variables.</a:t>
            </a:r>
          </a:p>
          <a:p>
            <a:pPr algn="just">
              <a:buNone/>
            </a:pPr>
            <a:r>
              <a:rPr lang="en-US" sz="2400" dirty="0">
                <a:latin typeface="Times New Roman" panose="02020603050405020304" pitchFamily="18" charset="0"/>
                <a:cs typeface="Times New Roman" panose="02020603050405020304" pitchFamily="18" charset="0"/>
              </a:rPr>
              <a:t>	</a:t>
            </a:r>
          </a:p>
          <a:p>
            <a:pPr algn="just">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eg.</a:t>
            </a:r>
            <a:r>
              <a:rPr lang="en-US" sz="2400" dirty="0">
                <a:latin typeface="Times New Roman" panose="02020603050405020304" pitchFamily="18" charset="0"/>
                <a:cs typeface="Times New Roman" panose="02020603050405020304" pitchFamily="18" charset="0"/>
              </a:rPr>
              <a:t> Change in the level of urbanization (leading indicator) may be used to predict a change in the demand of air conditioners (lagging indicator) </a:t>
            </a: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Econometric method</a:t>
            </a:r>
          </a:p>
        </p:txBody>
      </p:sp>
      <p:sp>
        <p:nvSpPr>
          <p:cNvPr id="5" name="Content Placeholder 4"/>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An econometric model is a mathematical representation of economic relationship(s) derived from economic theory.</a:t>
            </a:r>
          </a:p>
          <a:p>
            <a:pPr>
              <a:buNone/>
            </a:pP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	Two types of models are employed:</a:t>
            </a:r>
          </a:p>
          <a:p>
            <a:pPr marL="571500" indent="-571500">
              <a:buFont typeface="+mj-lt"/>
              <a:buAutoNum type="romanUcPeriod"/>
            </a:pPr>
            <a:r>
              <a:rPr lang="en-US" sz="2400" dirty="0">
                <a:latin typeface="Times New Roman" panose="02020603050405020304" pitchFamily="18" charset="0"/>
                <a:cs typeface="Times New Roman" panose="02020603050405020304" pitchFamily="18" charset="0"/>
              </a:rPr>
              <a:t>Single  Equation Model</a:t>
            </a:r>
          </a:p>
          <a:p>
            <a:pPr marL="571500" indent="-571500">
              <a:buFont typeface="+mj-lt"/>
              <a:buAutoNum type="romanUcPeriod"/>
            </a:pPr>
            <a:r>
              <a:rPr lang="en-US" sz="2400" dirty="0">
                <a:latin typeface="Times New Roman" panose="02020603050405020304" pitchFamily="18" charset="0"/>
                <a:cs typeface="Times New Roman" panose="02020603050405020304" pitchFamily="18" charset="0"/>
              </a:rPr>
              <a:t>Simultaneous Equation Model </a:t>
            </a: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Single  Equation Model</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One variable, the dependent variable (Explained variable), is influenced by one or more independent variables (Explanatory variable).</a:t>
            </a:r>
          </a:p>
          <a:p>
            <a:pPr algn="ctr">
              <a:buNone/>
            </a:pPr>
            <a:r>
              <a:rPr lang="en-US" sz="2400" dirty="0">
                <a:latin typeface="Times New Roman" panose="02020603050405020304" pitchFamily="18" charset="0"/>
                <a:cs typeface="Times New Roman" panose="02020603050405020304" pitchFamily="18" charset="0"/>
              </a:rPr>
              <a:t>	D</a:t>
            </a:r>
            <a:r>
              <a:rPr lang="en-US" sz="2400" baseline="-250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 a</a:t>
            </a:r>
            <a:r>
              <a:rPr lang="en-US" sz="2400" baseline="-250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 + a</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P</a:t>
            </a:r>
            <a:r>
              <a:rPr lang="en-US" sz="2400" baseline="-250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 a</a:t>
            </a:r>
            <a:r>
              <a:rPr lang="en-US" sz="2400" baseline="-25000" dirty="0">
                <a:latin typeface="Times New Roman" panose="02020603050405020304" pitchFamily="18" charset="0"/>
                <a:cs typeface="Times New Roman" panose="02020603050405020304" pitchFamily="18" charset="0"/>
              </a:rPr>
              <a:t>2</a:t>
            </a:r>
            <a:r>
              <a:rPr lang="en-US" sz="2400" dirty="0">
                <a:latin typeface="Times New Roman" panose="02020603050405020304" pitchFamily="18" charset="0"/>
                <a:cs typeface="Times New Roman" panose="02020603050405020304" pitchFamily="18" charset="0"/>
              </a:rPr>
              <a:t>N</a:t>
            </a:r>
            <a:r>
              <a:rPr lang="en-US" sz="2400" baseline="-25000" dirty="0">
                <a:latin typeface="Times New Roman" panose="02020603050405020304" pitchFamily="18" charset="0"/>
                <a:cs typeface="Times New Roman" panose="02020603050405020304" pitchFamily="18" charset="0"/>
              </a:rPr>
              <a:t>t</a:t>
            </a:r>
          </a:p>
          <a:p>
            <a:pPr>
              <a:buNone/>
            </a:pPr>
            <a:r>
              <a:rPr lang="en-US" sz="2400" dirty="0">
                <a:latin typeface="Times New Roman" panose="02020603050405020304" pitchFamily="18" charset="0"/>
                <a:cs typeface="Times New Roman" panose="02020603050405020304" pitchFamily="18" charset="0"/>
              </a:rPr>
              <a:t>	</a:t>
            </a:r>
          </a:p>
          <a:p>
            <a:pPr>
              <a:buNone/>
            </a:pPr>
            <a:r>
              <a:rPr lang="en-US" sz="2400" dirty="0">
                <a:latin typeface="Times New Roman" panose="02020603050405020304" pitchFamily="18" charset="0"/>
                <a:cs typeface="Times New Roman" panose="02020603050405020304" pitchFamily="18" charset="0"/>
              </a:rPr>
              <a:t>	D</a:t>
            </a:r>
            <a:r>
              <a:rPr lang="en-US" sz="2400" baseline="-25000" dirty="0">
                <a:latin typeface="Times New Roman" panose="02020603050405020304" pitchFamily="18" charset="0"/>
                <a:cs typeface="Times New Roman" panose="02020603050405020304" pitchFamily="18" charset="0"/>
              </a:rPr>
              <a:t>t  =</a:t>
            </a:r>
            <a:r>
              <a:rPr lang="en-US" sz="2400" dirty="0">
                <a:latin typeface="Times New Roman" panose="02020603050405020304" pitchFamily="18" charset="0"/>
                <a:cs typeface="Times New Roman" panose="02020603050405020304" pitchFamily="18" charset="0"/>
              </a:rPr>
              <a:t> Demand for a certain product in year t</a:t>
            </a:r>
          </a:p>
          <a:p>
            <a:pPr>
              <a:buNone/>
            </a:pPr>
            <a:r>
              <a:rPr lang="en-US" sz="2400" dirty="0">
                <a:latin typeface="Times New Roman" panose="02020603050405020304" pitchFamily="18" charset="0"/>
                <a:cs typeface="Times New Roman" panose="02020603050405020304" pitchFamily="18" charset="0"/>
              </a:rPr>
              <a:t>	P</a:t>
            </a:r>
            <a:r>
              <a:rPr lang="en-US" sz="2400" baseline="-250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Price for the product in year t</a:t>
            </a:r>
          </a:p>
          <a:p>
            <a:pPr>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a:t>
            </a:r>
            <a:r>
              <a:rPr lang="en-US" sz="2400" baseline="-25000" dirty="0" err="1">
                <a:latin typeface="Times New Roman" panose="02020603050405020304" pitchFamily="18" charset="0"/>
                <a:cs typeface="Times New Roman" panose="02020603050405020304" pitchFamily="18" charset="0"/>
              </a:rPr>
              <a:t>t</a:t>
            </a:r>
            <a:r>
              <a:rPr lang="en-US" sz="2400" baseline="-250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Income in year t</a:t>
            </a:r>
            <a:r>
              <a:rPr lang="en-US" sz="2400" baseline="-25000" dirty="0">
                <a:latin typeface="Times New Roman" panose="02020603050405020304" pitchFamily="18" charset="0"/>
                <a:cs typeface="Times New Roman" panose="02020603050405020304" pitchFamily="18" charset="0"/>
              </a:rPr>
              <a:t>   </a:t>
            </a:r>
          </a:p>
          <a:p>
            <a:pPr algn="just">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Simultaneous Equation Model </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Portrays economic relationship in terms of two or more equations.</a:t>
            </a:r>
          </a:p>
          <a:p>
            <a:pPr algn="just">
              <a:buNone/>
            </a:pPr>
            <a:r>
              <a:rPr lang="en-US" sz="2400" dirty="0">
                <a:latin typeface="Times New Roman" panose="02020603050405020304" pitchFamily="18" charset="0"/>
                <a:cs typeface="Times New Roman" panose="02020603050405020304" pitchFamily="18" charset="0"/>
              </a:rPr>
              <a:t>		</a:t>
            </a:r>
          </a:p>
          <a:p>
            <a:pPr>
              <a:buNone/>
            </a:pP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GNP</a:t>
            </a:r>
            <a:r>
              <a:rPr lang="en-US" sz="2400" baseline="-25000" dirty="0" err="1">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 G</a:t>
            </a:r>
            <a:r>
              <a:rPr lang="en-US" sz="2400" baseline="-250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 I</a:t>
            </a:r>
            <a:r>
              <a:rPr lang="en-US" sz="2400" baseline="-250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 C</a:t>
            </a:r>
            <a:r>
              <a:rPr lang="en-US" sz="2400" baseline="-25000" dirty="0">
                <a:latin typeface="Times New Roman" panose="02020603050405020304" pitchFamily="18" charset="0"/>
                <a:cs typeface="Times New Roman" panose="02020603050405020304" pitchFamily="18" charset="0"/>
              </a:rPr>
              <a:t>t</a:t>
            </a:r>
          </a:p>
          <a:p>
            <a:pPr>
              <a:buNone/>
            </a:pPr>
            <a:r>
              <a:rPr lang="en-US" sz="2400" dirty="0">
                <a:latin typeface="Times New Roman" panose="02020603050405020304" pitchFamily="18" charset="0"/>
                <a:cs typeface="Times New Roman" panose="02020603050405020304" pitchFamily="18" charset="0"/>
              </a:rPr>
              <a:t>	I</a:t>
            </a:r>
            <a:r>
              <a:rPr lang="en-US" sz="2400" baseline="-250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 a</a:t>
            </a:r>
            <a:r>
              <a:rPr lang="en-US" sz="2400" baseline="-250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 + a</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GNP</a:t>
            </a:r>
            <a:r>
              <a:rPr lang="en-US" sz="2400" baseline="-25000" dirty="0">
                <a:latin typeface="Times New Roman" panose="02020603050405020304" pitchFamily="18" charset="0"/>
                <a:cs typeface="Times New Roman" panose="02020603050405020304" pitchFamily="18" charset="0"/>
              </a:rPr>
              <a:t>t</a:t>
            </a:r>
          </a:p>
          <a:p>
            <a:pPr>
              <a:buNone/>
            </a:pPr>
            <a:r>
              <a:rPr lang="en-US" sz="2400" dirty="0">
                <a:latin typeface="Times New Roman" panose="02020603050405020304" pitchFamily="18" charset="0"/>
                <a:cs typeface="Times New Roman" panose="02020603050405020304" pitchFamily="18" charset="0"/>
              </a:rPr>
              <a:t>	C</a:t>
            </a:r>
            <a:r>
              <a:rPr lang="en-US" sz="2400" baseline="-250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 b</a:t>
            </a:r>
            <a:r>
              <a:rPr lang="en-US" sz="2400" baseline="-25000" dirty="0">
                <a:latin typeface="Times New Roman" panose="02020603050405020304" pitchFamily="18" charset="0"/>
                <a:cs typeface="Times New Roman" panose="02020603050405020304" pitchFamily="18" charset="0"/>
              </a:rPr>
              <a:t>0</a:t>
            </a:r>
            <a:r>
              <a:rPr lang="en-US" sz="2400" dirty="0">
                <a:latin typeface="Times New Roman" panose="02020603050405020304" pitchFamily="18" charset="0"/>
                <a:cs typeface="Times New Roman" panose="02020603050405020304" pitchFamily="18" charset="0"/>
              </a:rPr>
              <a:t> + b</a:t>
            </a:r>
            <a:r>
              <a:rPr lang="en-US" sz="2400" baseline="-25000"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GNP</a:t>
            </a:r>
            <a:r>
              <a:rPr lang="en-US" sz="2400" baseline="-250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a:t>
            </a:r>
          </a:p>
          <a:p>
            <a:pPr algn="just">
              <a:buNone/>
            </a:pPr>
            <a:r>
              <a:rPr lang="en-US" sz="2400" dirty="0">
                <a:latin typeface="Times New Roman" panose="02020603050405020304" pitchFamily="18" charset="0"/>
                <a:cs typeface="Times New Roman" panose="02020603050405020304" pitchFamily="18" charset="0"/>
              </a:rPr>
              <a:t>	 where: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G</a:t>
            </a:r>
            <a:r>
              <a:rPr lang="en-US" sz="2400" baseline="-250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 Government purchases for the year</a:t>
            </a:r>
          </a:p>
          <a:p>
            <a:pPr algn="just">
              <a:buNone/>
            </a:pPr>
            <a:r>
              <a:rPr lang="en-US" sz="2400" dirty="0">
                <a:latin typeface="Times New Roman" panose="02020603050405020304" pitchFamily="18" charset="0"/>
                <a:cs typeface="Times New Roman" panose="02020603050405020304" pitchFamily="18" charset="0"/>
              </a:rPr>
              <a:t>	 I</a:t>
            </a:r>
            <a:r>
              <a:rPr lang="en-US" sz="2400" baseline="-25000" dirty="0">
                <a:latin typeface="Times New Roman" panose="02020603050405020304" pitchFamily="18" charset="0"/>
                <a:cs typeface="Times New Roman" panose="02020603050405020304" pitchFamily="18" charset="0"/>
              </a:rPr>
              <a:t>t</a:t>
            </a:r>
            <a:r>
              <a:rPr lang="en-US" sz="2400" dirty="0">
                <a:latin typeface="Times New Roman" panose="02020603050405020304" pitchFamily="18" charset="0"/>
                <a:cs typeface="Times New Roman" panose="02020603050405020304" pitchFamily="18" charset="0"/>
              </a:rPr>
              <a:t> 	= Gross investment for the year</a:t>
            </a:r>
          </a:p>
          <a:p>
            <a:pPr algn="just">
              <a:buNone/>
            </a:pPr>
            <a:r>
              <a:rPr lang="en-US" sz="2400" dirty="0">
                <a:latin typeface="Times New Roman" panose="02020603050405020304" pitchFamily="18" charset="0"/>
                <a:cs typeface="Times New Roman" panose="02020603050405020304" pitchFamily="18" charset="0"/>
              </a:rPr>
              <a:t>	 C</a:t>
            </a:r>
            <a:r>
              <a:rPr lang="en-US" sz="2400" baseline="-25000" dirty="0">
                <a:latin typeface="Times New Roman" panose="02020603050405020304" pitchFamily="18" charset="0"/>
                <a:cs typeface="Times New Roman" panose="02020603050405020304" pitchFamily="18" charset="0"/>
              </a:rPr>
              <a:t>t	</a:t>
            </a:r>
            <a:r>
              <a:rPr lang="en-US" sz="2400" dirty="0">
                <a:latin typeface="Times New Roman" panose="02020603050405020304" pitchFamily="18" charset="0"/>
                <a:cs typeface="Times New Roman" panose="02020603050405020304" pitchFamily="18" charset="0"/>
              </a:rPr>
              <a:t> = Consumption for the year t</a:t>
            </a: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Topic Objectives &amp; Outcome</a:t>
            </a:r>
            <a:endParaRPr lang="en-IN" sz="3600" dirty="0">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p:cNvGraphicFramePr>
          <p:nvPr>
            <p:ph idx="1"/>
          </p:nvPr>
        </p:nvGraphicFramePr>
        <p:xfrm>
          <a:off x="159737" y="2100363"/>
          <a:ext cx="11728449" cy="1193800"/>
        </p:xfrm>
        <a:graphic>
          <a:graphicData uri="http://schemas.openxmlformats.org/drawingml/2006/table">
            <a:tbl>
              <a:tblPr firstRow="1" bandRow="1">
                <a:tableStyleId>{21E4AEA4-8DFA-4A89-87EB-49C32662AFE0}</a:tableStyleId>
              </a:tblPr>
              <a:tblGrid>
                <a:gridCol w="1207050">
                  <a:extLst>
                    <a:ext uri="{9D8B030D-6E8A-4147-A177-3AD203B41FA5}">
                      <a16:colId xmlns:a16="http://schemas.microsoft.com/office/drawing/2014/main" val="20000"/>
                    </a:ext>
                  </a:extLst>
                </a:gridCol>
                <a:gridCol w="6611916">
                  <a:extLst>
                    <a:ext uri="{9D8B030D-6E8A-4147-A177-3AD203B41FA5}">
                      <a16:colId xmlns:a16="http://schemas.microsoft.com/office/drawing/2014/main" val="20001"/>
                    </a:ext>
                  </a:extLst>
                </a:gridCol>
                <a:gridCol w="3909483">
                  <a:extLst>
                    <a:ext uri="{9D8B030D-6E8A-4147-A177-3AD203B41FA5}">
                      <a16:colId xmlns:a16="http://schemas.microsoft.com/office/drawing/2014/main" val="20002"/>
                    </a:ext>
                  </a:extLst>
                </a:gridCol>
              </a:tblGrid>
              <a:tr h="370840">
                <a:tc>
                  <a:txBody>
                    <a:bodyPr/>
                    <a:lstStyle/>
                    <a:p>
                      <a:r>
                        <a:rPr lang="en-IN" dirty="0"/>
                        <a:t>s.no.</a:t>
                      </a:r>
                    </a:p>
                  </a:txBody>
                  <a:tcPr/>
                </a:tc>
                <a:tc>
                  <a:txBody>
                    <a:bodyPr/>
                    <a:lstStyle/>
                    <a:p>
                      <a:r>
                        <a:rPr lang="en-IN" dirty="0"/>
                        <a:t>topic</a:t>
                      </a:r>
                    </a:p>
                  </a:txBody>
                  <a:tcPr/>
                </a:tc>
                <a:tc>
                  <a:txBody>
                    <a:bodyPr/>
                    <a:lstStyle/>
                    <a:p>
                      <a:r>
                        <a:rPr lang="en-IN" dirty="0"/>
                        <a:t>outcomes</a:t>
                      </a:r>
                    </a:p>
                  </a:txBody>
                  <a:tcPr/>
                </a:tc>
                <a:extLst>
                  <a:ext uri="{0D108BD9-81ED-4DB2-BD59-A6C34878D82A}">
                    <a16:rowId xmlns:a16="http://schemas.microsoft.com/office/drawing/2014/main" val="10000"/>
                  </a:ext>
                </a:extLst>
              </a:tr>
              <a:tr h="370840">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2400" dirty="0">
                          <a:latin typeface="Times New Roman" panose="02020603050405020304" pitchFamily="18" charset="0"/>
                          <a:cs typeface="Times New Roman" panose="02020603050405020304" pitchFamily="18" charset="0"/>
                        </a:rPr>
                        <a:t>To understand the Concepts and Types of Project Risks</a:t>
                      </a:r>
                    </a:p>
                  </a:txBody>
                  <a:tcPr/>
                </a:tc>
                <a:tc>
                  <a:txBody>
                    <a:bodyPr/>
                    <a:lstStyle/>
                    <a:p>
                      <a:r>
                        <a:rPr lang="en-IN" dirty="0"/>
                        <a:t>CO2</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A risk is defined as “an uncertain event or condition that, if it occurs, has a positive or negative effect on a project's objectives” (PMI, 2004). It must be emphasized that a risk is characterized by having both a consequence and a probability.</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An uncertainty is defined as “the difference between the amount of information required to perform the task and the amount of information already possessed by the organization” (Galbraith, 1977).</a:t>
            </a:r>
          </a:p>
          <a:p>
            <a:endParaRPr lang="en-IN"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r>
              <a:rPr kumimoji="0" lang="en-US" sz="360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Project Risk &amp; Uncertainty</a:t>
            </a:r>
            <a:endParaRPr lang="en-IN" sz="3600"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A formal, comprehensive project risk plan allows the project manager to be proactive regarding the innumerable things that can and do go wrong with a project.</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Project risk management begins early in the life cycle. A clear understanding of the risks that face the project must be established. The sources of project risk are almost limitless, emphasizing the need for a well-thought-out, detailed plan.</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Typical examples include the loss of a key team member, weather emergencies, technical failures, and poor suppliers.</a:t>
            </a:r>
          </a:p>
          <a:p>
            <a:endParaRPr lang="en-IN"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r>
              <a:rPr lang="en-IN" sz="3600" dirty="0"/>
              <a:t>Project Risk</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Project Risk</a:t>
            </a:r>
          </a:p>
        </p:txBody>
      </p:sp>
      <p:pic>
        <p:nvPicPr>
          <p:cNvPr id="4" name="Picture 4" descr="What is Project Risk Management? 6 Steps to Boost Success • Asana"/>
          <p:cNvPicPr>
            <a:picLocks noGrp="1" noChangeAspect="1" noChangeArrowheads="1"/>
          </p:cNvPicPr>
          <p:nvPr>
            <p:ph idx="1"/>
          </p:nvPr>
        </p:nvPicPr>
        <p:blipFill rotWithShape="1">
          <a:blip r:embed="rId2" cstate="print">
            <a:extLst>
              <a:ext uri="{28A0092B-C50C-407E-A947-70E740481C1C}">
                <a14:useLocalDpi xmlns:a14="http://schemas.microsoft.com/office/drawing/2010/main" val="0"/>
              </a:ext>
            </a:extLst>
          </a:blip>
          <a:srcRect b="10074"/>
          <a:stretch>
            <a:fillRect/>
          </a:stretch>
        </p:blipFill>
        <p:spPr bwMode="auto">
          <a:xfrm>
            <a:off x="3065250" y="1176338"/>
            <a:ext cx="6032925" cy="44968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To relate the risk categories to the levels of project objectives, the three categories are defined.</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Operational Risks</a:t>
            </a:r>
          </a:p>
          <a:p>
            <a:pPr algn="just"/>
            <a:r>
              <a:rPr lang="en-US" sz="2400" dirty="0">
                <a:latin typeface="Times New Roman" panose="02020603050405020304" pitchFamily="18" charset="0"/>
                <a:cs typeface="Times New Roman" panose="02020603050405020304" pitchFamily="18" charset="0"/>
              </a:rPr>
              <a:t>Short-term strategic Risks</a:t>
            </a:r>
          </a:p>
          <a:p>
            <a:pPr algn="just"/>
            <a:r>
              <a:rPr lang="en-US" sz="2400" dirty="0">
                <a:latin typeface="Times New Roman" panose="02020603050405020304" pitchFamily="18" charset="0"/>
                <a:cs typeface="Times New Roman" panose="02020603050405020304" pitchFamily="18" charset="0"/>
              </a:rPr>
              <a:t>Long-term strategic Risks</a:t>
            </a:r>
          </a:p>
          <a:p>
            <a:endParaRPr lang="en-IN"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Types of Risk</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70020" y="1939702"/>
            <a:ext cx="10953855" cy="2000676"/>
          </a:xfrm>
        </p:spPr>
        <p:txBody>
          <a:bodyPr>
            <a:normAutofit/>
          </a:bodyPr>
          <a:lstStyle/>
          <a:p>
            <a:r>
              <a:rPr lang="en-US" sz="2400" dirty="0">
                <a:latin typeface="Times New Roman" panose="02020603050405020304" pitchFamily="18" charset="0"/>
                <a:cs typeface="Times New Roman" panose="02020603050405020304" pitchFamily="18" charset="0"/>
              </a:rPr>
              <a:t>Risks related to the operational objectives of the project. This means risks restricted to the direct results of the project—that is, its products.</a:t>
            </a:r>
            <a:endParaRPr lang="en-IN"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Operational Risk</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a:t>
            </a:r>
          </a:p>
          <a:p>
            <a:pPr algn="just">
              <a:buNone/>
            </a:pPr>
            <a:r>
              <a:rPr lang="en-US" sz="2400" dirty="0">
                <a:latin typeface="Times New Roman" panose="02020603050405020304" pitchFamily="18" charset="0"/>
                <a:cs typeface="Times New Roman" panose="02020603050405020304" pitchFamily="18" charset="0"/>
              </a:rPr>
              <a:t>	Short-term strategic risks are risks related to the objectives for project owner's use of the project results after the project has been completed. </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It may also mean the risk for first-order effects of the project—that is, risk for the effects that should be achieved for the target group or users.</a:t>
            </a:r>
          </a:p>
          <a:p>
            <a:endParaRPr lang="en-IN"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Short-term strategic Risks</a:t>
            </a:r>
            <a:endParaRPr lang="en-IN" sz="36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183907" y="2032310"/>
            <a:ext cx="10299337" cy="2520440"/>
          </a:xfrm>
        </p:spPr>
        <p:txBody>
          <a:bodyPr>
            <a:normAutofit/>
          </a:bodyPr>
          <a:lstStyle/>
          <a:p>
            <a:pPr algn="just"/>
            <a:r>
              <a:rPr lang="en-US" sz="2400" dirty="0">
                <a:latin typeface="Times New Roman" panose="02020603050405020304" pitchFamily="18" charset="0"/>
                <a:cs typeface="Times New Roman" panose="02020603050405020304" pitchFamily="18" charset="0"/>
              </a:rPr>
              <a:t>Risks related to long-term strategic objectives of the project—in other words, risks related to the project purpose, or, the long-term objective that the project is meant to contribute to.</a:t>
            </a:r>
            <a:endParaRPr lang="en-IN"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Long-term strategic Risks</a:t>
            </a:r>
            <a:endParaRPr lang="en-IN" sz="36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a:t>Common Project Risk</a:t>
            </a:r>
          </a:p>
        </p:txBody>
      </p:sp>
      <p:pic>
        <p:nvPicPr>
          <p:cNvPr id="4" name="Content Placeholder 3"/>
          <p:cNvPicPr>
            <a:picLocks noGrp="1" noChangeAspect="1"/>
          </p:cNvPicPr>
          <p:nvPr>
            <p:ph idx="1"/>
          </p:nvPr>
        </p:nvPicPr>
        <p:blipFill>
          <a:blip r:embed="rId2"/>
          <a:stretch>
            <a:fillRect/>
          </a:stretch>
        </p:blipFill>
        <p:spPr>
          <a:xfrm>
            <a:off x="1984827" y="1520792"/>
            <a:ext cx="8217951" cy="4417995"/>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17715" y="1175661"/>
            <a:ext cx="11727542" cy="3146082"/>
          </a:xfrm>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Operational criteria, used to evaluate whether a given risk element is long-term strategic, short-term strategic, or operational include the following:</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The risk element is considered an operational risk when: the risk element is a risk to the project output (which should be specified in a project definition/delivery contract)—i.e., a risk to the project's ability to deliver.</a:t>
            </a:r>
          </a:p>
          <a:p>
            <a:endParaRPr lang="en-IN"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r>
              <a:rPr kumimoji="0" lang="en-US" sz="360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Criteria to Categories Risk</a:t>
            </a:r>
            <a:endParaRPr lang="en-IN" sz="3600"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795231" y="2157438"/>
            <a:ext cx="10273822" cy="2106554"/>
          </a:xfrm>
        </p:spPr>
        <p:txBody>
          <a:bodyPr>
            <a:normAutofit/>
          </a:bodyPr>
          <a:lstStyle/>
          <a:p>
            <a:pPr algn="just"/>
            <a:r>
              <a:rPr lang="en-US" sz="2400" dirty="0">
                <a:latin typeface="Times New Roman" panose="02020603050405020304" pitchFamily="18" charset="0"/>
                <a:cs typeface="Times New Roman" panose="02020603050405020304" pitchFamily="18" charset="0"/>
              </a:rPr>
              <a:t>The risk element is a short-term strategic risk when: the risk element is a risk to a functionality not specified in the project definition/delivery contract, but is necessary to achieve the effects of the project (restricted to the first-order effects for the target group/users).</a:t>
            </a:r>
            <a:endParaRPr lang="en-IN"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r>
              <a:rPr kumimoji="0" lang="en-US" sz="360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Criteria to Categories Risk</a:t>
            </a:r>
            <a:endParaRPr lang="en-IN" sz="36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554828" y="1849430"/>
            <a:ext cx="11082344" cy="3001703"/>
          </a:xfrm>
        </p:spPr>
        <p:txBody>
          <a:bodyPr>
            <a:normAutofit/>
          </a:bodyPr>
          <a:lstStyle/>
          <a:p>
            <a:pPr algn="just"/>
            <a:r>
              <a:rPr lang="en-US" sz="2400" dirty="0">
                <a:latin typeface="Times New Roman" panose="02020603050405020304" pitchFamily="18" charset="0"/>
                <a:cs typeface="Times New Roman" panose="02020603050405020304" pitchFamily="18" charset="0"/>
              </a:rPr>
              <a:t>The risk element is a long-term strategic risk when: the risk element is a risk to achieving the long-term objectives of the project, but not a risk of the two categories mentioned above (i.e., operational or short-term strategic risk).</a:t>
            </a:r>
            <a:endParaRPr lang="en-IN"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r>
              <a:rPr kumimoji="0" lang="en-US" sz="3600" i="0" u="none" strike="noStrike" kern="1200" cap="none" spc="0" normalizeH="0" baseline="0" noProof="0" dirty="0">
                <a:ln>
                  <a:noFill/>
                </a:ln>
                <a:solidFill>
                  <a:srgbClr val="C00000"/>
                </a:solidFill>
                <a:effectLst/>
                <a:uLnTx/>
                <a:uFillTx/>
                <a:latin typeface="Times New Roman" panose="02020603050405020304" pitchFamily="18" charset="0"/>
                <a:ea typeface="+mn-ea"/>
                <a:cs typeface="Times New Roman" panose="02020603050405020304" pitchFamily="18" charset="0"/>
              </a:rPr>
              <a:t>Criteria to Categories Risk</a:t>
            </a:r>
            <a:endParaRPr lang="en-IN" sz="36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Topic Objectives &amp; Outcome</a:t>
            </a:r>
            <a:endParaRPr lang="en-IN" sz="3600" dirty="0">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p:cNvGraphicFramePr>
          <p:nvPr>
            <p:ph idx="1"/>
          </p:nvPr>
        </p:nvGraphicFramePr>
        <p:xfrm>
          <a:off x="159737" y="2100363"/>
          <a:ext cx="11728449" cy="828040"/>
        </p:xfrm>
        <a:graphic>
          <a:graphicData uri="http://schemas.openxmlformats.org/drawingml/2006/table">
            <a:tbl>
              <a:tblPr firstRow="1" bandRow="1">
                <a:tableStyleId>{21E4AEA4-8DFA-4A89-87EB-49C32662AFE0}</a:tableStyleId>
              </a:tblPr>
              <a:tblGrid>
                <a:gridCol w="1207050">
                  <a:extLst>
                    <a:ext uri="{9D8B030D-6E8A-4147-A177-3AD203B41FA5}">
                      <a16:colId xmlns:a16="http://schemas.microsoft.com/office/drawing/2014/main" val="20000"/>
                    </a:ext>
                  </a:extLst>
                </a:gridCol>
                <a:gridCol w="6611916">
                  <a:extLst>
                    <a:ext uri="{9D8B030D-6E8A-4147-A177-3AD203B41FA5}">
                      <a16:colId xmlns:a16="http://schemas.microsoft.com/office/drawing/2014/main" val="20001"/>
                    </a:ext>
                  </a:extLst>
                </a:gridCol>
                <a:gridCol w="3909483">
                  <a:extLst>
                    <a:ext uri="{9D8B030D-6E8A-4147-A177-3AD203B41FA5}">
                      <a16:colId xmlns:a16="http://schemas.microsoft.com/office/drawing/2014/main" val="20002"/>
                    </a:ext>
                  </a:extLst>
                </a:gridCol>
              </a:tblGrid>
              <a:tr h="370840">
                <a:tc>
                  <a:txBody>
                    <a:bodyPr/>
                    <a:lstStyle/>
                    <a:p>
                      <a:r>
                        <a:rPr lang="en-IN" dirty="0"/>
                        <a:t>s.no.</a:t>
                      </a:r>
                    </a:p>
                  </a:txBody>
                  <a:tcPr/>
                </a:tc>
                <a:tc>
                  <a:txBody>
                    <a:bodyPr/>
                    <a:lstStyle/>
                    <a:p>
                      <a:r>
                        <a:rPr lang="en-IN" dirty="0"/>
                        <a:t>topic</a:t>
                      </a:r>
                    </a:p>
                  </a:txBody>
                  <a:tcPr/>
                </a:tc>
                <a:tc>
                  <a:txBody>
                    <a:bodyPr/>
                    <a:lstStyle/>
                    <a:p>
                      <a:r>
                        <a:rPr lang="en-IN" dirty="0"/>
                        <a:t>outcomes</a:t>
                      </a:r>
                    </a:p>
                  </a:txBody>
                  <a:tcPr/>
                </a:tc>
                <a:extLst>
                  <a:ext uri="{0D108BD9-81ED-4DB2-BD59-A6C34878D82A}">
                    <a16:rowId xmlns:a16="http://schemas.microsoft.com/office/drawing/2014/main" val="10000"/>
                  </a:ext>
                </a:extLst>
              </a:tr>
              <a:tr h="370840">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2400" dirty="0">
                          <a:latin typeface="Times New Roman" panose="02020603050405020304" pitchFamily="18" charset="0"/>
                          <a:cs typeface="Times New Roman" panose="02020603050405020304" pitchFamily="18" charset="0"/>
                        </a:rPr>
                        <a:t>To identify the project risk.</a:t>
                      </a:r>
                    </a:p>
                  </a:txBody>
                  <a:tcPr/>
                </a:tc>
                <a:tc>
                  <a:txBody>
                    <a:bodyPr/>
                    <a:lstStyle/>
                    <a:p>
                      <a:r>
                        <a:rPr lang="en-IN" dirty="0"/>
                        <a:t>CO2</a:t>
                      </a:r>
                    </a:p>
                  </a:txBody>
                  <a:tcPr/>
                </a:tc>
                <a:extLst>
                  <a:ext uri="{0D108BD9-81ED-4DB2-BD59-A6C34878D82A}">
                    <a16:rowId xmlns:a16="http://schemas.microsoft.com/office/drawing/2014/main" val="10001"/>
                  </a:ext>
                </a:extLst>
              </a:tr>
            </a:tbl>
          </a:graphicData>
        </a:graphic>
      </p:graphicFrame>
      <p:graphicFrame>
        <p:nvGraphicFramePr>
          <p:cNvPr id="4" name="Table 3"/>
          <p:cNvGraphicFramePr>
            <a:graphicFrameLocks noGrp="1"/>
          </p:cNvGraphicFramePr>
          <p:nvPr/>
        </p:nvGraphicFramePr>
        <p:xfrm>
          <a:off x="159736" y="2928403"/>
          <a:ext cx="11728449" cy="457200"/>
        </p:xfrm>
        <a:graphic>
          <a:graphicData uri="http://schemas.openxmlformats.org/drawingml/2006/table">
            <a:tbl>
              <a:tblPr firstRow="1" bandRow="1">
                <a:tableStyleId>{21E4AEA4-8DFA-4A89-87EB-49C32662AFE0}</a:tableStyleId>
              </a:tblPr>
              <a:tblGrid>
                <a:gridCol w="1168549">
                  <a:extLst>
                    <a:ext uri="{9D8B030D-6E8A-4147-A177-3AD203B41FA5}">
                      <a16:colId xmlns:a16="http://schemas.microsoft.com/office/drawing/2014/main" val="20000"/>
                    </a:ext>
                  </a:extLst>
                </a:gridCol>
                <a:gridCol w="6650417">
                  <a:extLst>
                    <a:ext uri="{9D8B030D-6E8A-4147-A177-3AD203B41FA5}">
                      <a16:colId xmlns:a16="http://schemas.microsoft.com/office/drawing/2014/main" val="20001"/>
                    </a:ext>
                  </a:extLst>
                </a:gridCol>
                <a:gridCol w="3909483">
                  <a:extLst>
                    <a:ext uri="{9D8B030D-6E8A-4147-A177-3AD203B41FA5}">
                      <a16:colId xmlns:a16="http://schemas.microsoft.com/office/drawing/2014/main" val="20002"/>
                    </a:ext>
                  </a:extLst>
                </a:gridCol>
              </a:tblGrid>
              <a:tr h="370840">
                <a:tc>
                  <a:txBody>
                    <a:bodyPr/>
                    <a:lstStyle/>
                    <a:p>
                      <a:r>
                        <a:rPr lang="en-IN" dirty="0"/>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2400" dirty="0">
                          <a:latin typeface="Times New Roman" panose="02020603050405020304" pitchFamily="18" charset="0"/>
                          <a:cs typeface="Times New Roman" panose="02020603050405020304" pitchFamily="18" charset="0"/>
                        </a:rPr>
                        <a:t>To do the Risks Analysis of projects</a:t>
                      </a:r>
                    </a:p>
                  </a:txBody>
                  <a:tcPr/>
                </a:tc>
                <a:tc>
                  <a:txBody>
                    <a:bodyPr/>
                    <a:lstStyle/>
                    <a:p>
                      <a:r>
                        <a:rPr lang="en-IN" dirty="0"/>
                        <a:t>C02</a:t>
                      </a:r>
                    </a:p>
                  </a:txBody>
                  <a:tcPr/>
                </a:tc>
                <a:extLst>
                  <a:ext uri="{0D108BD9-81ED-4DB2-BD59-A6C34878D82A}">
                    <a16:rowId xmlns:a16="http://schemas.microsoft.com/office/drawing/2014/main" val="10000"/>
                  </a:ext>
                </a:extLst>
              </a:tr>
            </a:tbl>
          </a:graphicData>
        </a:graphic>
      </p:graphicFrame>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The risk identification function should not be left to chance but should be explicitly covered in a number of project documents: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Statement of work (SOW),</a:t>
            </a:r>
          </a:p>
          <a:p>
            <a:pPr algn="just"/>
            <a:r>
              <a:rPr lang="en-US" sz="2400" dirty="0">
                <a:latin typeface="Times New Roman" panose="02020603050405020304" pitchFamily="18" charset="0"/>
                <a:cs typeface="Times New Roman" panose="02020603050405020304" pitchFamily="18" charset="0"/>
              </a:rPr>
              <a:t>Work breakdown structure (WBS),</a:t>
            </a:r>
          </a:p>
          <a:p>
            <a:pPr algn="just"/>
            <a:r>
              <a:rPr lang="en-US" sz="2400" dirty="0">
                <a:latin typeface="Times New Roman" panose="02020603050405020304" pitchFamily="18" charset="0"/>
                <a:cs typeface="Times New Roman" panose="02020603050405020304" pitchFamily="18" charset="0"/>
              </a:rPr>
              <a:t>Budget,</a:t>
            </a:r>
          </a:p>
          <a:p>
            <a:pPr algn="just"/>
            <a:r>
              <a:rPr lang="en-US" sz="2400" dirty="0">
                <a:latin typeface="Times New Roman" panose="02020603050405020304" pitchFamily="18" charset="0"/>
                <a:cs typeface="Times New Roman" panose="02020603050405020304" pitchFamily="18" charset="0"/>
              </a:rPr>
              <a:t>Schedule,</a:t>
            </a:r>
          </a:p>
          <a:p>
            <a:pPr algn="just"/>
            <a:r>
              <a:rPr lang="en-US" sz="2400" dirty="0">
                <a:latin typeface="Times New Roman" panose="02020603050405020304" pitchFamily="18" charset="0"/>
                <a:cs typeface="Times New Roman" panose="02020603050405020304" pitchFamily="18" charset="0"/>
              </a:rPr>
              <a:t>Acquisition plan, and</a:t>
            </a:r>
          </a:p>
          <a:p>
            <a:pPr algn="just"/>
            <a:r>
              <a:rPr lang="en-US" sz="2400" dirty="0">
                <a:latin typeface="Times New Roman" panose="02020603050405020304" pitchFamily="18" charset="0"/>
                <a:cs typeface="Times New Roman" panose="02020603050405020304" pitchFamily="18" charset="0"/>
              </a:rPr>
              <a:t>Execution plan.</a:t>
            </a:r>
          </a:p>
          <a:p>
            <a:endParaRPr lang="en-IN"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r>
              <a:rPr lang="en-US" sz="3600" dirty="0">
                <a:solidFill>
                  <a:srgbClr val="C00000"/>
                </a:solidFill>
                <a:latin typeface="Times New Roman" panose="02020603050405020304" pitchFamily="18" charset="0"/>
                <a:cs typeface="Times New Roman" panose="02020603050405020304" pitchFamily="18" charset="0"/>
              </a:rPr>
              <a:t>Risk Identification &amp; Analysis</a:t>
            </a:r>
            <a:endParaRPr lang="en-IN" sz="3600"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The full project team should be actively involved.</a:t>
            </a:r>
          </a:p>
          <a:p>
            <a:pPr algn="just"/>
            <a:r>
              <a:rPr lang="en-US" sz="2400" dirty="0">
                <a:latin typeface="Times New Roman" panose="02020603050405020304" pitchFamily="18" charset="0"/>
                <a:cs typeface="Times New Roman" panose="02020603050405020304" pitchFamily="18" charset="0"/>
              </a:rPr>
              <a:t>Potential risks should be identified by all members of the project team.</a:t>
            </a:r>
          </a:p>
          <a:p>
            <a:pPr algn="just"/>
            <a:r>
              <a:rPr lang="en-US" sz="2400" dirty="0">
                <a:latin typeface="Times New Roman" panose="02020603050405020304" pitchFamily="18" charset="0"/>
                <a:cs typeface="Times New Roman" panose="02020603050405020304" pitchFamily="18" charset="0"/>
              </a:rPr>
              <a:t>No criticism of any suggestion is permitted.</a:t>
            </a:r>
          </a:p>
          <a:p>
            <a:pPr algn="just"/>
            <a:r>
              <a:rPr lang="en-US" sz="2400" dirty="0">
                <a:latin typeface="Times New Roman" panose="02020603050405020304" pitchFamily="18" charset="0"/>
                <a:cs typeface="Times New Roman" panose="02020603050405020304" pitchFamily="18" charset="0"/>
              </a:rPr>
              <a:t>Any potential risk identified by anyone should be recorded, regardless of whether other members of the group consider it to be significant.</a:t>
            </a:r>
          </a:p>
          <a:p>
            <a:pPr algn="just"/>
            <a:r>
              <a:rPr lang="en-US" sz="2400" dirty="0">
                <a:latin typeface="Times New Roman" panose="02020603050405020304" pitchFamily="18" charset="0"/>
                <a:cs typeface="Times New Roman" panose="02020603050405020304" pitchFamily="18" charset="0"/>
              </a:rPr>
              <a:t>All potential risks identified by brainstorming should be documented and followed up by the integrated project team.</a:t>
            </a:r>
          </a:p>
          <a:p>
            <a:endParaRPr lang="en-IN"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r>
              <a:rPr lang="en-US" sz="3600" dirty="0">
                <a:solidFill>
                  <a:srgbClr val="C00000"/>
                </a:solidFill>
                <a:latin typeface="Times New Roman" panose="02020603050405020304" pitchFamily="18" charset="0"/>
                <a:cs typeface="Times New Roman" panose="02020603050405020304" pitchFamily="18" charset="0"/>
              </a:rPr>
              <a:t>Risk Identification &amp; Analysis</a:t>
            </a:r>
            <a:endParaRPr lang="en-IN" sz="3600" dirty="0">
              <a:solidFill>
                <a:srgbClr val="C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Step 1: Make a List</a:t>
            </a:r>
          </a:p>
          <a:p>
            <a:pPr algn="just"/>
            <a:r>
              <a:rPr lang="en-US" sz="2400" dirty="0">
                <a:latin typeface="Times New Roman" panose="02020603050405020304" pitchFamily="18" charset="0"/>
                <a:cs typeface="Times New Roman" panose="02020603050405020304" pitchFamily="18" charset="0"/>
              </a:rPr>
              <a:t>Steps 2 &amp; 3: Determine the Probability of Risk Occurrence and Negative Impact.</a:t>
            </a:r>
          </a:p>
          <a:p>
            <a:pPr algn="just"/>
            <a:r>
              <a:rPr lang="en-US" sz="2400" dirty="0">
                <a:latin typeface="Times New Roman" panose="02020603050405020304" pitchFamily="18" charset="0"/>
                <a:cs typeface="Times New Roman" panose="02020603050405020304" pitchFamily="18" charset="0"/>
              </a:rPr>
              <a:t>Step 4: Prevent or Mitigate the Risk</a:t>
            </a:r>
          </a:p>
          <a:p>
            <a:pPr algn="just"/>
            <a:r>
              <a:rPr lang="en-US" sz="2400" dirty="0">
                <a:latin typeface="Times New Roman" panose="02020603050405020304" pitchFamily="18" charset="0"/>
                <a:cs typeface="Times New Roman" panose="02020603050405020304" pitchFamily="18" charset="0"/>
              </a:rPr>
              <a:t>Step 5: Consider Contingencies</a:t>
            </a:r>
          </a:p>
          <a:p>
            <a:pPr algn="just"/>
            <a:r>
              <a:rPr lang="en-US" sz="2400" dirty="0">
                <a:latin typeface="Times New Roman" panose="02020603050405020304" pitchFamily="18" charset="0"/>
                <a:cs typeface="Times New Roman" panose="02020603050405020304" pitchFamily="18" charset="0"/>
              </a:rPr>
              <a:t>Step 6: Establish the Trigger Point</a:t>
            </a:r>
          </a:p>
          <a:p>
            <a:endParaRPr lang="en-IN"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Six Steps Process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sz="2400" b="1" dirty="0">
                <a:latin typeface="Times New Roman" panose="02020603050405020304" pitchFamily="18" charset="0"/>
                <a:cs typeface="Times New Roman" panose="02020603050405020304" pitchFamily="18" charset="0"/>
              </a:rPr>
              <a:t>Brainstorm. </a:t>
            </a:r>
            <a:r>
              <a:rPr lang="en-US" sz="2400" dirty="0">
                <a:latin typeface="Times New Roman" panose="02020603050405020304" pitchFamily="18" charset="0"/>
                <a:cs typeface="Times New Roman" panose="02020603050405020304" pitchFamily="18" charset="0"/>
              </a:rPr>
              <a:t>Making a list of potential risks to the project should not be an analysis but a formal brainstorming session, when all ideas are captured.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Involve everyone.</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Take a </a:t>
            </a:r>
            <a:r>
              <a:rPr lang="en-US" sz="2400" b="1" dirty="0">
                <a:latin typeface="Times New Roman" panose="02020603050405020304" pitchFamily="18" charset="0"/>
                <a:cs typeface="Times New Roman" panose="02020603050405020304" pitchFamily="18" charset="0"/>
              </a:rPr>
              <a:t>holistic approach </a:t>
            </a:r>
            <a:r>
              <a:rPr lang="en-US" sz="2400" dirty="0">
                <a:latin typeface="Times New Roman" panose="02020603050405020304" pitchFamily="18" charset="0"/>
                <a:cs typeface="Times New Roman" panose="02020603050405020304" pitchFamily="18" charset="0"/>
              </a:rPr>
              <a:t>to establishing the list, as all types of risks will need to be identified and dealt with accordingly.</a:t>
            </a:r>
          </a:p>
          <a:p>
            <a:endParaRPr lang="en-IN"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 1: Make a List</a:t>
            </a:r>
            <a:endParaRPr lang="en-IN" sz="36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Step 2 &amp; step 3</a:t>
            </a:r>
          </a:p>
        </p:txBody>
      </p:sp>
      <p:sp>
        <p:nvSpPr>
          <p:cNvPr id="4" name="Content Placeholder 8"/>
          <p:cNvSpPr>
            <a:spLocks noGrp="1"/>
          </p:cNvSpPr>
          <p:nvPr>
            <p:ph idx="1"/>
          </p:nvPr>
        </p:nvSpPr>
        <p:spPr>
          <a:xfrm>
            <a:off x="217488" y="1176338"/>
            <a:ext cx="11728450" cy="5000625"/>
          </a:xfrm>
        </p:spPr>
        <p:txBody>
          <a:bodyPr>
            <a:normAutofit/>
          </a:bodyPr>
          <a:lstStyle/>
          <a:p>
            <a:pPr algn="just"/>
            <a:r>
              <a:rPr lang="en-US" sz="2400" dirty="0">
                <a:latin typeface="Times New Roman" panose="02020603050405020304" pitchFamily="18" charset="0"/>
                <a:cs typeface="Times New Roman" panose="02020603050405020304" pitchFamily="18" charset="0"/>
              </a:rPr>
              <a:t>If the risk becomes a reality, how badly will it damage the project? This is the next question that needs to be asked and answered. </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If the risk becomes reality, how will it affect the budget, schedule, resource utilization, scope of work, and so on? The output of steps 2 and 3 results in a list of potential risks with corresponding values for probability and negative impact.</a:t>
            </a:r>
          </a:p>
          <a:p>
            <a:pPr algn="just"/>
            <a:endParaRPr lang="en-US" sz="2400" b="1" dirty="0">
              <a:latin typeface="Times New Roman" panose="02020603050405020304" pitchFamily="18" charset="0"/>
              <a:cs typeface="Times New Roman" panose="02020603050405020304" pitchFamily="18" charset="0"/>
            </a:endParaRPr>
          </a:p>
          <a:p>
            <a:pPr algn="just"/>
            <a:endParaRPr lang="en-US" sz="24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3794362" y="3869973"/>
            <a:ext cx="4675870" cy="2126565"/>
          </a:xfrm>
          <a:prstGeom prst="rect">
            <a:avLst/>
          </a:prstGeom>
          <a:ln>
            <a:solidFill>
              <a:schemeClr val="accent1"/>
            </a:solidFill>
          </a:ln>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Step 2 &amp; step 3</a:t>
            </a:r>
          </a:p>
        </p:txBody>
      </p:sp>
      <p:sp>
        <p:nvSpPr>
          <p:cNvPr id="4" name="Content Placeholder 8"/>
          <p:cNvSpPr>
            <a:spLocks noGrp="1"/>
          </p:cNvSpPr>
          <p:nvPr>
            <p:ph idx="1"/>
          </p:nvPr>
        </p:nvSpPr>
        <p:spPr>
          <a:xfrm>
            <a:off x="217488" y="1176338"/>
            <a:ext cx="11728450" cy="5000625"/>
          </a:xfrm>
        </p:spPr>
        <p:txBody>
          <a:bodyPr>
            <a:normAutofit/>
          </a:bodyPr>
          <a:lstStyle/>
          <a:p>
            <a:pPr algn="just"/>
            <a:r>
              <a:rPr lang="en-US" sz="2400" dirty="0">
                <a:latin typeface="Times New Roman" panose="02020603050405020304" pitchFamily="18" charset="0"/>
                <a:cs typeface="Times New Roman" panose="02020603050405020304" pitchFamily="18" charset="0"/>
              </a:rPr>
              <a:t>The probability scale can be based on a range of 1 through 10, with 1 representing unlikely and 10 being very likely. Negative impact can be represented by the same scale or in budgetary impact:</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1752442" y="3352800"/>
            <a:ext cx="5791358" cy="1701211"/>
          </a:xfrm>
          <a:prstGeom prst="rect">
            <a:avLst/>
          </a:prstGeom>
          <a:solidFill>
            <a:schemeClr val="bg1"/>
          </a:solidFill>
          <a:ln>
            <a:solidFill>
              <a:schemeClr val="accent1"/>
            </a:solidFill>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Some risks can be prevented; others can only be mitigated. Earthquakes or the retirement of an important stakeholder, for instance, cannot be prevented.</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Kill the risk before it has a chance to grow and flourish, and you won’t have to deal with it again.</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For example, if a vendor or supplier is targeted for your project and one of your team members has had previous dealings with the company and was not impressed, he will inform you that the supplier’s material deliveries are frequently late and often rejected. Assuming that the supplier is not a sole source (your only choice), you can prevent the risk by finding an alternate supplier that is more reliable.</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 4: Prevent or Mitigate the Risk</a:t>
            </a:r>
            <a:endParaRPr lang="en-IN" sz="36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 5: Consider Contingencies</a:t>
            </a:r>
            <a:endParaRPr lang="en-IN" sz="3600" dirty="0"/>
          </a:p>
        </p:txBody>
      </p:sp>
      <p:sp>
        <p:nvSpPr>
          <p:cNvPr id="4" name="Content Placeholder 8"/>
          <p:cNvSpPr txBox="1"/>
          <p:nvPr/>
        </p:nvSpPr>
        <p:spPr>
          <a:xfrm>
            <a:off x="380999" y="1295400"/>
            <a:ext cx="11313695" cy="4787766"/>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dirty="0">
                <a:latin typeface="Times New Roman" panose="02020603050405020304" pitchFamily="18" charset="0"/>
                <a:cs typeface="Times New Roman" panose="02020603050405020304" pitchFamily="18" charset="0"/>
              </a:rPr>
              <a:t>Contingencies represent the specific actions that will be taken if the risk occurs.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Here, you answer the question “If the risk becomes reality, what will we do”?</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For example, if acceptance testing for a supplier’s widgets has been identified as medium to high risk and a test failure occurs, an appropriate contingency might be to supply engineering support at the vendor’s expense. Another contingency might be to switch to another predetermined vendor if he has widgets in stock.</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If the risk is a high priority (high probability, high negative impact) you will want to identify multiple contingencies.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If the risk falls in the middle range of the prioritization scale, you should establish at least one contingency.</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Step 6: Establish the Trigger Point</a:t>
            </a:r>
            <a:endParaRPr lang="en-IN" sz="3600" dirty="0"/>
          </a:p>
        </p:txBody>
      </p:sp>
      <p:sp>
        <p:nvSpPr>
          <p:cNvPr id="4" name="Content Placeholder 8"/>
          <p:cNvSpPr>
            <a:spLocks noGrp="1"/>
          </p:cNvSpPr>
          <p:nvPr>
            <p:ph idx="1"/>
          </p:nvPr>
        </p:nvSpPr>
        <p:spPr>
          <a:xfrm>
            <a:off x="217488" y="1176338"/>
            <a:ext cx="11728450" cy="5000625"/>
          </a:xfrm>
        </p:spPr>
        <p:txBody>
          <a:bodyPr>
            <a:normAutofit/>
          </a:bodyPr>
          <a:lstStyle/>
          <a:p>
            <a:pPr algn="just"/>
            <a:r>
              <a:rPr lang="en-US" sz="2400" dirty="0">
                <a:latin typeface="Times New Roman" panose="02020603050405020304" pitchFamily="18" charset="0"/>
                <a:cs typeface="Times New Roman" panose="02020603050405020304" pitchFamily="18" charset="0"/>
              </a:rPr>
              <a:t>The trigger point is the point at which the risk becomes enough of a reality that the project manager needs to trigger the contingency. </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trigger point is often the most important element of the project risk plan. There is a direct relationship between the trigger point and the contingencies.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Trigger too soon and you will probably spend time, effort, or money for no good reason. Trigger too late and you may end up experiencing the full impact of the occurrence, with little value added by implementing the contingency. </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Risk Screening</a:t>
            </a:r>
          </a:p>
        </p:txBody>
      </p:sp>
      <p:pic>
        <p:nvPicPr>
          <p:cNvPr id="4" name="Picture 2"/>
          <p:cNvPicPr>
            <a:picLocks noGrp="1" noChangeAspect="1" noChangeArrowheads="1"/>
          </p:cNvPicPr>
          <p:nvPr>
            <p:ph idx="1"/>
          </p:nvPr>
        </p:nvPicPr>
        <p:blipFill>
          <a:blip r:embed="rId2"/>
          <a:srcRect/>
          <a:stretch>
            <a:fillRect/>
          </a:stretch>
        </p:blipFill>
        <p:spPr bwMode="auto">
          <a:xfrm>
            <a:off x="1501541" y="1530417"/>
            <a:ext cx="8749364" cy="4138863"/>
          </a:xfrm>
          <a:prstGeom prst="rect">
            <a:avLst/>
          </a:prstGeom>
          <a:noFill/>
          <a:ln w="9525">
            <a:noFill/>
            <a:miter lim="800000"/>
            <a:headEnd/>
            <a:tailEnd/>
          </a:ln>
          <a:effec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Risk Matrix</a:t>
            </a:r>
          </a:p>
        </p:txBody>
      </p:sp>
      <p:sp>
        <p:nvSpPr>
          <p:cNvPr id="4" name="Content Placeholder 2"/>
          <p:cNvSpPr>
            <a:spLocks noGrp="1"/>
          </p:cNvSpPr>
          <p:nvPr>
            <p:ph idx="1"/>
          </p:nvPr>
        </p:nvSpPr>
        <p:spPr>
          <a:xfrm>
            <a:off x="217488" y="1176338"/>
            <a:ext cx="11728450" cy="5000625"/>
          </a:xfrm>
        </p:spPr>
        <p:txBody>
          <a:bodyPr>
            <a:normAutofit lnSpcReduction="10000"/>
          </a:bodyPr>
          <a:lstStyle/>
          <a:p>
            <a:pPr algn="just"/>
            <a:r>
              <a:rPr lang="en-US" sz="2400" dirty="0">
                <a:latin typeface="Times New Roman" panose="02020603050405020304" pitchFamily="18" charset="0"/>
                <a:cs typeface="Times New Roman" panose="02020603050405020304" pitchFamily="18" charset="0"/>
              </a:rPr>
              <a:t>A useful tool when managing many risks across projects is the standard risk matrix. </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Once the threats have been plotted onto the risk matrix, an H-M-L prioritization can be applied where the highest priority risks are positioned toward the upper right corner and lower priority ones toward the lower left. </a:t>
            </a:r>
          </a:p>
          <a:p>
            <a:pPr algn="just"/>
            <a:endParaRPr lang="en-US" sz="24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3519637" y="1549667"/>
            <a:ext cx="4912093" cy="3272590"/>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Risk Register</a:t>
            </a:r>
          </a:p>
        </p:txBody>
      </p:sp>
      <p:sp>
        <p:nvSpPr>
          <p:cNvPr id="5" name="Content Placeholder 2"/>
          <p:cNvSpPr>
            <a:spLocks noGrp="1"/>
          </p:cNvSpPr>
          <p:nvPr>
            <p:ph idx="1"/>
          </p:nvPr>
        </p:nvSpPr>
        <p:spPr>
          <a:xfrm>
            <a:off x="217488" y="1176338"/>
            <a:ext cx="11728450" cy="5000625"/>
          </a:xfrm>
        </p:spPr>
        <p:txBody>
          <a:bodyPr>
            <a:normAutofit lnSpcReduction="10000"/>
          </a:bodyPr>
          <a:lstStyle/>
          <a:p>
            <a:pPr algn="just"/>
            <a:r>
              <a:rPr lang="en-US" sz="2400" dirty="0">
                <a:latin typeface="Times New Roman" panose="02020603050405020304" pitchFamily="18" charset="0"/>
                <a:cs typeface="Times New Roman" panose="02020603050405020304" pitchFamily="18" charset="0"/>
              </a:rPr>
              <a:t>The risk register is a useful tool in managing actions taken regarding accepted risks to the project.</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risk register is the last ingredient of the project risk plan. The risk register also helps you identify ownership of contingency implementation, outcomes of actions taken, and active and inactive risks.</a:t>
            </a:r>
          </a:p>
        </p:txBody>
      </p:sp>
      <p:pic>
        <p:nvPicPr>
          <p:cNvPr id="6" name="Picture 5"/>
          <p:cNvPicPr>
            <a:picLocks noChangeAspect="1"/>
          </p:cNvPicPr>
          <p:nvPr/>
        </p:nvPicPr>
        <p:blipFill>
          <a:blip r:embed="rId2"/>
          <a:stretch>
            <a:fillRect/>
          </a:stretch>
        </p:blipFill>
        <p:spPr>
          <a:xfrm>
            <a:off x="1447800" y="1828800"/>
            <a:ext cx="8793480" cy="2954956"/>
          </a:xfrm>
          <a:prstGeom prst="rect">
            <a:avLst/>
          </a:prstGeom>
          <a:ln>
            <a:solidFill>
              <a:schemeClr val="accent1"/>
            </a:solidFill>
          </a:ln>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Pareto diagram</a:t>
            </a:r>
          </a:p>
        </p:txBody>
      </p:sp>
      <p:pic>
        <p:nvPicPr>
          <p:cNvPr id="1026" name="Picture 2" descr="Pareto Char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02479" y="1176338"/>
            <a:ext cx="9358468" cy="50006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Failure Modes and Effects Analysis</a:t>
            </a:r>
            <a:endParaRPr lang="en-IN" sz="3600" dirty="0">
              <a:latin typeface="Times New Roman" panose="02020603050405020304" pitchFamily="18" charset="0"/>
              <a:cs typeface="Times New Roman" panose="02020603050405020304" pitchFamily="18" charset="0"/>
            </a:endParaRPr>
          </a:p>
        </p:txBody>
      </p:sp>
      <p:sp>
        <p:nvSpPr>
          <p:cNvPr id="4" name="Content Placeholder 8"/>
          <p:cNvSpPr>
            <a:spLocks noGrp="1"/>
          </p:cNvSpPr>
          <p:nvPr>
            <p:ph idx="1"/>
          </p:nvPr>
        </p:nvSpPr>
        <p:spPr>
          <a:xfrm>
            <a:off x="217488" y="1176338"/>
            <a:ext cx="11728450" cy="5000625"/>
          </a:xfrm>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a:t>
            </a:r>
          </a:p>
          <a:p>
            <a:pPr algn="just">
              <a:buNone/>
            </a:pPr>
            <a:r>
              <a:rPr lang="en-US" sz="2400" dirty="0">
                <a:latin typeface="Times New Roman" panose="02020603050405020304" pitchFamily="18" charset="0"/>
                <a:cs typeface="Times New Roman" panose="02020603050405020304" pitchFamily="18" charset="0"/>
              </a:rPr>
              <a:t>	In project risk assessment, a failure can be any significant event that the sponsor does not want to happen—a budget overrun, a schedule overrun, or a failure to meet scope, quality, or mission performance objectives.</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The objective of failure modes and effects analysis is the identification of root or common causes, which may affect the project as a whole. </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Project Definition Rating Index</a:t>
            </a:r>
            <a:endParaRPr lang="en-IN" sz="3600" dirty="0">
              <a:latin typeface="Times New Roman" panose="02020603050405020304" pitchFamily="18" charset="0"/>
              <a:cs typeface="Times New Roman" panose="02020603050405020304" pitchFamily="18" charset="0"/>
            </a:endParaRPr>
          </a:p>
        </p:txBody>
      </p:sp>
      <p:sp>
        <p:nvSpPr>
          <p:cNvPr id="4" name="Content Placeholder 8"/>
          <p:cNvSpPr>
            <a:spLocks noGrp="1"/>
          </p:cNvSpPr>
          <p:nvPr>
            <p:ph idx="1"/>
          </p:nvPr>
        </p:nvSpPr>
        <p:spPr>
          <a:xfrm>
            <a:off x="217488" y="1176338"/>
            <a:ext cx="11728450" cy="5000625"/>
          </a:xfrm>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	</a:t>
            </a:r>
          </a:p>
          <a:p>
            <a:pPr algn="just">
              <a:buNone/>
            </a:pPr>
            <a:r>
              <a:rPr lang="en-US" sz="2400" dirty="0">
                <a:latin typeface="Times New Roman" panose="02020603050405020304" pitchFamily="18" charset="0"/>
                <a:cs typeface="Times New Roman" panose="02020603050405020304" pitchFamily="18" charset="0"/>
              </a:rPr>
              <a:t>	It includes detailed descriptions of issues and a weighted checklist of project scope definition elements to jog the memory of project team participants. </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It provides the means to assess risk at various stages during the front-end project planning process and to focus efforts on high-risk areas that need additional definition.</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8"/>
          <p:cNvSpPr>
            <a:spLocks noGrp="1"/>
          </p:cNvSpPr>
          <p:nvPr>
            <p:ph idx="1"/>
          </p:nvPr>
        </p:nvSpPr>
        <p:spPr>
          <a:xfrm>
            <a:off x="217488" y="1176338"/>
            <a:ext cx="11728450" cy="5000625"/>
          </a:xfrm>
        </p:spPr>
        <p:txBody>
          <a:bodyPr>
            <a:normAutofit/>
          </a:bodyPr>
          <a:lstStyle/>
          <a:p>
            <a:pPr algn="just">
              <a:buNone/>
            </a:pPr>
            <a:r>
              <a:rPr lang="en-US" sz="2400" b="1" dirty="0">
                <a:latin typeface="Times New Roman" panose="02020603050405020304" pitchFamily="18" charset="0"/>
                <a:cs typeface="Times New Roman" panose="02020603050405020304" pitchFamily="18" charset="0"/>
              </a:rPr>
              <a:t>Multivariate Statistical Models:</a:t>
            </a:r>
          </a:p>
          <a:p>
            <a:pPr algn="just">
              <a:buNone/>
            </a:pPr>
            <a:r>
              <a:rPr lang="en-US" sz="2400" dirty="0">
                <a:latin typeface="Times New Roman" panose="02020603050405020304" pitchFamily="18" charset="0"/>
                <a:cs typeface="Times New Roman" panose="02020603050405020304" pitchFamily="18" charset="0"/>
              </a:rPr>
              <a:t>	</a:t>
            </a:r>
          </a:p>
          <a:p>
            <a:pPr algn="just">
              <a:buNone/>
            </a:pPr>
            <a:r>
              <a:rPr lang="en-US" sz="2400" dirty="0">
                <a:latin typeface="Times New Roman" panose="02020603050405020304" pitchFamily="18" charset="0"/>
                <a:cs typeface="Times New Roman" panose="02020603050405020304" pitchFamily="18" charset="0"/>
              </a:rPr>
              <a:t>	These methods are objective in that they do not rely on subjective probability distributions elicited from (possibly biased) project advocates. </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Analysts build linear or nonlinear statistical models based on data from multiple past projects and then compare the project in question to the models. </a:t>
            </a:r>
          </a:p>
          <a:p>
            <a:pPr algn="just">
              <a:buNone/>
            </a:pPr>
            <a:endParaRPr lang="en-US" sz="2400" dirty="0">
              <a:latin typeface="Times New Roman" panose="02020603050405020304" pitchFamily="18" charset="0"/>
              <a:cs typeface="Times New Roman" panose="02020603050405020304" pitchFamily="18" charset="0"/>
            </a:endParaRPr>
          </a:p>
        </p:txBody>
      </p:sp>
      <p:sp>
        <p:nvSpPr>
          <p:cNvPr id="6" name="Title 5"/>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Quantitative Risk Analysis</a:t>
            </a:r>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Quantitative Risk Analysis</a:t>
            </a:r>
            <a:endParaRPr lang="en-IN" sz="3600" dirty="0"/>
          </a:p>
        </p:txBody>
      </p:sp>
      <p:sp>
        <p:nvSpPr>
          <p:cNvPr id="4" name="Content Placeholder 8"/>
          <p:cNvSpPr txBox="1"/>
          <p:nvPr/>
        </p:nvSpPr>
        <p:spPr>
          <a:xfrm>
            <a:off x="404262" y="1194335"/>
            <a:ext cx="10866922" cy="50909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en-US" sz="2400" b="1" dirty="0">
                <a:latin typeface="Times New Roman" panose="02020603050405020304" pitchFamily="18" charset="0"/>
                <a:cs typeface="Times New Roman" panose="02020603050405020304" pitchFamily="18" charset="0"/>
              </a:rPr>
              <a:t>Event Trees:</a:t>
            </a:r>
          </a:p>
          <a:p>
            <a:pPr algn="just">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	The results of the evaluations are the probabilities of various outcomes from given faults or failures. </a:t>
            </a:r>
          </a:p>
          <a:p>
            <a:pPr algn="just">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	</a:t>
            </a:r>
          </a:p>
          <a:p>
            <a:pPr algn="just">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	Each event tree shows a particular event at the top and the conditions causing that event, leading to the determination of the likelihood of these events. </a:t>
            </a:r>
          </a:p>
          <a:p>
            <a:pPr algn="just">
              <a:buFont typeface="Arial" panose="020B0604020202020204" pitchFamily="34" charset="0"/>
              <a:buNone/>
            </a:pPr>
            <a:endParaRPr lang="en-US" sz="2400" dirty="0">
              <a:latin typeface="Times New Roman" panose="02020603050405020304" pitchFamily="18" charset="0"/>
              <a:cs typeface="Times New Roman" panose="02020603050405020304" pitchFamily="18" charset="0"/>
            </a:endParaRPr>
          </a:p>
          <a:p>
            <a:pPr algn="just">
              <a:buFont typeface="Arial" panose="020B0604020202020204" pitchFamily="34" charset="0"/>
              <a:buNone/>
            </a:pPr>
            <a:r>
              <a:rPr lang="en-US" sz="2400" dirty="0">
                <a:latin typeface="Times New Roman" panose="02020603050405020304" pitchFamily="18" charset="0"/>
                <a:cs typeface="Times New Roman" panose="02020603050405020304" pitchFamily="18" charset="0"/>
              </a:rPr>
              <a:t>	These methods can be adapted to project cost, schedule, and performance risk assessments.</a:t>
            </a:r>
          </a:p>
          <a:p>
            <a:pPr algn="just"/>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Quantitative Risk Analysis</a:t>
            </a:r>
            <a:endParaRPr lang="en-IN" sz="3600" dirty="0"/>
          </a:p>
        </p:txBody>
      </p:sp>
      <p:sp>
        <p:nvSpPr>
          <p:cNvPr id="4" name="Content Placeholder 8"/>
          <p:cNvSpPr>
            <a:spLocks noGrp="1"/>
          </p:cNvSpPr>
          <p:nvPr>
            <p:ph idx="1"/>
          </p:nvPr>
        </p:nvSpPr>
        <p:spPr>
          <a:xfrm>
            <a:off x="217488" y="1176338"/>
            <a:ext cx="11728450" cy="5000625"/>
          </a:xfrm>
        </p:spPr>
        <p:txBody>
          <a:bodyPr>
            <a:normAutofit/>
          </a:bodyPr>
          <a:lstStyle/>
          <a:p>
            <a:pPr algn="just">
              <a:buNone/>
            </a:pPr>
            <a:r>
              <a:rPr lang="en-US" sz="2400" b="1" dirty="0">
                <a:latin typeface="Times New Roman" panose="02020603050405020304" pitchFamily="18" charset="0"/>
                <a:cs typeface="Times New Roman" panose="02020603050405020304" pitchFamily="18" charset="0"/>
              </a:rPr>
              <a:t>Sensitivity Analysis:</a:t>
            </a:r>
          </a:p>
          <a:p>
            <a:pPr algn="just">
              <a:buNone/>
            </a:pPr>
            <a:r>
              <a:rPr lang="en-US" sz="2400" dirty="0">
                <a:latin typeface="Times New Roman" panose="02020603050405020304" pitchFamily="18" charset="0"/>
                <a:cs typeface="Times New Roman" panose="02020603050405020304" pitchFamily="18" charset="0"/>
              </a:rPr>
              <a:t>	</a:t>
            </a:r>
          </a:p>
          <a:p>
            <a:pPr algn="just">
              <a:buNone/>
            </a:pPr>
            <a:r>
              <a:rPr lang="en-US" sz="2400" dirty="0">
                <a:latin typeface="Times New Roman" panose="02020603050405020304" pitchFamily="18" charset="0"/>
                <a:cs typeface="Times New Roman" panose="02020603050405020304" pitchFamily="18" charset="0"/>
              </a:rPr>
              <a:t>	A sensitivity coefficient is a derivative: the change in some outcome concerning a change in some input. </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	Even if the probability of a particular risk cannot be determined precisely, sensitivity analysis can be used to determine which variables have the greatest influence on the risk. </a:t>
            </a:r>
          </a:p>
          <a:p>
            <a:pPr algn="just">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Topic Objectives &amp; Outcome</a:t>
            </a:r>
            <a:endParaRPr lang="en-IN" sz="3600" dirty="0">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p:cNvGraphicFramePr>
          <p:nvPr>
            <p:ph idx="1"/>
          </p:nvPr>
        </p:nvGraphicFramePr>
        <p:xfrm>
          <a:off x="159737" y="2100363"/>
          <a:ext cx="11728449" cy="828040"/>
        </p:xfrm>
        <a:graphic>
          <a:graphicData uri="http://schemas.openxmlformats.org/drawingml/2006/table">
            <a:tbl>
              <a:tblPr firstRow="1" bandRow="1">
                <a:tableStyleId>{21E4AEA4-8DFA-4A89-87EB-49C32662AFE0}</a:tableStyleId>
              </a:tblPr>
              <a:tblGrid>
                <a:gridCol w="1207050">
                  <a:extLst>
                    <a:ext uri="{9D8B030D-6E8A-4147-A177-3AD203B41FA5}">
                      <a16:colId xmlns:a16="http://schemas.microsoft.com/office/drawing/2014/main" val="20000"/>
                    </a:ext>
                  </a:extLst>
                </a:gridCol>
                <a:gridCol w="6611916">
                  <a:extLst>
                    <a:ext uri="{9D8B030D-6E8A-4147-A177-3AD203B41FA5}">
                      <a16:colId xmlns:a16="http://schemas.microsoft.com/office/drawing/2014/main" val="20001"/>
                    </a:ext>
                  </a:extLst>
                </a:gridCol>
                <a:gridCol w="3909483">
                  <a:extLst>
                    <a:ext uri="{9D8B030D-6E8A-4147-A177-3AD203B41FA5}">
                      <a16:colId xmlns:a16="http://schemas.microsoft.com/office/drawing/2014/main" val="20002"/>
                    </a:ext>
                  </a:extLst>
                </a:gridCol>
              </a:tblGrid>
              <a:tr h="370840">
                <a:tc>
                  <a:txBody>
                    <a:bodyPr/>
                    <a:lstStyle/>
                    <a:p>
                      <a:r>
                        <a:rPr lang="en-IN" dirty="0"/>
                        <a:t>s.no.</a:t>
                      </a:r>
                    </a:p>
                  </a:txBody>
                  <a:tcPr/>
                </a:tc>
                <a:tc>
                  <a:txBody>
                    <a:bodyPr/>
                    <a:lstStyle/>
                    <a:p>
                      <a:r>
                        <a:rPr lang="en-IN" dirty="0"/>
                        <a:t>topic</a:t>
                      </a:r>
                    </a:p>
                  </a:txBody>
                  <a:tcPr/>
                </a:tc>
                <a:tc>
                  <a:txBody>
                    <a:bodyPr/>
                    <a:lstStyle/>
                    <a:p>
                      <a:r>
                        <a:rPr lang="en-IN" dirty="0"/>
                        <a:t>outcomes</a:t>
                      </a:r>
                    </a:p>
                  </a:txBody>
                  <a:tcPr/>
                </a:tc>
                <a:extLst>
                  <a:ext uri="{0D108BD9-81ED-4DB2-BD59-A6C34878D82A}">
                    <a16:rowId xmlns:a16="http://schemas.microsoft.com/office/drawing/2014/main" val="10000"/>
                  </a:ext>
                </a:extLst>
              </a:tr>
              <a:tr h="370840">
                <a:tc>
                  <a:txBody>
                    <a:bodyPr/>
                    <a:lstStyle/>
                    <a:p>
                      <a:r>
                        <a:rPr lang="en-IN" dirty="0"/>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2400" dirty="0">
                          <a:latin typeface="Times New Roman" panose="02020603050405020304" pitchFamily="18" charset="0"/>
                          <a:cs typeface="Times New Roman" panose="02020603050405020304" pitchFamily="18" charset="0"/>
                        </a:rPr>
                        <a:t>To learn the Risks Mitigation Strategies.</a:t>
                      </a:r>
                      <a:endParaRPr lang="en-US" sz="2400" b="1" dirty="0">
                        <a:latin typeface="Times New Roman" panose="02020603050405020304" pitchFamily="18" charset="0"/>
                        <a:cs typeface="Times New Roman" panose="02020603050405020304" pitchFamily="18" charset="0"/>
                      </a:endParaRPr>
                    </a:p>
                  </a:txBody>
                  <a:tcPr/>
                </a:tc>
                <a:tc>
                  <a:txBody>
                    <a:bodyPr/>
                    <a:lstStyle/>
                    <a:p>
                      <a:r>
                        <a:rPr lang="en-IN" dirty="0"/>
                        <a:t>CO2</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Risk Identification Analysis</a:t>
            </a:r>
          </a:p>
        </p:txBody>
      </p:sp>
      <p:pic>
        <p:nvPicPr>
          <p:cNvPr id="4" name="Picture 2" descr="Risk Identification | The MITRE Corporation"/>
          <p:cNvPicPr>
            <a:picLocks noGrp="1" noChangeAspect="1" noChangeArrowheads="1"/>
          </p:cNvPicPr>
          <p:nvPr>
            <p:ph idx="1"/>
          </p:nvPr>
        </p:nvPicPr>
        <p:blipFill>
          <a:blip r:embed="rId2"/>
          <a:srcRect/>
          <a:stretch>
            <a:fillRect/>
          </a:stretch>
        </p:blipFill>
        <p:spPr bwMode="auto">
          <a:xfrm>
            <a:off x="1819175" y="1155032"/>
            <a:ext cx="8431730" cy="5053263"/>
          </a:xfrm>
          <a:prstGeom prst="rect">
            <a:avLst/>
          </a:prstGeom>
          <a:noFill/>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Risk Identification Analysis</a:t>
            </a:r>
            <a:endParaRPr lang="en-IN" sz="3600" dirty="0"/>
          </a:p>
        </p:txBody>
      </p:sp>
      <p:sp>
        <p:nvSpPr>
          <p:cNvPr id="4" name="Content Placeholder 8"/>
          <p:cNvSpPr txBox="1"/>
          <p:nvPr/>
        </p:nvSpPr>
        <p:spPr>
          <a:xfrm>
            <a:off x="152400" y="838200"/>
            <a:ext cx="8991600" cy="5562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Arial" panose="020B0604020202020204" pitchFamily="34" charset="0"/>
              <a:buNone/>
            </a:pPr>
            <a:r>
              <a:rPr lang="en-US"/>
              <a:t>	</a:t>
            </a:r>
          </a:p>
          <a:p>
            <a:pPr algn="just">
              <a:buFont typeface="Arial" panose="020B0604020202020204" pitchFamily="34" charset="0"/>
              <a:buNone/>
            </a:pPr>
            <a:r>
              <a:rPr lang="en-US"/>
              <a:t>	</a:t>
            </a:r>
          </a:p>
          <a:p>
            <a:pPr algn="just">
              <a:buFont typeface="Arial" panose="020B0604020202020204" pitchFamily="34" charset="0"/>
              <a:buNone/>
            </a:pPr>
            <a:r>
              <a:rPr lang="en-US"/>
              <a:t>	1. Include risk management in your projects</a:t>
            </a:r>
          </a:p>
          <a:p>
            <a:pPr algn="just">
              <a:buFont typeface="Arial" panose="020B0604020202020204" pitchFamily="34" charset="0"/>
              <a:buNone/>
            </a:pPr>
            <a:r>
              <a:rPr lang="en-US"/>
              <a:t>	2. Communicate risks to others</a:t>
            </a:r>
          </a:p>
          <a:p>
            <a:pPr algn="just">
              <a:buFont typeface="Arial" panose="020B0604020202020204" pitchFamily="34" charset="0"/>
              <a:buNone/>
            </a:pPr>
            <a:r>
              <a:rPr lang="en-US"/>
              <a:t>	3. Prioritize risks</a:t>
            </a:r>
          </a:p>
          <a:p>
            <a:pPr algn="just">
              <a:buFont typeface="Arial" panose="020B0604020202020204" pitchFamily="34" charset="0"/>
              <a:buNone/>
            </a:pPr>
            <a:r>
              <a:rPr lang="en-US"/>
              <a:t>	4. Analyze risks</a:t>
            </a:r>
          </a:p>
          <a:p>
            <a:pPr algn="just">
              <a:buFont typeface="Arial" panose="020B0604020202020204" pitchFamily="34" charset="0"/>
              <a:buNone/>
            </a:pPr>
            <a:r>
              <a:rPr lang="en-US"/>
              <a:t>	5. Implement risk responses as early as possible</a:t>
            </a:r>
          </a:p>
          <a:p>
            <a:pPr algn="just">
              <a:buFont typeface="Arial" panose="020B0604020202020204" pitchFamily="34" charset="0"/>
              <a:buNone/>
            </a:pPr>
            <a:r>
              <a:rPr lang="en-US"/>
              <a:t>	6. Track them down regularly</a:t>
            </a:r>
          </a:p>
          <a:p>
            <a:pPr algn="just"/>
            <a:endParaRPr 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IN" sz="3600" dirty="0">
                <a:latin typeface="Times New Roman" panose="02020603050405020304" pitchFamily="18" charset="0"/>
                <a:cs typeface="Times New Roman" panose="02020603050405020304" pitchFamily="18" charset="0"/>
              </a:rPr>
              <a:t>Risk Identification Analysis</a:t>
            </a:r>
            <a:endParaRPr lang="en-IN" sz="3600" dirty="0"/>
          </a:p>
        </p:txBody>
      </p:sp>
      <p:pic>
        <p:nvPicPr>
          <p:cNvPr id="2" name="Picture 3"/>
          <p:cNvPicPr>
            <a:picLocks noChangeAspect="1" noChangeArrowheads="1"/>
          </p:cNvPicPr>
          <p:nvPr/>
        </p:nvPicPr>
        <p:blipFill>
          <a:blip r:embed="rId2"/>
          <a:srcRect/>
          <a:stretch>
            <a:fillRect/>
          </a:stretch>
        </p:blipFill>
        <p:spPr bwMode="auto">
          <a:xfrm>
            <a:off x="76200" y="954162"/>
            <a:ext cx="11705122" cy="5294238"/>
          </a:xfrm>
          <a:prstGeom prst="rect">
            <a:avLst/>
          </a:prstGeom>
          <a:ln>
            <a:noFill/>
          </a:ln>
          <a:effectLst>
            <a:softEdge rad="112500"/>
          </a:effec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Case Study</a:t>
            </a:r>
            <a:endParaRPr lang="en-IN" sz="3600" dirty="0">
              <a:latin typeface="Times New Roman" panose="02020603050405020304" pitchFamily="18" charset="0"/>
              <a:cs typeface="Times New Roman" panose="02020603050405020304" pitchFamily="18" charset="0"/>
            </a:endParaRPr>
          </a:p>
        </p:txBody>
      </p:sp>
      <p:graphicFrame>
        <p:nvGraphicFramePr>
          <p:cNvPr id="2" name="Content Placeholder 1"/>
          <p:cNvGraphicFramePr>
            <a:graphicFrameLocks noGrp="1" noChangeAspect="1"/>
          </p:cNvGraphicFramePr>
          <p:nvPr>
            <p:ph idx="1"/>
          </p:nvPr>
        </p:nvGraphicFramePr>
        <p:xfrm>
          <a:off x="4064000" y="1927871"/>
          <a:ext cx="2474913" cy="2144067"/>
        </p:xfrm>
        <a:graphic>
          <a:graphicData uri="http://schemas.openxmlformats.org/presentationml/2006/ole">
            <mc:AlternateContent xmlns:mc="http://schemas.openxmlformats.org/markup-compatibility/2006">
              <mc:Choice xmlns:v="urn:schemas-microsoft-com:vml" Requires="v">
                <p:oleObj name="Acrobat Document" showAsIcon="1" r:id="rId2" imgW="666750" imgH="578485" progId="Acrobat.Document.DC">
                  <p:embed/>
                </p:oleObj>
              </mc:Choice>
              <mc:Fallback>
                <p:oleObj name="Acrobat Document" showAsIcon="1" r:id="rId2" imgW="666750" imgH="578485" progId="Acrobat.Document.DC">
                  <p:embed/>
                  <p:pic>
                    <p:nvPicPr>
                      <p:cNvPr id="2" name="Content Placeholder 1"/>
                      <p:cNvPicPr/>
                      <p:nvPr/>
                    </p:nvPicPr>
                    <p:blipFill>
                      <a:blip r:embed="rId3"/>
                      <a:stretch>
                        <a:fillRect/>
                      </a:stretch>
                    </p:blipFill>
                    <p:spPr>
                      <a:xfrm>
                        <a:off x="4064000" y="1927871"/>
                        <a:ext cx="2474913" cy="2144067"/>
                      </a:xfrm>
                      <a:prstGeom prst="rect">
                        <a:avLst/>
                      </a:prstGeom>
                    </p:spPr>
                  </p:pic>
                </p:oleObj>
              </mc:Fallback>
            </mc:AlternateContent>
          </a:graphicData>
        </a:graphic>
      </p:graphicFrame>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Daily quiz</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Discuss the project identification. </a:t>
            </a: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Explain the idea generation process. </a:t>
            </a: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Explain various sources of secondary data. </a:t>
            </a: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Describe the chain ratio method of demand forecasting. </a:t>
            </a: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Discuss the methodology of the Delphi Technique. </a:t>
            </a: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Describe the types of risks associated with projects. </a:t>
            </a: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Explain various risk mitigation strategies in project management </a:t>
            </a: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Discuss the process of identifying the risk associated to project.</a:t>
            </a: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Weekly assignment </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marL="514350" lvl="0" indent="-514350" algn="just">
              <a:buNone/>
            </a:pPr>
            <a:r>
              <a:rPr lang="en-US" sz="2400" dirty="0">
                <a:latin typeface="Times New Roman" panose="02020603050405020304" pitchFamily="18" charset="0"/>
                <a:cs typeface="Times New Roman" panose="02020603050405020304" pitchFamily="18" charset="0"/>
              </a:rPr>
              <a:t>Q1. Describe the identification and generation of ideas in project management.</a:t>
            </a:r>
          </a:p>
          <a:p>
            <a:pPr marL="514350" lvl="0" indent="-514350" algn="just">
              <a:buNone/>
            </a:pPr>
            <a:endParaRPr lang="en-US" sz="2400" dirty="0">
              <a:latin typeface="Times New Roman" panose="02020603050405020304" pitchFamily="18" charset="0"/>
              <a:cs typeface="Times New Roman" panose="02020603050405020304" pitchFamily="18" charset="0"/>
            </a:endParaRPr>
          </a:p>
          <a:p>
            <a:pPr marL="514350" lvl="0" indent="-514350" algn="just">
              <a:buNone/>
            </a:pPr>
            <a:r>
              <a:rPr lang="en-US" sz="2400" dirty="0">
                <a:latin typeface="Times New Roman" panose="02020603050405020304" pitchFamily="18" charset="0"/>
                <a:cs typeface="Times New Roman" panose="02020603050405020304" pitchFamily="18" charset="0"/>
              </a:rPr>
              <a:t>Q2. Describe the market and demand analysis techniques for project management.</a:t>
            </a:r>
          </a:p>
          <a:p>
            <a:pPr marL="514350" lvl="0" indent="-514350" algn="just">
              <a:buAutoNum type="arabicPeriod"/>
            </a:pPr>
            <a:endParaRPr lang="en-US" sz="2400" dirty="0">
              <a:latin typeface="Times New Roman" panose="02020603050405020304" pitchFamily="18" charset="0"/>
              <a:cs typeface="Times New Roman" panose="02020603050405020304" pitchFamily="18" charset="0"/>
            </a:endParaRPr>
          </a:p>
          <a:p>
            <a:pPr marL="514350" lvl="0" indent="-514350" algn="just">
              <a:buNone/>
            </a:pPr>
            <a:r>
              <a:rPr lang="en-US" sz="2400" dirty="0">
                <a:latin typeface="Times New Roman" panose="02020603050405020304" pitchFamily="18" charset="0"/>
                <a:cs typeface="Times New Roman" panose="02020603050405020304" pitchFamily="18" charset="0"/>
              </a:rPr>
              <a:t>Q3. Describe various types of risks associated with project management.</a:t>
            </a:r>
          </a:p>
          <a:p>
            <a:pPr marL="514350" lvl="0" indent="-514350" algn="just">
              <a:buAutoNum type="arabicPeriod"/>
            </a:pPr>
            <a:endParaRPr lang="en-US" sz="2400" dirty="0">
              <a:latin typeface="Times New Roman" panose="02020603050405020304" pitchFamily="18" charset="0"/>
              <a:cs typeface="Times New Roman" panose="02020603050405020304" pitchFamily="18" charset="0"/>
            </a:endParaRPr>
          </a:p>
          <a:p>
            <a:pPr marL="514350" lvl="0" indent="-514350" algn="just">
              <a:buNone/>
            </a:pPr>
            <a:r>
              <a:rPr lang="en-US" sz="2400" dirty="0">
                <a:latin typeface="Times New Roman" panose="02020603050405020304" pitchFamily="18" charset="0"/>
                <a:cs typeface="Times New Roman" panose="02020603050405020304" pitchFamily="18" charset="0"/>
              </a:rPr>
              <a:t>Q4. Describe various risk mitigation strategies in project management.</a:t>
            </a:r>
          </a:p>
          <a:p>
            <a:pPr algn="just"/>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Topic links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buNone/>
            </a:pPr>
            <a:r>
              <a:rPr lang="en-US" sz="2400" dirty="0">
                <a:latin typeface="Times New Roman" panose="02020603050405020304" pitchFamily="18" charset="0"/>
                <a:cs typeface="Times New Roman" panose="02020603050405020304" pitchFamily="18" charset="0"/>
                <a:hlinkClick r:id="rId2"/>
              </a:rPr>
              <a:t>https://www.youtube.com/watch?v=dAJy-3A6lPM</a:t>
            </a:r>
            <a:endParaRPr lang="en-US" sz="2400" dirty="0">
              <a:latin typeface="Times New Roman" panose="02020603050405020304" pitchFamily="18" charset="0"/>
              <a:cs typeface="Times New Roman" panose="02020603050405020304" pitchFamily="18" charset="0"/>
            </a:endParaRPr>
          </a:p>
          <a:p>
            <a:pPr>
              <a:buNone/>
            </a:pP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hlinkClick r:id="rId3"/>
              </a:rPr>
              <a:t>https://www.youtube.com/watch?v=4Or352bDQd4</a:t>
            </a:r>
            <a:endParaRPr lang="en-US" sz="2400" dirty="0">
              <a:latin typeface="Times New Roman" panose="02020603050405020304" pitchFamily="18" charset="0"/>
              <a:cs typeface="Times New Roman" panose="02020603050405020304" pitchFamily="18" charset="0"/>
            </a:endParaRPr>
          </a:p>
          <a:p>
            <a:pPr>
              <a:buNone/>
            </a:pPr>
            <a:endParaRPr lang="en-US" sz="2400" dirty="0">
              <a:latin typeface="Times New Roman" panose="02020603050405020304" pitchFamily="18" charset="0"/>
              <a:cs typeface="Times New Roman" panose="02020603050405020304" pitchFamily="18" charset="0"/>
              <a:hlinkClick r:id="rId4"/>
            </a:endParaRPr>
          </a:p>
          <a:p>
            <a:pPr>
              <a:buNone/>
            </a:pPr>
            <a:r>
              <a:rPr lang="en-US" sz="2400" dirty="0">
                <a:latin typeface="Times New Roman" panose="02020603050405020304" pitchFamily="18" charset="0"/>
                <a:cs typeface="Times New Roman" panose="02020603050405020304" pitchFamily="18" charset="0"/>
                <a:hlinkClick r:id="rId4"/>
              </a:rPr>
              <a:t>https://www.youtube.com/watch?v=a0pAWPrKiGk</a:t>
            </a:r>
            <a:endParaRPr lang="en-US"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MCQs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marL="0" marR="0">
              <a:lnSpc>
                <a:spcPct val="110000"/>
              </a:lnSpc>
              <a:spcBef>
                <a:spcPts val="0"/>
              </a:spcBef>
              <a:buNone/>
            </a:pPr>
            <a:r>
              <a:rPr lang="en-US" sz="2400" dirty="0">
                <a:latin typeface="Times New Roman" panose="02020603050405020304" pitchFamily="18" charset="0"/>
                <a:ea typeface="Times New Roman" panose="02020603050405020304"/>
                <a:cs typeface="Times New Roman" panose="02020603050405020304" pitchFamily="18" charset="0"/>
              </a:rPr>
              <a:t>Q1. ETIG stands for.</a:t>
            </a:r>
          </a:p>
          <a:p>
            <a:pPr lvl="0">
              <a:lnSpc>
                <a:spcPct val="110000"/>
              </a:lnSpc>
              <a:spcBef>
                <a:spcPts val="0"/>
              </a:spcBef>
              <a:buFont typeface="+mj-lt"/>
              <a:buAutoNum type="alphaUcPeriod"/>
            </a:pPr>
            <a:r>
              <a:rPr lang="en-US" sz="2400" b="1" dirty="0">
                <a:latin typeface="Times New Roman" panose="02020603050405020304" pitchFamily="18" charset="0"/>
                <a:ea typeface="Times New Roman" panose="02020603050405020304"/>
                <a:cs typeface="Times New Roman" panose="02020603050405020304" pitchFamily="18" charset="0"/>
              </a:rPr>
              <a:t>Economic times intelligence group</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nSpc>
                <a:spcPct val="110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Economic, Technological, Implementation, Governance</a:t>
            </a:r>
          </a:p>
          <a:p>
            <a:pPr lvl="0">
              <a:lnSpc>
                <a:spcPct val="110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Early Times investigation group</a:t>
            </a:r>
          </a:p>
          <a:p>
            <a:pPr lvl="0">
              <a:lnSpc>
                <a:spcPct val="110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None of the above</a:t>
            </a:r>
          </a:p>
          <a:p>
            <a:pPr lvl="0">
              <a:lnSpc>
                <a:spcPct val="110000"/>
              </a:lnSpc>
              <a:spcBef>
                <a:spcPts val="0"/>
              </a:spcBef>
              <a:buNone/>
            </a:pPr>
            <a:endParaRPr lang="en-US" sz="2400" dirty="0">
              <a:latin typeface="Times New Roman" panose="02020603050405020304" pitchFamily="18" charset="0"/>
              <a:cs typeface="Times New Roman" panose="02020603050405020304" pitchFamily="18" charset="0"/>
            </a:endParaRPr>
          </a:p>
          <a:p>
            <a:pPr marL="0" marR="0">
              <a:lnSpc>
                <a:spcPct val="110000"/>
              </a:lnSpc>
              <a:spcBef>
                <a:spcPts val="0"/>
              </a:spcBef>
              <a:buNone/>
            </a:pPr>
            <a:r>
              <a:rPr lang="en-US" sz="2400" dirty="0">
                <a:latin typeface="Times New Roman" panose="02020603050405020304" pitchFamily="18" charset="0"/>
                <a:ea typeface="Times New Roman" panose="02020603050405020304"/>
                <a:cs typeface="Times New Roman" panose="02020603050405020304" pitchFamily="18" charset="0"/>
              </a:rPr>
              <a:t>Q2. The market survey can be a.</a:t>
            </a:r>
          </a:p>
          <a:p>
            <a:pPr lvl="0">
              <a:lnSpc>
                <a:spcPct val="110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Census survey</a:t>
            </a:r>
          </a:p>
          <a:p>
            <a:pPr lvl="0">
              <a:lnSpc>
                <a:spcPct val="110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Sample survey</a:t>
            </a:r>
          </a:p>
          <a:p>
            <a:pPr lvl="0">
              <a:lnSpc>
                <a:spcPct val="110000"/>
              </a:lnSpc>
              <a:spcBef>
                <a:spcPts val="0"/>
              </a:spcBef>
              <a:buFont typeface="+mj-lt"/>
              <a:buAutoNum type="alphaUcPeriod"/>
            </a:pPr>
            <a:r>
              <a:rPr lang="en-US" sz="2400" b="1" dirty="0">
                <a:latin typeface="Times New Roman" panose="02020603050405020304" pitchFamily="18" charset="0"/>
                <a:ea typeface="Times New Roman" panose="02020603050405020304"/>
                <a:cs typeface="Times New Roman" panose="02020603050405020304" pitchFamily="18" charset="0"/>
              </a:rPr>
              <a:t>Both A &amp; B</a:t>
            </a:r>
          </a:p>
          <a:p>
            <a:pPr lvl="0">
              <a:lnSpc>
                <a:spcPct val="110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None of the above</a:t>
            </a:r>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MCQs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marL="0" marR="0">
              <a:spcBef>
                <a:spcPts val="0"/>
              </a:spcBef>
              <a:buNone/>
            </a:pPr>
            <a:r>
              <a:rPr lang="en-US" sz="2400" dirty="0">
                <a:latin typeface="Times New Roman" panose="02020603050405020304" pitchFamily="18" charset="0"/>
                <a:ea typeface="Times New Roman" panose="02020603050405020304"/>
                <a:cs typeface="Times New Roman" panose="02020603050405020304" pitchFamily="18" charset="0"/>
              </a:rPr>
              <a:t>Q3. In market survey, a sample of _______is contacted or observed.</a:t>
            </a:r>
          </a:p>
          <a:p>
            <a:pPr lvl="0">
              <a:spcBef>
                <a:spcPts val="0"/>
              </a:spcBef>
              <a:buFont typeface="+mj-lt"/>
              <a:buAutoNum type="alphaUcPeriod"/>
            </a:pPr>
            <a:r>
              <a:rPr lang="en-US" sz="2400" b="1" dirty="0">
                <a:latin typeface="Times New Roman" panose="02020603050405020304" pitchFamily="18" charset="0"/>
                <a:ea typeface="Times New Roman" panose="02020603050405020304"/>
                <a:cs typeface="Times New Roman" panose="02020603050405020304" pitchFamily="18" charset="0"/>
              </a:rPr>
              <a:t>Population</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Sample Frame</a:t>
            </a:r>
          </a:p>
          <a:p>
            <a:pPr lvl="0">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Universe</a:t>
            </a:r>
          </a:p>
          <a:p>
            <a:pPr lvl="0">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None of the Above</a:t>
            </a:r>
          </a:p>
          <a:p>
            <a:pPr lvl="0">
              <a:spcBef>
                <a:spcPts val="0"/>
              </a:spcBef>
              <a:buFont typeface="+mj-lt"/>
              <a:buAutoNum type="alphaUcPeriod"/>
            </a:pP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spcBef>
                <a:spcPts val="0"/>
              </a:spcBef>
              <a:buFont typeface="+mj-lt"/>
              <a:buAutoNum type="alphaUcPeriod"/>
            </a:pPr>
            <a:endParaRPr lang="en-US" sz="2400" dirty="0">
              <a:latin typeface="Times New Roman" panose="02020603050405020304" pitchFamily="18" charset="0"/>
              <a:ea typeface="Times New Roman" panose="02020603050405020304"/>
              <a:cs typeface="Times New Roman" panose="02020603050405020304" pitchFamily="18" charset="0"/>
            </a:endParaRPr>
          </a:p>
          <a:p>
            <a:pPr>
              <a:spcBef>
                <a:spcPts val="0"/>
              </a:spcBef>
              <a:buNone/>
            </a:pPr>
            <a:r>
              <a:rPr lang="en-US" sz="2400" dirty="0">
                <a:latin typeface="Times New Roman" panose="02020603050405020304" pitchFamily="18" charset="0"/>
                <a:cs typeface="Times New Roman" panose="02020603050405020304" pitchFamily="18" charset="0"/>
              </a:rPr>
              <a:t>Q4. Which of the following attributes of the questionnaire has an impact on the results of the market survey?</a:t>
            </a:r>
          </a:p>
          <a:p>
            <a:pPr lvl="0">
              <a:spcBef>
                <a:spcPts val="0"/>
              </a:spcBef>
              <a:buNone/>
            </a:pPr>
            <a:r>
              <a:rPr lang="en-US" sz="2400" dirty="0">
                <a:latin typeface="Times New Roman" panose="02020603050405020304" pitchFamily="18" charset="0"/>
                <a:cs typeface="Times New Roman" panose="02020603050405020304" pitchFamily="18" charset="0"/>
              </a:rPr>
              <a:t>A. Quality</a:t>
            </a:r>
          </a:p>
          <a:p>
            <a:pPr lvl="0">
              <a:spcBef>
                <a:spcPts val="0"/>
              </a:spcBef>
              <a:buNone/>
            </a:pPr>
            <a:r>
              <a:rPr lang="en-US" sz="2400" dirty="0">
                <a:latin typeface="Times New Roman" panose="02020603050405020304" pitchFamily="18" charset="0"/>
                <a:cs typeface="Times New Roman" panose="02020603050405020304" pitchFamily="18" charset="0"/>
              </a:rPr>
              <a:t>B. Adequate questions</a:t>
            </a:r>
          </a:p>
          <a:p>
            <a:pPr lvl="0">
              <a:spcBef>
                <a:spcPts val="0"/>
              </a:spcBef>
              <a:buNone/>
            </a:pPr>
            <a:r>
              <a:rPr lang="en-US" sz="2400" dirty="0">
                <a:latin typeface="Times New Roman" panose="02020603050405020304" pitchFamily="18" charset="0"/>
                <a:cs typeface="Times New Roman" panose="02020603050405020304" pitchFamily="18" charset="0"/>
              </a:rPr>
              <a:t>C. Accuracy</a:t>
            </a:r>
          </a:p>
          <a:p>
            <a:pPr lvl="0">
              <a:spcBef>
                <a:spcPts val="0"/>
              </a:spcBef>
              <a:buNone/>
            </a:pPr>
            <a:r>
              <a:rPr lang="en-US" sz="2400" b="1" dirty="0">
                <a:latin typeface="Times New Roman" panose="02020603050405020304" pitchFamily="18" charset="0"/>
                <a:cs typeface="Times New Roman" panose="02020603050405020304" pitchFamily="18" charset="0"/>
              </a:rPr>
              <a:t>D. All of the above</a:t>
            </a:r>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MCQs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marL="0" marR="0">
              <a:lnSpc>
                <a:spcPct val="110000"/>
              </a:lnSpc>
              <a:spcBef>
                <a:spcPts val="0"/>
              </a:spcBef>
              <a:buNone/>
            </a:pPr>
            <a:r>
              <a:rPr lang="en-US" sz="2400" dirty="0">
                <a:latin typeface="Times New Roman" panose="02020603050405020304" pitchFamily="18" charset="0"/>
                <a:ea typeface="Times New Roman" panose="02020603050405020304"/>
                <a:cs typeface="Times New Roman" panose="02020603050405020304" pitchFamily="18" charset="0"/>
              </a:rPr>
              <a:t>Q5. Bass Diffusion method was developed by.</a:t>
            </a:r>
          </a:p>
          <a:p>
            <a:pPr lvl="0">
              <a:lnSpc>
                <a:spcPct val="110000"/>
              </a:lnSpc>
              <a:spcBef>
                <a:spcPts val="0"/>
              </a:spcBef>
              <a:buFont typeface="+mj-lt"/>
              <a:buAutoNum type="alphaUcPeriod"/>
            </a:pPr>
            <a:r>
              <a:rPr lang="en-US" sz="2400" b="1" dirty="0">
                <a:latin typeface="Times New Roman" panose="02020603050405020304" pitchFamily="18" charset="0"/>
                <a:ea typeface="Times New Roman" panose="02020603050405020304"/>
                <a:cs typeface="Times New Roman" panose="02020603050405020304" pitchFamily="18" charset="0"/>
              </a:rPr>
              <a:t>Frank Bass</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nSpc>
                <a:spcPct val="110000"/>
              </a:lnSpc>
              <a:spcBef>
                <a:spcPts val="0"/>
              </a:spcBef>
              <a:buFont typeface="+mj-lt"/>
              <a:buAutoNum type="alphaUcPeriod"/>
            </a:pPr>
            <a:r>
              <a:rPr lang="en-US" sz="2400" dirty="0" err="1">
                <a:latin typeface="Times New Roman" panose="02020603050405020304" pitchFamily="18" charset="0"/>
                <a:ea typeface="Times New Roman" panose="02020603050405020304"/>
                <a:cs typeface="Times New Roman" panose="02020603050405020304" pitchFamily="18" charset="0"/>
              </a:rPr>
              <a:t>Huses</a:t>
            </a:r>
            <a:r>
              <a:rPr lang="en-US" sz="2400" dirty="0">
                <a:latin typeface="Times New Roman" panose="02020603050405020304" pitchFamily="18" charset="0"/>
                <a:ea typeface="Times New Roman" panose="02020603050405020304"/>
                <a:cs typeface="Times New Roman" panose="02020603050405020304" pitchFamily="18" charset="0"/>
              </a:rPr>
              <a:t> Bass</a:t>
            </a:r>
          </a:p>
          <a:p>
            <a:pPr lvl="0">
              <a:lnSpc>
                <a:spcPct val="110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Pascal</a:t>
            </a:r>
          </a:p>
          <a:p>
            <a:pPr lvl="0">
              <a:lnSpc>
                <a:spcPct val="110000"/>
              </a:lnSpc>
              <a:spcBef>
                <a:spcPts val="0"/>
              </a:spcBef>
              <a:buFont typeface="+mj-lt"/>
              <a:buAutoNum type="alphaUcPeriod"/>
            </a:pPr>
            <a:r>
              <a:rPr lang="en-US" sz="2400" dirty="0" err="1">
                <a:latin typeface="Times New Roman" panose="02020603050405020304" pitchFamily="18" charset="0"/>
                <a:ea typeface="Times New Roman" panose="02020603050405020304"/>
                <a:cs typeface="Times New Roman" panose="02020603050405020304" pitchFamily="18" charset="0"/>
              </a:rPr>
              <a:t>Devorak</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nSpc>
                <a:spcPct val="110000"/>
              </a:lnSpc>
              <a:spcBef>
                <a:spcPts val="0"/>
              </a:spcBef>
              <a:buFont typeface="+mj-lt"/>
              <a:buAutoNum type="alphaUcPeriod"/>
            </a:pPr>
            <a:endParaRPr lang="en-US" sz="2400" dirty="0">
              <a:latin typeface="Times New Roman" panose="02020603050405020304" pitchFamily="18" charset="0"/>
              <a:ea typeface="Times New Roman" panose="02020603050405020304"/>
              <a:cs typeface="Times New Roman" panose="02020603050405020304" pitchFamily="18" charset="0"/>
            </a:endParaRPr>
          </a:p>
          <a:p>
            <a:pPr marL="0" marR="0">
              <a:lnSpc>
                <a:spcPct val="110000"/>
              </a:lnSpc>
              <a:spcBef>
                <a:spcPts val="0"/>
              </a:spcBef>
              <a:buNone/>
            </a:pPr>
            <a:r>
              <a:rPr lang="en-US" sz="2400" dirty="0">
                <a:latin typeface="Times New Roman" panose="02020603050405020304" pitchFamily="18" charset="0"/>
                <a:ea typeface="Times New Roman" panose="02020603050405020304"/>
                <a:cs typeface="Times New Roman" panose="02020603050405020304" pitchFamily="18" charset="0"/>
              </a:rPr>
              <a:t>Q6. Leading indicators are the variables that change ______of the other variables.</a:t>
            </a:r>
          </a:p>
          <a:p>
            <a:pPr lvl="0">
              <a:lnSpc>
                <a:spcPct val="110000"/>
              </a:lnSpc>
              <a:spcBef>
                <a:spcPts val="0"/>
              </a:spcBef>
              <a:buFont typeface="+mj-lt"/>
              <a:buAutoNum type="alphaUcPeriod"/>
            </a:pPr>
            <a:r>
              <a:rPr lang="en-US" sz="2400" b="1" dirty="0">
                <a:latin typeface="Times New Roman" panose="02020603050405020304" pitchFamily="18" charset="0"/>
                <a:ea typeface="Times New Roman" panose="02020603050405020304"/>
                <a:cs typeface="Times New Roman" panose="02020603050405020304" pitchFamily="18" charset="0"/>
              </a:rPr>
              <a:t>Ahead</a:t>
            </a:r>
            <a:endParaRPr lang="en-US" sz="2400" dirty="0">
              <a:latin typeface="Times New Roman" panose="02020603050405020304" pitchFamily="18" charset="0"/>
              <a:ea typeface="Times New Roman" panose="02020603050405020304"/>
              <a:cs typeface="Times New Roman" panose="02020603050405020304" pitchFamily="18" charset="0"/>
            </a:endParaRPr>
          </a:p>
          <a:p>
            <a:pPr lvl="0">
              <a:lnSpc>
                <a:spcPct val="110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After</a:t>
            </a:r>
          </a:p>
          <a:p>
            <a:pPr lvl="0">
              <a:lnSpc>
                <a:spcPct val="110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Simultaneously</a:t>
            </a:r>
          </a:p>
          <a:p>
            <a:pPr lvl="0">
              <a:lnSpc>
                <a:spcPct val="110000"/>
              </a:lnSpc>
              <a:spcBef>
                <a:spcPts val="0"/>
              </a:spcBef>
              <a:buFont typeface="+mj-lt"/>
              <a:buAutoNum type="alphaUcPeriod"/>
            </a:pPr>
            <a:r>
              <a:rPr lang="en-US" sz="2400" dirty="0">
                <a:latin typeface="Times New Roman" panose="02020603050405020304" pitchFamily="18" charset="0"/>
                <a:ea typeface="Times New Roman" panose="02020603050405020304"/>
                <a:cs typeface="Times New Roman" panose="02020603050405020304" pitchFamily="18" charset="0"/>
              </a:rPr>
              <a:t>None of these</a:t>
            </a: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stretch>
            <a:fillRect/>
          </a:stretch>
        </p:blipFill>
        <p:spPr>
          <a:xfrm>
            <a:off x="673768" y="1282589"/>
            <a:ext cx="10289407" cy="4752451"/>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8" name="Content Placeholder 7"/>
          <p:cNvPicPr>
            <a:picLocks noGrp="1" noChangeAspect="1"/>
          </p:cNvPicPr>
          <p:nvPr>
            <p:ph idx="1"/>
          </p:nvPr>
        </p:nvPicPr>
        <p:blipFill>
          <a:blip r:embed="rId2"/>
          <a:stretch>
            <a:fillRect/>
          </a:stretch>
        </p:blipFill>
        <p:spPr>
          <a:xfrm>
            <a:off x="1029903" y="1176338"/>
            <a:ext cx="9490510" cy="5000625"/>
          </a:xfr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6" name="Content Placeholder 5"/>
          <p:cNvPicPr>
            <a:picLocks noGrp="1" noChangeAspect="1"/>
          </p:cNvPicPr>
          <p:nvPr>
            <p:ph idx="1"/>
          </p:nvPr>
        </p:nvPicPr>
        <p:blipFill>
          <a:blip r:embed="rId2"/>
          <a:stretch>
            <a:fillRect/>
          </a:stretch>
        </p:blipFill>
        <p:spPr>
          <a:xfrm>
            <a:off x="1386038" y="1177797"/>
            <a:ext cx="9509760" cy="4997707"/>
          </a:xfr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a:stretch>
            <a:fillRect/>
          </a:stretch>
        </p:blipFill>
        <p:spPr>
          <a:xfrm>
            <a:off x="1366787" y="1068404"/>
            <a:ext cx="8941869" cy="5059472"/>
          </a:xfrm>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a:stretch>
            <a:fillRect/>
          </a:stretch>
        </p:blipFill>
        <p:spPr>
          <a:xfrm>
            <a:off x="1135781" y="1180972"/>
            <a:ext cx="9827394" cy="4991357"/>
          </a:xfr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Old question paper</a:t>
            </a:r>
            <a:endParaRPr lang="en-IN" sz="3600" dirty="0">
              <a:latin typeface="Times New Roman" panose="02020603050405020304" pitchFamily="18" charset="0"/>
              <a:cs typeface="Times New Roman" panose="02020603050405020304" pitchFamily="18" charset="0"/>
            </a:endParaRPr>
          </a:p>
        </p:txBody>
      </p:sp>
      <p:pic>
        <p:nvPicPr>
          <p:cNvPr id="5" name="Content Placeholder 4"/>
          <p:cNvPicPr>
            <a:picLocks noGrp="1" noChangeAspect="1"/>
          </p:cNvPicPr>
          <p:nvPr>
            <p:ph idx="1"/>
          </p:nvPr>
        </p:nvPicPr>
        <p:blipFill>
          <a:blip r:embed="rId2"/>
          <a:stretch>
            <a:fillRect/>
          </a:stretch>
        </p:blipFill>
        <p:spPr>
          <a:xfrm>
            <a:off x="895149" y="1195589"/>
            <a:ext cx="10160001" cy="5176336"/>
          </a:xfr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Expected Questions</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buNone/>
            </a:pPr>
            <a:r>
              <a:rPr lang="en-US" sz="2400" dirty="0">
                <a:latin typeface="Times New Roman" panose="02020603050405020304" pitchFamily="18" charset="0"/>
                <a:cs typeface="Times New Roman" panose="02020603050405020304" pitchFamily="18" charset="0"/>
              </a:rPr>
              <a:t>Q1. Describe the situational analysis. </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Q2. Discuss the demand analysis. Explain various demand forecasting techniques used in demand analysis. </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Q3. Explain the project risk. Discuss various categories of the project risks. </a:t>
            </a:r>
          </a:p>
          <a:p>
            <a:pPr algn="just">
              <a:buNone/>
            </a:pPr>
            <a:endParaRPr lang="en-US" sz="2400" dirty="0">
              <a:latin typeface="Times New Roman" panose="02020603050405020304" pitchFamily="18" charset="0"/>
              <a:cs typeface="Times New Roman" panose="02020603050405020304" pitchFamily="18" charset="0"/>
            </a:endParaRPr>
          </a:p>
          <a:p>
            <a:pPr algn="just">
              <a:buNone/>
            </a:pPr>
            <a:r>
              <a:rPr lang="en-US" sz="2400" dirty="0">
                <a:latin typeface="Times New Roman" panose="02020603050405020304" pitchFamily="18" charset="0"/>
                <a:cs typeface="Times New Roman" panose="02020603050405020304" pitchFamily="18" charset="0"/>
              </a:rPr>
              <a:t>Q4. Explain various risk mitigation strategies that are used in project risk management.</a:t>
            </a:r>
          </a:p>
          <a:p>
            <a:pPr algn="just">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IN" dirty="0">
                <a:latin typeface="Times New Roman" panose="02020603050405020304" pitchFamily="18" charset="0"/>
                <a:cs typeface="Times New Roman" panose="02020603050405020304" pitchFamily="18" charset="0"/>
              </a:rPr>
              <a:t>References</a:t>
            </a:r>
          </a:p>
        </p:txBody>
      </p:sp>
      <p:sp>
        <p:nvSpPr>
          <p:cNvPr id="4" name="TextBox 3"/>
          <p:cNvSpPr txBox="1"/>
          <p:nvPr/>
        </p:nvSpPr>
        <p:spPr>
          <a:xfrm>
            <a:off x="492369" y="1125416"/>
            <a:ext cx="11550860" cy="6370975"/>
          </a:xfrm>
          <a:prstGeom prst="rect">
            <a:avLst/>
          </a:prstGeom>
          <a:noFill/>
        </p:spPr>
        <p:txBody>
          <a:bodyPr wrap="square">
            <a:spAutoFit/>
          </a:bodyPr>
          <a:lstStyle/>
          <a:p>
            <a:pPr algn="just">
              <a:buNone/>
            </a:pPr>
            <a:r>
              <a:rPr lang="en-US" sz="2400" b="1" dirty="0">
                <a:latin typeface="Times New Roman" panose="02020603050405020304" pitchFamily="18" charset="0"/>
                <a:cs typeface="Times New Roman" panose="02020603050405020304" pitchFamily="18" charset="0"/>
              </a:rPr>
              <a:t>Books:</a:t>
            </a:r>
          </a:p>
          <a:p>
            <a:pPr algn="l"/>
            <a:r>
              <a:rPr lang="en-US" sz="2400" dirty="0">
                <a:solidFill>
                  <a:srgbClr val="212121"/>
                </a:solidFill>
                <a:latin typeface="Times New Roman" panose="02020603050405020304" pitchFamily="18" charset="0"/>
                <a:cs typeface="Times New Roman" panose="02020603050405020304" pitchFamily="18" charset="0"/>
              </a:rPr>
              <a:t>Larsen, E.W., Gray C.F., &amp; Joshi, R. (2021). </a:t>
            </a:r>
            <a:r>
              <a:rPr lang="en-US" sz="2400" i="1" dirty="0">
                <a:solidFill>
                  <a:srgbClr val="212121"/>
                </a:solidFill>
                <a:latin typeface="Times New Roman" panose="02020603050405020304" pitchFamily="18" charset="0"/>
                <a:cs typeface="Times New Roman" panose="02020603050405020304" pitchFamily="18" charset="0"/>
              </a:rPr>
              <a:t>Project management: The Managerial process</a:t>
            </a:r>
            <a:r>
              <a:rPr lang="en-US" sz="2400" dirty="0">
                <a:solidFill>
                  <a:srgbClr val="212121"/>
                </a:solidFill>
                <a:latin typeface="Times New Roman" panose="02020603050405020304" pitchFamily="18" charset="0"/>
                <a:cs typeface="Times New Roman" panose="02020603050405020304" pitchFamily="18" charset="0"/>
              </a:rPr>
              <a:t>. McGraw Hill. </a:t>
            </a:r>
            <a:endParaRPr lang="en-US" sz="2400" dirty="0">
              <a:solidFill>
                <a:srgbClr val="000000"/>
              </a:solidFill>
              <a:latin typeface="Times New Roman" panose="02020603050405020304" pitchFamily="18" charset="0"/>
              <a:cs typeface="Times New Roman" panose="02020603050405020304" pitchFamily="18" charset="0"/>
            </a:endParaRPr>
          </a:p>
          <a:p>
            <a:pPr algn="l"/>
            <a:r>
              <a:rPr lang="en-US" sz="2400" dirty="0">
                <a:solidFill>
                  <a:srgbClr val="212121"/>
                </a:solidFill>
                <a:latin typeface="Times New Roman" panose="02020603050405020304" pitchFamily="18" charset="0"/>
                <a:cs typeface="Times New Roman" panose="02020603050405020304" pitchFamily="18" charset="0"/>
              </a:rPr>
              <a:t>Chandra, P. (2019). </a:t>
            </a:r>
            <a:r>
              <a:rPr lang="en-US" sz="2400" i="1" dirty="0">
                <a:solidFill>
                  <a:srgbClr val="212121"/>
                </a:solidFill>
                <a:latin typeface="Times New Roman" panose="02020603050405020304" pitchFamily="18" charset="0"/>
                <a:cs typeface="Times New Roman" panose="02020603050405020304" pitchFamily="18" charset="0"/>
              </a:rPr>
              <a:t>Projects: Planning, Analysis, Selection, Financing, Implementation and Review. </a:t>
            </a:r>
            <a:r>
              <a:rPr lang="en-US" sz="2400" dirty="0">
                <a:solidFill>
                  <a:srgbClr val="212121"/>
                </a:solidFill>
                <a:latin typeface="Times New Roman" panose="02020603050405020304" pitchFamily="18" charset="0"/>
                <a:cs typeface="Times New Roman" panose="02020603050405020304" pitchFamily="18" charset="0"/>
              </a:rPr>
              <a:t>McGraw Hill. </a:t>
            </a:r>
            <a:endParaRPr lang="en-US" sz="2400" dirty="0">
              <a:solidFill>
                <a:srgbClr val="000000"/>
              </a:solidFill>
              <a:latin typeface="Times New Roman" panose="02020603050405020304" pitchFamily="18" charset="0"/>
              <a:cs typeface="Times New Roman" panose="02020603050405020304" pitchFamily="18" charset="0"/>
            </a:endParaRPr>
          </a:p>
          <a:p>
            <a:pPr algn="just">
              <a:buNone/>
            </a:pPr>
            <a:endParaRPr lang="en-US" sz="2400" b="1" dirty="0">
              <a:latin typeface="Times New Roman" panose="02020603050405020304" pitchFamily="18" charset="0"/>
              <a:cs typeface="Times New Roman" panose="02020603050405020304" pitchFamily="18" charset="0"/>
            </a:endParaRPr>
          </a:p>
          <a:p>
            <a:pPr algn="just">
              <a:buNone/>
            </a:pPr>
            <a:r>
              <a:rPr lang="en-US" sz="2400" b="1" dirty="0">
                <a:latin typeface="Times New Roman" panose="02020603050405020304" pitchFamily="18" charset="0"/>
                <a:cs typeface="Times New Roman" panose="02020603050405020304" pitchFamily="18" charset="0"/>
              </a:rPr>
              <a:t>REFERENCE BOOK:</a:t>
            </a:r>
          </a:p>
          <a:p>
            <a:r>
              <a:rPr lang="en-US" sz="2400" dirty="0">
                <a:solidFill>
                  <a:srgbClr val="212121"/>
                </a:solidFill>
                <a:latin typeface="Times New Roman" panose="02020603050405020304" pitchFamily="18" charset="0"/>
                <a:cs typeface="Times New Roman" panose="02020603050405020304" pitchFamily="18" charset="0"/>
              </a:rPr>
              <a:t>Nagarajan, K. (2017). </a:t>
            </a:r>
            <a:r>
              <a:rPr lang="en-US" sz="2400" i="1" dirty="0">
                <a:solidFill>
                  <a:srgbClr val="212121"/>
                </a:solidFill>
                <a:latin typeface="Times New Roman" panose="02020603050405020304" pitchFamily="18" charset="0"/>
                <a:cs typeface="Times New Roman" panose="02020603050405020304" pitchFamily="18" charset="0"/>
              </a:rPr>
              <a:t>Project Management. </a:t>
            </a:r>
            <a:r>
              <a:rPr lang="en-US" sz="2400" dirty="0">
                <a:solidFill>
                  <a:srgbClr val="212121"/>
                </a:solidFill>
                <a:latin typeface="Times New Roman" panose="02020603050405020304" pitchFamily="18" charset="0"/>
                <a:cs typeface="Times New Roman" panose="02020603050405020304" pitchFamily="18" charset="0"/>
              </a:rPr>
              <a:t>New Age International Pvt. Ltd. </a:t>
            </a:r>
            <a:endParaRPr lang="en-US" sz="2400" dirty="0">
              <a:solidFill>
                <a:srgbClr val="000000"/>
              </a:solidFill>
              <a:latin typeface="Times New Roman" panose="02020603050405020304" pitchFamily="18" charset="0"/>
              <a:cs typeface="Times New Roman" panose="02020603050405020304" pitchFamily="18" charset="0"/>
            </a:endParaRPr>
          </a:p>
          <a:p>
            <a:r>
              <a:rPr lang="en-US" sz="2400" dirty="0" err="1">
                <a:solidFill>
                  <a:srgbClr val="000000"/>
                </a:solidFill>
                <a:latin typeface="Times New Roman" panose="02020603050405020304" pitchFamily="18" charset="0"/>
                <a:cs typeface="Times New Roman" panose="02020603050405020304" pitchFamily="18" charset="0"/>
              </a:rPr>
              <a:t>Paneerselvam</a:t>
            </a:r>
            <a:r>
              <a:rPr lang="en-US" sz="2400" dirty="0">
                <a:solidFill>
                  <a:srgbClr val="000000"/>
                </a:solidFill>
                <a:latin typeface="Times New Roman" panose="02020603050405020304" pitchFamily="18" charset="0"/>
                <a:cs typeface="Times New Roman" panose="02020603050405020304" pitchFamily="18" charset="0"/>
              </a:rPr>
              <a:t>, R., &amp; </a:t>
            </a:r>
            <a:r>
              <a:rPr lang="en-US" sz="2400" dirty="0" err="1">
                <a:solidFill>
                  <a:srgbClr val="000000"/>
                </a:solidFill>
                <a:latin typeface="Times New Roman" panose="02020603050405020304" pitchFamily="18" charset="0"/>
                <a:cs typeface="Times New Roman" panose="02020603050405020304" pitchFamily="18" charset="0"/>
              </a:rPr>
              <a:t>Senthilkumar</a:t>
            </a:r>
            <a:r>
              <a:rPr lang="en-US" sz="2400" dirty="0">
                <a:solidFill>
                  <a:srgbClr val="000000"/>
                </a:solidFill>
                <a:latin typeface="Times New Roman" panose="02020603050405020304" pitchFamily="18" charset="0"/>
                <a:cs typeface="Times New Roman" panose="02020603050405020304" pitchFamily="18" charset="0"/>
              </a:rPr>
              <a:t>, P. </a:t>
            </a:r>
            <a:r>
              <a:rPr lang="en-US" sz="2400" dirty="0">
                <a:solidFill>
                  <a:srgbClr val="212121"/>
                </a:solidFill>
                <a:latin typeface="Times New Roman" panose="02020603050405020304" pitchFamily="18" charset="0"/>
                <a:cs typeface="Times New Roman" panose="02020603050405020304" pitchFamily="18" charset="0"/>
              </a:rPr>
              <a:t>(2013). </a:t>
            </a:r>
            <a:r>
              <a:rPr lang="en-US" sz="2400" i="1" dirty="0">
                <a:solidFill>
                  <a:srgbClr val="212121"/>
                </a:solidFill>
                <a:latin typeface="Times New Roman" panose="02020603050405020304" pitchFamily="18" charset="0"/>
                <a:cs typeface="Times New Roman" panose="02020603050405020304" pitchFamily="18" charset="0"/>
              </a:rPr>
              <a:t>Project Management. </a:t>
            </a:r>
            <a:r>
              <a:rPr lang="en-US" sz="2400" dirty="0">
                <a:solidFill>
                  <a:srgbClr val="212121"/>
                </a:solidFill>
                <a:latin typeface="Times New Roman" panose="02020603050405020304" pitchFamily="18" charset="0"/>
                <a:cs typeface="Times New Roman" panose="02020603050405020304" pitchFamily="18" charset="0"/>
              </a:rPr>
              <a:t>Prentice </a:t>
            </a:r>
            <a:r>
              <a:rPr lang="en-US" sz="2400" dirty="0">
                <a:solidFill>
                  <a:srgbClr val="000000"/>
                </a:solidFill>
                <a:latin typeface="Times New Roman" panose="02020603050405020304" pitchFamily="18" charset="0"/>
                <a:cs typeface="Times New Roman" panose="02020603050405020304" pitchFamily="18" charset="0"/>
              </a:rPr>
              <a:t>Hall India Learning Pvt. Ltd. </a:t>
            </a:r>
          </a:p>
          <a:p>
            <a:r>
              <a:rPr lang="en-IN" sz="2400" dirty="0">
                <a:solidFill>
                  <a:srgbClr val="212121"/>
                </a:solidFill>
                <a:latin typeface="Times New Roman" panose="02020603050405020304" pitchFamily="18" charset="0"/>
                <a:cs typeface="Times New Roman" panose="02020603050405020304" pitchFamily="18" charset="0"/>
              </a:rPr>
              <a:t>Pinto, J.K. (2020). </a:t>
            </a:r>
            <a:r>
              <a:rPr lang="en-IN" sz="2400" i="1" dirty="0">
                <a:solidFill>
                  <a:srgbClr val="212121"/>
                </a:solidFill>
                <a:latin typeface="Times New Roman" panose="02020603050405020304" pitchFamily="18" charset="0"/>
                <a:cs typeface="Times New Roman" panose="02020603050405020304" pitchFamily="18" charset="0"/>
              </a:rPr>
              <a:t>Project Management. </a:t>
            </a:r>
            <a:r>
              <a:rPr lang="en-IN" sz="2400" dirty="0">
                <a:solidFill>
                  <a:srgbClr val="212121"/>
                </a:solidFill>
                <a:latin typeface="Times New Roman" panose="02020603050405020304" pitchFamily="18" charset="0"/>
                <a:cs typeface="Times New Roman" panose="02020603050405020304" pitchFamily="18" charset="0"/>
              </a:rPr>
              <a:t>Global </a:t>
            </a:r>
            <a:r>
              <a:rPr lang="en-IN" sz="2400" dirty="0" err="1">
                <a:solidFill>
                  <a:srgbClr val="212121"/>
                </a:solidFill>
                <a:latin typeface="Times New Roman" panose="02020603050405020304" pitchFamily="18" charset="0"/>
                <a:cs typeface="Times New Roman" panose="02020603050405020304" pitchFamily="18" charset="0"/>
              </a:rPr>
              <a:t>EduTech</a:t>
            </a:r>
            <a:r>
              <a:rPr lang="en-IN" sz="2400" dirty="0">
                <a:solidFill>
                  <a:srgbClr val="212121"/>
                </a:solidFill>
                <a:latin typeface="Times New Roman" panose="02020603050405020304" pitchFamily="18" charset="0"/>
                <a:cs typeface="Times New Roman" panose="02020603050405020304" pitchFamily="18" charset="0"/>
              </a:rPr>
              <a:t>. </a:t>
            </a:r>
            <a:endParaRPr lang="en-IN" sz="2400" dirty="0">
              <a:solidFill>
                <a:srgbClr val="000000"/>
              </a:solidFill>
              <a:latin typeface="Times New Roman" panose="02020603050405020304" pitchFamily="18" charset="0"/>
              <a:cs typeface="Times New Roman" panose="02020603050405020304" pitchFamily="18" charset="0"/>
            </a:endParaRPr>
          </a:p>
          <a:p>
            <a:r>
              <a:rPr lang="en-US" sz="2400" dirty="0">
                <a:solidFill>
                  <a:srgbClr val="212121"/>
                </a:solidFill>
                <a:latin typeface="Times New Roman" panose="02020603050405020304" pitchFamily="18" charset="0"/>
                <a:cs typeface="Times New Roman" panose="02020603050405020304" pitchFamily="18" charset="0"/>
              </a:rPr>
              <a:t>Desai, V. (2016). </a:t>
            </a:r>
            <a:r>
              <a:rPr lang="en-US" sz="2400" i="1" dirty="0">
                <a:solidFill>
                  <a:srgbClr val="212121"/>
                </a:solidFill>
                <a:latin typeface="Times New Roman" panose="02020603050405020304" pitchFamily="18" charset="0"/>
                <a:cs typeface="Times New Roman" panose="02020603050405020304" pitchFamily="18" charset="0"/>
              </a:rPr>
              <a:t>Project Management. </a:t>
            </a:r>
            <a:r>
              <a:rPr lang="en-US" sz="2400" dirty="0">
                <a:solidFill>
                  <a:srgbClr val="212121"/>
                </a:solidFill>
                <a:latin typeface="Times New Roman" panose="02020603050405020304" pitchFamily="18" charset="0"/>
                <a:cs typeface="Times New Roman" panose="02020603050405020304" pitchFamily="18" charset="0"/>
              </a:rPr>
              <a:t>Himalaya Publishing House. </a:t>
            </a:r>
            <a:r>
              <a:rPr lang="en-US" sz="2400" dirty="0">
                <a:solidFill>
                  <a:srgbClr val="000000"/>
                </a:solidFill>
                <a:latin typeface="Times New Roman" panose="02020603050405020304" pitchFamily="18" charset="0"/>
                <a:cs typeface="Times New Roman" panose="02020603050405020304" pitchFamily="18" charset="0"/>
              </a:rPr>
              <a:t>	</a:t>
            </a:r>
          </a:p>
          <a:p>
            <a:pPr algn="just">
              <a:buNone/>
            </a:pPr>
            <a:endParaRPr lang="en-US" sz="2400" b="1" dirty="0">
              <a:latin typeface="Times New Roman" panose="02020603050405020304" pitchFamily="18" charset="0"/>
              <a:cs typeface="Times New Roman" panose="02020603050405020304" pitchFamily="18" charset="0"/>
            </a:endParaRPr>
          </a:p>
          <a:p>
            <a:pPr algn="just">
              <a:buNone/>
            </a:pPr>
            <a:endParaRPr lang="en-US" sz="2400" b="1" dirty="0">
              <a:latin typeface="Times New Roman" panose="02020603050405020304" pitchFamily="18" charset="0"/>
              <a:cs typeface="Times New Roman" panose="02020603050405020304" pitchFamily="18" charset="0"/>
            </a:endParaRPr>
          </a:p>
          <a:p>
            <a:pPr algn="just">
              <a:buNone/>
            </a:pP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600" b="0" dirty="0">
                <a:latin typeface="Times New Roman" panose="02020603050405020304" pitchFamily="18" charset="0"/>
                <a:cs typeface="Times New Roman" panose="02020603050405020304" pitchFamily="18" charset="0"/>
              </a:rPr>
              <a:t>Recap of unit</a:t>
            </a:r>
            <a:endParaRPr lang="en-IN" sz="36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p:txBody>
          <a:bodyPr>
            <a:normAutofit/>
          </a:bodyPr>
          <a:lstStyle/>
          <a:p>
            <a:pPr algn="just"/>
            <a:r>
              <a:rPr lang="en-US" sz="2400" dirty="0">
                <a:latin typeface="Times New Roman" panose="02020603050405020304" pitchFamily="18" charset="0"/>
                <a:cs typeface="Times New Roman" panose="02020603050405020304" pitchFamily="18" charset="0"/>
              </a:rPr>
              <a:t>A risk is defined as “an uncertain event or condition that, if it occurs, has a positive or negative effect on a project's objectives”</a:t>
            </a:r>
          </a:p>
          <a:p>
            <a:pPr algn="just"/>
            <a:r>
              <a:rPr lang="en-US" sz="2400" dirty="0">
                <a:latin typeface="Times New Roman" panose="02020603050405020304" pitchFamily="18" charset="0"/>
                <a:cs typeface="Times New Roman" panose="02020603050405020304" pitchFamily="18" charset="0"/>
              </a:rPr>
              <a:t>The project idea must be compatible with the interest, personality &amp; resources of an entrepreneur</a:t>
            </a:r>
          </a:p>
          <a:p>
            <a:pPr algn="just"/>
            <a:r>
              <a:rPr lang="en-US" sz="2400" dirty="0">
                <a:latin typeface="Times New Roman" panose="02020603050405020304" pitchFamily="18" charset="0"/>
                <a:cs typeface="Times New Roman" panose="02020603050405020304" pitchFamily="18" charset="0"/>
              </a:rPr>
              <a:t>Project Identification is often the outcome of TRIGGERING PROCESSES / EVENTS rather than an analytical exercise.</a:t>
            </a:r>
          </a:p>
          <a:p>
            <a:pPr algn="just"/>
            <a:r>
              <a:rPr lang="en-US" sz="2400" dirty="0">
                <a:latin typeface="Times New Roman" panose="02020603050405020304" pitchFamily="18" charset="0"/>
                <a:cs typeface="Times New Roman" panose="02020603050405020304" pitchFamily="18" charset="0"/>
              </a:rPr>
              <a:t>To tap the creativity of the people and to harness their entrepreneurial urges, a conducive organizational climate has to be fostered. </a:t>
            </a:r>
          </a:p>
          <a:p>
            <a:pPr algn="just"/>
            <a:r>
              <a:rPr lang="en-US" sz="2400" dirty="0">
                <a:latin typeface="Times New Roman" panose="02020603050405020304" pitchFamily="18" charset="0"/>
                <a:cs typeface="Times New Roman" panose="02020603050405020304" pitchFamily="18" charset="0"/>
              </a:rPr>
              <a:t>Some kind of preliminary screening is required to eliminate ideas which </a:t>
            </a:r>
            <a:r>
              <a:rPr lang="en-US" sz="2400" i="1" dirty="0">
                <a:latin typeface="Times New Roman" panose="02020603050405020304" pitchFamily="18" charset="0"/>
                <a:cs typeface="Times New Roman" panose="02020603050405020304" pitchFamily="18" charset="0"/>
              </a:rPr>
              <a:t>prima facie</a:t>
            </a:r>
            <a:r>
              <a:rPr lang="en-US" sz="2400" dirty="0">
                <a:latin typeface="Times New Roman" panose="02020603050405020304" pitchFamily="18" charset="0"/>
                <a:cs typeface="Times New Roman" panose="02020603050405020304" pitchFamily="18" charset="0"/>
              </a:rPr>
              <a:t> are not promising</a:t>
            </a:r>
          </a:p>
          <a:p>
            <a:pPr algn="just"/>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251</TotalTime>
  <Words>5926</Words>
  <Application>Microsoft Office PowerPoint</Application>
  <PresentationFormat>Widescreen</PresentationFormat>
  <Paragraphs>817</Paragraphs>
  <Slides>122</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122</vt:i4>
      </vt:variant>
    </vt:vector>
  </HeadingPairs>
  <TitlesOfParts>
    <vt:vector size="128" baseType="lpstr">
      <vt:lpstr>Aptos</vt:lpstr>
      <vt:lpstr>Aptos Display</vt:lpstr>
      <vt:lpstr>Arial</vt:lpstr>
      <vt:lpstr>Times New Roman</vt:lpstr>
      <vt:lpstr>Office Theme</vt:lpstr>
      <vt:lpstr>Acrobat Document</vt:lpstr>
      <vt:lpstr>PowerPoint Presentation</vt:lpstr>
      <vt:lpstr>Index</vt:lpstr>
      <vt:lpstr>Index</vt:lpstr>
      <vt:lpstr>Brief Introduction of the Faculty Member </vt:lpstr>
      <vt:lpstr>Evaluation Scheme</vt:lpstr>
      <vt:lpstr>Syllabus</vt:lpstr>
      <vt:lpstr>Syllabus</vt:lpstr>
      <vt:lpstr>Branch Wise Application</vt:lpstr>
      <vt:lpstr>Course objective(s)</vt:lpstr>
      <vt:lpstr>Course outcome(s) </vt:lpstr>
      <vt:lpstr>Program outcome (POs)</vt:lpstr>
      <vt:lpstr>COs and POs Mapping</vt:lpstr>
      <vt:lpstr>Program Educational Objectives (PEOs)</vt:lpstr>
      <vt:lpstr>End Semester Question paper Templates</vt:lpstr>
      <vt:lpstr>End Semester Question paper Templates</vt:lpstr>
      <vt:lpstr> Prerequisite /Recap</vt:lpstr>
      <vt:lpstr>Brief Introduction about the Subject with Videos</vt:lpstr>
      <vt:lpstr>Unit Content</vt:lpstr>
      <vt:lpstr>Unit objective</vt:lpstr>
      <vt:lpstr>Topic Objectives &amp; Topic Outcome</vt:lpstr>
      <vt:lpstr>Identification &amp;Generation of ideas</vt:lpstr>
      <vt:lpstr>Project</vt:lpstr>
      <vt:lpstr>Basic Terminology</vt:lpstr>
      <vt:lpstr>Basic Terminology</vt:lpstr>
      <vt:lpstr>Basic Terminology</vt:lpstr>
      <vt:lpstr>Components of Sample System for Value Delivery</vt:lpstr>
      <vt:lpstr>Information Flow</vt:lpstr>
      <vt:lpstr>Project Identification</vt:lpstr>
      <vt:lpstr>Stimulation of Flow of Ideas</vt:lpstr>
      <vt:lpstr>Stimulation of Flow of Ideas</vt:lpstr>
      <vt:lpstr>Stimulation of Flow of Ideas</vt:lpstr>
      <vt:lpstr>Tools for Identifying Project Opportunities</vt:lpstr>
      <vt:lpstr>1. Porter’s 5 Forces</vt:lpstr>
      <vt:lpstr>2. Life cycle approach</vt:lpstr>
      <vt:lpstr>3. Experience curve</vt:lpstr>
      <vt:lpstr>Generating Project Ideas</vt:lpstr>
      <vt:lpstr>Generating Project Ideas</vt:lpstr>
      <vt:lpstr>Topic objective and topic outcome</vt:lpstr>
      <vt:lpstr>Project Screening &amp; Selection</vt:lpstr>
      <vt:lpstr>1. Compatibility with the promoter</vt:lpstr>
      <vt:lpstr>2. Consistency with Government priorities </vt:lpstr>
      <vt:lpstr>3. Availability of inputs</vt:lpstr>
      <vt:lpstr>4. Adequacy of market</vt:lpstr>
      <vt:lpstr>5. Reasonableness of Cost</vt:lpstr>
      <vt:lpstr>6. Acceptability of risk level</vt:lpstr>
      <vt:lpstr>Project Rating Index (PRI)</vt:lpstr>
      <vt:lpstr>Steps of PRI</vt:lpstr>
      <vt:lpstr>Ranking Potential Projects</vt:lpstr>
      <vt:lpstr>Using Priority Matrix</vt:lpstr>
      <vt:lpstr>Topic Objectives &amp; Outcome</vt:lpstr>
      <vt:lpstr>Market &amp; Demand Analysis </vt:lpstr>
      <vt:lpstr>Factors, that answer &gt;</vt:lpstr>
      <vt:lpstr>Collection of Secondary Information</vt:lpstr>
      <vt:lpstr>Conduct of Survey</vt:lpstr>
      <vt:lpstr>Characterization of Market</vt:lpstr>
      <vt:lpstr>Marketing Strategy</vt:lpstr>
      <vt:lpstr>Demand Forecasting</vt:lpstr>
      <vt:lpstr>Jury of Executive Opinion Method</vt:lpstr>
      <vt:lpstr>Delphi Method</vt:lpstr>
      <vt:lpstr>Demand Forecasting</vt:lpstr>
      <vt:lpstr>Trend projection method</vt:lpstr>
      <vt:lpstr>Moving Average Method</vt:lpstr>
      <vt:lpstr>Demand Forecasting</vt:lpstr>
      <vt:lpstr>Chain Ratio Method</vt:lpstr>
      <vt:lpstr>Consumption Level Method</vt:lpstr>
      <vt:lpstr>End-use method</vt:lpstr>
      <vt:lpstr>Bass Diffusion Method (Frank Bass)</vt:lpstr>
      <vt:lpstr>Leading Indicator Method</vt:lpstr>
      <vt:lpstr>Econometric method</vt:lpstr>
      <vt:lpstr>Single  Equation Model</vt:lpstr>
      <vt:lpstr>Simultaneous Equation Model </vt:lpstr>
      <vt:lpstr>Topic Objectives &amp; Outcome</vt:lpstr>
      <vt:lpstr>Project Risk &amp; Uncertainty</vt:lpstr>
      <vt:lpstr>Project Risk</vt:lpstr>
      <vt:lpstr>Project Risk</vt:lpstr>
      <vt:lpstr>Types of Risk</vt:lpstr>
      <vt:lpstr>Operational Risk</vt:lpstr>
      <vt:lpstr>Short-term strategic Risks</vt:lpstr>
      <vt:lpstr>Long-term strategic Risks</vt:lpstr>
      <vt:lpstr>Common Project Risk</vt:lpstr>
      <vt:lpstr>Criteria to Categories Risk</vt:lpstr>
      <vt:lpstr>Criteria to Categories Risk</vt:lpstr>
      <vt:lpstr>Criteria to Categories Risk</vt:lpstr>
      <vt:lpstr>Topic Objectives &amp; Outcome</vt:lpstr>
      <vt:lpstr>Risk Identification &amp; Analysis</vt:lpstr>
      <vt:lpstr>Risk Identification &amp; Analysis</vt:lpstr>
      <vt:lpstr>Six Steps Process</vt:lpstr>
      <vt:lpstr>Step 1: Make a List</vt:lpstr>
      <vt:lpstr>Step 2 &amp; step 3</vt:lpstr>
      <vt:lpstr>Step 2 &amp; step 3</vt:lpstr>
      <vt:lpstr>Step 4: Prevent or Mitigate the Risk</vt:lpstr>
      <vt:lpstr>Step 5: Consider Contingencies</vt:lpstr>
      <vt:lpstr>Step 6: Establish the Trigger Point</vt:lpstr>
      <vt:lpstr>Risk Screening</vt:lpstr>
      <vt:lpstr>Risk Matrix</vt:lpstr>
      <vt:lpstr>Risk Register</vt:lpstr>
      <vt:lpstr>Pareto diagram</vt:lpstr>
      <vt:lpstr>Failure Modes and Effects Analysis</vt:lpstr>
      <vt:lpstr>Project Definition Rating Index</vt:lpstr>
      <vt:lpstr>Quantitative Risk Analysis</vt:lpstr>
      <vt:lpstr>Quantitative Risk Analysis</vt:lpstr>
      <vt:lpstr>Quantitative Risk Analysis</vt:lpstr>
      <vt:lpstr>Topic Objectives &amp; Outcome</vt:lpstr>
      <vt:lpstr>Risk Identification Analysis</vt:lpstr>
      <vt:lpstr>Risk Identification Analysis</vt:lpstr>
      <vt:lpstr>Risk Identification Analysis</vt:lpstr>
      <vt:lpstr>Case Study</vt:lpstr>
      <vt:lpstr>Daily quiz</vt:lpstr>
      <vt:lpstr>Weekly assignment </vt:lpstr>
      <vt:lpstr>Topic links</vt:lpstr>
      <vt:lpstr>MCQs</vt:lpstr>
      <vt:lpstr>MCQs</vt:lpstr>
      <vt:lpstr>MCQs</vt:lpstr>
      <vt:lpstr>Old question paper</vt:lpstr>
      <vt:lpstr>Old question paper</vt:lpstr>
      <vt:lpstr>Old question paper</vt:lpstr>
      <vt:lpstr>Old question paper</vt:lpstr>
      <vt:lpstr>Old question paper</vt:lpstr>
      <vt:lpstr>Old question paper</vt:lpstr>
      <vt:lpstr>Expected Questions</vt:lpstr>
      <vt:lpstr>References</vt:lpstr>
      <vt:lpstr>Recap of unit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Manish Kaushik</dc:creator>
  <cp:lastModifiedBy>Dev Goyal</cp:lastModifiedBy>
  <cp:revision>25</cp:revision>
  <dcterms:created xsi:type="dcterms:W3CDTF">2024-03-22T08:16:00Z</dcterms:created>
  <dcterms:modified xsi:type="dcterms:W3CDTF">2025-10-03T15:12:55Z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B191F2D42AD24440A6EF85ADA12890F5_12</vt:lpwstr>
  </property>
  <property fmtid="{D5CDD505-2E9C-101B-9397-08002B2CF9AE}" pid="3" name="KSOProductBuildVer">
    <vt:lpwstr>1033-12.2.0.17119</vt:lpwstr>
  </property>
</Properties>
</file>