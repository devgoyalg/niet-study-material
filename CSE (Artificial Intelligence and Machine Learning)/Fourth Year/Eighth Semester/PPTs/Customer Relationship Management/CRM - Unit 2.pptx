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79" d="100"/>
          <a:sy n="79" d="100"/>
        </p:scale>
        <p:origin x="109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39EC-F556-4F50-A589-933213CC5BA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FB24-0B42-460D-98C9-0F144FB7909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363B-D743-42C4-B54F-57ED0BD9371A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96749-A4F6-46B5-88FA-340EE3E5D2C2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E873-3190-41E3-98DA-A8435006284E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77-C34A-4405-9403-5FD1B9E9F08C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3E3A-B7F7-40E1-BC71-3617EBEAFD5F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2DED-6287-4E69-B462-B6484839942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49D7-0282-4644-8DB1-F1C4809E4506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B6E-331C-40B4-B644-D25F85162A0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70C0-D773-4DEF-9D48-19F5DC144E2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4F39-41D4-444B-91A2-975A2451235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2F94AE00-6355-D25A-F832-477BFCE21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417649-453C-D98C-AADA-E8C5A754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/>
              <a:t>Noida</a:t>
            </a:r>
            <a:r>
              <a:rPr lang="en-US" sz="2800" dirty="0"/>
              <a:t> Institute of Engineering and Technology, Greater </a:t>
            </a:r>
            <a:r>
              <a:rPr lang="en-US" sz="2800" dirty="0" err="1"/>
              <a:t>Noida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795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3E728-87ED-4485-A850-3811B167CE1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/>
              <a:t>Noida</a:t>
            </a:r>
            <a:r>
              <a:rPr lang="en-US" sz="2800" dirty="0"/>
              <a:t> Institute of Engineering and Technology, Greater </a:t>
            </a:r>
            <a:r>
              <a:rPr lang="en-US" sz="2800" dirty="0" err="1"/>
              <a:t>Noida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213837"/>
            <a:ext cx="9296400" cy="767363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r>
              <a:rPr lang="en-US" sz="11200" b="1" dirty="0">
                <a:solidFill>
                  <a:schemeClr val="tx1"/>
                </a:solidFill>
              </a:rPr>
              <a:t>Customer Relationship Management</a:t>
            </a:r>
            <a:br>
              <a:rPr lang="en-US" sz="11200" dirty="0">
                <a:solidFill>
                  <a:schemeClr val="tx1"/>
                </a:solidFill>
              </a:rPr>
            </a:br>
            <a:r>
              <a:rPr lang="en-US" sz="11200" b="1" dirty="0">
                <a:solidFill>
                  <a:schemeClr val="tx1"/>
                </a:solidFill>
              </a:rPr>
              <a:t>(AOE0865)</a:t>
            </a:r>
          </a:p>
          <a:p>
            <a:br>
              <a:rPr lang="en-US" sz="2500" dirty="0">
                <a:solidFill>
                  <a:schemeClr val="tx1"/>
                </a:solidFill>
              </a:rPr>
            </a:b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991600" y="4222750"/>
            <a:ext cx="3048000" cy="17526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</a:rPr>
              <a:t>Ms. Rachna Sharma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</a:rPr>
              <a:t>CSE(DS)Department</a:t>
            </a: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76"/>
            <a:ext cx="2133600" cy="365125"/>
          </a:xfrm>
        </p:spPr>
        <p:txBody>
          <a:bodyPr/>
          <a:lstStyle/>
          <a:p>
            <a:fld id="{E0D36C77-7546-41A5-A471-41C95C54941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50825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381000" y="2895600"/>
            <a:ext cx="2057400" cy="5334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500" dirty="0">
                <a:solidFill>
                  <a:schemeClr val="tx1"/>
                </a:solidFill>
              </a:rPr>
              <a:t>Unit: 2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nl-NL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41671" y="3749675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/>
              <a:t>Managing Customer Acquisition and Customer Loyalty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(AOE0865)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341671" y="4908550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B Tech 8</a:t>
            </a:r>
            <a:r>
              <a:rPr lang="en-US" sz="2000" baseline="30000" dirty="0">
                <a:solidFill>
                  <a:schemeClr val="tx1"/>
                </a:solidFill>
              </a:rPr>
              <a:t>th</a:t>
            </a:r>
            <a:r>
              <a:rPr lang="en-US" sz="2000" dirty="0">
                <a:solidFill>
                  <a:schemeClr val="tx1"/>
                </a:solidFill>
              </a:rPr>
              <a:t> Sem</a:t>
            </a: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E4DA-F688-79D7-8ABC-3AB7E320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37DC-D1A1-4A3C-A07F-D603AD7C6F1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A7E6-B4A7-9AAE-BCE9-755B50F2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4902200" cy="365125"/>
          </a:xfrm>
        </p:spPr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4D76-71D1-9263-9EB5-985F4A4A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B5A2B130-F388-87B5-6177-0DA2F30B21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30894F5-6F90-DB7D-06A9-183F19A27365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E841E-CF7B-4B2E-4535-DFC9EB62A147}"/>
              </a:ext>
            </a:extLst>
          </p:cNvPr>
          <p:cNvSpPr txBox="1"/>
          <p:nvPr/>
        </p:nvSpPr>
        <p:spPr>
          <a:xfrm>
            <a:off x="2222090" y="1371600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Managing Customer Acquisition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30C21-7ADE-AE2C-857F-5A721F61286B}"/>
              </a:ext>
            </a:extLst>
          </p:cNvPr>
          <p:cNvSpPr txBox="1"/>
          <p:nvPr/>
        </p:nvSpPr>
        <p:spPr>
          <a:xfrm>
            <a:off x="2362200" y="2250539"/>
            <a:ext cx="61234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Customer Lifetime Value (CLV)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The total value a customer generates during their relationship with a business.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Importance: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Helps in allocating resources efficiently.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Identifies high-value customer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Calculation:</a:t>
            </a:r>
            <a:br>
              <a:rPr lang="en-US" dirty="0"/>
            </a:br>
            <a:r>
              <a:rPr lang="en-US" dirty="0"/>
              <a:t>CLV=Average Purchase </a:t>
            </a:r>
            <a:r>
              <a:rPr lang="en-US" dirty="0" err="1"/>
              <a:t>Value×Purchase</a:t>
            </a:r>
            <a:r>
              <a:rPr lang="en-US" dirty="0"/>
              <a:t> </a:t>
            </a:r>
            <a:r>
              <a:rPr lang="en-US" dirty="0" err="1"/>
              <a:t>Frequency×Customer</a:t>
            </a:r>
            <a:r>
              <a:rPr lang="en-US" dirty="0"/>
              <a:t> </a:t>
            </a:r>
            <a:r>
              <a:rPr lang="en-US" dirty="0" err="1"/>
              <a:t>LifespanCLV</a:t>
            </a:r>
            <a:r>
              <a:rPr lang="en-US" dirty="0"/>
              <a:t> = \text{Average Purchase Value} \times \text{Purchase Frequency} \times \text{Customer Lifespan}CLV=Average Purchase </a:t>
            </a:r>
            <a:r>
              <a:rPr lang="en-US" dirty="0" err="1"/>
              <a:t>Value×Purchase</a:t>
            </a:r>
            <a:r>
              <a:rPr lang="en-US" dirty="0"/>
              <a:t> </a:t>
            </a:r>
            <a:r>
              <a:rPr lang="en-US" dirty="0" err="1"/>
              <a:t>Frequency×Customer</a:t>
            </a:r>
            <a:r>
              <a:rPr lang="en-US" dirty="0"/>
              <a:t> Lifespan</a:t>
            </a:r>
          </a:p>
        </p:txBody>
      </p:sp>
    </p:spTree>
    <p:extLst>
      <p:ext uri="{BB962C8B-B14F-4D97-AF65-F5344CB8AC3E}">
        <p14:creationId xmlns:p14="http://schemas.microsoft.com/office/powerpoint/2010/main" val="111557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2308F-098E-ADA1-66E7-C625C1CA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7A62-7146-4993-802A-B5948BB2345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EF41E-EE76-C746-E846-DB7DD361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3860800" cy="365125"/>
          </a:xfrm>
        </p:spPr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A20FE-0DCC-3D71-EA29-2B147577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2E884F92-B2A3-B50B-9E14-0A7A35A57B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0AFD9F-0B23-7D1D-A1A4-342B2AAAD5C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pic>
        <p:nvPicPr>
          <p:cNvPr id="1026" name="Picture 2" descr="What is Customer Lifetime Value (CLV) &amp; How to Calculate it">
            <a:extLst>
              <a:ext uri="{FF2B5EF4-FFF2-40B4-BE49-F238E27FC236}">
                <a16:creationId xmlns:a16="http://schemas.microsoft.com/office/drawing/2014/main" id="{98852A07-E21D-4F29-E8F1-375D5CF7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325" y="1139525"/>
            <a:ext cx="9183470" cy="498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88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EECE4-828B-B6DB-7A7A-3B226B71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3102-7E6B-45AE-84F4-AD5B309472B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6FD14-E32E-F89C-817E-6B06C43D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4435-6BEA-C879-AE2B-162BE119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4F17B56-D70F-05D1-7851-2A366F5DE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82141C9-E6F7-4ECB-430E-D34CB8A8D30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51182-4A0F-C808-8491-B7B940CF6997}"/>
              </a:ext>
            </a:extLst>
          </p:cNvPr>
          <p:cNvSpPr txBox="1"/>
          <p:nvPr/>
        </p:nvSpPr>
        <p:spPr>
          <a:xfrm>
            <a:off x="2209799" y="1219200"/>
            <a:ext cx="14106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New Customer Acquisition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0414799-B443-D1FB-2619-4D57CAFB3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133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attracting and converting prospects into paying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include advertising, promotions, and referral programs. </a:t>
            </a:r>
          </a:p>
        </p:txBody>
      </p:sp>
      <p:pic>
        <p:nvPicPr>
          <p:cNvPr id="2052" name="Picture 4" descr="Customer Acquisition: How to Win New Customers">
            <a:extLst>
              <a:ext uri="{FF2B5EF4-FFF2-40B4-BE49-F238E27FC236}">
                <a16:creationId xmlns:a16="http://schemas.microsoft.com/office/drawing/2014/main" id="{FD6EFC54-2473-83A4-5D41-AAD3E0BE4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2557463"/>
            <a:ext cx="6034087" cy="401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91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201B2-0164-FBE7-6D9C-DD646C50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4126-2505-4664-AA20-F3F0BCA59AFA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29C07-85F3-F922-2300-49A001CB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95D3A-EF30-E129-C473-6194E83F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B3231A7F-3816-74EB-EA44-6F79FE9346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6542D3F-1936-D575-5EEF-02288ED9945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E769D-FFD4-66BC-54BC-DF8BD212D586}"/>
              </a:ext>
            </a:extLst>
          </p:cNvPr>
          <p:cNvSpPr txBox="1"/>
          <p:nvPr/>
        </p:nvSpPr>
        <p:spPr>
          <a:xfrm>
            <a:off x="2209800" y="14478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Prospecting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1B31B6-5F82-F27A-E817-811FE835FC18}"/>
              </a:ext>
            </a:extLst>
          </p:cNvPr>
          <p:cNvSpPr txBox="1"/>
          <p:nvPr/>
        </p:nvSpPr>
        <p:spPr>
          <a:xfrm>
            <a:off x="2209800" y="1971020"/>
            <a:ext cx="6123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Definition:</a:t>
            </a:r>
            <a:r>
              <a:rPr lang="en-US" sz="2400" dirty="0"/>
              <a:t> Identifying and targeting potential customers who are likely to convert.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41FAC-7DA1-F680-D43E-303ACFA616C2}"/>
              </a:ext>
            </a:extLst>
          </p:cNvPr>
          <p:cNvSpPr txBox="1"/>
          <p:nvPr/>
        </p:nvSpPr>
        <p:spPr>
          <a:xfrm>
            <a:off x="2209800" y="2749960"/>
            <a:ext cx="6123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 : </a:t>
            </a:r>
            <a:r>
              <a:rPr lang="en-US" sz="2400" dirty="0"/>
              <a:t>Customer data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Social media targeting.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CRM systems.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CA988E-675F-6C62-37E8-42E0E45E7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766507"/>
            <a:ext cx="4927707" cy="307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9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6CCD1-78FD-A77B-0B72-DA55276D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9457-2F0D-435F-8204-E7464FF4EC7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485D7-EBE8-2FF9-E343-A743AA04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6045-2235-7452-DEDA-691F2195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7B0B14D-D0FE-9DCD-774F-BA1A211DF0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F4A4352-9AC0-B2F7-50B6-77FFFB9CAD36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C224F-305F-0D97-2A7A-49F5842C500E}"/>
              </a:ext>
            </a:extLst>
          </p:cNvPr>
          <p:cNvSpPr txBox="1"/>
          <p:nvPr/>
        </p:nvSpPr>
        <p:spPr>
          <a:xfrm>
            <a:off x="2032000" y="1295400"/>
            <a:ext cx="61234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Customer Acquisition Programs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7ECCC-39B3-1DDB-AC14-6F8AD9933C45}"/>
              </a:ext>
            </a:extLst>
          </p:cNvPr>
          <p:cNvSpPr txBox="1"/>
          <p:nvPr/>
        </p:nvSpPr>
        <p:spPr>
          <a:xfrm>
            <a:off x="2053236" y="2072332"/>
            <a:ext cx="61234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Structured efforts to gain new customers through campaigns and offers.</a:t>
            </a:r>
          </a:p>
          <a:p>
            <a:endParaRPr lang="en-US" sz="2800" dirty="0"/>
          </a:p>
          <a:p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E07FA-7CBB-48CF-4822-8FB31A92DBD5}"/>
              </a:ext>
            </a:extLst>
          </p:cNvPr>
          <p:cNvSpPr txBox="1"/>
          <p:nvPr/>
        </p:nvSpPr>
        <p:spPr>
          <a:xfrm>
            <a:off x="2032000" y="3195716"/>
            <a:ext cx="7493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Common programs: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   Loyalty rewards for referrals.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   Free trials or discounts for first-time customers.</a:t>
            </a:r>
          </a:p>
        </p:txBody>
      </p:sp>
    </p:spTree>
    <p:extLst>
      <p:ext uri="{BB962C8B-B14F-4D97-AF65-F5344CB8AC3E}">
        <p14:creationId xmlns:p14="http://schemas.microsoft.com/office/powerpoint/2010/main" val="241921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9CA5B-E533-7303-871D-39FB5921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AB6D2-AB3A-41D5-B89E-72511793F6E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E8A3F-8643-F3E1-5F77-19B176A5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EED3A-220D-A41A-FBD8-1C9C7F14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F247165A-07DF-60F1-BE7C-5A900A8B3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FAEC0B5-41E3-4B3F-9D34-9A26041383D7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33E0F-FD8C-DFDA-65A4-527FEDC5A3ED}"/>
              </a:ext>
            </a:extLst>
          </p:cNvPr>
          <p:cNvSpPr txBox="1"/>
          <p:nvPr/>
        </p:nvSpPr>
        <p:spPr>
          <a:xfrm>
            <a:off x="2032000" y="1219200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Tools for Customer Acquisition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12506-9306-77B7-CDC8-E6949F04376D}"/>
              </a:ext>
            </a:extLst>
          </p:cNvPr>
          <p:cNvSpPr txBox="1"/>
          <p:nvPr/>
        </p:nvSpPr>
        <p:spPr>
          <a:xfrm>
            <a:off x="2032000" y="1939773"/>
            <a:ext cx="909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Digital Tools</a:t>
            </a:r>
            <a:r>
              <a:rPr lang="en-US" sz="2400" dirty="0"/>
              <a:t>: Google Ads, SEO, email marketing, and social media campaigns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07665-1BE4-F3A4-1D2B-194362690F20}"/>
              </a:ext>
            </a:extLst>
          </p:cNvPr>
          <p:cNvSpPr txBox="1"/>
          <p:nvPr/>
        </p:nvSpPr>
        <p:spPr>
          <a:xfrm>
            <a:off x="2012013" y="2711602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CRM Systems:</a:t>
            </a:r>
            <a:r>
              <a:rPr lang="en-IN" sz="2400" dirty="0"/>
              <a:t> Salesforce, HubSpot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32CA26-C493-9185-40D5-03156BBEF61B}"/>
              </a:ext>
            </a:extLst>
          </p:cNvPr>
          <p:cNvSpPr txBox="1"/>
          <p:nvPr/>
        </p:nvSpPr>
        <p:spPr>
          <a:xfrm>
            <a:off x="2032000" y="3198167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Content Marketing:</a:t>
            </a:r>
            <a:r>
              <a:rPr lang="en-US" sz="2400" dirty="0"/>
              <a:t> Blogs, </a:t>
            </a:r>
            <a:r>
              <a:rPr lang="en-US" sz="2000" b="1" dirty="0"/>
              <a:t>videos</a:t>
            </a:r>
            <a:r>
              <a:rPr lang="en-US" sz="2400" dirty="0"/>
              <a:t>, and webinars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937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27525-16EE-5906-5CCA-5F13D6AF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9836-4329-4B04-8991-E7599A1E6E09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F7D9-FC71-8E88-5D63-EA0DB3B0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2939F-89E3-285E-ED47-D51EFE64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3AA2C23-8463-138B-F3F3-969171B8C4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1960272-DC8A-E170-4D1B-4859F59D5DC1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CBC17-24BD-B2BD-871E-0FA7E3743553}"/>
              </a:ext>
            </a:extLst>
          </p:cNvPr>
          <p:cNvSpPr txBox="1"/>
          <p:nvPr/>
        </p:nvSpPr>
        <p:spPr>
          <a:xfrm>
            <a:off x="2209800" y="1295400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Managing Customer Lifecycle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DEAE5E-BEED-AE1D-EF1B-C9F78B5C7CA9}"/>
              </a:ext>
            </a:extLst>
          </p:cNvPr>
          <p:cNvSpPr txBox="1"/>
          <p:nvPr/>
        </p:nvSpPr>
        <p:spPr>
          <a:xfrm>
            <a:off x="2207342" y="1923706"/>
            <a:ext cx="8215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Customer relation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Efforts to keep existing customers engaged and loyal.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5F851-F670-8301-88A9-16982EB02AD5}"/>
              </a:ext>
            </a:extLst>
          </p:cNvPr>
          <p:cNvSpPr txBox="1"/>
          <p:nvPr/>
        </p:nvSpPr>
        <p:spPr>
          <a:xfrm>
            <a:off x="2209800" y="2576915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Importance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40C58-02D9-01BF-EEBE-ECEB98301699}"/>
              </a:ext>
            </a:extLst>
          </p:cNvPr>
          <p:cNvSpPr txBox="1"/>
          <p:nvPr/>
        </p:nvSpPr>
        <p:spPr>
          <a:xfrm>
            <a:off x="2209800" y="3131600"/>
            <a:ext cx="6123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Retaining customers is more cost-effective than acquiring new ones.</a:t>
            </a:r>
            <a:endParaRPr lang="en-IN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239C48-60A3-913D-80A8-0EB349C5D481}"/>
              </a:ext>
            </a:extLst>
          </p:cNvPr>
          <p:cNvSpPr txBox="1"/>
          <p:nvPr/>
        </p:nvSpPr>
        <p:spPr>
          <a:xfrm>
            <a:off x="2207342" y="4018818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Boosts profitability through repeat business.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798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90D6-A5E6-F725-DD02-BFF01B86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31266-B354-49E0-B0DA-AB359E30982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D898-D178-2893-19E8-1660EF0E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DA318-DEA5-A394-0040-418318CE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EBFFDEB-B7FF-BACE-A23E-9564AFE16A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ECC7CAE-2F01-CFD6-7B44-A2C664DC0900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CE5C3-AFE6-D99E-1D73-3975E3FD61A5}"/>
              </a:ext>
            </a:extLst>
          </p:cNvPr>
          <p:cNvSpPr txBox="1"/>
          <p:nvPr/>
        </p:nvSpPr>
        <p:spPr>
          <a:xfrm>
            <a:off x="1932859" y="1495549"/>
            <a:ext cx="61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Strategies for Customer Retention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6C0A4-0351-3A2F-204E-18E923D74B91}"/>
              </a:ext>
            </a:extLst>
          </p:cNvPr>
          <p:cNvSpPr txBox="1"/>
          <p:nvPr/>
        </p:nvSpPr>
        <p:spPr>
          <a:xfrm>
            <a:off x="2034458" y="2228671"/>
            <a:ext cx="6125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Tailored experiences and offers.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Loyalty Programs: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Reward repeat purchases.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surveys to address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Engagement: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Email updates, exclusive deals. </a:t>
            </a:r>
          </a:p>
        </p:txBody>
      </p:sp>
    </p:spTree>
    <p:extLst>
      <p:ext uri="{BB962C8B-B14F-4D97-AF65-F5344CB8AC3E}">
        <p14:creationId xmlns:p14="http://schemas.microsoft.com/office/powerpoint/2010/main" val="267422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BF2D0-92D3-E7EF-9FFC-724B2717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121-50FF-49BC-8172-AF3C6CBA484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45293-8468-F460-AC27-02E02273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47732-8446-73CE-BA60-EAFAE740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194" name="Picture 2" descr="Do you have a customer retention plan? | Smart Insights">
            <a:extLst>
              <a:ext uri="{FF2B5EF4-FFF2-40B4-BE49-F238E27FC236}">
                <a16:creationId xmlns:a16="http://schemas.microsoft.com/office/drawing/2014/main" id="{BD5FB922-E6AA-8470-E630-946C0B2B3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919163"/>
            <a:ext cx="8115300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89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521-EF13-9AD6-E4BD-C6BB4B43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E4A6-A603-4C9D-B4AF-0494EF7725B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C7BC-DE32-0395-113D-98CE8F12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80CE-4DDC-2FCA-962C-0C2E5A7B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18" name="Picture 2" descr="8 Powerful Customer Retention Strategies to Try Out">
            <a:extLst>
              <a:ext uri="{FF2B5EF4-FFF2-40B4-BE49-F238E27FC236}">
                <a16:creationId xmlns:a16="http://schemas.microsoft.com/office/drawing/2014/main" id="{6DAECE77-D3D2-AD9E-DB17-FB526E8CA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115062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65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1403-F65B-05E0-7E1E-3779F2AA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A4D9-E065-4047-9B4B-B79B315F59B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0CBF4-BBEB-7FC0-9363-64BD54B2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4829D-117C-F3F9-3F1A-3C0EC6C6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CE436772-82E5-6EDA-23F3-D5B62BF4C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4D973E3-3086-A742-054D-5D19F0D8F835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B448E5-D6EA-7129-55CE-71E6D81E9670}"/>
              </a:ext>
            </a:extLst>
          </p:cNvPr>
          <p:cNvSpPr txBox="1"/>
          <p:nvPr/>
        </p:nvSpPr>
        <p:spPr>
          <a:xfrm>
            <a:off x="1524000" y="1066800"/>
            <a:ext cx="6125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Customer Satisfaction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DD1BE-8E6A-DA04-CB73-070460A61B43}"/>
              </a:ext>
            </a:extLst>
          </p:cNvPr>
          <p:cNvSpPr txBox="1"/>
          <p:nvPr/>
        </p:nvSpPr>
        <p:spPr>
          <a:xfrm>
            <a:off x="1600200" y="1624674"/>
            <a:ext cx="61254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Concept: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measure of how products or services meet or exceed customer expectations.</a:t>
            </a:r>
          </a:p>
          <a:p>
            <a:r>
              <a:rPr lang="en-US" b="1" dirty="0"/>
              <a:t>Models of Customer Satisfaction: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Kano Model:</a:t>
            </a:r>
            <a:r>
              <a:rPr lang="en-US" dirty="0"/>
              <a:t> Categorizes customer preferences into basic needs, performance needs, and excitement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SERVQUAL Model:</a:t>
            </a:r>
            <a:r>
              <a:rPr lang="en-US" dirty="0"/>
              <a:t> Focuses on service quality dimensions like reliability, assurance, tangibles, empathy, and responsiveness.</a:t>
            </a:r>
          </a:p>
          <a:p>
            <a:r>
              <a:rPr lang="en-US" b="1" dirty="0"/>
              <a:t>Rationale: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Satisfied customers are more likely to repurchase, recommend, and remain loyal.</a:t>
            </a:r>
          </a:p>
        </p:txBody>
      </p:sp>
    </p:spTree>
    <p:extLst>
      <p:ext uri="{BB962C8B-B14F-4D97-AF65-F5344CB8AC3E}">
        <p14:creationId xmlns:p14="http://schemas.microsoft.com/office/powerpoint/2010/main" val="113743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A3F0-FD3F-4F37-60BC-E0A3FDED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A1A2-4844-4105-9FBD-7B61CAB5C6F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4A19-9047-F887-CD56-22BC04A6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ADEBA-657D-D0FC-85B4-DEECD842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CE218C19-FDB5-3CE0-D04B-03A2E3412F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8BA6EEC-114D-20CA-34E6-7125A224942D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4C0A8-7662-03EF-E370-F0BABFFB7757}"/>
              </a:ext>
            </a:extLst>
          </p:cNvPr>
          <p:cNvSpPr txBox="1"/>
          <p:nvPr/>
        </p:nvSpPr>
        <p:spPr>
          <a:xfrm>
            <a:off x="2032000" y="1143000"/>
            <a:ext cx="61254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Customer Loyalty Ladder: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Prospect:</a:t>
            </a:r>
            <a:r>
              <a:rPr lang="en-US" dirty="0"/>
              <a:t> Potential customer.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Customer:</a:t>
            </a:r>
            <a:r>
              <a:rPr lang="en-US" dirty="0"/>
              <a:t> First-time buyer.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Client:</a:t>
            </a:r>
            <a:r>
              <a:rPr lang="en-US" dirty="0"/>
              <a:t> Repeat buyer.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Advocate:</a:t>
            </a:r>
            <a:r>
              <a:rPr lang="en-US" dirty="0"/>
              <a:t> Recommends the brand.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Partner:</a:t>
            </a:r>
            <a:r>
              <a:rPr lang="en-US" dirty="0"/>
              <a:t> Deep, emotional loyalty to the brand.</a:t>
            </a:r>
          </a:p>
        </p:txBody>
      </p:sp>
      <p:pic>
        <p:nvPicPr>
          <p:cNvPr id="10242" name="Picture 2" descr="How to Help Your Customers Climb the Customer Loyalty Ladder">
            <a:extLst>
              <a:ext uri="{FF2B5EF4-FFF2-40B4-BE49-F238E27FC236}">
                <a16:creationId xmlns:a16="http://schemas.microsoft.com/office/drawing/2014/main" id="{2100F672-B859-58F8-B2C7-D47900F10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777" y="1143000"/>
            <a:ext cx="457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66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8EB3-6F77-791A-405D-4525DA01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E91B-27E6-4006-89E5-7A73709999E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8371-93C1-C9BA-E6CF-6B3A458E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1DFA-B8A6-FB06-7974-AFCC1F06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48C8F01-7315-EFFE-2D84-C8ED7EA47A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2421F05-6D53-113D-0D82-2CA15AF325C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0F088-B8F4-A87E-922D-A2CD19F1512D}"/>
              </a:ext>
            </a:extLst>
          </p:cNvPr>
          <p:cNvSpPr txBox="1"/>
          <p:nvPr/>
        </p:nvSpPr>
        <p:spPr>
          <a:xfrm>
            <a:off x="2362200" y="1219200"/>
            <a:ext cx="82296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800" b="1" dirty="0"/>
              <a:t>Categories of Customer Loyalty</a:t>
            </a:r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Transactional Loyalty: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rewards and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Loyalty: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attachment to the brand values and identity </a:t>
            </a:r>
          </a:p>
          <a:p>
            <a:endParaRPr lang="en-IN" dirty="0"/>
          </a:p>
          <a:p>
            <a:r>
              <a:rPr lang="en-IN" sz="2800" b="1" dirty="0"/>
              <a:t>Factors Affecting Customer Loyalty:</a:t>
            </a:r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Quality: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High-quality products/services.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and empathetic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and Transparency: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Honesty in business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accessibility and usability</a:t>
            </a:r>
            <a:endParaRPr lang="en-IN" dirty="0"/>
          </a:p>
          <a:p>
            <a:endParaRPr lang="en-IN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048B63D-1760-4614-D75C-85EC0A519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430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9E5F6-02D7-B349-E674-E6FDC7CB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FBA2-6AFC-4BCC-9A30-E057DA72FF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0735D-C0D9-0A5D-D299-49AB513E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24B61-1477-E7C2-AC4A-7810D93D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C2FD474C-6C32-C6CA-C698-D098FEB9E4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9391FA-11BB-1DED-259D-62D096C7A61F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FFBA3-EE38-B999-1B1B-E1B185B82D81}"/>
              </a:ext>
            </a:extLst>
          </p:cNvPr>
          <p:cNvSpPr txBox="1"/>
          <p:nvPr/>
        </p:nvSpPr>
        <p:spPr>
          <a:xfrm>
            <a:off x="1295400" y="11430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MCQs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DE3C7F-32F6-B896-2BF2-E5053661D709}"/>
              </a:ext>
            </a:extLst>
          </p:cNvPr>
          <p:cNvSpPr txBox="1"/>
          <p:nvPr/>
        </p:nvSpPr>
        <p:spPr>
          <a:xfrm>
            <a:off x="826957" y="1623316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What does CLV stand for?</a:t>
            </a:r>
            <a:br>
              <a:rPr lang="en-US" dirty="0"/>
            </a:br>
            <a:r>
              <a:rPr lang="en-US" dirty="0"/>
              <a:t>a) Customer Link Value</a:t>
            </a:r>
            <a:br>
              <a:rPr lang="en-US" dirty="0"/>
            </a:br>
            <a:r>
              <a:rPr lang="en-US" dirty="0"/>
              <a:t>b) Customer Lifetime Value</a:t>
            </a:r>
            <a:br>
              <a:rPr lang="en-US" dirty="0"/>
            </a:br>
            <a:r>
              <a:rPr lang="en-US" dirty="0"/>
              <a:t>c) Customer Loyalty Value</a:t>
            </a:r>
            <a:br>
              <a:rPr lang="en-US" dirty="0"/>
            </a:br>
            <a:r>
              <a:rPr lang="en-US" dirty="0"/>
              <a:t>d) Customer Loss Value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3FD0E-B307-DCD1-29F5-0572038CE319}"/>
              </a:ext>
            </a:extLst>
          </p:cNvPr>
          <p:cNvSpPr txBox="1"/>
          <p:nvPr/>
        </p:nvSpPr>
        <p:spPr>
          <a:xfrm>
            <a:off x="821960" y="3127704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Which of the following is NOT a component of CLV?</a:t>
            </a:r>
            <a:br>
              <a:rPr lang="en-US" dirty="0"/>
            </a:br>
            <a:r>
              <a:rPr lang="en-US" dirty="0"/>
              <a:t>a) Customer Lifespan</a:t>
            </a:r>
            <a:br>
              <a:rPr lang="en-US" dirty="0"/>
            </a:br>
            <a:r>
              <a:rPr lang="en-US" dirty="0"/>
              <a:t>b) Average Purchase Value</a:t>
            </a:r>
            <a:br>
              <a:rPr lang="en-US" dirty="0"/>
            </a:br>
            <a:r>
              <a:rPr lang="en-US" dirty="0"/>
              <a:t>c) Product Warranty Period</a:t>
            </a:r>
            <a:br>
              <a:rPr lang="en-US" dirty="0"/>
            </a:br>
            <a:r>
              <a:rPr lang="en-US" dirty="0"/>
              <a:t>d) Purchase Frequency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F0D026-B5C7-A3FD-748E-2FFE98A7B81C}"/>
              </a:ext>
            </a:extLst>
          </p:cNvPr>
          <p:cNvSpPr txBox="1"/>
          <p:nvPr/>
        </p:nvSpPr>
        <p:spPr>
          <a:xfrm>
            <a:off x="6128479" y="1513381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What is the first step in prospecting?</a:t>
            </a:r>
            <a:br>
              <a:rPr lang="en-US" dirty="0"/>
            </a:br>
            <a:r>
              <a:rPr lang="en-US" dirty="0"/>
              <a:t>a) Closing the sale</a:t>
            </a:r>
            <a:br>
              <a:rPr lang="en-US" dirty="0"/>
            </a:br>
            <a:r>
              <a:rPr lang="en-US" dirty="0"/>
              <a:t>b) Identifying potential customers</a:t>
            </a:r>
            <a:br>
              <a:rPr lang="en-US" dirty="0"/>
            </a:br>
            <a:r>
              <a:rPr lang="en-US" dirty="0"/>
              <a:t>c) Providing customer service</a:t>
            </a:r>
            <a:br>
              <a:rPr lang="en-US" dirty="0"/>
            </a:br>
            <a:r>
              <a:rPr lang="en-US" dirty="0"/>
              <a:t>d) Conducting after-sales follow-up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D0EEB-FB19-15A1-1B3C-1674A30273A3}"/>
              </a:ext>
            </a:extLst>
          </p:cNvPr>
          <p:cNvSpPr txBox="1"/>
          <p:nvPr/>
        </p:nvSpPr>
        <p:spPr>
          <a:xfrm>
            <a:off x="6128479" y="3287580"/>
            <a:ext cx="612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Which of the following is a common tool for customer acquisition?</a:t>
            </a:r>
            <a:br>
              <a:rPr lang="en-US" dirty="0"/>
            </a:br>
            <a:r>
              <a:rPr lang="en-US" dirty="0"/>
              <a:t>a) CRM Systems</a:t>
            </a:r>
            <a:br>
              <a:rPr lang="en-US" dirty="0"/>
            </a:br>
            <a:r>
              <a:rPr lang="en-US" dirty="0"/>
              <a:t>b) Employee Training</a:t>
            </a:r>
            <a:br>
              <a:rPr lang="en-US" dirty="0"/>
            </a:br>
            <a:r>
              <a:rPr lang="en-US" dirty="0"/>
              <a:t>c) Internal Auditing</a:t>
            </a:r>
            <a:br>
              <a:rPr lang="en-US" dirty="0"/>
            </a:br>
            <a:r>
              <a:rPr lang="en-US" dirty="0"/>
              <a:t>d) Tax Filing 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67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83945-7CA3-157C-D448-1655732E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896-18F4-438C-ABA8-B12C62767DA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2CA71-6E63-87B1-6B09-241B4BB4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29CDC-F926-2D09-245A-1B31E1C8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B75FE09E-3482-15C7-F620-EA729AB14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D16A78B-1D26-02FD-0AD3-729B8AFE502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A3A51-2118-79D3-26E8-7F318FEDEAA9}"/>
              </a:ext>
            </a:extLst>
          </p:cNvPr>
          <p:cNvSpPr txBox="1"/>
          <p:nvPr/>
        </p:nvSpPr>
        <p:spPr>
          <a:xfrm>
            <a:off x="212361" y="1115774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Customer acquisition programs are primarily focused on:</a:t>
            </a:r>
            <a:br>
              <a:rPr lang="en-US" dirty="0"/>
            </a:br>
            <a:r>
              <a:rPr lang="en-US" dirty="0"/>
              <a:t>a) Retaining existing customers</a:t>
            </a:r>
            <a:br>
              <a:rPr lang="en-US" dirty="0"/>
            </a:br>
            <a:r>
              <a:rPr lang="en-US" dirty="0"/>
              <a:t>b) Attracting and converting new customers</a:t>
            </a:r>
            <a:br>
              <a:rPr lang="en-US" dirty="0"/>
            </a:br>
            <a:r>
              <a:rPr lang="en-US" dirty="0"/>
              <a:t>c) Reducing marketing budgets</a:t>
            </a:r>
            <a:br>
              <a:rPr lang="en-US" dirty="0"/>
            </a:br>
            <a:r>
              <a:rPr lang="en-US" dirty="0"/>
              <a:t>d) Improving internal processes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833D6-3743-C1C9-4793-C428D609B1BC}"/>
              </a:ext>
            </a:extLst>
          </p:cNvPr>
          <p:cNvSpPr txBox="1"/>
          <p:nvPr/>
        </p:nvSpPr>
        <p:spPr>
          <a:xfrm>
            <a:off x="212361" y="3287469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What is the primary goal of customer retention?</a:t>
            </a:r>
            <a:br>
              <a:rPr lang="en-US" dirty="0"/>
            </a:br>
            <a:r>
              <a:rPr lang="en-US" dirty="0"/>
              <a:t>a) Increase customer churn</a:t>
            </a:r>
            <a:br>
              <a:rPr lang="en-US" dirty="0"/>
            </a:br>
            <a:r>
              <a:rPr lang="en-US" dirty="0"/>
              <a:t>b) Reduce customer engagement</a:t>
            </a:r>
            <a:br>
              <a:rPr lang="en-US" dirty="0"/>
            </a:br>
            <a:r>
              <a:rPr lang="en-US" dirty="0"/>
              <a:t>c) Maintain long-term relationships with customers</a:t>
            </a:r>
            <a:br>
              <a:rPr lang="en-US" dirty="0"/>
            </a:br>
            <a:r>
              <a:rPr lang="en-US" dirty="0"/>
              <a:t>d) Eliminate marketing expenses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A59B6-FF2E-7807-840D-FBB35279B60C}"/>
              </a:ext>
            </a:extLst>
          </p:cNvPr>
          <p:cNvSpPr txBox="1"/>
          <p:nvPr/>
        </p:nvSpPr>
        <p:spPr>
          <a:xfrm>
            <a:off x="6324600" y="1077542"/>
            <a:ext cx="612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Which of the following is an effective strategy for customer retention?</a:t>
            </a:r>
            <a:br>
              <a:rPr lang="en-US" dirty="0"/>
            </a:br>
            <a:r>
              <a:rPr lang="en-US" dirty="0"/>
              <a:t>a) Ignoring feedback</a:t>
            </a:r>
            <a:br>
              <a:rPr lang="en-US" dirty="0"/>
            </a:br>
            <a:r>
              <a:rPr lang="en-US" dirty="0"/>
              <a:t>b) Offering loyalty programs</a:t>
            </a:r>
            <a:br>
              <a:rPr lang="en-US" dirty="0"/>
            </a:br>
            <a:r>
              <a:rPr lang="en-US" dirty="0"/>
              <a:t>c) Increasing prices without notice</a:t>
            </a:r>
            <a:br>
              <a:rPr lang="en-US" dirty="0"/>
            </a:br>
            <a:r>
              <a:rPr lang="en-US" dirty="0"/>
              <a:t>d) Providing generic services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51DB8-390D-FC1E-9C49-7CF1720864DB}"/>
              </a:ext>
            </a:extLst>
          </p:cNvPr>
          <p:cNvSpPr txBox="1"/>
          <p:nvPr/>
        </p:nvSpPr>
        <p:spPr>
          <a:xfrm>
            <a:off x="6219669" y="3287469"/>
            <a:ext cx="62209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8. Customer retention is more cost-effective than customer acquisition because:</a:t>
            </a:r>
            <a:br>
              <a:rPr lang="en-US" dirty="0"/>
            </a:br>
            <a:r>
              <a:rPr lang="en-US" dirty="0"/>
              <a:t>a) Retained customers require less effort to satisfy</a:t>
            </a:r>
            <a:br>
              <a:rPr lang="en-US" dirty="0"/>
            </a:br>
            <a:r>
              <a:rPr lang="en-US" dirty="0"/>
              <a:t>b) Existing customers are more likely to make repeat purchases</a:t>
            </a:r>
            <a:br>
              <a:rPr lang="en-US" dirty="0"/>
            </a:br>
            <a:r>
              <a:rPr lang="en-US" dirty="0"/>
              <a:t>c) New customers always demand discounts</a:t>
            </a:r>
            <a:br>
              <a:rPr lang="en-US" dirty="0"/>
            </a:br>
            <a:r>
              <a:rPr lang="en-US" dirty="0"/>
              <a:t>d) Marketing to new customers is unnecessary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316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31C3F-B8F9-A89E-B471-704908B7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B99E4-5997-4833-9697-9F0F02973C7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F6D5C-54C9-8D20-2DE7-CA4C719F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712B-1797-69F0-03A6-A9680013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3510C01D-EA42-5151-2283-B67844EEF9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EC088DA-D06B-3FC2-6029-57093994040A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EF043-B123-1980-7B8B-2297382EE1FF}"/>
              </a:ext>
            </a:extLst>
          </p:cNvPr>
          <p:cNvSpPr txBox="1"/>
          <p:nvPr/>
        </p:nvSpPr>
        <p:spPr>
          <a:xfrm>
            <a:off x="1955384" y="1219200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Customer satisfaction is important because:</a:t>
            </a:r>
            <a:br>
              <a:rPr lang="en-US" dirty="0"/>
            </a:br>
            <a:r>
              <a:rPr lang="en-US" dirty="0"/>
              <a:t>a) It ensures higher product prices</a:t>
            </a:r>
            <a:br>
              <a:rPr lang="en-US" dirty="0"/>
            </a:br>
            <a:r>
              <a:rPr lang="en-US" dirty="0"/>
              <a:t>b) It leads to repeat purchases and brand loyalty</a:t>
            </a:r>
            <a:br>
              <a:rPr lang="en-US" dirty="0"/>
            </a:br>
            <a:r>
              <a:rPr lang="en-US" dirty="0"/>
              <a:t>c) It reduces the need for customer service</a:t>
            </a:r>
            <a:br>
              <a:rPr lang="en-US" dirty="0"/>
            </a:br>
            <a:r>
              <a:rPr lang="en-US" dirty="0"/>
              <a:t>d) It eliminates the need for marketing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A67D1-275A-4CB4-F8E7-B6906031350B}"/>
              </a:ext>
            </a:extLst>
          </p:cNvPr>
          <p:cNvSpPr txBox="1"/>
          <p:nvPr/>
        </p:nvSpPr>
        <p:spPr>
          <a:xfrm>
            <a:off x="1955384" y="2995942"/>
            <a:ext cx="612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10. Which model categorizes customer preferences into basic, performance, and excitement needs?</a:t>
            </a:r>
            <a:br>
              <a:rPr lang="en-IN" dirty="0"/>
            </a:br>
            <a:r>
              <a:rPr lang="en-IN" dirty="0"/>
              <a:t>a) SERVQUAL Model</a:t>
            </a:r>
            <a:br>
              <a:rPr lang="en-IN" dirty="0"/>
            </a:br>
            <a:r>
              <a:rPr lang="en-IN" dirty="0"/>
              <a:t>b) Kano Model</a:t>
            </a:r>
            <a:br>
              <a:rPr lang="en-IN" dirty="0"/>
            </a:br>
            <a:r>
              <a:rPr lang="en-IN" dirty="0"/>
              <a:t>c) Maslow’s Hierarchy</a:t>
            </a:r>
            <a:br>
              <a:rPr lang="en-IN" dirty="0"/>
            </a:br>
            <a:r>
              <a:rPr lang="en-IN" dirty="0"/>
              <a:t>d) Herzberg's Two-Factor Theory</a:t>
            </a:r>
          </a:p>
        </p:txBody>
      </p:sp>
    </p:spTree>
    <p:extLst>
      <p:ext uri="{BB962C8B-B14F-4D97-AF65-F5344CB8AC3E}">
        <p14:creationId xmlns:p14="http://schemas.microsoft.com/office/powerpoint/2010/main" val="55110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D3DA-F728-C24B-6E67-A43297DF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2D715-B381-C4A0-92A4-1A318CA1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B99E4-5997-4833-9697-9F0F02973C7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52D0C-0FD1-714E-1509-8C8C5F4A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                                     AOE0865 &amp; CRM                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4BCD-B789-F6D8-0CB8-883F287F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38D8922-D6A1-6FAC-55DE-4205101BF5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E92FE6F-98E2-730D-3F4C-FB9A9714F40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B4C15-03D6-E7D2-40CE-22ED3F4953AA}"/>
              </a:ext>
            </a:extLst>
          </p:cNvPr>
          <p:cNvSpPr txBox="1"/>
          <p:nvPr/>
        </p:nvSpPr>
        <p:spPr>
          <a:xfrm>
            <a:off x="1955384" y="1219200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Customer satisfaction is important because:</a:t>
            </a:r>
            <a:br>
              <a:rPr lang="en-US" dirty="0"/>
            </a:br>
            <a:r>
              <a:rPr lang="en-US" dirty="0"/>
              <a:t>a) It ensures higher product prices</a:t>
            </a:r>
            <a:br>
              <a:rPr lang="en-US" dirty="0"/>
            </a:br>
            <a:r>
              <a:rPr lang="en-US" dirty="0"/>
              <a:t>b) It leads to repeat purchases and brand loyalty</a:t>
            </a:r>
            <a:br>
              <a:rPr lang="en-US" dirty="0"/>
            </a:br>
            <a:r>
              <a:rPr lang="en-US" dirty="0"/>
              <a:t>c) It reduces the need for customer service</a:t>
            </a:r>
            <a:br>
              <a:rPr lang="en-US" dirty="0"/>
            </a:br>
            <a:r>
              <a:rPr lang="en-US" dirty="0"/>
              <a:t>d) It eliminates the need for marketing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4046C-7684-D717-36FC-9DC4D54640C0}"/>
              </a:ext>
            </a:extLst>
          </p:cNvPr>
          <p:cNvSpPr txBox="1"/>
          <p:nvPr/>
        </p:nvSpPr>
        <p:spPr>
          <a:xfrm>
            <a:off x="1955384" y="2995942"/>
            <a:ext cx="612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10. Which model categorizes customer preferences into basic, performance, and excitement needs?</a:t>
            </a:r>
            <a:br>
              <a:rPr lang="en-IN" dirty="0"/>
            </a:br>
            <a:r>
              <a:rPr lang="en-IN" dirty="0"/>
              <a:t>a) SERVQUAL Model</a:t>
            </a:r>
            <a:br>
              <a:rPr lang="en-IN" dirty="0"/>
            </a:br>
            <a:r>
              <a:rPr lang="en-IN" dirty="0"/>
              <a:t>b) Kano Model</a:t>
            </a:r>
            <a:br>
              <a:rPr lang="en-IN" dirty="0"/>
            </a:br>
            <a:r>
              <a:rPr lang="en-IN" dirty="0"/>
              <a:t>c) Maslow’s Hierarchy</a:t>
            </a:r>
            <a:br>
              <a:rPr lang="en-IN" dirty="0"/>
            </a:br>
            <a:r>
              <a:rPr lang="en-IN" dirty="0"/>
              <a:t>d) Herzberg's Two-Factor Theory</a:t>
            </a:r>
          </a:p>
        </p:txBody>
      </p:sp>
    </p:spTree>
    <p:extLst>
      <p:ext uri="{BB962C8B-B14F-4D97-AF65-F5344CB8AC3E}">
        <p14:creationId xmlns:p14="http://schemas.microsoft.com/office/powerpoint/2010/main" val="1082062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1E0C9-7AD7-434F-9AB1-5F97C308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19" y="1365887"/>
            <a:ext cx="5369160" cy="39399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1966722" y="3656838"/>
            <a:ext cx="4783836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NL" sz="115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Ms.Rachna                                  AOE0865 &amp; CRM                                  1</a:t>
            </a:r>
            <a:endParaRPr lang="en-US" sz="115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84796" y="5769149"/>
            <a:ext cx="2169006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0A955529-8C41-44BD-A0E2-D6140AB107F2}" type="datetime1">
              <a:rPr lang="en-US" sz="1150" smtClean="0">
                <a:solidFill>
                  <a:srgbClr val="FFFFFF"/>
                </a:solidFill>
              </a:rPr>
              <a:t>4/1/2026</a:t>
            </a:fld>
            <a:endParaRPr lang="en-US" sz="115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sz="6600">
              <a:solidFill>
                <a:srgbClr val="FFFFFF"/>
              </a:solidFill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A0BCFEA-07AE-8123-A635-D4BA5CABA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2345</TotalTime>
  <Words>1245</Words>
  <Application>Microsoft Office PowerPoint</Application>
  <PresentationFormat>Widescreen</PresentationFormat>
  <Paragraphs>159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Ms. Rachna Sharma</cp:lastModifiedBy>
  <cp:revision>82</cp:revision>
  <dcterms:created xsi:type="dcterms:W3CDTF">2006-08-16T00:00:00Z</dcterms:created>
  <dcterms:modified xsi:type="dcterms:W3CDTF">2026-04-01T07:04:04Z</dcterms:modified>
</cp:coreProperties>
</file>