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0" r:id="rId16"/>
    <p:sldId id="279" r:id="rId17"/>
    <p:sldId id="281" r:id="rId18"/>
    <p:sldId id="282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79" d="100"/>
          <a:sy n="79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94EF-B93C-4B6D-8FB8-8960BCB5A26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A4A95-7A0B-4549-9352-6E6525D64E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7A98-9A18-4E47-AF94-789022A0201E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F52E-BA8C-4FAB-BCFA-C67A14D9CE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F826-E782-447B-896B-95DAF90EBB82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DFCD-1E61-42A3-91F0-1B604C7DE25C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675BB-7DB3-4C2B-B018-2419DBB1C49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BEC7-820D-4DAA-A832-18669729BEF7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02DE-C8EF-4B0E-A2EC-D04A8A6B9F2A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89A-9232-49E5-9159-2FA042469FE0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2565-033E-47D4-8979-C3758F4895DB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70A2C-6213-4C6B-887C-4BE7B7FDFF2B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09AA5-5A3F-4220-8C52-8550799DC182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AD6-8549-4C19-8166-24F9D6D98BE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25FD-98EC-46CA-9A31-D3166CF462C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51064-ED88-4D1B-8FF7-5FBD2973AA13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Greater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Noida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213837"/>
            <a:ext cx="9372600" cy="1049938"/>
          </a:xfr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Management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(AOE0865)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525656" y="4351937"/>
            <a:ext cx="2844800" cy="1363583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Ms.Rachna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Sharma</a:t>
            </a:r>
          </a:p>
          <a:p>
            <a:pPr algn="just">
              <a:spcBef>
                <a:spcPct val="20000"/>
              </a:spcBef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CSE(DS) Department</a:t>
            </a:r>
          </a:p>
          <a:p>
            <a:pPr algn="ctr">
              <a:spcBef>
                <a:spcPct val="20000"/>
              </a:spcBef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027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905000" y="5943600"/>
            <a:ext cx="533400" cy="5334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905000" y="6492876"/>
            <a:ext cx="2133600" cy="365125"/>
          </a:xfrm>
        </p:spPr>
        <p:txBody>
          <a:bodyPr/>
          <a:lstStyle/>
          <a:p>
            <a:fld id="{A55190B9-B4EF-43D0-9287-595D2989B1F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77400" y="2508250"/>
            <a:ext cx="1524000" cy="1524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341671" y="2895600"/>
            <a:ext cx="2057400" cy="5334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Unit: 3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r>
              <a:rPr lang="en-US"/>
              <a:t>Ms. Rachna           AOE0865                3</a:t>
            </a:r>
            <a:endParaRPr lang="en-US" dirty="0"/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03571" y="3712096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and Operational CRM 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303571" y="4877321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Tech 8</a:t>
            </a:r>
            <a:r>
              <a:rPr lang="en-US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</a:t>
            </a:r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8EEDF-2940-BAF7-09C0-6097AC12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1AFA-D138-4A60-A444-92DE16DBD21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0464-A4CC-6262-BBDE-D74722C1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07C26-A1AE-047B-9CB7-F58BAA85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6C86620E-CA84-CACA-0B07-8B7C9C7695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D23094E-AECE-5737-A20D-72720760763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5321C-773D-385C-0051-54E48D03A8B4}"/>
              </a:ext>
            </a:extLst>
          </p:cNvPr>
          <p:cNvSpPr txBox="1"/>
          <p:nvPr/>
        </p:nvSpPr>
        <p:spPr>
          <a:xfrm>
            <a:off x="1048472" y="160020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Value - Concept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9D5601-08AD-AEF4-E3CC-A4379D36A9EC}"/>
              </a:ext>
            </a:extLst>
          </p:cNvPr>
          <p:cNvSpPr txBox="1"/>
          <p:nvPr/>
        </p:nvSpPr>
        <p:spPr>
          <a:xfrm>
            <a:off x="1082885" y="2453270"/>
            <a:ext cx="6123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perceived benefit a customer receives compared to the cost of acquiring a product or service.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Drives customer satisfaction and loyalty.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for long-term business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2259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11939-CCE0-D91C-CE75-F6512CE6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C75D-0C65-40ED-8521-3E3E785FF9BE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5C49D-D934-64E5-4BD9-E06944B7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977C0-40F0-71D2-9DE1-140D4697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DD1AED99-6255-9F51-137B-FE0DF3F5DA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D9469F-3C7D-23DD-6012-57B2483F7EE4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1BABA3-028B-82DC-9C9D-3D6AE1F02B4D}"/>
              </a:ext>
            </a:extLst>
          </p:cNvPr>
          <p:cNvSpPr txBox="1"/>
          <p:nvPr/>
        </p:nvSpPr>
        <p:spPr>
          <a:xfrm>
            <a:off x="1104900" y="199138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Customer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F42F7-8AE3-7A61-AC48-6371BBC4B60E}"/>
              </a:ext>
            </a:extLst>
          </p:cNvPr>
          <p:cNvSpPr txBox="1"/>
          <p:nvPr/>
        </p:nvSpPr>
        <p:spPr>
          <a:xfrm>
            <a:off x="1073670" y="2514600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Value: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and quality of the product.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Value: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Emotional connection to the brand.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Value: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savings and monetary benefits.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Value: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Association with status or identity.</a:t>
            </a:r>
          </a:p>
        </p:txBody>
      </p:sp>
    </p:spTree>
    <p:extLst>
      <p:ext uri="{BB962C8B-B14F-4D97-AF65-F5344CB8AC3E}">
        <p14:creationId xmlns:p14="http://schemas.microsoft.com/office/powerpoint/2010/main" val="233734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4A88C-5C31-E677-37E8-856F31B1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9D069-52BD-43FB-9050-78D15CD9900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BEC8-2305-ADAE-1B28-33D5DCFA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EC095-069C-E1C8-D9A0-17B93194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7DB4EEE1-515A-3DEA-CD2E-85B177A22D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CAC29DA-3AAB-A4EC-6898-07F1DD70D7AE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A8263-55C0-B315-2361-526A11BFFBE4}"/>
              </a:ext>
            </a:extLst>
          </p:cNvPr>
          <p:cNvSpPr txBox="1"/>
          <p:nvPr/>
        </p:nvSpPr>
        <p:spPr>
          <a:xfrm>
            <a:off x="1371600" y="1732983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Delivering Customer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BF7867-615F-4514-1E88-A3018758D2A2}"/>
              </a:ext>
            </a:extLst>
          </p:cNvPr>
          <p:cNvSpPr txBox="1"/>
          <p:nvPr/>
        </p:nvSpPr>
        <p:spPr>
          <a:xfrm>
            <a:off x="1371600" y="2507374"/>
            <a:ext cx="612348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Strategies: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needs and expectations.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superior product/service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long-term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 customer experiences.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efficient post-sale support.</a:t>
            </a:r>
          </a:p>
        </p:txBody>
      </p:sp>
    </p:spTree>
    <p:extLst>
      <p:ext uri="{BB962C8B-B14F-4D97-AF65-F5344CB8AC3E}">
        <p14:creationId xmlns:p14="http://schemas.microsoft.com/office/powerpoint/2010/main" val="341353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F3D5E-3AB9-9F2E-9AF4-F9A8B1AA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0E3F-AB22-4BD0-9C71-19351450BA6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8A79-BBE7-45F4-4E52-B712D17D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C362A-09F5-C693-E97A-72D64188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20CC503-B347-7FDC-CF14-EF8711DCFE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3920D8A-9BFA-51AD-33BF-E1FA7AE5822F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B4841-0155-DB93-3EDD-1F914454B05E}"/>
              </a:ext>
            </a:extLst>
          </p:cNvPr>
          <p:cNvSpPr txBox="1"/>
          <p:nvPr/>
        </p:nvSpPr>
        <p:spPr>
          <a:xfrm>
            <a:off x="1703439" y="152400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CRM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B6F6F5-24AB-6770-42B4-F1D24BD7A2D3}"/>
              </a:ext>
            </a:extLst>
          </p:cNvPr>
          <p:cNvSpPr txBox="1"/>
          <p:nvPr/>
        </p:nvSpPr>
        <p:spPr>
          <a:xfrm>
            <a:off x="1676400" y="2286000"/>
            <a:ext cx="6123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managing customer relationships to achieve long-term business goals.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Portfolio Management (CPM)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Tools and Strategies</a:t>
            </a:r>
          </a:p>
        </p:txBody>
      </p:sp>
    </p:spTree>
    <p:extLst>
      <p:ext uri="{BB962C8B-B14F-4D97-AF65-F5344CB8AC3E}">
        <p14:creationId xmlns:p14="http://schemas.microsoft.com/office/powerpoint/2010/main" val="306719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FFB3E-0B86-4CC1-B3B7-71EF9440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E132-B7F8-4EEF-A59F-0EB4206A994E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9BEE2-E745-DE48-87BA-05F0A96A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C0436-8021-D29D-F37F-5F681B56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 descr="Strategic CRM: Business Orientation Forms &amp; Examples | Viquepedia">
            <a:extLst>
              <a:ext uri="{FF2B5EF4-FFF2-40B4-BE49-F238E27FC236}">
                <a16:creationId xmlns:a16="http://schemas.microsoft.com/office/drawing/2014/main" id="{D21603EF-1B03-D244-78D7-7B9AEEA21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9824242" cy="487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6BA71FB-921C-C251-5D8F-4063E6648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37FF2C7-41CF-29E1-852F-964CB7A7A280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162004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DCF7B-5DD6-E8D7-EACD-B784C2DB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C39-04A6-4406-B669-26A4BF0F617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0E855-9D90-5B69-B9B7-D77F4F57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C69E0-3504-11EF-2BC3-AAF30069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6E648-EE72-61CE-F4C6-8C4890C97B44}"/>
              </a:ext>
            </a:extLst>
          </p:cNvPr>
          <p:cNvSpPr txBox="1"/>
          <p:nvPr/>
        </p:nvSpPr>
        <p:spPr>
          <a:xfrm>
            <a:off x="2032000" y="1295400"/>
            <a:ext cx="817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Portfolio Management (CPM)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69C2A836-7C5C-C57A-9890-9072EB667B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23836F1-A936-E7D0-4E88-1607B7F50200}"/>
              </a:ext>
            </a:extLst>
          </p:cNvPr>
          <p:cNvSpPr txBox="1">
            <a:spLocks/>
          </p:cNvSpPr>
          <p:nvPr/>
        </p:nvSpPr>
        <p:spPr>
          <a:xfrm>
            <a:off x="2207342" y="-14748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2DE4F2-0285-5FBB-4187-1EB70C80DE96}"/>
              </a:ext>
            </a:extLst>
          </p:cNvPr>
          <p:cNvSpPr txBox="1"/>
          <p:nvPr/>
        </p:nvSpPr>
        <p:spPr>
          <a:xfrm>
            <a:off x="2050738" y="198208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categorizing and managing customer segments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47FC9-F4E5-DFF3-6987-70540F15712E}"/>
              </a:ext>
            </a:extLst>
          </p:cNvPr>
          <p:cNvSpPr txBox="1"/>
          <p:nvPr/>
        </p:nvSpPr>
        <p:spPr>
          <a:xfrm>
            <a:off x="2048240" y="2599558"/>
            <a:ext cx="61234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CPM Models: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 Analysis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(Recency, Frequency, Monetary) Model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CLV (Customer Lifetime Value)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Prioritize high-value customers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 resource allocation, and enhance engagement.</a:t>
            </a:r>
          </a:p>
        </p:txBody>
      </p:sp>
    </p:spTree>
    <p:extLst>
      <p:ext uri="{BB962C8B-B14F-4D97-AF65-F5344CB8AC3E}">
        <p14:creationId xmlns:p14="http://schemas.microsoft.com/office/powerpoint/2010/main" val="140374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D59D3-7CF6-4202-B29D-FFF574CA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732-FB2B-4246-9CDA-C3D929107CC1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28262-8FF2-99DB-1E70-E8B0BB88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AA299-D6FC-4751-CB2A-C1D5B64B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 descr="Customer Portfolio Management PowerPoint and Google Slides Template">
            <a:extLst>
              <a:ext uri="{FF2B5EF4-FFF2-40B4-BE49-F238E27FC236}">
                <a16:creationId xmlns:a16="http://schemas.microsoft.com/office/drawing/2014/main" id="{E65072FF-C58B-493A-D28E-C5A6BB096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19200"/>
            <a:ext cx="10363200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52BEC71-6A03-A206-B733-561FB4775C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625B6A-5789-AB39-12B1-C01333A7CB35}"/>
              </a:ext>
            </a:extLst>
          </p:cNvPr>
          <p:cNvSpPr txBox="1">
            <a:spLocks/>
          </p:cNvSpPr>
          <p:nvPr/>
        </p:nvSpPr>
        <p:spPr>
          <a:xfrm>
            <a:off x="2207342" y="-14748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21621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084B8-E74A-51A1-7123-68FBAE75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95090-CEC7-4A6B-962E-FC70ECEAA310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D5A25-E3DB-DE38-E12F-E21E7309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D6C2B-EE5D-3B04-79DC-577F0744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8C98627-41C7-D95D-3B30-FE272E12E5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D319FC1-DB42-B10B-790F-39BB653EB15B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278A3-9C2B-C6A1-6B87-9C12205D261B}"/>
              </a:ext>
            </a:extLst>
          </p:cNvPr>
          <p:cNvSpPr txBox="1"/>
          <p:nvPr/>
        </p:nvSpPr>
        <p:spPr>
          <a:xfrm>
            <a:off x="1447800" y="1331375"/>
            <a:ext cx="6128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CRM - Concept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90C3C2-14CE-3A39-6DA5-0FDF426BCC59}"/>
              </a:ext>
            </a:extLst>
          </p:cNvPr>
          <p:cNvSpPr txBox="1"/>
          <p:nvPr/>
        </p:nvSpPr>
        <p:spPr>
          <a:xfrm>
            <a:off x="1371600" y="2200471"/>
            <a:ext cx="61280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processes focused on automation and improving efficiency in sales, marketing, and service.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Salesforce Automation (SFA)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Automation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Automation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of operational CRM tools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493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BA0BE-5887-8528-061F-7B1B8BF5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2AAD-60A2-414D-A070-2DC4986A4FA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2B0A3-0BDC-07D3-DDE5-0E7AE1F0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5AD63-EEA6-FE3B-8565-E4023714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8" name="Picture 4" descr="Types of CRM Software Systems: Comparing Features and Benefits">
            <a:extLst>
              <a:ext uri="{FF2B5EF4-FFF2-40B4-BE49-F238E27FC236}">
                <a16:creationId xmlns:a16="http://schemas.microsoft.com/office/drawing/2014/main" id="{5EFFA69F-1C6A-AF56-45A4-04C888D08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1143000"/>
            <a:ext cx="714375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92600FBE-1E34-B4FA-1128-AB08812F7A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85248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191F075-6417-5169-5793-7874AFB17E84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014153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3A705-00D9-BEA4-37BD-91853067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F9BE-15A8-46CC-8AA1-EDD02A80953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5A96A-27F4-BF6B-7A90-68B812F9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ABFB-2C22-6839-DD2E-C8EA386E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97687-8D5C-9044-E340-264E1D3CB58A}"/>
              </a:ext>
            </a:extLst>
          </p:cNvPr>
          <p:cNvSpPr txBox="1"/>
          <p:nvPr/>
        </p:nvSpPr>
        <p:spPr>
          <a:xfrm>
            <a:off x="1104900" y="1600200"/>
            <a:ext cx="9829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Salesforce Automation (SFA)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Automating sales processes to improve efficiency and performance.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lead tracking.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access.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sales team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SFA Software: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Salesforce, HubSpot, Zoho CRM.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Screenshot of an SFA dashboard.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10C4EFCA-223C-029E-1C36-027650EEB3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58053F5-8D74-DA7A-E38A-1809C4259BCE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183291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7A5F0-84FF-9C23-C972-5F81F62E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E106-E798-440F-8441-397FFA1060D9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68C63-9181-387F-F19B-195485D1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B41CC-2582-9953-5F71-2529CF9C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D17B7-EDD2-314D-9699-83ABE0EB3174}"/>
              </a:ext>
            </a:extLst>
          </p:cNvPr>
          <p:cNvSpPr txBox="1"/>
          <p:nvPr/>
        </p:nvSpPr>
        <p:spPr>
          <a:xfrm>
            <a:off x="1144358" y="14676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Quality - Concept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B5E9C541-F7E4-9915-3175-1CD28668C8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51DD610-3A50-8BBE-4B2E-7A0BBE6F1771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2F35D-C0D3-4D47-2270-C9FC97D2776F}"/>
              </a:ext>
            </a:extLst>
          </p:cNvPr>
          <p:cNvSpPr txBox="1"/>
          <p:nvPr/>
        </p:nvSpPr>
        <p:spPr>
          <a:xfrm>
            <a:off x="1104900" y="2438400"/>
            <a:ext cx="61280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customer’s perception of how well a service meets their expectations.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Service Quality: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Service (essential services).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Service (value-added services).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of core vs. peripheral services.</a:t>
            </a:r>
          </a:p>
        </p:txBody>
      </p:sp>
    </p:spTree>
    <p:extLst>
      <p:ext uri="{BB962C8B-B14F-4D97-AF65-F5344CB8AC3E}">
        <p14:creationId xmlns:p14="http://schemas.microsoft.com/office/powerpoint/2010/main" val="1255869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11807-709E-5610-3CB9-AD884BF6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56C6-AB10-47FC-8B83-31FA1D1A8F6C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DD5F0-A296-521A-7D65-44683453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CE0AF-3159-D5BD-745F-695EF46C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AutoShape 4" descr="Service quality - FasterCapital">
            <a:extLst>
              <a:ext uri="{FF2B5EF4-FFF2-40B4-BE49-F238E27FC236}">
                <a16:creationId xmlns:a16="http://schemas.microsoft.com/office/drawing/2014/main" id="{988B2741-E484-89E9-6245-EBF9CCFC6C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EC92A9E-CEBA-3CD7-76DA-D2A62B4131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ACE8FC-B7AE-1F27-E5A4-712ADE59EF1C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1D94C-6784-2BDF-A3AD-196139ADC73B}"/>
              </a:ext>
            </a:extLst>
          </p:cNvPr>
          <p:cNvSpPr txBox="1"/>
          <p:nvPr/>
        </p:nvSpPr>
        <p:spPr>
          <a:xfrm>
            <a:off x="1104900" y="1233019"/>
            <a:ext cx="612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Quality Gaps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58F90-9650-C42D-C99B-5860A3FC5187}"/>
              </a:ext>
            </a:extLst>
          </p:cNvPr>
          <p:cNvSpPr txBox="1"/>
          <p:nvPr/>
        </p:nvSpPr>
        <p:spPr>
          <a:xfrm>
            <a:off x="1212516" y="1990073"/>
            <a:ext cx="61280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Discrepancies between customer expectations and their actual experience.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Gaps: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Gap.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Gap.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Gap.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 Gap.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 of the Service Quality Gap Model.</a:t>
            </a:r>
          </a:p>
        </p:txBody>
      </p:sp>
    </p:spTree>
    <p:extLst>
      <p:ext uri="{BB962C8B-B14F-4D97-AF65-F5344CB8AC3E}">
        <p14:creationId xmlns:p14="http://schemas.microsoft.com/office/powerpoint/2010/main" val="69052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EC280-9E50-4F5E-58EF-732E54FA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7EB0B-DECB-4711-B52D-279454A7B28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57FDC-6B64-B10B-5A04-80C0A0FE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D383-9841-D4FF-9378-872BBAA15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1D6D3DEB-FB01-43D2-E8F4-7363C6B0ED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AC37FA6-10EF-436E-DA69-60657256994B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Noida Institute of Engineering and Technology, Greater Noida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026C8D-D561-FEC5-E59F-783BD28EA4A7}"/>
              </a:ext>
            </a:extLst>
          </p:cNvPr>
          <p:cNvSpPr txBox="1"/>
          <p:nvPr/>
        </p:nvSpPr>
        <p:spPr>
          <a:xfrm>
            <a:off x="1616242" y="2493352"/>
            <a:ext cx="61280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Impact: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Superior service quality fosters loyalty.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Loyal customers contribute to repeat business and referrals.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Strategies: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Consistent service delivery.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Personalized experiences.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Visual:</a:t>
            </a:r>
            <a:r>
              <a:rPr lang="en-US" sz="2400" dirty="0"/>
              <a:t> Flowchart linking service quality to loyalty.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AE03FA-DB87-FF02-3CEC-AB5FF38D5176}"/>
              </a:ext>
            </a:extLst>
          </p:cNvPr>
          <p:cNvSpPr txBox="1"/>
          <p:nvPr/>
        </p:nvSpPr>
        <p:spPr>
          <a:xfrm>
            <a:off x="1600200" y="1651089"/>
            <a:ext cx="612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Service Quality and Loyalty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98692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06AB4-E5D3-7B02-0D0B-E828F20D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B015-8AC2-431D-9CB6-D5FB84C83680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DCF8D-8568-3C88-0E4B-83CA9FE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C7C18-3AF0-BCDC-CF6B-CBFACA44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 descr="Service Quality, Customer Satisfaction ...">
            <a:extLst>
              <a:ext uri="{FF2B5EF4-FFF2-40B4-BE49-F238E27FC236}">
                <a16:creationId xmlns:a16="http://schemas.microsoft.com/office/drawing/2014/main" id="{1FE894D8-7D37-D0A5-2FD7-E3BCBB0DC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06649"/>
            <a:ext cx="10058400" cy="437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488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E5C6A-D8BF-0A8D-9335-5EC505641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E72F-4422-4353-8D87-B1573A3C6C4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B12B3-9FDF-7B9C-1C50-418DD1F5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C0C0F-CB54-A664-1BB8-2A04EE9AF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3C4A7AE3-6990-1194-7C14-D13EDE0C8C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92CFA24-DB2A-6C02-9A2B-201DFE203E2D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C0500-A339-A256-A23A-113DF4266FA8}"/>
              </a:ext>
            </a:extLst>
          </p:cNvPr>
          <p:cNvSpPr txBox="1"/>
          <p:nvPr/>
        </p:nvSpPr>
        <p:spPr>
          <a:xfrm>
            <a:off x="1295400" y="1321659"/>
            <a:ext cx="612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Quality Measurement Scales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2D5827-D61E-F640-C952-E10C6CD138F8}"/>
              </a:ext>
            </a:extLst>
          </p:cNvPr>
          <p:cNvSpPr txBox="1"/>
          <p:nvPr/>
        </p:nvSpPr>
        <p:spPr>
          <a:xfrm>
            <a:off x="1447800" y="2274838"/>
            <a:ext cx="61280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Scales: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SERVQUAL: Measures gaps between expectations and perceptions.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Promoter Score (NPS): Assesses likelihood of recommendation.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Index (CSI).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comparing the features of SERVQUAL, NPS, and CSI.</a:t>
            </a:r>
          </a:p>
        </p:txBody>
      </p:sp>
    </p:spTree>
    <p:extLst>
      <p:ext uri="{BB962C8B-B14F-4D97-AF65-F5344CB8AC3E}">
        <p14:creationId xmlns:p14="http://schemas.microsoft.com/office/powerpoint/2010/main" val="820173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9D3D5-6F70-87AA-1BF1-04D2A7D7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5AFE-F9B7-44B0-AE67-80A4005EC404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96F74-29D2-783D-DDC0-D756DD0D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8D7D7-9A20-AF9E-3748-64008FFC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FA27A7C-1DBC-CFC9-3E26-034C98C78A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34189A2-1650-F121-7CF7-BB78913E5214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3C5416-3E2B-4EBD-846A-A08455FE966B}"/>
              </a:ext>
            </a:extLst>
          </p:cNvPr>
          <p:cNvSpPr txBox="1"/>
          <p:nvPr/>
        </p:nvSpPr>
        <p:spPr>
          <a:xfrm>
            <a:off x="609600" y="1143000"/>
            <a:ext cx="5715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Delivering customer value involves all EXCEPT: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Identifying customer needs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Reducing customer expectations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Aligning business processes to customer needs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Providing superior product and service experiences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Which of the following is NOT a source of customer value?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Product features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Price advantage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Poor after-sales service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Emotional benefits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Customer Portfolio Management primarily focuses 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Managing company investments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Segmenting customers based on their value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Creating product portfolios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Increasing product prices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593AF-EF4B-4A5A-94A2-88A912E36141}"/>
              </a:ext>
            </a:extLst>
          </p:cNvPr>
          <p:cNvSpPr txBox="1"/>
          <p:nvPr/>
        </p:nvSpPr>
        <p:spPr>
          <a:xfrm>
            <a:off x="6223000" y="1143000"/>
            <a:ext cx="61280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Which model is commonly used in CPM for analyzing customer value?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SWOT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RFM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PESTLE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Porter's Five Forces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is the primary strategy of CPM?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Maximizing the value of low-value customers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Focusing on profitable customer relationships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Reducing marketing expenses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Ignoring customer retention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Which of the following is a key function of Operational CRM?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Customer segmentation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Salesforce automation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Strategic planning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Brand positioning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61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44C49-02E3-4908-5FA9-1666A352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8A0A-C438-486E-9DE8-15BFA5C44B98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49342-A408-C722-D9D8-38E50E96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Ms. Rachna           AOE0865               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3D26A-F578-3B4B-7B99-80EF213D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EEA90408-9299-1447-BDA7-8483AB7EDF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F743DA8-1B76-4909-6309-565309643EC1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8AD69-7472-0AEB-BE14-005C3432FEE4}"/>
              </a:ext>
            </a:extLst>
          </p:cNvPr>
          <p:cNvSpPr txBox="1"/>
          <p:nvPr/>
        </p:nvSpPr>
        <p:spPr>
          <a:xfrm>
            <a:off x="642374" y="1097375"/>
            <a:ext cx="61280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Salesforce automation (SFA) refers to: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Automating sales-related tasks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Replacing the sales team with AI tools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Implementing HR processes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Increasing product costs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Which of the following is NOT a key feature of SFA software?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Lead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Forecasting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Employee payroll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Contact management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The gap between expected service and perceived service is known as: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Delivery gap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Communication gap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Service quality gap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Knowledge gap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E14949-8403-C817-5F45-65282984F521}"/>
              </a:ext>
            </a:extLst>
          </p:cNvPr>
          <p:cNvSpPr txBox="1"/>
          <p:nvPr/>
        </p:nvSpPr>
        <p:spPr>
          <a:xfrm>
            <a:off x="6553200" y="1315900"/>
            <a:ext cx="61280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Which of the following is a commonly used service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measurement scale?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SERVQUAL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SWOT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RFM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265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1E0C9-7AD7-434F-9AB1-5F97C308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19" y="1365887"/>
            <a:ext cx="5369160" cy="3939959"/>
          </a:xfrm>
          <a:prstGeom prst="rect">
            <a:avLst/>
          </a:prstGeom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52497" y="1056640"/>
            <a:ext cx="3197660" cy="31257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-2007679" y="3615881"/>
            <a:ext cx="4865749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5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Ms. Rachna           AOE0865                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84796" y="5769149"/>
            <a:ext cx="2169006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Aft>
                <a:spcPts val="600"/>
              </a:spcAft>
            </a:pPr>
            <a:fld id="{6390F9B4-BC63-4417-B109-9A1B37AADDEC}" type="datetime1">
              <a:rPr lang="en-US" sz="1150" smtClean="0">
                <a:solidFill>
                  <a:srgbClr val="FFFFFF"/>
                </a:solidFill>
              </a:rPr>
              <a:t>4/1/2026</a:t>
            </a:fld>
            <a:endParaRPr lang="en-US" sz="115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84689" y="4887261"/>
            <a:ext cx="1669112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6F15528-21DE-4FAA-801E-634DDDAF4B2B}" type="slidenum">
              <a:rPr lang="en-U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 sz="6600">
              <a:solidFill>
                <a:srgbClr val="FFFFFF"/>
              </a:solidFill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A0BCFEA-07AE-8123-A635-D4BA5CABA9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2921</TotalTime>
  <Words>1129</Words>
  <Application>Microsoft Office PowerPoint</Application>
  <PresentationFormat>Widescreen</PresentationFormat>
  <Paragraphs>178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Noida Institute of Engineering and Technology, Greater Noida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Ms. Rachna Sharma</cp:lastModifiedBy>
  <cp:revision>82</cp:revision>
  <dcterms:created xsi:type="dcterms:W3CDTF">2006-08-16T00:00:00Z</dcterms:created>
  <dcterms:modified xsi:type="dcterms:W3CDTF">2026-04-01T07:04:40Z</dcterms:modified>
</cp:coreProperties>
</file>